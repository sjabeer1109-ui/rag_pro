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57"/>
  </p:notesMasterIdLst>
  <p:sldIdLst>
    <p:sldId id="256" r:id="rId3"/>
    <p:sldId id="265" r:id="rId4"/>
    <p:sldId id="261" r:id="rId5"/>
    <p:sldId id="264" r:id="rId6"/>
    <p:sldId id="278" r:id="rId7"/>
    <p:sldId id="268" r:id="rId8"/>
    <p:sldId id="269" r:id="rId9"/>
    <p:sldId id="282" r:id="rId10"/>
    <p:sldId id="271" r:id="rId11"/>
    <p:sldId id="283" r:id="rId12"/>
    <p:sldId id="298" r:id="rId13"/>
    <p:sldId id="297" r:id="rId14"/>
    <p:sldId id="281" r:id="rId15"/>
    <p:sldId id="267" r:id="rId16"/>
    <p:sldId id="277" r:id="rId17"/>
    <p:sldId id="266" r:id="rId18"/>
    <p:sldId id="288" r:id="rId19"/>
    <p:sldId id="299" r:id="rId20"/>
    <p:sldId id="300" r:id="rId21"/>
    <p:sldId id="301" r:id="rId22"/>
    <p:sldId id="280" r:id="rId23"/>
    <p:sldId id="272" r:id="rId24"/>
    <p:sldId id="275" r:id="rId25"/>
    <p:sldId id="279" r:id="rId26"/>
    <p:sldId id="302" r:id="rId27"/>
    <p:sldId id="303" r:id="rId28"/>
    <p:sldId id="304" r:id="rId29"/>
    <p:sldId id="305" r:id="rId30"/>
    <p:sldId id="306" r:id="rId31"/>
    <p:sldId id="307" r:id="rId32"/>
    <p:sldId id="308" r:id="rId33"/>
    <p:sldId id="309" r:id="rId34"/>
    <p:sldId id="310" r:id="rId35"/>
    <p:sldId id="311" r:id="rId36"/>
    <p:sldId id="284"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D4F"/>
    <a:srgbClr val="009D97"/>
    <a:srgbClr val="FFCE29"/>
    <a:srgbClr val="EBC417"/>
    <a:srgbClr val="FDE350"/>
    <a:srgbClr val="FFC50B"/>
    <a:srgbClr val="ED1C24"/>
    <a:srgbClr val="F2BF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5036" autoAdjust="0"/>
  </p:normalViewPr>
  <p:slideViewPr>
    <p:cSldViewPr>
      <p:cViewPr varScale="1">
        <p:scale>
          <a:sx n="106" d="100"/>
          <a:sy n="106" d="100"/>
        </p:scale>
        <p:origin x="67" y="173"/>
      </p:cViewPr>
      <p:guideLst>
        <p:guide orient="horz" pos="193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 /><Relationship Id="rId18" Type="http://schemas.openxmlformats.org/officeDocument/2006/relationships/slide" Target="slides/slide16.xml" /><Relationship Id="rId26" Type="http://schemas.openxmlformats.org/officeDocument/2006/relationships/slide" Target="slides/slide24.xml" /><Relationship Id="rId39" Type="http://schemas.openxmlformats.org/officeDocument/2006/relationships/slide" Target="slides/slide37.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slide" Target="slides/slide40.xml" /><Relationship Id="rId47" Type="http://schemas.openxmlformats.org/officeDocument/2006/relationships/slide" Target="slides/slide45.xml" /><Relationship Id="rId50" Type="http://schemas.openxmlformats.org/officeDocument/2006/relationships/slide" Target="slides/slide48.xml" /><Relationship Id="rId55" Type="http://schemas.openxmlformats.org/officeDocument/2006/relationships/slide" Target="slides/slide53.xml" /><Relationship Id="rId7" Type="http://schemas.openxmlformats.org/officeDocument/2006/relationships/slide" Target="slides/slide5.xml" /><Relationship Id="rId2" Type="http://schemas.openxmlformats.org/officeDocument/2006/relationships/slideMaster" Target="slideMasters/slideMaster2.xml" /><Relationship Id="rId16" Type="http://schemas.openxmlformats.org/officeDocument/2006/relationships/slide" Target="slides/slide14.xml" /><Relationship Id="rId20" Type="http://schemas.openxmlformats.org/officeDocument/2006/relationships/slide" Target="slides/slide18.xml" /><Relationship Id="rId29" Type="http://schemas.openxmlformats.org/officeDocument/2006/relationships/slide" Target="slides/slide27.xml" /><Relationship Id="rId41" Type="http://schemas.openxmlformats.org/officeDocument/2006/relationships/slide" Target="slides/slide39.xml" /><Relationship Id="rId54" Type="http://schemas.openxmlformats.org/officeDocument/2006/relationships/slide" Target="slides/slide52.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presProps" Target="presProps.xml" /><Relationship Id="rId5" Type="http://schemas.openxmlformats.org/officeDocument/2006/relationships/slide" Target="slides/slide3.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notesMaster" Target="notesMasters/notesMaster1.xml" /><Relationship Id="rId61" Type="http://schemas.openxmlformats.org/officeDocument/2006/relationships/tableStyles" Target="tableStyles.xml" /><Relationship Id="rId10" Type="http://schemas.openxmlformats.org/officeDocument/2006/relationships/slide" Target="slides/slide8.xml" /><Relationship Id="rId19" Type="http://schemas.openxmlformats.org/officeDocument/2006/relationships/slide" Target="slides/slide17.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theme" Target="theme/theme1.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8" Type="http://schemas.openxmlformats.org/officeDocument/2006/relationships/slide" Target="slides/slide6.xml" /><Relationship Id="rId51" Type="http://schemas.openxmlformats.org/officeDocument/2006/relationships/slide" Target="slides/slide49.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5DA3F-ED3A-4897-B8F3-C49A97F730D1}" type="datetimeFigureOut">
              <a:rPr lang="ko-KR" altLang="en-US" smtClean="0"/>
              <a:t>2019-03-09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9ED4F-90B4-4BD8-A817-6A0A9D03637F}" type="slidenum">
              <a:rPr lang="ko-KR" altLang="en-US" smtClean="0"/>
              <a:t>‹#›</a:t>
            </a:fld>
            <a:endParaRPr lang="ko-KR" altLang="en-US"/>
          </a:p>
        </p:txBody>
      </p:sp>
    </p:spTree>
    <p:extLst>
      <p:ext uri="{BB962C8B-B14F-4D97-AF65-F5344CB8AC3E}">
        <p14:creationId xmlns:p14="http://schemas.microsoft.com/office/powerpoint/2010/main" val="33418004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80D9ED4F-90B4-4BD8-A817-6A0A9D03637F}" type="slidenum">
              <a:rPr lang="ko-KR" altLang="en-US" smtClean="0"/>
              <a:t>9</a:t>
            </a:fld>
            <a:endParaRPr lang="ko-KR" altLang="en-US"/>
          </a:p>
        </p:txBody>
      </p:sp>
    </p:spTree>
    <p:extLst>
      <p:ext uri="{BB962C8B-B14F-4D97-AF65-F5344CB8AC3E}">
        <p14:creationId xmlns:p14="http://schemas.microsoft.com/office/powerpoint/2010/main" val="3428476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50</a:t>
            </a:fld>
            <a:endParaRPr lang="ko-KR" altLang="en-US"/>
          </a:p>
        </p:txBody>
      </p:sp>
    </p:spTree>
    <p:extLst>
      <p:ext uri="{BB962C8B-B14F-4D97-AF65-F5344CB8AC3E}">
        <p14:creationId xmlns:p14="http://schemas.microsoft.com/office/powerpoint/2010/main" val="3181484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52</a:t>
            </a:fld>
            <a:endParaRPr lang="ko-KR" altLang="en-US"/>
          </a:p>
        </p:txBody>
      </p:sp>
    </p:spTree>
    <p:extLst>
      <p:ext uri="{BB962C8B-B14F-4D97-AF65-F5344CB8AC3E}">
        <p14:creationId xmlns:p14="http://schemas.microsoft.com/office/powerpoint/2010/main" val="1668674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54</a:t>
            </a:fld>
            <a:endParaRPr lang="ko-KR" altLang="en-US"/>
          </a:p>
        </p:txBody>
      </p:sp>
    </p:spTree>
    <p:extLst>
      <p:ext uri="{BB962C8B-B14F-4D97-AF65-F5344CB8AC3E}">
        <p14:creationId xmlns:p14="http://schemas.microsoft.com/office/powerpoint/2010/main" val="4226249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48014"/>
            <a:ext cx="914400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grpSp>
        <p:nvGrpSpPr>
          <p:cNvPr id="6" name="그룹 5">
            <a:extLst>
              <a:ext uri="{FF2B5EF4-FFF2-40B4-BE49-F238E27FC236}">
                <a16:creationId xmlns:a16="http://schemas.microsoft.com/office/drawing/2014/main" id="{3F6939C0-0F9C-4BB0-BE6D-CDFDBD48B8E1}"/>
              </a:ext>
            </a:extLst>
          </p:cNvPr>
          <p:cNvGrpSpPr/>
          <p:nvPr userDrawn="1"/>
        </p:nvGrpSpPr>
        <p:grpSpPr>
          <a:xfrm>
            <a:off x="8001641" y="3940074"/>
            <a:ext cx="1142359" cy="1189066"/>
            <a:chOff x="4572000" y="387072"/>
            <a:chExt cx="4569687" cy="4756528"/>
          </a:xfrm>
        </p:grpSpPr>
        <p:sp>
          <p:nvSpPr>
            <p:cNvPr id="7" name="자유형: 도형 6">
              <a:extLst>
                <a:ext uri="{FF2B5EF4-FFF2-40B4-BE49-F238E27FC236}">
                  <a16:creationId xmlns:a16="http://schemas.microsoft.com/office/drawing/2014/main" id="{D9278269-D816-4377-921A-50AEC083B847}"/>
                </a:ext>
              </a:extLst>
            </p:cNvPr>
            <p:cNvSpPr/>
            <p:nvPr userDrawn="1"/>
          </p:nvSpPr>
          <p:spPr>
            <a:xfrm>
              <a:off x="4572000" y="1408870"/>
              <a:ext cx="4569687" cy="3734730"/>
            </a:xfrm>
            <a:custGeom>
              <a:avLst/>
              <a:gdLst>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63923 w 4569687"/>
                <a:gd name="connsiteY30" fmla="*/ 3304336 h 3734631"/>
                <a:gd name="connsiteX31" fmla="*/ 1334207 w 4569687"/>
                <a:gd name="connsiteY31" fmla="*/ 3340352 h 3734631"/>
                <a:gd name="connsiteX32" fmla="*/ 1046262 w 4569687"/>
                <a:gd name="connsiteY32" fmla="*/ 3459623 h 3734631"/>
                <a:gd name="connsiteX33" fmla="*/ 647319 w 4569687"/>
                <a:gd name="connsiteY33" fmla="*/ 3134475 h 3734631"/>
                <a:gd name="connsiteX34" fmla="*/ 642925 w 4569687"/>
                <a:gd name="connsiteY34" fmla="*/ 3090891 h 3734631"/>
                <a:gd name="connsiteX35" fmla="*/ 634894 w 4569687"/>
                <a:gd name="connsiteY35" fmla="*/ 3098188 h 3734631"/>
                <a:gd name="connsiteX36" fmla="*/ 407216 w 4569687"/>
                <a:gd name="connsiteY36" fmla="*/ 3167734 h 3734631"/>
                <a:gd name="connsiteX37" fmla="*/ 0 w 4569687"/>
                <a:gd name="connsiteY37" fmla="*/ 2760518 h 3734631"/>
                <a:gd name="connsiteX38" fmla="*/ 407216 w 4569687"/>
                <a:gd name="connsiteY38" fmla="*/ 2353302 h 3734631"/>
                <a:gd name="connsiteX39" fmla="*/ 489284 w 4569687"/>
                <a:gd name="connsiteY39" fmla="*/ 2361575 h 3734631"/>
                <a:gd name="connsiteX40" fmla="*/ 508084 w 4569687"/>
                <a:gd name="connsiteY40" fmla="*/ 2367411 h 3734631"/>
                <a:gd name="connsiteX41" fmla="*/ 503849 w 4569687"/>
                <a:gd name="connsiteY41" fmla="*/ 2325400 h 3734631"/>
                <a:gd name="connsiteX42" fmla="*/ 1121688 w 4569687"/>
                <a:gd name="connsiteY42" fmla="*/ 1707561 h 3734631"/>
                <a:gd name="connsiteX43" fmla="*/ 1246204 w 4569687"/>
                <a:gd name="connsiteY43" fmla="*/ 1720113 h 3734631"/>
                <a:gd name="connsiteX44" fmla="*/ 1284356 w 4569687"/>
                <a:gd name="connsiteY44" fmla="*/ 1731957 h 3734631"/>
                <a:gd name="connsiteX45" fmla="*/ 1305976 w 4569687"/>
                <a:gd name="connsiteY45" fmla="*/ 1705754 h 3734631"/>
                <a:gd name="connsiteX46" fmla="*/ 1742854 w 4569687"/>
                <a:gd name="connsiteY46" fmla="*/ 1524793 h 3734631"/>
                <a:gd name="connsiteX47" fmla="*/ 1760288 w 4569687"/>
                <a:gd name="connsiteY47" fmla="*/ 1526551 h 3734631"/>
                <a:gd name="connsiteX48" fmla="*/ 1748032 w 4569687"/>
                <a:gd name="connsiteY48" fmla="*/ 1487068 h 3734631"/>
                <a:gd name="connsiteX49" fmla="*/ 1742854 w 4569687"/>
                <a:gd name="connsiteY49" fmla="*/ 1435701 h 3734631"/>
                <a:gd name="connsiteX50" fmla="*/ 1946367 w 4569687"/>
                <a:gd name="connsiteY50" fmla="*/ 1185999 h 3734631"/>
                <a:gd name="connsiteX51" fmla="*/ 1956892 w 4569687"/>
                <a:gd name="connsiteY51" fmla="*/ 1184938 h 3734631"/>
                <a:gd name="connsiteX52" fmla="*/ 1963928 w 4569687"/>
                <a:gd name="connsiteY52" fmla="*/ 1115143 h 3734631"/>
                <a:gd name="connsiteX53" fmla="*/ 2450363 w 4569687"/>
                <a:gd name="connsiteY53" fmla="*/ 718687 h 3734631"/>
                <a:gd name="connsiteX54" fmla="*/ 2520904 w 4569687"/>
                <a:gd name="connsiteY54" fmla="*/ 725798 h 3734631"/>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34207 w 4569687"/>
                <a:gd name="connsiteY30" fmla="*/ 3340352 h 3734631"/>
                <a:gd name="connsiteX31" fmla="*/ 1046262 w 4569687"/>
                <a:gd name="connsiteY31" fmla="*/ 3459623 h 3734631"/>
                <a:gd name="connsiteX32" fmla="*/ 647319 w 4569687"/>
                <a:gd name="connsiteY32" fmla="*/ 3134475 h 3734631"/>
                <a:gd name="connsiteX33" fmla="*/ 642925 w 4569687"/>
                <a:gd name="connsiteY33" fmla="*/ 3090891 h 3734631"/>
                <a:gd name="connsiteX34" fmla="*/ 634894 w 4569687"/>
                <a:gd name="connsiteY34" fmla="*/ 3098188 h 3734631"/>
                <a:gd name="connsiteX35" fmla="*/ 407216 w 4569687"/>
                <a:gd name="connsiteY35" fmla="*/ 3167734 h 3734631"/>
                <a:gd name="connsiteX36" fmla="*/ 0 w 4569687"/>
                <a:gd name="connsiteY36" fmla="*/ 2760518 h 3734631"/>
                <a:gd name="connsiteX37" fmla="*/ 407216 w 4569687"/>
                <a:gd name="connsiteY37" fmla="*/ 2353302 h 3734631"/>
                <a:gd name="connsiteX38" fmla="*/ 489284 w 4569687"/>
                <a:gd name="connsiteY38" fmla="*/ 2361575 h 3734631"/>
                <a:gd name="connsiteX39" fmla="*/ 508084 w 4569687"/>
                <a:gd name="connsiteY39" fmla="*/ 2367411 h 3734631"/>
                <a:gd name="connsiteX40" fmla="*/ 503849 w 4569687"/>
                <a:gd name="connsiteY40" fmla="*/ 2325400 h 3734631"/>
                <a:gd name="connsiteX41" fmla="*/ 1121688 w 4569687"/>
                <a:gd name="connsiteY41" fmla="*/ 1707561 h 3734631"/>
                <a:gd name="connsiteX42" fmla="*/ 1246204 w 4569687"/>
                <a:gd name="connsiteY42" fmla="*/ 1720113 h 3734631"/>
                <a:gd name="connsiteX43" fmla="*/ 1284356 w 4569687"/>
                <a:gd name="connsiteY43" fmla="*/ 1731957 h 3734631"/>
                <a:gd name="connsiteX44" fmla="*/ 1305976 w 4569687"/>
                <a:gd name="connsiteY44" fmla="*/ 1705754 h 3734631"/>
                <a:gd name="connsiteX45" fmla="*/ 1742854 w 4569687"/>
                <a:gd name="connsiteY45" fmla="*/ 1524793 h 3734631"/>
                <a:gd name="connsiteX46" fmla="*/ 1760288 w 4569687"/>
                <a:gd name="connsiteY46" fmla="*/ 1526551 h 3734631"/>
                <a:gd name="connsiteX47" fmla="*/ 1748032 w 4569687"/>
                <a:gd name="connsiteY47" fmla="*/ 1487068 h 3734631"/>
                <a:gd name="connsiteX48" fmla="*/ 1742854 w 4569687"/>
                <a:gd name="connsiteY48" fmla="*/ 1435701 h 3734631"/>
                <a:gd name="connsiteX49" fmla="*/ 1946367 w 4569687"/>
                <a:gd name="connsiteY49" fmla="*/ 1185999 h 3734631"/>
                <a:gd name="connsiteX50" fmla="*/ 1956892 w 4569687"/>
                <a:gd name="connsiteY50" fmla="*/ 1184938 h 3734631"/>
                <a:gd name="connsiteX51" fmla="*/ 1963928 w 4569687"/>
                <a:gd name="connsiteY51" fmla="*/ 1115143 h 3734631"/>
                <a:gd name="connsiteX52" fmla="*/ 2450363 w 4569687"/>
                <a:gd name="connsiteY52" fmla="*/ 718687 h 3734631"/>
                <a:gd name="connsiteX53" fmla="*/ 2520904 w 4569687"/>
                <a:gd name="connsiteY53" fmla="*/ 725798 h 3734631"/>
                <a:gd name="connsiteX54" fmla="*/ 2611712 w 4569687"/>
                <a:gd name="connsiteY54" fmla="*/ 0 h 3734631"/>
                <a:gd name="connsiteX0" fmla="*/ 2611712 w 4569687"/>
                <a:gd name="connsiteY0" fmla="*/ 0 h 3743131"/>
                <a:gd name="connsiteX1" fmla="*/ 2927539 w 4569687"/>
                <a:gd name="connsiteY1" fmla="*/ 0 h 3743131"/>
                <a:gd name="connsiteX2" fmla="*/ 3010471 w 4569687"/>
                <a:gd name="connsiteY2" fmla="*/ 662843 h 3743131"/>
                <a:gd name="connsiteX3" fmla="*/ 3062414 w 4569687"/>
                <a:gd name="connsiteY3" fmla="*/ 672782 h 3743131"/>
                <a:gd name="connsiteX4" fmla="*/ 3375104 w 4569687"/>
                <a:gd name="connsiteY4" fmla="*/ 893768 h 3743131"/>
                <a:gd name="connsiteX5" fmla="*/ 3401966 w 4569687"/>
                <a:gd name="connsiteY5" fmla="*/ 943258 h 3743131"/>
                <a:gd name="connsiteX6" fmla="*/ 3444529 w 4569687"/>
                <a:gd name="connsiteY6" fmla="*/ 938967 h 3743131"/>
                <a:gd name="connsiteX7" fmla="*/ 3941882 w 4569687"/>
                <a:gd name="connsiteY7" fmla="*/ 1268635 h 3743131"/>
                <a:gd name="connsiteX8" fmla="*/ 3950232 w 4569687"/>
                <a:gd name="connsiteY8" fmla="*/ 1295533 h 3743131"/>
                <a:gd name="connsiteX9" fmla="*/ 3968452 w 4569687"/>
                <a:gd name="connsiteY9" fmla="*/ 1289878 h 3743131"/>
                <a:gd name="connsiteX10" fmla="*/ 4041773 w 4569687"/>
                <a:gd name="connsiteY10" fmla="*/ 1282486 h 3743131"/>
                <a:gd name="connsiteX11" fmla="*/ 4398197 w 4569687"/>
                <a:gd name="connsiteY11" fmla="*/ 1572980 h 3743131"/>
                <a:gd name="connsiteX12" fmla="*/ 4401113 w 4569687"/>
                <a:gd name="connsiteY12" fmla="*/ 1601912 h 3743131"/>
                <a:gd name="connsiteX13" fmla="*/ 4509768 w 4569687"/>
                <a:gd name="connsiteY13" fmla="*/ 1612865 h 3743131"/>
                <a:gd name="connsiteX14" fmla="*/ 4569687 w 4569687"/>
                <a:gd name="connsiteY14" fmla="*/ 1630661 h 3743131"/>
                <a:gd name="connsiteX15" fmla="*/ 4569687 w 4569687"/>
                <a:gd name="connsiteY15" fmla="*/ 3685776 h 3743131"/>
                <a:gd name="connsiteX16" fmla="*/ 4479175 w 4569687"/>
                <a:gd name="connsiteY16" fmla="*/ 3694900 h 3743131"/>
                <a:gd name="connsiteX17" fmla="*/ 4083674 w 4569687"/>
                <a:gd name="connsiteY17" fmla="*/ 3574092 h 3743131"/>
                <a:gd name="connsiteX18" fmla="*/ 4051094 w 4569687"/>
                <a:gd name="connsiteY18" fmla="*/ 3547210 h 3743131"/>
                <a:gd name="connsiteX19" fmla="*/ 4009782 w 4569687"/>
                <a:gd name="connsiteY19" fmla="*/ 3581295 h 3743131"/>
                <a:gd name="connsiteX20" fmla="*/ 3782104 w 4569687"/>
                <a:gd name="connsiteY20" fmla="*/ 3650841 h 3743131"/>
                <a:gd name="connsiteX21" fmla="*/ 3494159 w 4569687"/>
                <a:gd name="connsiteY21" fmla="*/ 3531570 h 3743131"/>
                <a:gd name="connsiteX22" fmla="*/ 3452428 w 4569687"/>
                <a:gd name="connsiteY22" fmla="*/ 3480992 h 3743131"/>
                <a:gd name="connsiteX23" fmla="*/ 3441126 w 4569687"/>
                <a:gd name="connsiteY23" fmla="*/ 3501813 h 3743131"/>
                <a:gd name="connsiteX24" fmla="*/ 3103456 w 4569687"/>
                <a:gd name="connsiteY24" fmla="*/ 3681351 h 3743131"/>
                <a:gd name="connsiteX25" fmla="*/ 2815511 w 4569687"/>
                <a:gd name="connsiteY25" fmla="*/ 3562080 h 3743131"/>
                <a:gd name="connsiteX26" fmla="*/ 2772231 w 4569687"/>
                <a:gd name="connsiteY26" fmla="*/ 3509625 h 3743131"/>
                <a:gd name="connsiteX27" fmla="*/ 2697608 w 4569687"/>
                <a:gd name="connsiteY27" fmla="*/ 3571194 h 3743131"/>
                <a:gd name="connsiteX28" fmla="*/ 2162552 w 4569687"/>
                <a:gd name="connsiteY28" fmla="*/ 3734631 h 3743131"/>
                <a:gd name="connsiteX29" fmla="*/ 1334207 w 4569687"/>
                <a:gd name="connsiteY29" fmla="*/ 3340352 h 3743131"/>
                <a:gd name="connsiteX30" fmla="*/ 1046262 w 4569687"/>
                <a:gd name="connsiteY30" fmla="*/ 3459623 h 3743131"/>
                <a:gd name="connsiteX31" fmla="*/ 647319 w 4569687"/>
                <a:gd name="connsiteY31" fmla="*/ 3134475 h 3743131"/>
                <a:gd name="connsiteX32" fmla="*/ 642925 w 4569687"/>
                <a:gd name="connsiteY32" fmla="*/ 3090891 h 3743131"/>
                <a:gd name="connsiteX33" fmla="*/ 634894 w 4569687"/>
                <a:gd name="connsiteY33" fmla="*/ 3098188 h 3743131"/>
                <a:gd name="connsiteX34" fmla="*/ 407216 w 4569687"/>
                <a:gd name="connsiteY34" fmla="*/ 3167734 h 3743131"/>
                <a:gd name="connsiteX35" fmla="*/ 0 w 4569687"/>
                <a:gd name="connsiteY35" fmla="*/ 2760518 h 3743131"/>
                <a:gd name="connsiteX36" fmla="*/ 407216 w 4569687"/>
                <a:gd name="connsiteY36" fmla="*/ 2353302 h 3743131"/>
                <a:gd name="connsiteX37" fmla="*/ 489284 w 4569687"/>
                <a:gd name="connsiteY37" fmla="*/ 2361575 h 3743131"/>
                <a:gd name="connsiteX38" fmla="*/ 508084 w 4569687"/>
                <a:gd name="connsiteY38" fmla="*/ 2367411 h 3743131"/>
                <a:gd name="connsiteX39" fmla="*/ 503849 w 4569687"/>
                <a:gd name="connsiteY39" fmla="*/ 2325400 h 3743131"/>
                <a:gd name="connsiteX40" fmla="*/ 1121688 w 4569687"/>
                <a:gd name="connsiteY40" fmla="*/ 1707561 h 3743131"/>
                <a:gd name="connsiteX41" fmla="*/ 1246204 w 4569687"/>
                <a:gd name="connsiteY41" fmla="*/ 1720113 h 3743131"/>
                <a:gd name="connsiteX42" fmla="*/ 1284356 w 4569687"/>
                <a:gd name="connsiteY42" fmla="*/ 1731957 h 3743131"/>
                <a:gd name="connsiteX43" fmla="*/ 1305976 w 4569687"/>
                <a:gd name="connsiteY43" fmla="*/ 1705754 h 3743131"/>
                <a:gd name="connsiteX44" fmla="*/ 1742854 w 4569687"/>
                <a:gd name="connsiteY44" fmla="*/ 1524793 h 3743131"/>
                <a:gd name="connsiteX45" fmla="*/ 1760288 w 4569687"/>
                <a:gd name="connsiteY45" fmla="*/ 1526551 h 3743131"/>
                <a:gd name="connsiteX46" fmla="*/ 1748032 w 4569687"/>
                <a:gd name="connsiteY46" fmla="*/ 1487068 h 3743131"/>
                <a:gd name="connsiteX47" fmla="*/ 1742854 w 4569687"/>
                <a:gd name="connsiteY47" fmla="*/ 1435701 h 3743131"/>
                <a:gd name="connsiteX48" fmla="*/ 1946367 w 4569687"/>
                <a:gd name="connsiteY48" fmla="*/ 1185999 h 3743131"/>
                <a:gd name="connsiteX49" fmla="*/ 1956892 w 4569687"/>
                <a:gd name="connsiteY49" fmla="*/ 1184938 h 3743131"/>
                <a:gd name="connsiteX50" fmla="*/ 1963928 w 4569687"/>
                <a:gd name="connsiteY50" fmla="*/ 1115143 h 3743131"/>
                <a:gd name="connsiteX51" fmla="*/ 2450363 w 4569687"/>
                <a:gd name="connsiteY51" fmla="*/ 718687 h 3743131"/>
                <a:gd name="connsiteX52" fmla="*/ 2520904 w 4569687"/>
                <a:gd name="connsiteY52" fmla="*/ 725798 h 3743131"/>
                <a:gd name="connsiteX53" fmla="*/ 2611712 w 4569687"/>
                <a:gd name="connsiteY53" fmla="*/ 0 h 3743131"/>
                <a:gd name="connsiteX0" fmla="*/ 2611712 w 4569687"/>
                <a:gd name="connsiteY0" fmla="*/ 0 h 3741630"/>
                <a:gd name="connsiteX1" fmla="*/ 2927539 w 4569687"/>
                <a:gd name="connsiteY1" fmla="*/ 0 h 3741630"/>
                <a:gd name="connsiteX2" fmla="*/ 3010471 w 4569687"/>
                <a:gd name="connsiteY2" fmla="*/ 662843 h 3741630"/>
                <a:gd name="connsiteX3" fmla="*/ 3062414 w 4569687"/>
                <a:gd name="connsiteY3" fmla="*/ 672782 h 3741630"/>
                <a:gd name="connsiteX4" fmla="*/ 3375104 w 4569687"/>
                <a:gd name="connsiteY4" fmla="*/ 893768 h 3741630"/>
                <a:gd name="connsiteX5" fmla="*/ 3401966 w 4569687"/>
                <a:gd name="connsiteY5" fmla="*/ 943258 h 3741630"/>
                <a:gd name="connsiteX6" fmla="*/ 3444529 w 4569687"/>
                <a:gd name="connsiteY6" fmla="*/ 938967 h 3741630"/>
                <a:gd name="connsiteX7" fmla="*/ 3941882 w 4569687"/>
                <a:gd name="connsiteY7" fmla="*/ 1268635 h 3741630"/>
                <a:gd name="connsiteX8" fmla="*/ 3950232 w 4569687"/>
                <a:gd name="connsiteY8" fmla="*/ 1295533 h 3741630"/>
                <a:gd name="connsiteX9" fmla="*/ 3968452 w 4569687"/>
                <a:gd name="connsiteY9" fmla="*/ 1289878 h 3741630"/>
                <a:gd name="connsiteX10" fmla="*/ 4041773 w 4569687"/>
                <a:gd name="connsiteY10" fmla="*/ 1282486 h 3741630"/>
                <a:gd name="connsiteX11" fmla="*/ 4398197 w 4569687"/>
                <a:gd name="connsiteY11" fmla="*/ 1572980 h 3741630"/>
                <a:gd name="connsiteX12" fmla="*/ 4401113 w 4569687"/>
                <a:gd name="connsiteY12" fmla="*/ 1601912 h 3741630"/>
                <a:gd name="connsiteX13" fmla="*/ 4509768 w 4569687"/>
                <a:gd name="connsiteY13" fmla="*/ 1612865 h 3741630"/>
                <a:gd name="connsiteX14" fmla="*/ 4569687 w 4569687"/>
                <a:gd name="connsiteY14" fmla="*/ 1630661 h 3741630"/>
                <a:gd name="connsiteX15" fmla="*/ 4569687 w 4569687"/>
                <a:gd name="connsiteY15" fmla="*/ 3685776 h 3741630"/>
                <a:gd name="connsiteX16" fmla="*/ 4479175 w 4569687"/>
                <a:gd name="connsiteY16" fmla="*/ 3694900 h 3741630"/>
                <a:gd name="connsiteX17" fmla="*/ 4083674 w 4569687"/>
                <a:gd name="connsiteY17" fmla="*/ 3574092 h 3741630"/>
                <a:gd name="connsiteX18" fmla="*/ 4051094 w 4569687"/>
                <a:gd name="connsiteY18" fmla="*/ 3547210 h 3741630"/>
                <a:gd name="connsiteX19" fmla="*/ 4009782 w 4569687"/>
                <a:gd name="connsiteY19" fmla="*/ 3581295 h 3741630"/>
                <a:gd name="connsiteX20" fmla="*/ 3782104 w 4569687"/>
                <a:gd name="connsiteY20" fmla="*/ 3650841 h 3741630"/>
                <a:gd name="connsiteX21" fmla="*/ 3494159 w 4569687"/>
                <a:gd name="connsiteY21" fmla="*/ 3531570 h 3741630"/>
                <a:gd name="connsiteX22" fmla="*/ 3452428 w 4569687"/>
                <a:gd name="connsiteY22" fmla="*/ 3480992 h 3741630"/>
                <a:gd name="connsiteX23" fmla="*/ 3441126 w 4569687"/>
                <a:gd name="connsiteY23" fmla="*/ 3501813 h 3741630"/>
                <a:gd name="connsiteX24" fmla="*/ 3103456 w 4569687"/>
                <a:gd name="connsiteY24" fmla="*/ 3681351 h 3741630"/>
                <a:gd name="connsiteX25" fmla="*/ 2815511 w 4569687"/>
                <a:gd name="connsiteY25" fmla="*/ 3562080 h 3741630"/>
                <a:gd name="connsiteX26" fmla="*/ 2772231 w 4569687"/>
                <a:gd name="connsiteY26" fmla="*/ 3509625 h 3741630"/>
                <a:gd name="connsiteX27" fmla="*/ 2697608 w 4569687"/>
                <a:gd name="connsiteY27" fmla="*/ 3571194 h 3741630"/>
                <a:gd name="connsiteX28" fmla="*/ 2162552 w 4569687"/>
                <a:gd name="connsiteY28" fmla="*/ 3734631 h 3741630"/>
                <a:gd name="connsiteX29" fmla="*/ 1390478 w 4569687"/>
                <a:gd name="connsiteY29" fmla="*/ 3368488 h 3741630"/>
                <a:gd name="connsiteX30" fmla="*/ 1046262 w 4569687"/>
                <a:gd name="connsiteY30" fmla="*/ 3459623 h 3741630"/>
                <a:gd name="connsiteX31" fmla="*/ 647319 w 4569687"/>
                <a:gd name="connsiteY31" fmla="*/ 3134475 h 3741630"/>
                <a:gd name="connsiteX32" fmla="*/ 642925 w 4569687"/>
                <a:gd name="connsiteY32" fmla="*/ 3090891 h 3741630"/>
                <a:gd name="connsiteX33" fmla="*/ 634894 w 4569687"/>
                <a:gd name="connsiteY33" fmla="*/ 3098188 h 3741630"/>
                <a:gd name="connsiteX34" fmla="*/ 407216 w 4569687"/>
                <a:gd name="connsiteY34" fmla="*/ 3167734 h 3741630"/>
                <a:gd name="connsiteX35" fmla="*/ 0 w 4569687"/>
                <a:gd name="connsiteY35" fmla="*/ 2760518 h 3741630"/>
                <a:gd name="connsiteX36" fmla="*/ 407216 w 4569687"/>
                <a:gd name="connsiteY36" fmla="*/ 2353302 h 3741630"/>
                <a:gd name="connsiteX37" fmla="*/ 489284 w 4569687"/>
                <a:gd name="connsiteY37" fmla="*/ 2361575 h 3741630"/>
                <a:gd name="connsiteX38" fmla="*/ 508084 w 4569687"/>
                <a:gd name="connsiteY38" fmla="*/ 2367411 h 3741630"/>
                <a:gd name="connsiteX39" fmla="*/ 503849 w 4569687"/>
                <a:gd name="connsiteY39" fmla="*/ 2325400 h 3741630"/>
                <a:gd name="connsiteX40" fmla="*/ 1121688 w 4569687"/>
                <a:gd name="connsiteY40" fmla="*/ 1707561 h 3741630"/>
                <a:gd name="connsiteX41" fmla="*/ 1246204 w 4569687"/>
                <a:gd name="connsiteY41" fmla="*/ 1720113 h 3741630"/>
                <a:gd name="connsiteX42" fmla="*/ 1284356 w 4569687"/>
                <a:gd name="connsiteY42" fmla="*/ 1731957 h 3741630"/>
                <a:gd name="connsiteX43" fmla="*/ 1305976 w 4569687"/>
                <a:gd name="connsiteY43" fmla="*/ 1705754 h 3741630"/>
                <a:gd name="connsiteX44" fmla="*/ 1742854 w 4569687"/>
                <a:gd name="connsiteY44" fmla="*/ 1524793 h 3741630"/>
                <a:gd name="connsiteX45" fmla="*/ 1760288 w 4569687"/>
                <a:gd name="connsiteY45" fmla="*/ 1526551 h 3741630"/>
                <a:gd name="connsiteX46" fmla="*/ 1748032 w 4569687"/>
                <a:gd name="connsiteY46" fmla="*/ 1487068 h 3741630"/>
                <a:gd name="connsiteX47" fmla="*/ 1742854 w 4569687"/>
                <a:gd name="connsiteY47" fmla="*/ 1435701 h 3741630"/>
                <a:gd name="connsiteX48" fmla="*/ 1946367 w 4569687"/>
                <a:gd name="connsiteY48" fmla="*/ 1185999 h 3741630"/>
                <a:gd name="connsiteX49" fmla="*/ 1956892 w 4569687"/>
                <a:gd name="connsiteY49" fmla="*/ 1184938 h 3741630"/>
                <a:gd name="connsiteX50" fmla="*/ 1963928 w 4569687"/>
                <a:gd name="connsiteY50" fmla="*/ 1115143 h 3741630"/>
                <a:gd name="connsiteX51" fmla="*/ 2450363 w 4569687"/>
                <a:gd name="connsiteY51" fmla="*/ 718687 h 3741630"/>
                <a:gd name="connsiteX52" fmla="*/ 2520904 w 4569687"/>
                <a:gd name="connsiteY52" fmla="*/ 725798 h 3741630"/>
                <a:gd name="connsiteX53" fmla="*/ 2611712 w 4569687"/>
                <a:gd name="connsiteY53" fmla="*/ 0 h 37416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569687" h="3734730">
                  <a:moveTo>
                    <a:pt x="2611712" y="0"/>
                  </a:moveTo>
                  <a:lnTo>
                    <a:pt x="2927539" y="0"/>
                  </a:lnTo>
                  <a:lnTo>
                    <a:pt x="3010471" y="662843"/>
                  </a:lnTo>
                  <a:lnTo>
                    <a:pt x="3062414" y="672782"/>
                  </a:lnTo>
                  <a:cubicBezTo>
                    <a:pt x="3191764" y="706062"/>
                    <a:pt x="3302353" y="786083"/>
                    <a:pt x="3375104" y="893768"/>
                  </a:cubicBezTo>
                  <a:lnTo>
                    <a:pt x="3401966" y="943258"/>
                  </a:lnTo>
                  <a:lnTo>
                    <a:pt x="3444529" y="938967"/>
                  </a:lnTo>
                  <a:cubicBezTo>
                    <a:pt x="3668109" y="938967"/>
                    <a:pt x="3859940" y="1074903"/>
                    <a:pt x="3941882" y="1268635"/>
                  </a:cubicBezTo>
                  <a:lnTo>
                    <a:pt x="3950232" y="1295533"/>
                  </a:lnTo>
                  <a:lnTo>
                    <a:pt x="3968452" y="1289878"/>
                  </a:lnTo>
                  <a:cubicBezTo>
                    <a:pt x="3992135" y="1285031"/>
                    <a:pt x="4016657" y="1282486"/>
                    <a:pt x="4041773" y="1282486"/>
                  </a:cubicBezTo>
                  <a:cubicBezTo>
                    <a:pt x="4217586" y="1282486"/>
                    <a:pt x="4364272" y="1407196"/>
                    <a:pt x="4398197" y="1572980"/>
                  </a:cubicBezTo>
                  <a:lnTo>
                    <a:pt x="4401113" y="1601912"/>
                  </a:lnTo>
                  <a:lnTo>
                    <a:pt x="4509768" y="1612865"/>
                  </a:lnTo>
                  <a:lnTo>
                    <a:pt x="4569687" y="1630661"/>
                  </a:lnTo>
                  <a:lnTo>
                    <a:pt x="4569687" y="3685776"/>
                  </a:lnTo>
                  <a:lnTo>
                    <a:pt x="4479175" y="3694900"/>
                  </a:lnTo>
                  <a:cubicBezTo>
                    <a:pt x="4332673" y="3694900"/>
                    <a:pt x="4196572" y="3650364"/>
                    <a:pt x="4083674" y="3574092"/>
                  </a:cubicBezTo>
                  <a:lnTo>
                    <a:pt x="4051094" y="3547210"/>
                  </a:lnTo>
                  <a:lnTo>
                    <a:pt x="4009782" y="3581295"/>
                  </a:lnTo>
                  <a:cubicBezTo>
                    <a:pt x="3944790" y="3625203"/>
                    <a:pt x="3866441" y="3650841"/>
                    <a:pt x="3782104" y="3650841"/>
                  </a:cubicBezTo>
                  <a:cubicBezTo>
                    <a:pt x="3669655" y="3650841"/>
                    <a:pt x="3567851" y="3605262"/>
                    <a:pt x="3494159" y="3531570"/>
                  </a:cubicBezTo>
                  <a:lnTo>
                    <a:pt x="3452428" y="3480992"/>
                  </a:lnTo>
                  <a:lnTo>
                    <a:pt x="3441126" y="3501813"/>
                  </a:lnTo>
                  <a:cubicBezTo>
                    <a:pt x="3367946" y="3610134"/>
                    <a:pt x="3244018" y="3681351"/>
                    <a:pt x="3103456" y="3681351"/>
                  </a:cubicBezTo>
                  <a:cubicBezTo>
                    <a:pt x="2991007" y="3681351"/>
                    <a:pt x="2889203" y="3635772"/>
                    <a:pt x="2815511" y="3562080"/>
                  </a:cubicBezTo>
                  <a:lnTo>
                    <a:pt x="2772231" y="3509625"/>
                  </a:lnTo>
                  <a:lnTo>
                    <a:pt x="2697608" y="3571194"/>
                  </a:lnTo>
                  <a:cubicBezTo>
                    <a:pt x="2544873" y="3674380"/>
                    <a:pt x="2382991" y="3737583"/>
                    <a:pt x="2162552" y="3734631"/>
                  </a:cubicBezTo>
                  <a:cubicBezTo>
                    <a:pt x="1740716" y="3728982"/>
                    <a:pt x="1534323" y="3547967"/>
                    <a:pt x="1390478" y="3368488"/>
                  </a:cubicBezTo>
                  <a:cubicBezTo>
                    <a:pt x="1316786" y="3442180"/>
                    <a:pt x="1170122" y="3498625"/>
                    <a:pt x="1046262" y="3459623"/>
                  </a:cubicBezTo>
                  <a:cubicBezTo>
                    <a:pt x="922402" y="3420621"/>
                    <a:pt x="685290" y="3320037"/>
                    <a:pt x="647319" y="3134475"/>
                  </a:cubicBezTo>
                  <a:lnTo>
                    <a:pt x="642925" y="3090891"/>
                  </a:lnTo>
                  <a:lnTo>
                    <a:pt x="634894" y="3098188"/>
                  </a:lnTo>
                  <a:cubicBezTo>
                    <a:pt x="569902" y="3142096"/>
                    <a:pt x="491553" y="3167734"/>
                    <a:pt x="407216" y="3167734"/>
                  </a:cubicBezTo>
                  <a:cubicBezTo>
                    <a:pt x="182317" y="3167734"/>
                    <a:pt x="0" y="2985417"/>
                    <a:pt x="0" y="2760518"/>
                  </a:cubicBezTo>
                  <a:cubicBezTo>
                    <a:pt x="0" y="2535619"/>
                    <a:pt x="182317" y="2353302"/>
                    <a:pt x="407216" y="2353302"/>
                  </a:cubicBezTo>
                  <a:cubicBezTo>
                    <a:pt x="435328" y="2353302"/>
                    <a:pt x="462775" y="2356151"/>
                    <a:pt x="489284" y="2361575"/>
                  </a:cubicBezTo>
                  <a:lnTo>
                    <a:pt x="508084" y="2367411"/>
                  </a:lnTo>
                  <a:lnTo>
                    <a:pt x="503849" y="2325400"/>
                  </a:lnTo>
                  <a:cubicBezTo>
                    <a:pt x="503849" y="1984177"/>
                    <a:pt x="780465" y="1707561"/>
                    <a:pt x="1121688" y="1707561"/>
                  </a:cubicBezTo>
                  <a:cubicBezTo>
                    <a:pt x="1164341" y="1707561"/>
                    <a:pt x="1205984" y="1711883"/>
                    <a:pt x="1246204" y="1720113"/>
                  </a:cubicBezTo>
                  <a:lnTo>
                    <a:pt x="1284356" y="1731957"/>
                  </a:lnTo>
                  <a:lnTo>
                    <a:pt x="1305976" y="1705754"/>
                  </a:lnTo>
                  <a:cubicBezTo>
                    <a:pt x="1417783" y="1593947"/>
                    <a:pt x="1572242" y="1524793"/>
                    <a:pt x="1742854" y="1524793"/>
                  </a:cubicBezTo>
                  <a:lnTo>
                    <a:pt x="1760288" y="1526551"/>
                  </a:lnTo>
                  <a:lnTo>
                    <a:pt x="1748032" y="1487068"/>
                  </a:lnTo>
                  <a:cubicBezTo>
                    <a:pt x="1744637" y="1470476"/>
                    <a:pt x="1742854" y="1453297"/>
                    <a:pt x="1742854" y="1435701"/>
                  </a:cubicBezTo>
                  <a:cubicBezTo>
                    <a:pt x="1742854" y="1312531"/>
                    <a:pt x="1830222" y="1209766"/>
                    <a:pt x="1946367" y="1185999"/>
                  </a:cubicBezTo>
                  <a:lnTo>
                    <a:pt x="1956892" y="1184938"/>
                  </a:lnTo>
                  <a:lnTo>
                    <a:pt x="1963928" y="1115143"/>
                  </a:lnTo>
                  <a:cubicBezTo>
                    <a:pt x="2010227" y="888886"/>
                    <a:pt x="2210419" y="718687"/>
                    <a:pt x="2450363" y="718687"/>
                  </a:cubicBezTo>
                  <a:lnTo>
                    <a:pt x="2520904" y="725798"/>
                  </a:lnTo>
                  <a:lnTo>
                    <a:pt x="2611712"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8" name="그룹 7">
              <a:extLst>
                <a:ext uri="{FF2B5EF4-FFF2-40B4-BE49-F238E27FC236}">
                  <a16:creationId xmlns:a16="http://schemas.microsoft.com/office/drawing/2014/main" id="{D0429EA9-A20D-4800-80F6-48970138B795}"/>
                </a:ext>
              </a:extLst>
            </p:cNvPr>
            <p:cNvGrpSpPr/>
            <p:nvPr userDrawn="1"/>
          </p:nvGrpSpPr>
          <p:grpSpPr>
            <a:xfrm>
              <a:off x="6992136" y="387072"/>
              <a:ext cx="704897" cy="1355021"/>
              <a:chOff x="5304862" y="-789923"/>
              <a:chExt cx="645890" cy="1241591"/>
            </a:xfrm>
          </p:grpSpPr>
          <p:grpSp>
            <p:nvGrpSpPr>
              <p:cNvPr id="9" name="그룹 8">
                <a:extLst>
                  <a:ext uri="{FF2B5EF4-FFF2-40B4-BE49-F238E27FC236}">
                    <a16:creationId xmlns:a16="http://schemas.microsoft.com/office/drawing/2014/main" id="{4817FF4C-CE41-4E26-9FB9-CB745F3234F3}"/>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id="{688B8353-32F5-4D6E-81D9-D597B60FA9D3}"/>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id="{155478D4-44EA-48AE-860F-E368AD673D0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id="{1861CCC0-CB32-42D2-947D-1907817DDDAE}"/>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id="{E3ED5D5D-DC92-4BF6-B431-CE8E43382FD0}"/>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57F372C6-9816-462E-83F5-DFD56E8AF164}"/>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F07321F0-763D-431A-87E5-1BD5F333CAE1}"/>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id="{D39A1E25-A8B6-4EE4-8AC8-D262A0C0D58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1290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0" y="0"/>
            <a:ext cx="2987824"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sp>
        <p:nvSpPr>
          <p:cNvPr id="10" name="Text Placeholder 9"/>
          <p:cNvSpPr>
            <a:spLocks noGrp="1"/>
          </p:cNvSpPr>
          <p:nvPr>
            <p:ph type="body" sz="quarter" idx="10" hasCustomPrompt="1"/>
          </p:nvPr>
        </p:nvSpPr>
        <p:spPr>
          <a:xfrm>
            <a:off x="467544" y="411510"/>
            <a:ext cx="2303282" cy="1368152"/>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467544" y="1779662"/>
            <a:ext cx="2303282" cy="504056"/>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27" name="그룹 26">
            <a:extLst>
              <a:ext uri="{FF2B5EF4-FFF2-40B4-BE49-F238E27FC236}">
                <a16:creationId xmlns:a16="http://schemas.microsoft.com/office/drawing/2014/main" id="{C5AC382A-C3B5-4BE0-B805-8F9094AFD7DC}"/>
              </a:ext>
            </a:extLst>
          </p:cNvPr>
          <p:cNvGrpSpPr/>
          <p:nvPr userDrawn="1"/>
        </p:nvGrpSpPr>
        <p:grpSpPr>
          <a:xfrm>
            <a:off x="0" y="2571749"/>
            <a:ext cx="2984923" cy="2571751"/>
            <a:chOff x="0" y="2571749"/>
            <a:chExt cx="2984923" cy="2571751"/>
          </a:xfrm>
        </p:grpSpPr>
        <p:grpSp>
          <p:nvGrpSpPr>
            <p:cNvPr id="6" name="Group 5"/>
            <p:cNvGrpSpPr/>
            <p:nvPr userDrawn="1"/>
          </p:nvGrpSpPr>
          <p:grpSpPr>
            <a:xfrm>
              <a:off x="0" y="4032469"/>
              <a:ext cx="2984923" cy="1111031"/>
              <a:chOff x="0" y="4032469"/>
              <a:chExt cx="2984923" cy="1111031"/>
            </a:xfrm>
          </p:grpSpPr>
          <p:sp>
            <p:nvSpPr>
              <p:cNvPr id="2" name="Rectangle 1"/>
              <p:cNvSpPr/>
              <p:nvPr userDrawn="1"/>
            </p:nvSpPr>
            <p:spPr>
              <a:xfrm>
                <a:off x="2527176" y="4443958"/>
                <a:ext cx="457200"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3" name="Oval 2"/>
              <p:cNvSpPr/>
              <p:nvPr userDrawn="1"/>
            </p:nvSpPr>
            <p:spPr>
              <a:xfrm>
                <a:off x="2128455" y="4032469"/>
                <a:ext cx="856468" cy="856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8" name="Rectangle 7"/>
              <p:cNvSpPr/>
              <p:nvPr userDrawn="1"/>
            </p:nvSpPr>
            <p:spPr>
              <a:xfrm>
                <a:off x="0" y="4363963"/>
                <a:ext cx="449249" cy="779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Oval 8"/>
              <p:cNvSpPr/>
              <p:nvPr userDrawn="1"/>
            </p:nvSpPr>
            <p:spPr>
              <a:xfrm>
                <a:off x="0" y="4117025"/>
                <a:ext cx="4572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26" name="자유형: 도형 25">
              <a:extLst>
                <a:ext uri="{FF2B5EF4-FFF2-40B4-BE49-F238E27FC236}">
                  <a16:creationId xmlns:a16="http://schemas.microsoft.com/office/drawing/2014/main" id="{A909D931-338B-4F68-B73A-DDF2CA17DD12}"/>
                </a:ext>
              </a:extLst>
            </p:cNvPr>
            <p:cNvSpPr/>
            <p:nvPr userDrawn="1"/>
          </p:nvSpPr>
          <p:spPr>
            <a:xfrm>
              <a:off x="0" y="3170955"/>
              <a:ext cx="2544134" cy="1972545"/>
            </a:xfrm>
            <a:custGeom>
              <a:avLst/>
              <a:gdLst>
                <a:gd name="connsiteX0" fmla="*/ 1395974 w 2544134"/>
                <a:gd name="connsiteY0" fmla="*/ 0 h 1972545"/>
                <a:gd name="connsiteX1" fmla="*/ 1581175 w 2544134"/>
                <a:gd name="connsiteY1" fmla="*/ 0 h 1972545"/>
                <a:gd name="connsiteX2" fmla="*/ 1629807 w 2544134"/>
                <a:gd name="connsiteY2" fmla="*/ 388693 h 1972545"/>
                <a:gd name="connsiteX3" fmla="*/ 1660266 w 2544134"/>
                <a:gd name="connsiteY3" fmla="*/ 394521 h 1972545"/>
                <a:gd name="connsiteX4" fmla="*/ 1843628 w 2544134"/>
                <a:gd name="connsiteY4" fmla="*/ 524107 h 1972545"/>
                <a:gd name="connsiteX5" fmla="*/ 1859380 w 2544134"/>
                <a:gd name="connsiteY5" fmla="*/ 553128 h 1972545"/>
                <a:gd name="connsiteX6" fmla="*/ 1884339 w 2544134"/>
                <a:gd name="connsiteY6" fmla="*/ 550612 h 1972545"/>
                <a:gd name="connsiteX7" fmla="*/ 2175988 w 2544134"/>
                <a:gd name="connsiteY7" fmla="*/ 743930 h 1972545"/>
                <a:gd name="connsiteX8" fmla="*/ 2180885 w 2544134"/>
                <a:gd name="connsiteY8" fmla="*/ 759703 h 1972545"/>
                <a:gd name="connsiteX9" fmla="*/ 2191569 w 2544134"/>
                <a:gd name="connsiteY9" fmla="*/ 756387 h 1972545"/>
                <a:gd name="connsiteX10" fmla="*/ 2234564 w 2544134"/>
                <a:gd name="connsiteY10" fmla="*/ 752052 h 1972545"/>
                <a:gd name="connsiteX11" fmla="*/ 2443572 w 2544134"/>
                <a:gd name="connsiteY11" fmla="*/ 922399 h 1972545"/>
                <a:gd name="connsiteX12" fmla="*/ 2445282 w 2544134"/>
                <a:gd name="connsiteY12" fmla="*/ 939364 h 1972545"/>
                <a:gd name="connsiteX13" fmla="*/ 2508998 w 2544134"/>
                <a:gd name="connsiteY13" fmla="*/ 945787 h 1972545"/>
                <a:gd name="connsiteX14" fmla="*/ 2544134 w 2544134"/>
                <a:gd name="connsiteY14" fmla="*/ 956223 h 1972545"/>
                <a:gd name="connsiteX15" fmla="*/ 2544134 w 2544134"/>
                <a:gd name="connsiteY15" fmla="*/ 1972545 h 1972545"/>
                <a:gd name="connsiteX16" fmla="*/ 354884 w 2544134"/>
                <a:gd name="connsiteY16" fmla="*/ 1972545 h 1972545"/>
                <a:gd name="connsiteX17" fmla="*/ 342134 w 2544134"/>
                <a:gd name="connsiteY17" fmla="*/ 1965625 h 1972545"/>
                <a:gd name="connsiteX18" fmla="*/ 244050 w 2544134"/>
                <a:gd name="connsiteY18" fmla="*/ 1838062 h 1972545"/>
                <a:gd name="connsiteX19" fmla="*/ 241474 w 2544134"/>
                <a:gd name="connsiteY19" fmla="*/ 1812505 h 1972545"/>
                <a:gd name="connsiteX20" fmla="*/ 236764 w 2544134"/>
                <a:gd name="connsiteY20" fmla="*/ 1816784 h 1972545"/>
                <a:gd name="connsiteX21" fmla="*/ 103253 w 2544134"/>
                <a:gd name="connsiteY21" fmla="*/ 1857566 h 1972545"/>
                <a:gd name="connsiteX22" fmla="*/ 10304 w 2544134"/>
                <a:gd name="connsiteY22" fmla="*/ 1838801 h 1972545"/>
                <a:gd name="connsiteX23" fmla="*/ 0 w 2544134"/>
                <a:gd name="connsiteY23" fmla="*/ 1833208 h 1972545"/>
                <a:gd name="connsiteX24" fmla="*/ 0 w 2544134"/>
                <a:gd name="connsiteY24" fmla="*/ 1404340 h 1972545"/>
                <a:gd name="connsiteX25" fmla="*/ 10304 w 2544134"/>
                <a:gd name="connsiteY25" fmla="*/ 1398747 h 1972545"/>
                <a:gd name="connsiteX26" fmla="*/ 103253 w 2544134"/>
                <a:gd name="connsiteY26" fmla="*/ 1379981 h 1972545"/>
                <a:gd name="connsiteX27" fmla="*/ 151378 w 2544134"/>
                <a:gd name="connsiteY27" fmla="*/ 1384832 h 1972545"/>
                <a:gd name="connsiteX28" fmla="*/ 162402 w 2544134"/>
                <a:gd name="connsiteY28" fmla="*/ 1388255 h 1972545"/>
                <a:gd name="connsiteX29" fmla="*/ 159919 w 2544134"/>
                <a:gd name="connsiteY29" fmla="*/ 1363619 h 1972545"/>
                <a:gd name="connsiteX30" fmla="*/ 522221 w 2544134"/>
                <a:gd name="connsiteY30" fmla="*/ 1001317 h 1972545"/>
                <a:gd name="connsiteX31" fmla="*/ 595237 w 2544134"/>
                <a:gd name="connsiteY31" fmla="*/ 1008678 h 1972545"/>
                <a:gd name="connsiteX32" fmla="*/ 617610 w 2544134"/>
                <a:gd name="connsiteY32" fmla="*/ 1015623 h 1972545"/>
                <a:gd name="connsiteX33" fmla="*/ 630288 w 2544134"/>
                <a:gd name="connsiteY33" fmla="*/ 1000258 h 1972545"/>
                <a:gd name="connsiteX34" fmla="*/ 886474 w 2544134"/>
                <a:gd name="connsiteY34" fmla="*/ 894142 h 1972545"/>
                <a:gd name="connsiteX35" fmla="*/ 896697 w 2544134"/>
                <a:gd name="connsiteY35" fmla="*/ 895173 h 1972545"/>
                <a:gd name="connsiteX36" fmla="*/ 889510 w 2544134"/>
                <a:gd name="connsiteY36" fmla="*/ 872020 h 1972545"/>
                <a:gd name="connsiteX37" fmla="*/ 886474 w 2544134"/>
                <a:gd name="connsiteY37" fmla="*/ 841898 h 1972545"/>
                <a:gd name="connsiteX38" fmla="*/ 1005814 w 2544134"/>
                <a:gd name="connsiteY38" fmla="*/ 695472 h 1972545"/>
                <a:gd name="connsiteX39" fmla="*/ 1011986 w 2544134"/>
                <a:gd name="connsiteY39" fmla="*/ 694850 h 1972545"/>
                <a:gd name="connsiteX40" fmla="*/ 1016112 w 2544134"/>
                <a:gd name="connsiteY40" fmla="*/ 653922 h 1972545"/>
                <a:gd name="connsiteX41" fmla="*/ 1301359 w 2544134"/>
                <a:gd name="connsiteY41" fmla="*/ 421440 h 1972545"/>
                <a:gd name="connsiteX42" fmla="*/ 1342724 w 2544134"/>
                <a:gd name="connsiteY42" fmla="*/ 425610 h 197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44134" h="1972545">
                  <a:moveTo>
                    <a:pt x="1395974" y="0"/>
                  </a:moveTo>
                  <a:lnTo>
                    <a:pt x="1581175" y="0"/>
                  </a:lnTo>
                  <a:lnTo>
                    <a:pt x="1629807" y="388693"/>
                  </a:lnTo>
                  <a:lnTo>
                    <a:pt x="1660266" y="394521"/>
                  </a:lnTo>
                  <a:cubicBezTo>
                    <a:pt x="1736117" y="414036"/>
                    <a:pt x="1800967" y="460961"/>
                    <a:pt x="1843628" y="524107"/>
                  </a:cubicBezTo>
                  <a:lnTo>
                    <a:pt x="1859380" y="553128"/>
                  </a:lnTo>
                  <a:lnTo>
                    <a:pt x="1884339" y="550612"/>
                  </a:lnTo>
                  <a:cubicBezTo>
                    <a:pt x="2015447" y="550612"/>
                    <a:pt x="2127937" y="630325"/>
                    <a:pt x="2175988" y="743930"/>
                  </a:cubicBezTo>
                  <a:lnTo>
                    <a:pt x="2180885" y="759703"/>
                  </a:lnTo>
                  <a:lnTo>
                    <a:pt x="2191569" y="756387"/>
                  </a:lnTo>
                  <a:cubicBezTo>
                    <a:pt x="2205457" y="753545"/>
                    <a:pt x="2219836" y="752052"/>
                    <a:pt x="2234564" y="752052"/>
                  </a:cubicBezTo>
                  <a:cubicBezTo>
                    <a:pt x="2337661" y="752052"/>
                    <a:pt x="2423678" y="825183"/>
                    <a:pt x="2443572" y="922399"/>
                  </a:cubicBezTo>
                  <a:lnTo>
                    <a:pt x="2445282" y="939364"/>
                  </a:lnTo>
                  <a:lnTo>
                    <a:pt x="2508998" y="945787"/>
                  </a:lnTo>
                  <a:lnTo>
                    <a:pt x="2544134" y="956223"/>
                  </a:lnTo>
                  <a:lnTo>
                    <a:pt x="2544134" y="1972545"/>
                  </a:lnTo>
                  <a:lnTo>
                    <a:pt x="354884" y="1972545"/>
                  </a:lnTo>
                  <a:lnTo>
                    <a:pt x="342134" y="1965625"/>
                  </a:lnTo>
                  <a:cubicBezTo>
                    <a:pt x="295511" y="1934418"/>
                    <a:pt x="255183" y="1892469"/>
                    <a:pt x="244050" y="1838062"/>
                  </a:cubicBezTo>
                  <a:lnTo>
                    <a:pt x="241474" y="1812505"/>
                  </a:lnTo>
                  <a:lnTo>
                    <a:pt x="236764" y="1816784"/>
                  </a:lnTo>
                  <a:cubicBezTo>
                    <a:pt x="198653" y="1842531"/>
                    <a:pt x="152709" y="1857566"/>
                    <a:pt x="103253" y="1857566"/>
                  </a:cubicBezTo>
                  <a:cubicBezTo>
                    <a:pt x="70283" y="1857566"/>
                    <a:pt x="38873" y="1850884"/>
                    <a:pt x="10304" y="1838801"/>
                  </a:cubicBezTo>
                  <a:lnTo>
                    <a:pt x="0" y="1833208"/>
                  </a:lnTo>
                  <a:lnTo>
                    <a:pt x="0" y="1404340"/>
                  </a:lnTo>
                  <a:lnTo>
                    <a:pt x="10304" y="1398747"/>
                  </a:lnTo>
                  <a:cubicBezTo>
                    <a:pt x="38873" y="1386663"/>
                    <a:pt x="70283" y="1379981"/>
                    <a:pt x="103253" y="1379981"/>
                  </a:cubicBezTo>
                  <a:cubicBezTo>
                    <a:pt x="119738" y="1379981"/>
                    <a:pt x="135833" y="1381652"/>
                    <a:pt x="151378" y="1384832"/>
                  </a:cubicBezTo>
                  <a:lnTo>
                    <a:pt x="162402" y="1388255"/>
                  </a:lnTo>
                  <a:lnTo>
                    <a:pt x="159919" y="1363619"/>
                  </a:lnTo>
                  <a:cubicBezTo>
                    <a:pt x="159919" y="1163525"/>
                    <a:pt x="322127" y="1001317"/>
                    <a:pt x="522221" y="1001317"/>
                  </a:cubicBezTo>
                  <a:cubicBezTo>
                    <a:pt x="547233" y="1001317"/>
                    <a:pt x="571652" y="1003852"/>
                    <a:pt x="595237" y="1008678"/>
                  </a:cubicBezTo>
                  <a:lnTo>
                    <a:pt x="617610" y="1015623"/>
                  </a:lnTo>
                  <a:lnTo>
                    <a:pt x="630288" y="1000258"/>
                  </a:lnTo>
                  <a:cubicBezTo>
                    <a:pt x="695852" y="934694"/>
                    <a:pt x="786427" y="894142"/>
                    <a:pt x="886474" y="894142"/>
                  </a:cubicBezTo>
                  <a:lnTo>
                    <a:pt x="896697" y="895173"/>
                  </a:lnTo>
                  <a:lnTo>
                    <a:pt x="889510" y="872020"/>
                  </a:lnTo>
                  <a:cubicBezTo>
                    <a:pt x="887519" y="862290"/>
                    <a:pt x="886474" y="852216"/>
                    <a:pt x="886474" y="841898"/>
                  </a:cubicBezTo>
                  <a:cubicBezTo>
                    <a:pt x="886474" y="769671"/>
                    <a:pt x="937707" y="709409"/>
                    <a:pt x="1005814" y="695472"/>
                  </a:cubicBezTo>
                  <a:lnTo>
                    <a:pt x="1011986" y="694850"/>
                  </a:lnTo>
                  <a:lnTo>
                    <a:pt x="1016112" y="653922"/>
                  </a:lnTo>
                  <a:cubicBezTo>
                    <a:pt x="1043262" y="521245"/>
                    <a:pt x="1160655" y="421440"/>
                    <a:pt x="1301359" y="421440"/>
                  </a:cubicBezTo>
                  <a:lnTo>
                    <a:pt x="1342724" y="4256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15" name="그룹 14">
              <a:extLst>
                <a:ext uri="{FF2B5EF4-FFF2-40B4-BE49-F238E27FC236}">
                  <a16:creationId xmlns:a16="http://schemas.microsoft.com/office/drawing/2014/main" id="{835AEBDB-6E77-465B-802B-2411CB9307EC}"/>
                </a:ext>
              </a:extLst>
            </p:cNvPr>
            <p:cNvGrpSpPr/>
            <p:nvPr userDrawn="1"/>
          </p:nvGrpSpPr>
          <p:grpSpPr>
            <a:xfrm>
              <a:off x="1278074" y="2571749"/>
              <a:ext cx="413353" cy="794587"/>
              <a:chOff x="5304862" y="-789923"/>
              <a:chExt cx="645890" cy="1241591"/>
            </a:xfrm>
          </p:grpSpPr>
          <p:grpSp>
            <p:nvGrpSpPr>
              <p:cNvPr id="16" name="그룹 15">
                <a:extLst>
                  <a:ext uri="{FF2B5EF4-FFF2-40B4-BE49-F238E27FC236}">
                    <a16:creationId xmlns:a16="http://schemas.microsoft.com/office/drawing/2014/main" id="{5E76A47E-F7A7-4DA1-9B8C-D7B1A60D5D71}"/>
                  </a:ext>
                </a:extLst>
              </p:cNvPr>
              <p:cNvGrpSpPr/>
              <p:nvPr userDrawn="1"/>
            </p:nvGrpSpPr>
            <p:grpSpPr>
              <a:xfrm>
                <a:off x="5377232" y="-789923"/>
                <a:ext cx="495969" cy="1052585"/>
                <a:chOff x="5868144" y="-857099"/>
                <a:chExt cx="495969" cy="1052585"/>
              </a:xfrm>
            </p:grpSpPr>
            <p:sp>
              <p:nvSpPr>
                <p:cNvPr id="21" name="이등변 삼각형 49">
                  <a:extLst>
                    <a:ext uri="{FF2B5EF4-FFF2-40B4-BE49-F238E27FC236}">
                      <a16:creationId xmlns:a16="http://schemas.microsoft.com/office/drawing/2014/main" id="{67190486-51A1-4AB6-8B4F-B570F9832336}"/>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56F15390-B3DB-4D76-834D-291CE0D12AD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자유형: 도형 22">
                  <a:extLst>
                    <a:ext uri="{FF2B5EF4-FFF2-40B4-BE49-F238E27FC236}">
                      <a16:creationId xmlns:a16="http://schemas.microsoft.com/office/drawing/2014/main" id="{3BA87288-70D8-4753-8DAA-8CA1C332EF6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타원 16">
                <a:extLst>
                  <a:ext uri="{FF2B5EF4-FFF2-40B4-BE49-F238E27FC236}">
                    <a16:creationId xmlns:a16="http://schemas.microsoft.com/office/drawing/2014/main" id="{AD475AD4-CA04-4B61-9BB4-408BA6A11E05}"/>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1B106404-A3F8-4193-8435-FA430BEB5473}"/>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자유형: 도형 18">
                <a:extLst>
                  <a:ext uri="{FF2B5EF4-FFF2-40B4-BE49-F238E27FC236}">
                    <a16:creationId xmlns:a16="http://schemas.microsoft.com/office/drawing/2014/main" id="{9408417A-6F35-4CB8-93DD-4FB5074FE702}"/>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자유형: 도형 19">
                <a:extLst>
                  <a:ext uri="{FF2B5EF4-FFF2-40B4-BE49-F238E27FC236}">
                    <a16:creationId xmlns:a16="http://schemas.microsoft.com/office/drawing/2014/main" id="{3058858D-8ACE-40F2-B778-D2BFBF4553F3}"/>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Frame 11"/>
          <p:cNvSpPr/>
          <p:nvPr userDrawn="1"/>
        </p:nvSpPr>
        <p:spPr>
          <a:xfrm>
            <a:off x="251520" y="339502"/>
            <a:ext cx="8640960" cy="4464496"/>
          </a:xfrm>
          <a:prstGeom prst="frame">
            <a:avLst>
              <a:gd name="adj1" fmla="val 123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2340375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llo Slide Layout">
    <p:spTree>
      <p:nvGrpSpPr>
        <p:cNvPr id="1" name=""/>
        <p:cNvGrpSpPr/>
        <p:nvPr/>
      </p:nvGrpSpPr>
      <p:grpSpPr>
        <a:xfrm>
          <a:off x="0" y="0"/>
          <a:ext cx="0" cy="0"/>
          <a:chOff x="0" y="0"/>
          <a:chExt cx="0" cy="0"/>
        </a:xfrm>
      </p:grpSpPr>
      <p:sp>
        <p:nvSpPr>
          <p:cNvPr id="4" name="Rectangle 3"/>
          <p:cNvSpPr/>
          <p:nvPr userDrawn="1"/>
        </p:nvSpPr>
        <p:spPr>
          <a:xfrm>
            <a:off x="0" y="0"/>
            <a:ext cx="9144000" cy="13476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3EB7A4-0598-4887-ACB7-E8220F8DDFED}"/>
              </a:ext>
            </a:extLst>
          </p:cNvPr>
          <p:cNvGrpSpPr/>
          <p:nvPr userDrawn="1"/>
        </p:nvGrpSpPr>
        <p:grpSpPr>
          <a:xfrm>
            <a:off x="1902711" y="232356"/>
            <a:ext cx="5620059" cy="4638441"/>
            <a:chOff x="1902711" y="497586"/>
            <a:chExt cx="5620059" cy="4638441"/>
          </a:xfrm>
        </p:grpSpPr>
        <p:grpSp>
          <p:nvGrpSpPr>
            <p:cNvPr id="53" name="그룹 52">
              <a:extLst>
                <a:ext uri="{FF2B5EF4-FFF2-40B4-BE49-F238E27FC236}">
                  <a16:creationId xmlns:a16="http://schemas.microsoft.com/office/drawing/2014/main" id="{C4167999-582F-4DE1-8524-427663DA86EB}"/>
                </a:ext>
              </a:extLst>
            </p:cNvPr>
            <p:cNvGrpSpPr/>
            <p:nvPr userDrawn="1"/>
          </p:nvGrpSpPr>
          <p:grpSpPr>
            <a:xfrm>
              <a:off x="1902711" y="1537517"/>
              <a:ext cx="5620059" cy="3598510"/>
              <a:chOff x="2401342" y="248706"/>
              <a:chExt cx="5620059" cy="3598510"/>
            </a:xfrm>
            <a:solidFill>
              <a:schemeClr val="bg1"/>
            </a:solidFill>
          </p:grpSpPr>
          <p:sp>
            <p:nvSpPr>
              <p:cNvPr id="54" name="Oval 11">
                <a:extLst>
                  <a:ext uri="{FF2B5EF4-FFF2-40B4-BE49-F238E27FC236}">
                    <a16:creationId xmlns:a16="http://schemas.microsoft.com/office/drawing/2014/main" id="{36E509A3-52CE-4453-9564-E704D9C6F3F0}"/>
                  </a:ext>
                </a:extLst>
              </p:cNvPr>
              <p:cNvSpPr/>
              <p:nvPr userDrawn="1"/>
            </p:nvSpPr>
            <p:spPr>
              <a:xfrm>
                <a:off x="4283968" y="941198"/>
                <a:ext cx="956850" cy="956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Oval 11">
                <a:extLst>
                  <a:ext uri="{FF2B5EF4-FFF2-40B4-BE49-F238E27FC236}">
                    <a16:creationId xmlns:a16="http://schemas.microsoft.com/office/drawing/2014/main" id="{D8641ACF-24EC-4119-AF47-45C5E6B69718}"/>
                  </a:ext>
                </a:extLst>
              </p:cNvPr>
              <p:cNvSpPr/>
              <p:nvPr userDrawn="1"/>
            </p:nvSpPr>
            <p:spPr>
              <a:xfrm>
                <a:off x="4080672" y="1386488"/>
                <a:ext cx="491180" cy="4911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Oval 11">
                <a:extLst>
                  <a:ext uri="{FF2B5EF4-FFF2-40B4-BE49-F238E27FC236}">
                    <a16:creationId xmlns:a16="http://schemas.microsoft.com/office/drawing/2014/main" id="{3873CDEC-688A-4EE6-8974-D80E43FF9273}"/>
                  </a:ext>
                </a:extLst>
              </p:cNvPr>
              <p:cNvSpPr/>
              <p:nvPr userDrawn="1"/>
            </p:nvSpPr>
            <p:spPr>
              <a:xfrm>
                <a:off x="3485352" y="1717923"/>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Oval 11">
                <a:extLst>
                  <a:ext uri="{FF2B5EF4-FFF2-40B4-BE49-F238E27FC236}">
                    <a16:creationId xmlns:a16="http://schemas.microsoft.com/office/drawing/2014/main" id="{B93DE707-F71B-42F6-A0EB-DFC85BA873B2}"/>
                  </a:ext>
                </a:extLst>
              </p:cNvPr>
              <p:cNvSpPr/>
              <p:nvPr userDrawn="1"/>
            </p:nvSpPr>
            <p:spPr>
              <a:xfrm>
                <a:off x="2886827" y="1894030"/>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Oval 11">
                <a:extLst>
                  <a:ext uri="{FF2B5EF4-FFF2-40B4-BE49-F238E27FC236}">
                    <a16:creationId xmlns:a16="http://schemas.microsoft.com/office/drawing/2014/main" id="{3A7AC84B-9DE8-4557-8141-47C15EEBD952}"/>
                  </a:ext>
                </a:extLst>
              </p:cNvPr>
              <p:cNvSpPr/>
              <p:nvPr userDrawn="1"/>
            </p:nvSpPr>
            <p:spPr>
              <a:xfrm>
                <a:off x="2401342" y="251623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Oval 11">
                <a:extLst>
                  <a:ext uri="{FF2B5EF4-FFF2-40B4-BE49-F238E27FC236}">
                    <a16:creationId xmlns:a16="http://schemas.microsoft.com/office/drawing/2014/main" id="{F200C86F-3147-4417-909C-8AA712602B15}"/>
                  </a:ext>
                </a:extLst>
              </p:cNvPr>
              <p:cNvSpPr/>
              <p:nvPr userDrawn="1"/>
            </p:nvSpPr>
            <p:spPr>
              <a:xfrm>
                <a:off x="3017096" y="279748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Oval 11">
                <a:extLst>
                  <a:ext uri="{FF2B5EF4-FFF2-40B4-BE49-F238E27FC236}">
                    <a16:creationId xmlns:a16="http://schemas.microsoft.com/office/drawing/2014/main" id="{C19D843C-2344-43CD-A232-FDCAF8F43CA5}"/>
                  </a:ext>
                </a:extLst>
              </p:cNvPr>
              <p:cNvSpPr/>
              <p:nvPr userDrawn="1"/>
            </p:nvSpPr>
            <p:spPr>
              <a:xfrm>
                <a:off x="3562974" y="2003019"/>
                <a:ext cx="1844197" cy="184419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Oval 11">
                <a:extLst>
                  <a:ext uri="{FF2B5EF4-FFF2-40B4-BE49-F238E27FC236}">
                    <a16:creationId xmlns:a16="http://schemas.microsoft.com/office/drawing/2014/main" id="{1D594D95-F75F-4683-A364-E7EFD943F93B}"/>
                  </a:ext>
                </a:extLst>
              </p:cNvPr>
              <p:cNvSpPr/>
              <p:nvPr userDrawn="1"/>
            </p:nvSpPr>
            <p:spPr>
              <a:xfrm>
                <a:off x="4999309" y="3011131"/>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Oval 11">
                <a:extLst>
                  <a:ext uri="{FF2B5EF4-FFF2-40B4-BE49-F238E27FC236}">
                    <a16:creationId xmlns:a16="http://schemas.microsoft.com/office/drawing/2014/main" id="{95DD39E7-93D6-494C-A36E-247288990A90}"/>
                  </a:ext>
                </a:extLst>
              </p:cNvPr>
              <p:cNvSpPr/>
              <p:nvPr userDrawn="1"/>
            </p:nvSpPr>
            <p:spPr>
              <a:xfrm>
                <a:off x="5653222" y="2981733"/>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Oval 11">
                <a:extLst>
                  <a:ext uri="{FF2B5EF4-FFF2-40B4-BE49-F238E27FC236}">
                    <a16:creationId xmlns:a16="http://schemas.microsoft.com/office/drawing/2014/main" id="{0724B3EB-D2BA-46AD-9B24-8F61182FFCCE}"/>
                  </a:ext>
                </a:extLst>
              </p:cNvPr>
              <p:cNvSpPr/>
              <p:nvPr userDrawn="1"/>
            </p:nvSpPr>
            <p:spPr>
              <a:xfrm>
                <a:off x="6035666" y="2445747"/>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Oval 11">
                <a:extLst>
                  <a:ext uri="{FF2B5EF4-FFF2-40B4-BE49-F238E27FC236}">
                    <a16:creationId xmlns:a16="http://schemas.microsoft.com/office/drawing/2014/main" id="{BDBBA2C7-3C34-4968-B283-7486C3E66CD2}"/>
                  </a:ext>
                </a:extLst>
              </p:cNvPr>
              <p:cNvSpPr/>
              <p:nvPr userDrawn="1"/>
            </p:nvSpPr>
            <p:spPr>
              <a:xfrm>
                <a:off x="7037784" y="2729409"/>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Oval 11">
                <a:extLst>
                  <a:ext uri="{FF2B5EF4-FFF2-40B4-BE49-F238E27FC236}">
                    <a16:creationId xmlns:a16="http://schemas.microsoft.com/office/drawing/2014/main" id="{1D3596EF-83B2-4D77-9900-8FBA5EF934B2}"/>
                  </a:ext>
                </a:extLst>
              </p:cNvPr>
              <p:cNvSpPr/>
              <p:nvPr userDrawn="1"/>
            </p:nvSpPr>
            <p:spPr>
              <a:xfrm>
                <a:off x="6658215" y="1725625"/>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Oval 11">
                <a:extLst>
                  <a:ext uri="{FF2B5EF4-FFF2-40B4-BE49-F238E27FC236}">
                    <a16:creationId xmlns:a16="http://schemas.microsoft.com/office/drawing/2014/main" id="{478452D7-D34C-4072-B618-5EA4D20571B3}"/>
                  </a:ext>
                </a:extLst>
              </p:cNvPr>
              <p:cNvSpPr/>
              <p:nvPr userDrawn="1"/>
            </p:nvSpPr>
            <p:spPr>
              <a:xfrm>
                <a:off x="4702059" y="880592"/>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Oval 11">
                <a:extLst>
                  <a:ext uri="{FF2B5EF4-FFF2-40B4-BE49-F238E27FC236}">
                    <a16:creationId xmlns:a16="http://schemas.microsoft.com/office/drawing/2014/main" id="{B67A8B79-3441-4CEE-82A3-001ECBD4DD6C}"/>
                  </a:ext>
                </a:extLst>
              </p:cNvPr>
              <p:cNvSpPr/>
              <p:nvPr userDrawn="1"/>
            </p:nvSpPr>
            <p:spPr>
              <a:xfrm>
                <a:off x="5200227" y="115344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Oval 11">
                <a:extLst>
                  <a:ext uri="{FF2B5EF4-FFF2-40B4-BE49-F238E27FC236}">
                    <a16:creationId xmlns:a16="http://schemas.microsoft.com/office/drawing/2014/main" id="{39EC19EA-7198-4F0B-A95B-49D0CF19C8F2}"/>
                  </a:ext>
                </a:extLst>
              </p:cNvPr>
              <p:cNvSpPr/>
              <p:nvPr userDrawn="1"/>
            </p:nvSpPr>
            <p:spPr>
              <a:xfrm>
                <a:off x="5945245" y="1484448"/>
                <a:ext cx="701108" cy="7011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Oval 11">
                <a:extLst>
                  <a:ext uri="{FF2B5EF4-FFF2-40B4-BE49-F238E27FC236}">
                    <a16:creationId xmlns:a16="http://schemas.microsoft.com/office/drawing/2014/main" id="{6F4820F4-E538-4700-880A-FA8685A41A3B}"/>
                  </a:ext>
                </a:extLst>
              </p:cNvPr>
              <p:cNvSpPr/>
              <p:nvPr userDrawn="1"/>
            </p:nvSpPr>
            <p:spPr>
              <a:xfrm>
                <a:off x="6121822" y="179221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Oval 11">
                <a:extLst>
                  <a:ext uri="{FF2B5EF4-FFF2-40B4-BE49-F238E27FC236}">
                    <a16:creationId xmlns:a16="http://schemas.microsoft.com/office/drawing/2014/main" id="{413F6B1E-425D-4873-9467-3AC4066BB2ED}"/>
                  </a:ext>
                </a:extLst>
              </p:cNvPr>
              <p:cNvSpPr/>
              <p:nvPr userDrawn="1"/>
            </p:nvSpPr>
            <p:spPr>
              <a:xfrm>
                <a:off x="4251327" y="1369850"/>
                <a:ext cx="2136016" cy="2136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사다리꼴 70">
                <a:extLst>
                  <a:ext uri="{FF2B5EF4-FFF2-40B4-BE49-F238E27FC236}">
                    <a16:creationId xmlns:a16="http://schemas.microsoft.com/office/drawing/2014/main" id="{B0CB0B17-591E-4DAC-A92C-EBD6A95CAE9D}"/>
                  </a:ext>
                </a:extLst>
              </p:cNvPr>
              <p:cNvSpPr/>
              <p:nvPr userDrawn="1"/>
            </p:nvSpPr>
            <p:spPr>
              <a:xfrm>
                <a:off x="4765704" y="248706"/>
                <a:ext cx="608632" cy="1216152"/>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2" name="그룹 71">
              <a:extLst>
                <a:ext uri="{FF2B5EF4-FFF2-40B4-BE49-F238E27FC236}">
                  <a16:creationId xmlns:a16="http://schemas.microsoft.com/office/drawing/2014/main" id="{0273FAE2-233C-451C-ABAD-157761C173D3}"/>
                </a:ext>
              </a:extLst>
            </p:cNvPr>
            <p:cNvGrpSpPr/>
            <p:nvPr userDrawn="1"/>
          </p:nvGrpSpPr>
          <p:grpSpPr>
            <a:xfrm>
              <a:off x="4249055" y="497586"/>
              <a:ext cx="645890" cy="1241591"/>
              <a:chOff x="5304862" y="-789923"/>
              <a:chExt cx="645890" cy="1241591"/>
            </a:xfrm>
          </p:grpSpPr>
          <p:grpSp>
            <p:nvGrpSpPr>
              <p:cNvPr id="73" name="그룹 72">
                <a:extLst>
                  <a:ext uri="{FF2B5EF4-FFF2-40B4-BE49-F238E27FC236}">
                    <a16:creationId xmlns:a16="http://schemas.microsoft.com/office/drawing/2014/main" id="{F294317C-D093-4716-BC39-F4EDB7B37133}"/>
                  </a:ext>
                </a:extLst>
              </p:cNvPr>
              <p:cNvGrpSpPr/>
              <p:nvPr userDrawn="1"/>
            </p:nvGrpSpPr>
            <p:grpSpPr>
              <a:xfrm>
                <a:off x="5377232" y="-789923"/>
                <a:ext cx="495969" cy="1052585"/>
                <a:chOff x="5868144" y="-857099"/>
                <a:chExt cx="495969" cy="1052585"/>
              </a:xfrm>
            </p:grpSpPr>
            <p:sp>
              <p:nvSpPr>
                <p:cNvPr id="78" name="이등변 삼각형 49">
                  <a:extLst>
                    <a:ext uri="{FF2B5EF4-FFF2-40B4-BE49-F238E27FC236}">
                      <a16:creationId xmlns:a16="http://schemas.microsoft.com/office/drawing/2014/main" id="{28122585-D90D-4D44-AC50-0A8C9106EF95}"/>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자유형: 도형 78">
                  <a:extLst>
                    <a:ext uri="{FF2B5EF4-FFF2-40B4-BE49-F238E27FC236}">
                      <a16:creationId xmlns:a16="http://schemas.microsoft.com/office/drawing/2014/main" id="{CA4A1B48-5DCF-4240-B908-5565A0B620C1}"/>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자유형: 도형 79">
                  <a:extLst>
                    <a:ext uri="{FF2B5EF4-FFF2-40B4-BE49-F238E27FC236}">
                      <a16:creationId xmlns:a16="http://schemas.microsoft.com/office/drawing/2014/main" id="{28D35705-FE6E-444A-A4F2-216FB36C2D3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4" name="타원 73">
                <a:extLst>
                  <a:ext uri="{FF2B5EF4-FFF2-40B4-BE49-F238E27FC236}">
                    <a16:creationId xmlns:a16="http://schemas.microsoft.com/office/drawing/2014/main" id="{833271DD-6F14-4B18-BE97-D6CF7744263D}"/>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직사각형 74">
                <a:extLst>
                  <a:ext uri="{FF2B5EF4-FFF2-40B4-BE49-F238E27FC236}">
                    <a16:creationId xmlns:a16="http://schemas.microsoft.com/office/drawing/2014/main" id="{32141932-F9EE-4187-BBBC-79F2AADC7FB5}"/>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자유형: 도형 75">
                <a:extLst>
                  <a:ext uri="{FF2B5EF4-FFF2-40B4-BE49-F238E27FC236}">
                    <a16:creationId xmlns:a16="http://schemas.microsoft.com/office/drawing/2014/main" id="{C4A28A23-9A45-480D-9AE0-AC8E03B407E4}"/>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자유형: 도형 76">
                <a:extLst>
                  <a:ext uri="{FF2B5EF4-FFF2-40B4-BE49-F238E27FC236}">
                    <a16:creationId xmlns:a16="http://schemas.microsoft.com/office/drawing/2014/main" id="{E5282C72-98DB-48D8-88FE-2DFA994D4B88}"/>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0" name="Text Placeholder 9"/>
          <p:cNvSpPr>
            <a:spLocks noGrp="1"/>
          </p:cNvSpPr>
          <p:nvPr>
            <p:ph type="body" sz="quarter" idx="10" hasCustomPrompt="1"/>
          </p:nvPr>
        </p:nvSpPr>
        <p:spPr>
          <a:xfrm>
            <a:off x="2616057" y="2931790"/>
            <a:ext cx="389493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15909" y="3579862"/>
            <a:ext cx="389493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3" name="Group 2"/>
          <p:cNvGrpSpPr/>
          <p:nvPr userDrawn="1"/>
        </p:nvGrpSpPr>
        <p:grpSpPr>
          <a:xfrm>
            <a:off x="6535596" y="1104508"/>
            <a:ext cx="672848" cy="486211"/>
            <a:chOff x="6495678" y="1779663"/>
            <a:chExt cx="672848" cy="486211"/>
          </a:xfrm>
        </p:grpSpPr>
        <p:sp>
          <p:nvSpPr>
            <p:cNvPr id="17" name="Oval 16"/>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Oval 17"/>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Oval 18"/>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1" name="Group 20"/>
          <p:cNvGrpSpPr/>
          <p:nvPr userDrawn="1"/>
        </p:nvGrpSpPr>
        <p:grpSpPr>
          <a:xfrm>
            <a:off x="2098952" y="2183144"/>
            <a:ext cx="524595" cy="379081"/>
            <a:chOff x="6495678" y="1779663"/>
            <a:chExt cx="672848" cy="486211"/>
          </a:xfrm>
        </p:grpSpPr>
        <p:sp>
          <p:nvSpPr>
            <p:cNvPr id="22" name="Oval 21"/>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Oval 22"/>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Oval 23"/>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Oval 24"/>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13605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grpSp>
        <p:nvGrpSpPr>
          <p:cNvPr id="13" name="Group 12"/>
          <p:cNvGrpSpPr/>
          <p:nvPr userDrawn="1"/>
        </p:nvGrpSpPr>
        <p:grpSpPr>
          <a:xfrm>
            <a:off x="3707904" y="1203090"/>
            <a:ext cx="1710999" cy="3600908"/>
            <a:chOff x="3797105" y="1404992"/>
            <a:chExt cx="1548895" cy="3471014"/>
          </a:xfrm>
        </p:grpSpPr>
        <p:sp>
          <p:nvSpPr>
            <p:cNvPr id="9" name="Rectangle 8"/>
            <p:cNvSpPr/>
            <p:nvPr userDrawn="1"/>
          </p:nvSpPr>
          <p:spPr>
            <a:xfrm>
              <a:off x="3797105" y="1909048"/>
              <a:ext cx="1548000" cy="246290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2" name="Isosceles Triangle 11"/>
            <p:cNvSpPr/>
            <p:nvPr userDrawn="1"/>
          </p:nvSpPr>
          <p:spPr>
            <a:xfrm>
              <a:off x="3797105" y="1404992"/>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Isosceles Triangle 13"/>
            <p:cNvSpPr/>
            <p:nvPr userDrawn="1"/>
          </p:nvSpPr>
          <p:spPr>
            <a:xfrm rot="10800000">
              <a:off x="3798000" y="4371950"/>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8" name="Picture Placeholder 2"/>
          <p:cNvSpPr>
            <a:spLocks noGrp="1"/>
          </p:cNvSpPr>
          <p:nvPr>
            <p:ph type="pic" idx="1" hasCustomPrompt="1"/>
          </p:nvPr>
        </p:nvSpPr>
        <p:spPr>
          <a:xfrm>
            <a:off x="3787227" y="1312181"/>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2" hasCustomPrompt="1"/>
          </p:nvPr>
        </p:nvSpPr>
        <p:spPr>
          <a:xfrm>
            <a:off x="2059035"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330843"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9" name="Picture Placeholder 2"/>
          <p:cNvSpPr>
            <a:spLocks noGrp="1"/>
          </p:cNvSpPr>
          <p:nvPr>
            <p:ph type="pic" idx="14" hasCustomPrompt="1"/>
          </p:nvPr>
        </p:nvSpPr>
        <p:spPr>
          <a:xfrm>
            <a:off x="7243611"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0" name="Picture Placeholder 2"/>
          <p:cNvSpPr>
            <a:spLocks noGrp="1"/>
          </p:cNvSpPr>
          <p:nvPr>
            <p:ph type="pic" idx="15" hasCustomPrompt="1"/>
          </p:nvPr>
        </p:nvSpPr>
        <p:spPr>
          <a:xfrm>
            <a:off x="5515419"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1933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3507854"/>
            <a:ext cx="9144000" cy="16356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5232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123"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8600" y="987574"/>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233772" y="4262137"/>
            <a:ext cx="8676456" cy="5418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7" name="Picture Placeholder 2"/>
          <p:cNvSpPr>
            <a:spLocks noGrp="1"/>
          </p:cNvSpPr>
          <p:nvPr>
            <p:ph type="pic" idx="1" hasCustomPrompt="1"/>
          </p:nvPr>
        </p:nvSpPr>
        <p:spPr>
          <a:xfrm>
            <a:off x="910339" y="1404993"/>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09192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1" name="그림 개체 틀 10">
            <a:extLst>
              <a:ext uri="{FF2B5EF4-FFF2-40B4-BE49-F238E27FC236}">
                <a16:creationId xmlns:a16="http://schemas.microsoft.com/office/drawing/2014/main" id="{24943D91-C407-41C1-8574-76661B571395}"/>
              </a:ext>
            </a:extLst>
          </p:cNvPr>
          <p:cNvSpPr>
            <a:spLocks noGrp="1"/>
          </p:cNvSpPr>
          <p:nvPr>
            <p:ph type="pic" idx="1" hasCustomPrompt="1"/>
          </p:nvPr>
        </p:nvSpPr>
        <p:spPr>
          <a:xfrm>
            <a:off x="5148065" y="1431235"/>
            <a:ext cx="2568434" cy="2280270"/>
          </a:xfrm>
          <a:custGeom>
            <a:avLst/>
            <a:gdLst>
              <a:gd name="connsiteX0" fmla="*/ 125450 w 2568434"/>
              <a:gd name="connsiteY0" fmla="*/ 111684 h 2280270"/>
              <a:gd name="connsiteX1" fmla="*/ 2442984 w 2568434"/>
              <a:gd name="connsiteY1" fmla="*/ 111684 h 2280270"/>
              <a:gd name="connsiteX2" fmla="*/ 2442984 w 2568434"/>
              <a:gd name="connsiteY2" fmla="*/ 2168586 h 2280270"/>
              <a:gd name="connsiteX3" fmla="*/ 125450 w 2568434"/>
              <a:gd name="connsiteY3" fmla="*/ 2168586 h 2280270"/>
              <a:gd name="connsiteX4" fmla="*/ 96085 w 2568434"/>
              <a:gd name="connsiteY4" fmla="*/ 82319 h 2280270"/>
              <a:gd name="connsiteX5" fmla="*/ 96085 w 2568434"/>
              <a:gd name="connsiteY5" fmla="*/ 2197951 h 2280270"/>
              <a:gd name="connsiteX6" fmla="*/ 2472349 w 2568434"/>
              <a:gd name="connsiteY6" fmla="*/ 2197951 h 2280270"/>
              <a:gd name="connsiteX7" fmla="*/ 2472349 w 2568434"/>
              <a:gd name="connsiteY7" fmla="*/ 82319 h 2280270"/>
              <a:gd name="connsiteX8" fmla="*/ 0 w 2568434"/>
              <a:gd name="connsiteY8" fmla="*/ 0 h 2280270"/>
              <a:gd name="connsiteX9" fmla="*/ 2568434 w 2568434"/>
              <a:gd name="connsiteY9" fmla="*/ 0 h 2280270"/>
              <a:gd name="connsiteX10" fmla="*/ 2568434 w 2568434"/>
              <a:gd name="connsiteY10" fmla="*/ 2280270 h 2280270"/>
              <a:gd name="connsiteX11" fmla="*/ 0 w 2568434"/>
              <a:gd name="connsiteY11" fmla="*/ 2280270 h 2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68434" h="2280270">
                <a:moveTo>
                  <a:pt x="125450" y="111684"/>
                </a:moveTo>
                <a:lnTo>
                  <a:pt x="2442984" y="111684"/>
                </a:lnTo>
                <a:lnTo>
                  <a:pt x="2442984" y="2168586"/>
                </a:lnTo>
                <a:lnTo>
                  <a:pt x="125450" y="2168586"/>
                </a:lnTo>
                <a:close/>
                <a:moveTo>
                  <a:pt x="96085" y="82319"/>
                </a:moveTo>
                <a:lnTo>
                  <a:pt x="96085" y="2197951"/>
                </a:lnTo>
                <a:lnTo>
                  <a:pt x="2472349" y="2197951"/>
                </a:lnTo>
                <a:lnTo>
                  <a:pt x="2472349" y="82319"/>
                </a:lnTo>
                <a:close/>
                <a:moveTo>
                  <a:pt x="0" y="0"/>
                </a:moveTo>
                <a:lnTo>
                  <a:pt x="2568434" y="0"/>
                </a:lnTo>
                <a:lnTo>
                  <a:pt x="2568434" y="2280270"/>
                </a:lnTo>
                <a:lnTo>
                  <a:pt x="0" y="228027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id="{D19E2BEF-0357-4B60-8F97-1B4CBD18E02A}"/>
              </a:ext>
            </a:extLst>
          </p:cNvPr>
          <p:cNvSpPr>
            <a:spLocks noGrp="1"/>
          </p:cNvSpPr>
          <p:nvPr>
            <p:ph type="pic" idx="10" hasCustomPrompt="1"/>
          </p:nvPr>
        </p:nvSpPr>
        <p:spPr>
          <a:xfrm>
            <a:off x="7704000" y="370350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그림 개체 틀 11">
            <a:extLst>
              <a:ext uri="{FF2B5EF4-FFF2-40B4-BE49-F238E27FC236}">
                <a16:creationId xmlns:a16="http://schemas.microsoft.com/office/drawing/2014/main" id="{C69723CC-367A-47C2-9C98-4E37F9539DBD}"/>
              </a:ext>
            </a:extLst>
          </p:cNvPr>
          <p:cNvSpPr>
            <a:spLocks noGrp="1"/>
          </p:cNvSpPr>
          <p:nvPr>
            <p:ph type="pic" idx="11" hasCustomPrompt="1"/>
          </p:nvPr>
        </p:nvSpPr>
        <p:spPr>
          <a:xfrm>
            <a:off x="3708064" y="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545435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1"/>
            <a:ext cx="9144000" cy="3076575"/>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8861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5143501"/>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639597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4572000"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9048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2" name="그림 개체 틀 11">
            <a:extLst>
              <a:ext uri="{FF2B5EF4-FFF2-40B4-BE49-F238E27FC236}">
                <a16:creationId xmlns:a16="http://schemas.microsoft.com/office/drawing/2014/main" id="{BC15B180-CBF0-499C-A764-95FA7614ACA6}"/>
              </a:ext>
            </a:extLst>
          </p:cNvPr>
          <p:cNvSpPr>
            <a:spLocks noGrp="1"/>
          </p:cNvSpPr>
          <p:nvPr>
            <p:ph type="pic" idx="1" hasCustomPrompt="1"/>
          </p:nvPr>
        </p:nvSpPr>
        <p:spPr>
          <a:xfrm>
            <a:off x="6984000" y="-1"/>
            <a:ext cx="2160000" cy="5143501"/>
          </a:xfrm>
          <a:custGeom>
            <a:avLst/>
            <a:gdLst>
              <a:gd name="connsiteX0" fmla="*/ 0 w 2160000"/>
              <a:gd name="connsiteY0" fmla="*/ 1425596 h 5143501"/>
              <a:gd name="connsiteX1" fmla="*/ 651889 w 2160000"/>
              <a:gd name="connsiteY1" fmla="*/ 2077485 h 5143501"/>
              <a:gd name="connsiteX2" fmla="*/ 0 w 2160000"/>
              <a:gd name="connsiteY2" fmla="*/ 2729373 h 5143501"/>
              <a:gd name="connsiteX3" fmla="*/ 0 w 2160000"/>
              <a:gd name="connsiteY3" fmla="*/ 0 h 5143501"/>
              <a:gd name="connsiteX4" fmla="*/ 2160000 w 2160000"/>
              <a:gd name="connsiteY4" fmla="*/ 0 h 5143501"/>
              <a:gd name="connsiteX5" fmla="*/ 2160000 w 2160000"/>
              <a:gd name="connsiteY5" fmla="*/ 5143501 h 5143501"/>
              <a:gd name="connsiteX6" fmla="*/ 0 w 2160000"/>
              <a:gd name="connsiteY6" fmla="*/ 5143501 h 5143501"/>
              <a:gd name="connsiteX7" fmla="*/ 0 w 2160000"/>
              <a:gd name="connsiteY7" fmla="*/ 2856759 h 5143501"/>
              <a:gd name="connsiteX8" fmla="*/ 779274 w 2160000"/>
              <a:gd name="connsiteY8" fmla="*/ 2077485 h 5143501"/>
              <a:gd name="connsiteX9" fmla="*/ 0 w 2160000"/>
              <a:gd name="connsiteY9" fmla="*/ 129821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0000" h="5143501">
                <a:moveTo>
                  <a:pt x="0" y="1425596"/>
                </a:moveTo>
                <a:lnTo>
                  <a:pt x="651889" y="2077485"/>
                </a:lnTo>
                <a:lnTo>
                  <a:pt x="0" y="2729373"/>
                </a:lnTo>
                <a:close/>
                <a:moveTo>
                  <a:pt x="0" y="0"/>
                </a:moveTo>
                <a:lnTo>
                  <a:pt x="2160000" y="0"/>
                </a:lnTo>
                <a:lnTo>
                  <a:pt x="2160000" y="5143501"/>
                </a:lnTo>
                <a:lnTo>
                  <a:pt x="0" y="5143501"/>
                </a:lnTo>
                <a:lnTo>
                  <a:pt x="0" y="2856759"/>
                </a:lnTo>
                <a:lnTo>
                  <a:pt x="779274" y="2077485"/>
                </a:lnTo>
                <a:lnTo>
                  <a:pt x="0" y="129821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4" name="그림 개체 틀 13">
            <a:extLst>
              <a:ext uri="{FF2B5EF4-FFF2-40B4-BE49-F238E27FC236}">
                <a16:creationId xmlns:a16="http://schemas.microsoft.com/office/drawing/2014/main" id="{1FA03D3A-E0EA-4B8F-B538-58CE5D4DB322}"/>
              </a:ext>
            </a:extLst>
          </p:cNvPr>
          <p:cNvSpPr>
            <a:spLocks noGrp="1"/>
          </p:cNvSpPr>
          <p:nvPr>
            <p:ph type="pic" idx="12" hasCustomPrompt="1"/>
          </p:nvPr>
        </p:nvSpPr>
        <p:spPr>
          <a:xfrm>
            <a:off x="4734004" y="2131318"/>
            <a:ext cx="2160000" cy="3012182"/>
          </a:xfrm>
          <a:custGeom>
            <a:avLst/>
            <a:gdLst>
              <a:gd name="connsiteX0" fmla="*/ 1563187 w 2160000"/>
              <a:gd name="connsiteY0" fmla="*/ 0 h 3012182"/>
              <a:gd name="connsiteX1" fmla="*/ 2160000 w 2160000"/>
              <a:gd name="connsiteY1" fmla="*/ 0 h 3012182"/>
              <a:gd name="connsiteX2" fmla="*/ 2160000 w 2160000"/>
              <a:gd name="connsiteY2" fmla="*/ 596813 h 3012182"/>
              <a:gd name="connsiteX3" fmla="*/ 0 w 2160000"/>
              <a:gd name="connsiteY3" fmla="*/ 0 h 3012182"/>
              <a:gd name="connsiteX4" fmla="*/ 1435802 w 2160000"/>
              <a:gd name="connsiteY4" fmla="*/ 0 h 3012182"/>
              <a:gd name="connsiteX5" fmla="*/ 2160000 w 2160000"/>
              <a:gd name="connsiteY5" fmla="*/ 724199 h 3012182"/>
              <a:gd name="connsiteX6" fmla="*/ 2160000 w 2160000"/>
              <a:gd name="connsiteY6" fmla="*/ 3012182 h 3012182"/>
              <a:gd name="connsiteX7" fmla="*/ 0 w 2160000"/>
              <a:gd name="connsiteY7" fmla="*/ 3012182 h 301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0000" h="3012182">
                <a:moveTo>
                  <a:pt x="1563187" y="0"/>
                </a:moveTo>
                <a:lnTo>
                  <a:pt x="2160000" y="0"/>
                </a:lnTo>
                <a:lnTo>
                  <a:pt x="2160000" y="596813"/>
                </a:lnTo>
                <a:close/>
                <a:moveTo>
                  <a:pt x="0" y="0"/>
                </a:moveTo>
                <a:lnTo>
                  <a:pt x="1435802" y="0"/>
                </a:lnTo>
                <a:lnTo>
                  <a:pt x="2160000" y="724199"/>
                </a:lnTo>
                <a:lnTo>
                  <a:pt x="2160000" y="3012182"/>
                </a:lnTo>
                <a:lnTo>
                  <a:pt x="0" y="3012182"/>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3492000" y="2131318"/>
            <a:ext cx="1152008" cy="301218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id="{1EBCCB12-3AC7-4A57-8E11-5324E7CB7D04}"/>
              </a:ext>
            </a:extLst>
          </p:cNvPr>
          <p:cNvSpPr>
            <a:spLocks noGrp="1"/>
          </p:cNvSpPr>
          <p:nvPr>
            <p:ph type="pic" idx="14" hasCustomPrompt="1"/>
          </p:nvPr>
        </p:nvSpPr>
        <p:spPr>
          <a:xfrm>
            <a:off x="3492000" y="-1"/>
            <a:ext cx="3393830" cy="2043485"/>
          </a:xfrm>
          <a:custGeom>
            <a:avLst/>
            <a:gdLst>
              <a:gd name="connsiteX0" fmla="*/ 3393830 w 3393830"/>
              <a:gd name="connsiteY0" fmla="*/ 1435011 h 2043485"/>
              <a:gd name="connsiteX1" fmla="*/ 3393830 w 3393830"/>
              <a:gd name="connsiteY1" fmla="*/ 2043485 h 2043485"/>
              <a:gd name="connsiteX2" fmla="*/ 2785356 w 3393830"/>
              <a:gd name="connsiteY2" fmla="*/ 2043485 h 2043485"/>
              <a:gd name="connsiteX3" fmla="*/ 0 w 3393830"/>
              <a:gd name="connsiteY3" fmla="*/ 0 h 2043485"/>
              <a:gd name="connsiteX4" fmla="*/ 3393830 w 3393830"/>
              <a:gd name="connsiteY4" fmla="*/ 0 h 2043485"/>
              <a:gd name="connsiteX5" fmla="*/ 3393830 w 3393830"/>
              <a:gd name="connsiteY5" fmla="*/ 1307626 h 2043485"/>
              <a:gd name="connsiteX6" fmla="*/ 2657971 w 3393830"/>
              <a:gd name="connsiteY6" fmla="*/ 2043485 h 2043485"/>
              <a:gd name="connsiteX7" fmla="*/ 0 w 3393830"/>
              <a:gd name="connsiteY7" fmla="*/ 2043485 h 204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3830" h="2043485">
                <a:moveTo>
                  <a:pt x="3393830" y="1435011"/>
                </a:moveTo>
                <a:lnTo>
                  <a:pt x="3393830" y="2043485"/>
                </a:lnTo>
                <a:lnTo>
                  <a:pt x="2785356" y="2043485"/>
                </a:lnTo>
                <a:close/>
                <a:moveTo>
                  <a:pt x="0" y="0"/>
                </a:moveTo>
                <a:lnTo>
                  <a:pt x="3393830" y="0"/>
                </a:lnTo>
                <a:lnTo>
                  <a:pt x="3393830" y="1307626"/>
                </a:lnTo>
                <a:lnTo>
                  <a:pt x="2657971" y="2043485"/>
                </a:lnTo>
                <a:lnTo>
                  <a:pt x="0" y="204348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58779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24" name="그림 개체 틀 23">
            <a:extLst>
              <a:ext uri="{FF2B5EF4-FFF2-40B4-BE49-F238E27FC236}">
                <a16:creationId xmlns:a16="http://schemas.microsoft.com/office/drawing/2014/main" id="{6F099B2E-9C61-4C91-AB24-AB7B70E2D2E0}"/>
              </a:ext>
            </a:extLst>
          </p:cNvPr>
          <p:cNvSpPr>
            <a:spLocks noGrp="1"/>
          </p:cNvSpPr>
          <p:nvPr>
            <p:ph type="pic" idx="18" hasCustomPrompt="1"/>
          </p:nvPr>
        </p:nvSpPr>
        <p:spPr>
          <a:xfrm>
            <a:off x="7301328" y="1495130"/>
            <a:ext cx="1840931" cy="3649326"/>
          </a:xfrm>
          <a:custGeom>
            <a:avLst/>
            <a:gdLst>
              <a:gd name="connsiteX0" fmla="*/ 540722 w 1840931"/>
              <a:gd name="connsiteY0" fmla="*/ 1288720 h 3649326"/>
              <a:gd name="connsiteX1" fmla="*/ 1084110 w 1840931"/>
              <a:gd name="connsiteY1" fmla="*/ 1832108 h 3649326"/>
              <a:gd name="connsiteX2" fmla="*/ 548200 w 1840931"/>
              <a:gd name="connsiteY2" fmla="*/ 2368018 h 3649326"/>
              <a:gd name="connsiteX3" fmla="*/ 0 w 1840931"/>
              <a:gd name="connsiteY3" fmla="*/ 1824663 h 3649326"/>
              <a:gd name="connsiteX4" fmla="*/ 1840931 w 1840931"/>
              <a:gd name="connsiteY4" fmla="*/ 0 h 3649326"/>
              <a:gd name="connsiteX5" fmla="*/ 1840931 w 1840931"/>
              <a:gd name="connsiteY5" fmla="*/ 3649326 h 3649326"/>
              <a:gd name="connsiteX6" fmla="*/ 609809 w 1840931"/>
              <a:gd name="connsiteY6" fmla="*/ 2429083 h 3649326"/>
              <a:gd name="connsiteX7" fmla="*/ 1206783 w 1840931"/>
              <a:gd name="connsiteY7" fmla="*/ 1832108 h 3649326"/>
              <a:gd name="connsiteX8" fmla="*/ 602331 w 1840931"/>
              <a:gd name="connsiteY8" fmla="*/ 1227655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0931" h="3649326">
                <a:moveTo>
                  <a:pt x="540722" y="1288720"/>
                </a:moveTo>
                <a:lnTo>
                  <a:pt x="1084110" y="1832108"/>
                </a:lnTo>
                <a:lnTo>
                  <a:pt x="548200" y="2368018"/>
                </a:lnTo>
                <a:lnTo>
                  <a:pt x="0" y="1824663"/>
                </a:lnTo>
                <a:close/>
                <a:moveTo>
                  <a:pt x="1840931" y="0"/>
                </a:moveTo>
                <a:lnTo>
                  <a:pt x="1840931" y="3649326"/>
                </a:lnTo>
                <a:lnTo>
                  <a:pt x="609809" y="2429083"/>
                </a:lnTo>
                <a:lnTo>
                  <a:pt x="1206783" y="1832108"/>
                </a:lnTo>
                <a:lnTo>
                  <a:pt x="602331" y="122765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3" name="그림 개체 틀 22">
            <a:extLst>
              <a:ext uri="{FF2B5EF4-FFF2-40B4-BE49-F238E27FC236}">
                <a16:creationId xmlns:a16="http://schemas.microsoft.com/office/drawing/2014/main" id="{02450FB2-6A00-42CF-B869-69B7A802C2C5}"/>
              </a:ext>
            </a:extLst>
          </p:cNvPr>
          <p:cNvSpPr>
            <a:spLocks noGrp="1"/>
          </p:cNvSpPr>
          <p:nvPr>
            <p:ph type="pic" idx="19" hasCustomPrompt="1"/>
          </p:nvPr>
        </p:nvSpPr>
        <p:spPr>
          <a:xfrm>
            <a:off x="5476381" y="3386021"/>
            <a:ext cx="3530788" cy="1769004"/>
          </a:xfrm>
          <a:custGeom>
            <a:avLst/>
            <a:gdLst>
              <a:gd name="connsiteX0" fmla="*/ 2368610 w 3530788"/>
              <a:gd name="connsiteY0" fmla="*/ 604337 h 1769004"/>
              <a:gd name="connsiteX1" fmla="*/ 3530788 w 3530788"/>
              <a:gd name="connsiteY1" fmla="*/ 1761052 h 1769004"/>
              <a:gd name="connsiteX2" fmla="*/ 0 w 3530788"/>
              <a:gd name="connsiteY2" fmla="*/ 1769004 h 1769004"/>
              <a:gd name="connsiteX3" fmla="*/ 1159186 w 3530788"/>
              <a:gd name="connsiteY3" fmla="*/ 604826 h 1769004"/>
              <a:gd name="connsiteX4" fmla="*/ 1763653 w 3530788"/>
              <a:gd name="connsiteY4" fmla="*/ 1209294 h 1769004"/>
              <a:gd name="connsiteX5" fmla="*/ 1761418 w 3530788"/>
              <a:gd name="connsiteY5" fmla="*/ 0 h 1769004"/>
              <a:gd name="connsiteX6" fmla="*/ 2307129 w 3530788"/>
              <a:gd name="connsiteY6" fmla="*/ 543145 h 1769004"/>
              <a:gd name="connsiteX7" fmla="*/ 1763653 w 3530788"/>
              <a:gd name="connsiteY7" fmla="*/ 1086621 h 1769004"/>
              <a:gd name="connsiteX8" fmla="*/ 1220390 w 3530788"/>
              <a:gd name="connsiteY8" fmla="*/ 543358 h 1769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0788" h="1769004">
                <a:moveTo>
                  <a:pt x="2368610" y="604337"/>
                </a:moveTo>
                <a:lnTo>
                  <a:pt x="3530788" y="1761052"/>
                </a:lnTo>
                <a:lnTo>
                  <a:pt x="0" y="1769004"/>
                </a:lnTo>
                <a:lnTo>
                  <a:pt x="1159186" y="604826"/>
                </a:lnTo>
                <a:lnTo>
                  <a:pt x="1763653" y="1209294"/>
                </a:lnTo>
                <a:close/>
                <a:moveTo>
                  <a:pt x="1761418" y="0"/>
                </a:moveTo>
                <a:lnTo>
                  <a:pt x="2307129" y="543145"/>
                </a:lnTo>
                <a:lnTo>
                  <a:pt x="1763653" y="1086621"/>
                </a:lnTo>
                <a:lnTo>
                  <a:pt x="1220390" y="543358"/>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2" name="그림 개체 틀 21">
            <a:extLst>
              <a:ext uri="{FF2B5EF4-FFF2-40B4-BE49-F238E27FC236}">
                <a16:creationId xmlns:a16="http://schemas.microsoft.com/office/drawing/2014/main" id="{818F7804-9A99-482C-9BFA-8B2E895ADDDC}"/>
              </a:ext>
            </a:extLst>
          </p:cNvPr>
          <p:cNvSpPr>
            <a:spLocks noGrp="1"/>
          </p:cNvSpPr>
          <p:nvPr>
            <p:ph type="pic" idx="20" hasCustomPrompt="1"/>
          </p:nvPr>
        </p:nvSpPr>
        <p:spPr>
          <a:xfrm>
            <a:off x="3491431" y="1495130"/>
            <a:ext cx="3681862" cy="3649326"/>
          </a:xfrm>
          <a:custGeom>
            <a:avLst/>
            <a:gdLst>
              <a:gd name="connsiteX0" fmla="*/ 3143876 w 3681862"/>
              <a:gd name="connsiteY0" fmla="*/ 1291431 h 3649326"/>
              <a:gd name="connsiteX1" fmla="*/ 3681862 w 3681862"/>
              <a:gd name="connsiteY1" fmla="*/ 1824663 h 3649326"/>
              <a:gd name="connsiteX2" fmla="*/ 3136398 w 3681862"/>
              <a:gd name="connsiteY2" fmla="*/ 2365307 h 3649326"/>
              <a:gd name="connsiteX3" fmla="*/ 2603199 w 3681862"/>
              <a:gd name="connsiteY3" fmla="*/ 1832108 h 3649326"/>
              <a:gd name="connsiteX4" fmla="*/ 1840931 w 3681862"/>
              <a:gd name="connsiteY4" fmla="*/ 0 h 3649326"/>
              <a:gd name="connsiteX5" fmla="*/ 3082267 w 3681862"/>
              <a:gd name="connsiteY5" fmla="*/ 1230367 h 3649326"/>
              <a:gd name="connsiteX6" fmla="*/ 2480526 w 3681862"/>
              <a:gd name="connsiteY6" fmla="*/ 1832108 h 3649326"/>
              <a:gd name="connsiteX7" fmla="*/ 3074789 w 3681862"/>
              <a:gd name="connsiteY7" fmla="*/ 2426371 h 3649326"/>
              <a:gd name="connsiteX8" fmla="*/ 1840931 w 3681862"/>
              <a:gd name="connsiteY8" fmla="*/ 3649326 h 3649326"/>
              <a:gd name="connsiteX9" fmla="*/ 0 w 3681862"/>
              <a:gd name="connsiteY9" fmla="*/ 1824663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862" h="3649326">
                <a:moveTo>
                  <a:pt x="3143876" y="1291431"/>
                </a:moveTo>
                <a:lnTo>
                  <a:pt x="3681862" y="1824663"/>
                </a:lnTo>
                <a:lnTo>
                  <a:pt x="3136398" y="2365307"/>
                </a:lnTo>
                <a:lnTo>
                  <a:pt x="2603199" y="1832108"/>
                </a:lnTo>
                <a:close/>
                <a:moveTo>
                  <a:pt x="1840931" y="0"/>
                </a:moveTo>
                <a:lnTo>
                  <a:pt x="3082267" y="1230367"/>
                </a:lnTo>
                <a:lnTo>
                  <a:pt x="2480526" y="1832108"/>
                </a:lnTo>
                <a:lnTo>
                  <a:pt x="3074789" y="2426371"/>
                </a:lnTo>
                <a:lnTo>
                  <a:pt x="1840931" y="3649326"/>
                </a:lnTo>
                <a:lnTo>
                  <a:pt x="0" y="1824663"/>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1" name="그림 개체 틀 20">
            <a:extLst>
              <a:ext uri="{FF2B5EF4-FFF2-40B4-BE49-F238E27FC236}">
                <a16:creationId xmlns:a16="http://schemas.microsoft.com/office/drawing/2014/main" id="{59353D25-D7C0-4FC1-88CF-A55DAFC5690D}"/>
              </a:ext>
            </a:extLst>
          </p:cNvPr>
          <p:cNvSpPr>
            <a:spLocks noGrp="1"/>
          </p:cNvSpPr>
          <p:nvPr>
            <p:ph type="pic" idx="21" hasCustomPrompt="1"/>
          </p:nvPr>
        </p:nvSpPr>
        <p:spPr>
          <a:xfrm>
            <a:off x="5396868" y="-11318"/>
            <a:ext cx="3681862" cy="3267664"/>
          </a:xfrm>
          <a:custGeom>
            <a:avLst/>
            <a:gdLst>
              <a:gd name="connsiteX0" fmla="*/ 1843166 w 3681862"/>
              <a:gd name="connsiteY0" fmla="*/ 2193152 h 3267664"/>
              <a:gd name="connsiteX1" fmla="*/ 2381694 w 3681862"/>
              <a:gd name="connsiteY1" fmla="*/ 2731680 h 3267664"/>
              <a:gd name="connsiteX2" fmla="*/ 1840931 w 3681862"/>
              <a:gd name="connsiteY2" fmla="*/ 3267664 h 3267664"/>
              <a:gd name="connsiteX3" fmla="*/ 1302413 w 3681862"/>
              <a:gd name="connsiteY3" fmla="*/ 2733905 h 3267664"/>
              <a:gd name="connsiteX4" fmla="*/ 1467221 w 3681862"/>
              <a:gd name="connsiteY4" fmla="*/ 0 h 3267664"/>
              <a:gd name="connsiteX5" fmla="*/ 2284092 w 3681862"/>
              <a:gd name="connsiteY5" fmla="*/ 19269 h 3267664"/>
              <a:gd name="connsiteX6" fmla="*/ 3681862 w 3681862"/>
              <a:gd name="connsiteY6" fmla="*/ 1443001 h 3267664"/>
              <a:gd name="connsiteX7" fmla="*/ 2443303 w 3681862"/>
              <a:gd name="connsiteY7" fmla="*/ 2670616 h 3267664"/>
              <a:gd name="connsiteX8" fmla="*/ 1843166 w 3681862"/>
              <a:gd name="connsiteY8" fmla="*/ 2070479 h 3267664"/>
              <a:gd name="connsiteX9" fmla="*/ 1240805 w 3681862"/>
              <a:gd name="connsiteY9" fmla="*/ 2672841 h 3267664"/>
              <a:gd name="connsiteX10" fmla="*/ 0 w 3681862"/>
              <a:gd name="connsiteY10" fmla="*/ 1443001 h 326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1862" h="3267664">
                <a:moveTo>
                  <a:pt x="1843166" y="2193152"/>
                </a:moveTo>
                <a:lnTo>
                  <a:pt x="2381694" y="2731680"/>
                </a:lnTo>
                <a:lnTo>
                  <a:pt x="1840931" y="3267664"/>
                </a:lnTo>
                <a:lnTo>
                  <a:pt x="1302413" y="2733905"/>
                </a:lnTo>
                <a:close/>
                <a:moveTo>
                  <a:pt x="1467221" y="0"/>
                </a:moveTo>
                <a:cubicBezTo>
                  <a:pt x="1832276" y="3773"/>
                  <a:pt x="1919036" y="-406"/>
                  <a:pt x="2284092" y="19269"/>
                </a:cubicBezTo>
                <a:lnTo>
                  <a:pt x="3681862" y="1443001"/>
                </a:lnTo>
                <a:lnTo>
                  <a:pt x="2443303" y="2670616"/>
                </a:lnTo>
                <a:lnTo>
                  <a:pt x="1843166" y="2070479"/>
                </a:lnTo>
                <a:lnTo>
                  <a:pt x="1240805" y="2672841"/>
                </a:lnTo>
                <a:lnTo>
                  <a:pt x="0" y="144300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313711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4" hasCustomPrompt="1"/>
          </p:nvPr>
        </p:nvSpPr>
        <p:spPr>
          <a:xfrm>
            <a:off x="395536"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395536"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1911680"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1911680"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5" name="Picture Placeholder 2"/>
          <p:cNvSpPr>
            <a:spLocks noGrp="1"/>
          </p:cNvSpPr>
          <p:nvPr>
            <p:ph type="pic" idx="18" hasCustomPrompt="1"/>
          </p:nvPr>
        </p:nvSpPr>
        <p:spPr>
          <a:xfrm>
            <a:off x="5736054"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9" hasCustomPrompt="1"/>
          </p:nvPr>
        </p:nvSpPr>
        <p:spPr>
          <a:xfrm>
            <a:off x="5736055"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20" hasCustomPrompt="1"/>
          </p:nvPr>
        </p:nvSpPr>
        <p:spPr>
          <a:xfrm>
            <a:off x="7252198"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8" name="Picture Placeholder 2"/>
          <p:cNvSpPr>
            <a:spLocks noGrp="1"/>
          </p:cNvSpPr>
          <p:nvPr>
            <p:ph type="pic" idx="21" hasCustomPrompt="1"/>
          </p:nvPr>
        </p:nvSpPr>
        <p:spPr>
          <a:xfrm>
            <a:off x="7252198"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3427823" y="1275605"/>
            <a:ext cx="2232248" cy="35283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3833686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1264676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n-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46628553-F51C-4CE7-A3A6-AB374655DC97}"/>
              </a:ext>
            </a:extLst>
          </p:cNvPr>
          <p:cNvGrpSpPr/>
          <p:nvPr userDrawn="1"/>
        </p:nvGrpSpPr>
        <p:grpSpPr>
          <a:xfrm>
            <a:off x="786525" y="1114965"/>
            <a:ext cx="2320819" cy="2728174"/>
            <a:chOff x="5364088" y="1450891"/>
            <a:chExt cx="2320819" cy="2728174"/>
          </a:xfrm>
        </p:grpSpPr>
        <p:sp>
          <p:nvSpPr>
            <p:cNvPr id="22" name="자유형: 도형 21">
              <a:extLst>
                <a:ext uri="{FF2B5EF4-FFF2-40B4-BE49-F238E27FC236}">
                  <a16:creationId xmlns:a16="http://schemas.microsoft.com/office/drawing/2014/main" id="{B5880087-04C4-411C-AEAA-74B23548761F}"/>
                </a:ext>
              </a:extLst>
            </p:cNvPr>
            <p:cNvSpPr/>
            <p:nvPr userDrawn="1"/>
          </p:nvSpPr>
          <p:spPr>
            <a:xfrm>
              <a:off x="5399290" y="2150906"/>
              <a:ext cx="2261257" cy="2028159"/>
            </a:xfrm>
            <a:custGeom>
              <a:avLst/>
              <a:gdLst>
                <a:gd name="connsiteX0" fmla="*/ 1012851 w 2261257"/>
                <a:gd name="connsiteY0" fmla="*/ 0 h 2028159"/>
                <a:gd name="connsiteX1" fmla="*/ 1226850 w 2261257"/>
                <a:gd name="connsiteY1" fmla="*/ 0 h 2028159"/>
                <a:gd name="connsiteX2" fmla="*/ 1283043 w 2261257"/>
                <a:gd name="connsiteY2" fmla="*/ 449131 h 2028159"/>
                <a:gd name="connsiteX3" fmla="*/ 1318239 w 2261257"/>
                <a:gd name="connsiteY3" fmla="*/ 455866 h 2028159"/>
                <a:gd name="connsiteX4" fmla="*/ 1530113 w 2261257"/>
                <a:gd name="connsiteY4" fmla="*/ 605602 h 2028159"/>
                <a:gd name="connsiteX5" fmla="*/ 1548314 w 2261257"/>
                <a:gd name="connsiteY5" fmla="*/ 639136 h 2028159"/>
                <a:gd name="connsiteX6" fmla="*/ 1577154 w 2261257"/>
                <a:gd name="connsiteY6" fmla="*/ 636229 h 2028159"/>
                <a:gd name="connsiteX7" fmla="*/ 1914152 w 2261257"/>
                <a:gd name="connsiteY7" fmla="*/ 859606 h 2028159"/>
                <a:gd name="connsiteX8" fmla="*/ 1919810 w 2261257"/>
                <a:gd name="connsiteY8" fmla="*/ 877832 h 2028159"/>
                <a:gd name="connsiteX9" fmla="*/ 1932155 w 2261257"/>
                <a:gd name="connsiteY9" fmla="*/ 874000 h 2028159"/>
                <a:gd name="connsiteX10" fmla="*/ 1981836 w 2261257"/>
                <a:gd name="connsiteY10" fmla="*/ 868991 h 2028159"/>
                <a:gd name="connsiteX11" fmla="*/ 2223343 w 2261257"/>
                <a:gd name="connsiteY11" fmla="*/ 1065825 h 2028159"/>
                <a:gd name="connsiteX12" fmla="*/ 2225319 w 2261257"/>
                <a:gd name="connsiteY12" fmla="*/ 1085429 h 2028159"/>
                <a:gd name="connsiteX13" fmla="*/ 2261257 w 2261257"/>
                <a:gd name="connsiteY13" fmla="*/ 1089052 h 2028159"/>
                <a:gd name="connsiteX14" fmla="*/ 2259340 w 2261257"/>
                <a:gd name="connsiteY14" fmla="*/ 1101612 h 2028159"/>
                <a:gd name="connsiteX15" fmla="*/ 1122505 w 2261257"/>
                <a:gd name="connsiteY15" fmla="*/ 2028159 h 2028159"/>
                <a:gd name="connsiteX16" fmla="*/ 14265 w 2261257"/>
                <a:gd name="connsiteY16" fmla="*/ 1212820 h 2028159"/>
                <a:gd name="connsiteX17" fmla="*/ 0 w 2261257"/>
                <a:gd name="connsiteY17" fmla="*/ 1157341 h 2028159"/>
                <a:gd name="connsiteX18" fmla="*/ 3235 w 2261257"/>
                <a:gd name="connsiteY18" fmla="*/ 1157015 h 2028159"/>
                <a:gd name="connsiteX19" fmla="*/ 87605 w 2261257"/>
                <a:gd name="connsiteY19" fmla="*/ 1165520 h 2028159"/>
                <a:gd name="connsiteX20" fmla="*/ 113456 w 2261257"/>
                <a:gd name="connsiteY20" fmla="*/ 1173545 h 2028159"/>
                <a:gd name="connsiteX21" fmla="*/ 128106 w 2261257"/>
                <a:gd name="connsiteY21" fmla="*/ 1155791 h 2028159"/>
                <a:gd name="connsiteX22" fmla="*/ 424127 w 2261257"/>
                <a:gd name="connsiteY22" fmla="*/ 1033175 h 2028159"/>
                <a:gd name="connsiteX23" fmla="*/ 435940 w 2261257"/>
                <a:gd name="connsiteY23" fmla="*/ 1034366 h 2028159"/>
                <a:gd name="connsiteX24" fmla="*/ 427636 w 2261257"/>
                <a:gd name="connsiteY24" fmla="*/ 1007613 h 2028159"/>
                <a:gd name="connsiteX25" fmla="*/ 424127 w 2261257"/>
                <a:gd name="connsiteY25" fmla="*/ 972807 h 2028159"/>
                <a:gd name="connsiteX26" fmla="*/ 562024 w 2261257"/>
                <a:gd name="connsiteY26" fmla="*/ 803613 h 2028159"/>
                <a:gd name="connsiteX27" fmla="*/ 569156 w 2261257"/>
                <a:gd name="connsiteY27" fmla="*/ 802894 h 2028159"/>
                <a:gd name="connsiteX28" fmla="*/ 573923 w 2261257"/>
                <a:gd name="connsiteY28" fmla="*/ 755602 h 2028159"/>
                <a:gd name="connsiteX29" fmla="*/ 903523 w 2261257"/>
                <a:gd name="connsiteY29" fmla="*/ 486970 h 2028159"/>
                <a:gd name="connsiteX30" fmla="*/ 951321 w 2261257"/>
                <a:gd name="connsiteY30" fmla="*/ 491789 h 202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1257" h="2028159">
                  <a:moveTo>
                    <a:pt x="1012851" y="0"/>
                  </a:moveTo>
                  <a:lnTo>
                    <a:pt x="1226850" y="0"/>
                  </a:lnTo>
                  <a:lnTo>
                    <a:pt x="1283043" y="449131"/>
                  </a:lnTo>
                  <a:lnTo>
                    <a:pt x="1318239" y="455866"/>
                  </a:lnTo>
                  <a:cubicBezTo>
                    <a:pt x="1405884" y="478416"/>
                    <a:pt x="1480818" y="532637"/>
                    <a:pt x="1530113" y="605602"/>
                  </a:cubicBezTo>
                  <a:lnTo>
                    <a:pt x="1548314" y="639136"/>
                  </a:lnTo>
                  <a:lnTo>
                    <a:pt x="1577154" y="636229"/>
                  </a:lnTo>
                  <a:cubicBezTo>
                    <a:pt x="1728648" y="636229"/>
                    <a:pt x="1858629" y="728337"/>
                    <a:pt x="1914152" y="859606"/>
                  </a:cubicBezTo>
                  <a:lnTo>
                    <a:pt x="1919810" y="877832"/>
                  </a:lnTo>
                  <a:lnTo>
                    <a:pt x="1932155" y="874000"/>
                  </a:lnTo>
                  <a:cubicBezTo>
                    <a:pt x="1948202" y="870716"/>
                    <a:pt x="1964818" y="868991"/>
                    <a:pt x="1981836" y="868991"/>
                  </a:cubicBezTo>
                  <a:cubicBezTo>
                    <a:pt x="2100964" y="868991"/>
                    <a:pt x="2200356" y="953493"/>
                    <a:pt x="2223343" y="1065825"/>
                  </a:cubicBezTo>
                  <a:lnTo>
                    <a:pt x="2225319" y="1085429"/>
                  </a:lnTo>
                  <a:lnTo>
                    <a:pt x="2261257" y="1089052"/>
                  </a:lnTo>
                  <a:lnTo>
                    <a:pt x="2259340" y="1101612"/>
                  </a:lnTo>
                  <a:cubicBezTo>
                    <a:pt x="2151136" y="1630392"/>
                    <a:pt x="1683273" y="2028159"/>
                    <a:pt x="1122505" y="2028159"/>
                  </a:cubicBezTo>
                  <a:cubicBezTo>
                    <a:pt x="601793" y="2028159"/>
                    <a:pt x="161186" y="1685186"/>
                    <a:pt x="14265" y="1212820"/>
                  </a:cubicBezTo>
                  <a:lnTo>
                    <a:pt x="0" y="1157341"/>
                  </a:lnTo>
                  <a:lnTo>
                    <a:pt x="3235" y="1157015"/>
                  </a:lnTo>
                  <a:cubicBezTo>
                    <a:pt x="32136" y="1157015"/>
                    <a:pt x="60353" y="1159944"/>
                    <a:pt x="87605" y="1165520"/>
                  </a:cubicBezTo>
                  <a:lnTo>
                    <a:pt x="113456" y="1173545"/>
                  </a:lnTo>
                  <a:lnTo>
                    <a:pt x="128106" y="1155791"/>
                  </a:lnTo>
                  <a:cubicBezTo>
                    <a:pt x="203864" y="1080032"/>
                    <a:pt x="308523" y="1033175"/>
                    <a:pt x="424127" y="1033175"/>
                  </a:cubicBezTo>
                  <a:lnTo>
                    <a:pt x="435940" y="1034366"/>
                  </a:lnTo>
                  <a:lnTo>
                    <a:pt x="427636" y="1007613"/>
                  </a:lnTo>
                  <a:cubicBezTo>
                    <a:pt x="425335" y="996370"/>
                    <a:pt x="424127" y="984730"/>
                    <a:pt x="424127" y="972807"/>
                  </a:cubicBezTo>
                  <a:cubicBezTo>
                    <a:pt x="424127" y="889349"/>
                    <a:pt x="483326" y="819717"/>
                    <a:pt x="562024" y="803613"/>
                  </a:cubicBezTo>
                  <a:lnTo>
                    <a:pt x="569156" y="802894"/>
                  </a:lnTo>
                  <a:lnTo>
                    <a:pt x="573923" y="755602"/>
                  </a:lnTo>
                  <a:cubicBezTo>
                    <a:pt x="605295" y="602294"/>
                    <a:pt x="740941" y="486970"/>
                    <a:pt x="903523" y="486970"/>
                  </a:cubicBezTo>
                  <a:lnTo>
                    <a:pt x="951321" y="4917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타원 2">
              <a:extLst>
                <a:ext uri="{FF2B5EF4-FFF2-40B4-BE49-F238E27FC236}">
                  <a16:creationId xmlns:a16="http://schemas.microsoft.com/office/drawing/2014/main" id="{7EF498E6-9850-42A0-8643-E6250BB46DE0}"/>
                </a:ext>
              </a:extLst>
            </p:cNvPr>
            <p:cNvSpPr/>
            <p:nvPr userDrawn="1"/>
          </p:nvSpPr>
          <p:spPr>
            <a:xfrm>
              <a:off x="5364088" y="1858246"/>
              <a:ext cx="2320819" cy="2320819"/>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 name="그룹 7">
              <a:extLst>
                <a:ext uri="{FF2B5EF4-FFF2-40B4-BE49-F238E27FC236}">
                  <a16:creationId xmlns:a16="http://schemas.microsoft.com/office/drawing/2014/main" id="{AF789A84-B899-484F-ADA6-1B784064DB8A}"/>
                </a:ext>
              </a:extLst>
            </p:cNvPr>
            <p:cNvGrpSpPr/>
            <p:nvPr userDrawn="1"/>
          </p:nvGrpSpPr>
          <p:grpSpPr>
            <a:xfrm>
              <a:off x="6280305" y="1450891"/>
              <a:ext cx="477626" cy="918140"/>
              <a:chOff x="5304862" y="-789923"/>
              <a:chExt cx="645890" cy="1241591"/>
            </a:xfrm>
          </p:grpSpPr>
          <p:grpSp>
            <p:nvGrpSpPr>
              <p:cNvPr id="9" name="그룹 8">
                <a:extLst>
                  <a:ext uri="{FF2B5EF4-FFF2-40B4-BE49-F238E27FC236}">
                    <a16:creationId xmlns:a16="http://schemas.microsoft.com/office/drawing/2014/main" id="{6DDA03B1-B885-4EB8-9AC5-617A33E28AA0}"/>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id="{50824863-8B90-4264-9AEB-19AE04C9A70D}"/>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id="{3B003EFC-13D2-4BB4-8625-D6DD1D26689C}"/>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id="{639551A5-A416-4935-A4CA-A8FCF74BAE6A}"/>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id="{A0F64586-2454-49D0-905D-B01E2B155554}"/>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90010C14-1AD7-40EC-9EFB-091EB548BC40}"/>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54B0A336-7C2F-4F98-ABF5-299D91E12C13}"/>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id="{2528A48D-D724-4DF8-B31C-D26E111E596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 name="Rectangle 1"/>
          <p:cNvSpPr/>
          <p:nvPr userDrawn="1"/>
        </p:nvSpPr>
        <p:spPr>
          <a:xfrm>
            <a:off x="3851920" y="1895103"/>
            <a:ext cx="5292080" cy="13681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4125084" y="2154560"/>
            <a:ext cx="501891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125084" y="2730624"/>
            <a:ext cx="501891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 /><Relationship Id="rId1" Type="http://schemas.openxmlformats.org/officeDocument/2006/relationships/slideLayout" Target="../slideLayouts/slideLayout17.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DE3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0" r:id="rId3"/>
    <p:sldLayoutId id="2147483661" r:id="rId4"/>
    <p:sldLayoutId id="2147483662" r:id="rId5"/>
    <p:sldLayoutId id="2147483663" r:id="rId6"/>
    <p:sldLayoutId id="2147483664" r:id="rId7"/>
    <p:sldLayoutId id="2147483666" r:id="rId8"/>
    <p:sldLayoutId id="2147483667" r:id="rId9"/>
    <p:sldLayoutId id="2147483668" r:id="rId10"/>
    <p:sldLayoutId id="2147483669" r:id="rId11"/>
    <p:sldLayoutId id="2147483670" r:id="rId12"/>
    <p:sldLayoutId id="2147483671" r:id="rId13"/>
    <p:sldLayoutId id="2147483665" r:id="rId14"/>
    <p:sldLayoutId id="2147483672"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DE3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emf"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11.xml" /></Relationships>
</file>

<file path=ppt/slides/_rels/slide5.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16.xml" /></Relationships>
</file>

<file path=ppt/slides/_rels/slide6.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10.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11.xml" /></Relationships>
</file>

<file path=ppt/slides/_rels/slide11.xml.rels><?xml version="1.0" encoding="UTF-8" standalone="yes"?>
<Relationships xmlns="http://schemas.openxmlformats.org/package/2006/relationships"><Relationship Id="rId2" Type="http://schemas.openxmlformats.org/officeDocument/2006/relationships/image" Target="../media/image11.jpg" /><Relationship Id="rId1" Type="http://schemas.openxmlformats.org/officeDocument/2006/relationships/slideLayout" Target="../slideLayouts/slideLayout11.xml" /></Relationships>
</file>

<file path=ppt/slides/_rels/slide12.xml.rels><?xml version="1.0" encoding="UTF-8" standalone="yes"?>
<Relationships xmlns="http://schemas.openxmlformats.org/package/2006/relationships"><Relationship Id="rId2" Type="http://schemas.openxmlformats.org/officeDocument/2006/relationships/image" Target="../media/image12.jpg" /><Relationship Id="rId1" Type="http://schemas.openxmlformats.org/officeDocument/2006/relationships/slideLayout" Target="../slideLayouts/slideLayout11.xml" /></Relationships>
</file>

<file path=ppt/slides/_rels/slide13.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hyperlink" Target="https://www.aboutamazon.com/" TargetMode="External" /><Relationship Id="rId1" Type="http://schemas.openxmlformats.org/officeDocument/2006/relationships/slideLayout" Target="../slideLayouts/slideLayout9.xml" /></Relationships>
</file>

<file path=ppt/slides/_rels/slide14.xml.rels><?xml version="1.0" encoding="UTF-8" standalone="yes"?>
<Relationships xmlns="http://schemas.openxmlformats.org/package/2006/relationships"><Relationship Id="rId3" Type="http://schemas.openxmlformats.org/officeDocument/2006/relationships/image" Target="../media/image15.jpg" /><Relationship Id="rId2" Type="http://schemas.openxmlformats.org/officeDocument/2006/relationships/image" Target="../media/image14.jpeg" /><Relationship Id="rId1" Type="http://schemas.openxmlformats.org/officeDocument/2006/relationships/slideLayout" Target="../slideLayouts/slideLayout13.xml" /></Relationships>
</file>

<file path=ppt/slides/_rels/slide15.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14.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19.emf" /><Relationship Id="rId2" Type="http://schemas.openxmlformats.org/officeDocument/2006/relationships/image" Target="../media/image18.png" /><Relationship Id="rId1" Type="http://schemas.openxmlformats.org/officeDocument/2006/relationships/slideLayout" Target="../slideLayouts/slideLayout8.xml" /></Relationships>
</file>

<file path=ppt/slides/_rels/slide21.xml.rels><?xml version="1.0" encoding="UTF-8" standalone="yes"?>
<Relationships xmlns="http://schemas.openxmlformats.org/package/2006/relationships"><Relationship Id="rId2" Type="http://schemas.openxmlformats.org/officeDocument/2006/relationships/image" Target="../media/image20.jpg" /><Relationship Id="rId1" Type="http://schemas.openxmlformats.org/officeDocument/2006/relationships/slideLayout" Target="../slideLayouts/slideLayout8.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2" Type="http://schemas.openxmlformats.org/officeDocument/2006/relationships/image" Target="../media/image22.jpg" /><Relationship Id="rId1" Type="http://schemas.openxmlformats.org/officeDocument/2006/relationships/slideLayout" Target="../slideLayouts/slideLayout12.xml" /></Relationships>
</file>

<file path=ppt/slides/_rels/slide36.xml.rels><?xml version="1.0" encoding="UTF-8" standalone="yes"?>
<Relationships xmlns="http://schemas.openxmlformats.org/package/2006/relationships"><Relationship Id="rId3" Type="http://schemas.openxmlformats.org/officeDocument/2006/relationships/image" Target="../media/image24.gif" /><Relationship Id="rId2" Type="http://schemas.openxmlformats.org/officeDocument/2006/relationships/image" Target="../media/image23.jpeg" /><Relationship Id="rId1" Type="http://schemas.openxmlformats.org/officeDocument/2006/relationships/slideLayout" Target="../slideLayouts/slideLayout12.xml" /></Relationships>
</file>

<file path=ppt/slides/_rels/slide37.xml.rels><?xml version="1.0" encoding="UTF-8" standalone="yes"?>
<Relationships xmlns="http://schemas.openxmlformats.org/package/2006/relationships"><Relationship Id="rId2" Type="http://schemas.openxmlformats.org/officeDocument/2006/relationships/image" Target="../media/image25.jpeg" /><Relationship Id="rId1" Type="http://schemas.openxmlformats.org/officeDocument/2006/relationships/slideLayout" Target="../slideLayouts/slideLayout12.xml" /></Relationships>
</file>

<file path=ppt/slides/_rels/slide38.xml.rels><?xml version="1.0" encoding="UTF-8" standalone="yes"?>
<Relationships xmlns="http://schemas.openxmlformats.org/package/2006/relationships"><Relationship Id="rId2" Type="http://schemas.openxmlformats.org/officeDocument/2006/relationships/image" Target="../media/image26.jpeg" /><Relationship Id="rId1" Type="http://schemas.openxmlformats.org/officeDocument/2006/relationships/slideLayout" Target="../slideLayouts/slideLayout1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1.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7.png" /><Relationship Id="rId1" Type="http://schemas.openxmlformats.org/officeDocument/2006/relationships/slideLayout" Target="../slideLayouts/slideLayout12.xml" /></Relationships>
</file>

<file path=ppt/slides/_rels/slide42.xml.rels><?xml version="1.0" encoding="UTF-8" standalone="yes"?>
<Relationships xmlns="http://schemas.openxmlformats.org/package/2006/relationships"><Relationship Id="rId2" Type="http://schemas.openxmlformats.org/officeDocument/2006/relationships/image" Target="../media/image28.jpeg" /><Relationship Id="rId1" Type="http://schemas.openxmlformats.org/officeDocument/2006/relationships/slideLayout" Target="../slideLayouts/slideLayout12.xml" /></Relationships>
</file>

<file path=ppt/slides/_rels/slide43.xml.rels><?xml version="1.0" encoding="UTF-8" standalone="yes"?>
<Relationships xmlns="http://schemas.openxmlformats.org/package/2006/relationships"><Relationship Id="rId2" Type="http://schemas.openxmlformats.org/officeDocument/2006/relationships/image" Target="../media/image29.jpeg" /><Relationship Id="rId1" Type="http://schemas.openxmlformats.org/officeDocument/2006/relationships/slideLayout" Target="../slideLayouts/slideLayout1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5.xml.rels><?xml version="1.0" encoding="UTF-8" standalone="yes"?>
<Relationships xmlns="http://schemas.openxmlformats.org/package/2006/relationships"><Relationship Id="rId2" Type="http://schemas.openxmlformats.org/officeDocument/2006/relationships/image" Target="../media/image30.jpeg" /><Relationship Id="rId1" Type="http://schemas.openxmlformats.org/officeDocument/2006/relationships/slideLayout" Target="../slideLayouts/slideLayout12.xml" /></Relationships>
</file>

<file path=ppt/slides/_rels/slide46.xml.rels><?xml version="1.0" encoding="UTF-8" standalone="yes"?>
<Relationships xmlns="http://schemas.openxmlformats.org/package/2006/relationships"><Relationship Id="rId2" Type="http://schemas.openxmlformats.org/officeDocument/2006/relationships/image" Target="../media/image31.jpeg" /><Relationship Id="rId1" Type="http://schemas.openxmlformats.org/officeDocument/2006/relationships/slideLayout" Target="../slideLayouts/slideLayout12.xml" /></Relationships>
</file>

<file path=ppt/slides/_rels/slide47.xml.rels><?xml version="1.0" encoding="UTF-8" standalone="yes"?>
<Relationships xmlns="http://schemas.openxmlformats.org/package/2006/relationships"><Relationship Id="rId2" Type="http://schemas.openxmlformats.org/officeDocument/2006/relationships/image" Target="../media/image32.jpeg" /><Relationship Id="rId1" Type="http://schemas.openxmlformats.org/officeDocument/2006/relationships/slideLayout" Target="../slideLayouts/slideLayout12.xml" /></Relationships>
</file>

<file path=ppt/slides/_rels/slide48.xml.rels><?xml version="1.0" encoding="UTF-8" standalone="yes"?>
<Relationships xmlns="http://schemas.openxmlformats.org/package/2006/relationships"><Relationship Id="rId2" Type="http://schemas.openxmlformats.org/officeDocument/2006/relationships/image" Target="../media/image33.jpg" /><Relationship Id="rId1" Type="http://schemas.openxmlformats.org/officeDocument/2006/relationships/slideLayout" Target="../slideLayouts/slideLayout1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0.xml.rels><?xml version="1.0" encoding="UTF-8" standalone="yes"?>
<Relationships xmlns="http://schemas.openxmlformats.org/package/2006/relationships"><Relationship Id="rId3" Type="http://schemas.openxmlformats.org/officeDocument/2006/relationships/image" Target="../media/image34.jpg" /><Relationship Id="rId2" Type="http://schemas.openxmlformats.org/officeDocument/2006/relationships/notesSlide" Target="../notesSlides/notesSlide2.xml" /><Relationship Id="rId1" Type="http://schemas.openxmlformats.org/officeDocument/2006/relationships/slideLayout" Target="../slideLayouts/slideLayout1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2.xml.rels><?xml version="1.0" encoding="UTF-8" standalone="yes"?>
<Relationships xmlns="http://schemas.openxmlformats.org/package/2006/relationships"><Relationship Id="rId3" Type="http://schemas.openxmlformats.org/officeDocument/2006/relationships/image" Target="../media/image35.jpeg" /><Relationship Id="rId2" Type="http://schemas.openxmlformats.org/officeDocument/2006/relationships/notesSlide" Target="../notesSlides/notesSlide3.xml" /><Relationship Id="rId1" Type="http://schemas.openxmlformats.org/officeDocument/2006/relationships/slideLayout" Target="../slideLayouts/slideLayout1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99231" y="267494"/>
            <a:ext cx="7543275" cy="1015663"/>
          </a:xfrm>
          <a:prstGeom prst="rect">
            <a:avLst/>
          </a:prstGeom>
          <a:noFill/>
        </p:spPr>
        <p:txBody>
          <a:bodyPr wrap="square" rtlCol="0">
            <a:spAutoFit/>
          </a:bodyPr>
          <a:lstStyle/>
          <a:p>
            <a:r>
              <a:rPr lang="en-US" sz="6000" b="1" dirty="0">
                <a:solidFill>
                  <a:schemeClr val="bg1"/>
                </a:solidFill>
              </a:rPr>
              <a:t>The Entrepreneur</a:t>
            </a:r>
          </a:p>
        </p:txBody>
      </p:sp>
      <p:sp>
        <p:nvSpPr>
          <p:cNvPr id="15" name="Rectangle 14"/>
          <p:cNvSpPr/>
          <p:nvPr/>
        </p:nvSpPr>
        <p:spPr>
          <a:xfrm>
            <a:off x="0" y="4371950"/>
            <a:ext cx="9144000" cy="7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17" name="Picture 16"/>
          <p:cNvPicPr>
            <a:picLocks noChangeAspect="1"/>
          </p:cNvPicPr>
          <p:nvPr/>
        </p:nvPicPr>
        <p:blipFill>
          <a:blip r:embed="rId2"/>
          <a:stretch>
            <a:fillRect/>
          </a:stretch>
        </p:blipFill>
        <p:spPr>
          <a:xfrm>
            <a:off x="179512" y="4596416"/>
            <a:ext cx="2088232" cy="394626"/>
          </a:xfrm>
          <a:prstGeom prst="rect">
            <a:avLst/>
          </a:prstGeom>
        </p:spPr>
      </p:pic>
      <p:sp>
        <p:nvSpPr>
          <p:cNvPr id="22" name="Rectangle 21"/>
          <p:cNvSpPr/>
          <p:nvPr/>
        </p:nvSpPr>
        <p:spPr>
          <a:xfrm>
            <a:off x="329454" y="1308764"/>
            <a:ext cx="747154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aseline="-25000" dirty="0">
              <a:solidFill>
                <a:schemeClr val="tx1">
                  <a:lumMod val="50000"/>
                  <a:lumOff val="50000"/>
                </a:schemeClr>
              </a:solidFill>
            </a:endParaRPr>
          </a:p>
        </p:txBody>
      </p:sp>
      <p:sp>
        <p:nvSpPr>
          <p:cNvPr id="23" name="TextBox 22"/>
          <p:cNvSpPr txBox="1"/>
          <p:nvPr/>
        </p:nvSpPr>
        <p:spPr>
          <a:xfrm>
            <a:off x="251520" y="1418940"/>
            <a:ext cx="3378450" cy="369332"/>
          </a:xfrm>
          <a:prstGeom prst="rect">
            <a:avLst/>
          </a:prstGeom>
          <a:noFill/>
        </p:spPr>
        <p:txBody>
          <a:bodyPr wrap="square" rtlCol="0">
            <a:spAutoFit/>
          </a:bodyPr>
          <a:lstStyle/>
          <a:p>
            <a:r>
              <a:rPr lang="en-US" dirty="0"/>
              <a:t>Module -1</a:t>
            </a:r>
          </a:p>
        </p:txBody>
      </p:sp>
      <p:sp>
        <p:nvSpPr>
          <p:cNvPr id="24" name="Rectangle 23"/>
          <p:cNvSpPr/>
          <p:nvPr/>
        </p:nvSpPr>
        <p:spPr>
          <a:xfrm>
            <a:off x="8183312" y="-638"/>
            <a:ext cx="733381" cy="4948652"/>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0845" y="389461"/>
            <a:ext cx="3433665" cy="4774577"/>
          </a:xfrm>
          <a:prstGeom prst="rect">
            <a:avLst/>
          </a:prstGeom>
        </p:spPr>
      </p:pic>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b="37008"/>
          <a:stretch/>
        </p:blipFill>
        <p:spPr>
          <a:xfrm>
            <a:off x="0" y="-596602"/>
            <a:ext cx="9144000" cy="5760640"/>
          </a:xfrm>
          <a:prstGeom prst="rect">
            <a:avLst/>
          </a:prstGeom>
        </p:spPr>
      </p:pic>
      <p:sp>
        <p:nvSpPr>
          <p:cNvPr id="2" name="Text Placeholder 1"/>
          <p:cNvSpPr>
            <a:spLocks noGrp="1"/>
          </p:cNvSpPr>
          <p:nvPr>
            <p:ph type="body" sz="quarter" idx="4294967295"/>
          </p:nvPr>
        </p:nvSpPr>
        <p:spPr>
          <a:xfrm>
            <a:off x="2231740" y="3435846"/>
            <a:ext cx="4680520" cy="936104"/>
          </a:xfrm>
          <a:prstGeom prst="rect">
            <a:avLst/>
          </a:prstGeom>
        </p:spPr>
        <p:txBody>
          <a:bodyPr/>
          <a:lstStyle/>
          <a:p>
            <a:pPr marL="0" indent="0" algn="ctr">
              <a:buNone/>
            </a:pPr>
            <a:r>
              <a:rPr lang="en-US" altLang="ko-KR" sz="4800" b="1" dirty="0">
                <a:solidFill>
                  <a:schemeClr val="bg1"/>
                </a:solidFill>
              </a:rPr>
              <a:t>Welcome!!</a:t>
            </a:r>
            <a:endParaRPr lang="ko-KR" altLang="en-US" sz="4800" b="1" dirty="0">
              <a:solidFill>
                <a:schemeClr val="bg1"/>
              </a:solidFill>
            </a:endParaRPr>
          </a:p>
        </p:txBody>
      </p:sp>
    </p:spTree>
    <p:extLst>
      <p:ext uri="{BB962C8B-B14F-4D97-AF65-F5344CB8AC3E}">
        <p14:creationId xmlns:p14="http://schemas.microsoft.com/office/powerpoint/2010/main" val="3239406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Block Arc 14"/>
          <p:cNvSpPr/>
          <p:nvPr/>
        </p:nvSpPr>
        <p:spPr>
          <a:xfrm>
            <a:off x="179511" y="2143048"/>
            <a:ext cx="1217198" cy="1217254"/>
          </a:xfrm>
          <a:custGeom>
            <a:avLst/>
            <a:gdLst/>
            <a:ahLst/>
            <a:cxnLst/>
            <a:rect l="l" t="t" r="r" b="b"/>
            <a:pathLst>
              <a:path w="1217198" h="1217254">
                <a:moveTo>
                  <a:pt x="1172073" y="616019"/>
                </a:moveTo>
                <a:lnTo>
                  <a:pt x="1217198" y="616610"/>
                </a:lnTo>
                <a:cubicBezTo>
                  <a:pt x="1216181" y="694136"/>
                  <a:pt x="1200702" y="768120"/>
                  <a:pt x="1172073" y="835497"/>
                </a:cubicBezTo>
                <a:close/>
                <a:moveTo>
                  <a:pt x="592301" y="223"/>
                </a:moveTo>
                <a:cubicBezTo>
                  <a:pt x="925156" y="-8708"/>
                  <a:pt x="1203399" y="251500"/>
                  <a:pt x="1216760" y="584207"/>
                </a:cubicBezTo>
                <a:lnTo>
                  <a:pt x="1025903" y="591872"/>
                </a:lnTo>
                <a:cubicBezTo>
                  <a:pt x="1016735" y="363582"/>
                  <a:pt x="825816" y="185038"/>
                  <a:pt x="597424" y="191166"/>
                </a:cubicBezTo>
                <a:cubicBezTo>
                  <a:pt x="369033" y="197294"/>
                  <a:pt x="187962" y="385820"/>
                  <a:pt x="191049" y="614273"/>
                </a:cubicBezTo>
                <a:cubicBezTo>
                  <a:pt x="194136" y="842726"/>
                  <a:pt x="380235" y="1026290"/>
                  <a:pt x="608708" y="1026244"/>
                </a:cubicBezTo>
                <a:cubicBezTo>
                  <a:pt x="773320" y="1026211"/>
                  <a:pt x="915896" y="930876"/>
                  <a:pt x="982606" y="791527"/>
                </a:cubicBezTo>
                <a:lnTo>
                  <a:pt x="982606" y="1085471"/>
                </a:lnTo>
                <a:cubicBezTo>
                  <a:pt x="880769" y="1168806"/>
                  <a:pt x="750352" y="1217226"/>
                  <a:pt x="608747" y="1217254"/>
                </a:cubicBezTo>
                <a:cubicBezTo>
                  <a:pt x="275773" y="1217320"/>
                  <a:pt x="4555" y="949797"/>
                  <a:pt x="56" y="616853"/>
                </a:cubicBezTo>
                <a:cubicBezTo>
                  <a:pt x="-4443" y="283909"/>
                  <a:pt x="259446" y="9154"/>
                  <a:pt x="592301" y="22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9" name="Rectangle 18"/>
          <p:cNvSpPr/>
          <p:nvPr/>
        </p:nvSpPr>
        <p:spPr>
          <a:xfrm>
            <a:off x="1207294" y="1561169"/>
            <a:ext cx="189467" cy="1040153"/>
          </a:xfrm>
          <a:custGeom>
            <a:avLst/>
            <a:gdLst>
              <a:gd name="connsiteX0" fmla="*/ 0 w 189467"/>
              <a:gd name="connsiteY0" fmla="*/ 0 h 1080346"/>
              <a:gd name="connsiteX1" fmla="*/ 189467 w 189467"/>
              <a:gd name="connsiteY1" fmla="*/ 0 h 1080346"/>
              <a:gd name="connsiteX2" fmla="*/ 189467 w 189467"/>
              <a:gd name="connsiteY2" fmla="*/ 1080346 h 1080346"/>
              <a:gd name="connsiteX3" fmla="*/ 187528 w 189467"/>
              <a:gd name="connsiteY3" fmla="*/ 1040153 h 1080346"/>
              <a:gd name="connsiteX4" fmla="*/ 0 w 189467"/>
              <a:gd name="connsiteY4" fmla="*/ 674512 h 1080346"/>
              <a:gd name="connsiteX5" fmla="*/ 0 w 189467"/>
              <a:gd name="connsiteY5" fmla="*/ 0 h 1080346"/>
              <a:gd name="connsiteX0" fmla="*/ 0 w 189467"/>
              <a:gd name="connsiteY0" fmla="*/ 0 h 1040153"/>
              <a:gd name="connsiteX1" fmla="*/ 189467 w 189467"/>
              <a:gd name="connsiteY1" fmla="*/ 0 h 1040153"/>
              <a:gd name="connsiteX2" fmla="*/ 187528 w 189467"/>
              <a:gd name="connsiteY2" fmla="*/ 1040153 h 1040153"/>
              <a:gd name="connsiteX3" fmla="*/ 0 w 189467"/>
              <a:gd name="connsiteY3" fmla="*/ 674512 h 1040153"/>
              <a:gd name="connsiteX4" fmla="*/ 0 w 189467"/>
              <a:gd name="connsiteY4" fmla="*/ 0 h 1040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67" h="1040153">
                <a:moveTo>
                  <a:pt x="0" y="0"/>
                </a:moveTo>
                <a:lnTo>
                  <a:pt x="189467" y="0"/>
                </a:lnTo>
                <a:cubicBezTo>
                  <a:pt x="188821" y="346718"/>
                  <a:pt x="188174" y="693435"/>
                  <a:pt x="187528" y="1040153"/>
                </a:cubicBezTo>
                <a:cubicBezTo>
                  <a:pt x="179329" y="879836"/>
                  <a:pt x="108663" y="777233"/>
                  <a:pt x="0" y="674512"/>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 name="Title 2"/>
          <p:cNvSpPr txBox="1">
            <a:spLocks/>
          </p:cNvSpPr>
          <p:nvPr/>
        </p:nvSpPr>
        <p:spPr>
          <a:xfrm rot="16200000">
            <a:off x="-177068" y="920458"/>
            <a:ext cx="2232249"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r>
              <a:rPr lang="en-US" sz="3600" dirty="0"/>
              <a:t>Outlines</a:t>
            </a:r>
            <a:endParaRPr lang="en-US" sz="3600" dirty="0">
              <a:cs typeface="Arial" pitchFamily="34" charset="0"/>
            </a:endParaRPr>
          </a:p>
        </p:txBody>
      </p:sp>
      <p:sp>
        <p:nvSpPr>
          <p:cNvPr id="7" name="Rectangle 6"/>
          <p:cNvSpPr/>
          <p:nvPr/>
        </p:nvSpPr>
        <p:spPr>
          <a:xfrm>
            <a:off x="1783358" y="240297"/>
            <a:ext cx="5831975"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20" name="Rectangle 19"/>
          <p:cNvSpPr/>
          <p:nvPr/>
        </p:nvSpPr>
        <p:spPr>
          <a:xfrm>
            <a:off x="1207294" y="2703006"/>
            <a:ext cx="189467" cy="24404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TextBox 33"/>
          <p:cNvSpPr txBox="1"/>
          <p:nvPr/>
        </p:nvSpPr>
        <p:spPr bwMode="auto">
          <a:xfrm>
            <a:off x="1817060" y="208534"/>
            <a:ext cx="5040560"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Introduction</a:t>
            </a:r>
          </a:p>
        </p:txBody>
      </p:sp>
      <p:sp>
        <p:nvSpPr>
          <p:cNvPr id="35" name="Rectangle 34"/>
          <p:cNvSpPr/>
          <p:nvPr/>
        </p:nvSpPr>
        <p:spPr>
          <a:xfrm>
            <a:off x="1774435" y="704108"/>
            <a:ext cx="584089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42" name="TextBox 41"/>
          <p:cNvSpPr txBox="1"/>
          <p:nvPr/>
        </p:nvSpPr>
        <p:spPr bwMode="auto">
          <a:xfrm>
            <a:off x="1808136" y="672345"/>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Entrepreneurship in History</a:t>
            </a:r>
          </a:p>
          <a:p>
            <a:endParaRPr lang="en-US" dirty="0"/>
          </a:p>
        </p:txBody>
      </p:sp>
      <p:sp>
        <p:nvSpPr>
          <p:cNvPr id="49" name="Rectangle 48"/>
          <p:cNvSpPr/>
          <p:nvPr/>
        </p:nvSpPr>
        <p:spPr>
          <a:xfrm>
            <a:off x="1783359" y="1164458"/>
            <a:ext cx="5831974"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0" name="TextBox 49"/>
          <p:cNvSpPr txBox="1"/>
          <p:nvPr/>
        </p:nvSpPr>
        <p:spPr bwMode="auto">
          <a:xfrm>
            <a:off x="1817060" y="1132695"/>
            <a:ext cx="5040560"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What is an Entrepreneur?</a:t>
            </a:r>
          </a:p>
        </p:txBody>
      </p:sp>
      <p:sp>
        <p:nvSpPr>
          <p:cNvPr id="51" name="Rectangle 50"/>
          <p:cNvSpPr/>
          <p:nvPr/>
        </p:nvSpPr>
        <p:spPr>
          <a:xfrm>
            <a:off x="1774435" y="1656571"/>
            <a:ext cx="584089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2" name="TextBox 51"/>
          <p:cNvSpPr txBox="1"/>
          <p:nvPr/>
        </p:nvSpPr>
        <p:spPr bwMode="auto">
          <a:xfrm>
            <a:off x="1808136" y="1624808"/>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Myths About Entrepreneurs</a:t>
            </a:r>
          </a:p>
          <a:p>
            <a:endParaRPr lang="en-US" dirty="0"/>
          </a:p>
        </p:txBody>
      </p:sp>
      <p:sp>
        <p:nvSpPr>
          <p:cNvPr id="53" name="Rectangle 52"/>
          <p:cNvSpPr/>
          <p:nvPr/>
        </p:nvSpPr>
        <p:spPr>
          <a:xfrm>
            <a:off x="1774435" y="2156442"/>
            <a:ext cx="584089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4" name="TextBox 53"/>
          <p:cNvSpPr txBox="1"/>
          <p:nvPr/>
        </p:nvSpPr>
        <p:spPr bwMode="auto">
          <a:xfrm>
            <a:off x="1808136" y="2124679"/>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Clarifying Goals</a:t>
            </a:r>
          </a:p>
          <a:p>
            <a:endParaRPr lang="en-US" dirty="0"/>
          </a:p>
        </p:txBody>
      </p:sp>
      <p:sp>
        <p:nvSpPr>
          <p:cNvPr id="55" name="Rectangle 54"/>
          <p:cNvSpPr/>
          <p:nvPr/>
        </p:nvSpPr>
        <p:spPr>
          <a:xfrm>
            <a:off x="1774435" y="2656313"/>
            <a:ext cx="584089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6" name="TextBox 55"/>
          <p:cNvSpPr txBox="1"/>
          <p:nvPr/>
        </p:nvSpPr>
        <p:spPr bwMode="auto">
          <a:xfrm>
            <a:off x="1808136" y="2624550"/>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Setting Strategy</a:t>
            </a:r>
          </a:p>
          <a:p>
            <a:endParaRPr lang="en-US" dirty="0"/>
          </a:p>
        </p:txBody>
      </p:sp>
      <p:sp>
        <p:nvSpPr>
          <p:cNvPr id="57" name="Rectangle 56"/>
          <p:cNvSpPr/>
          <p:nvPr/>
        </p:nvSpPr>
        <p:spPr>
          <a:xfrm>
            <a:off x="1774435" y="3180761"/>
            <a:ext cx="584089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8" name="TextBox 57"/>
          <p:cNvSpPr txBox="1"/>
          <p:nvPr/>
        </p:nvSpPr>
        <p:spPr bwMode="auto">
          <a:xfrm>
            <a:off x="1808136" y="3124421"/>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Executing the Strategy</a:t>
            </a:r>
          </a:p>
          <a:p>
            <a:endParaRPr lang="en-US" dirty="0"/>
          </a:p>
        </p:txBody>
      </p:sp>
      <p:sp>
        <p:nvSpPr>
          <p:cNvPr id="59" name="Rectangle 58"/>
          <p:cNvSpPr/>
          <p:nvPr/>
        </p:nvSpPr>
        <p:spPr>
          <a:xfrm>
            <a:off x="1774435" y="3656055"/>
            <a:ext cx="584089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0" name="TextBox 59"/>
          <p:cNvSpPr txBox="1"/>
          <p:nvPr/>
        </p:nvSpPr>
        <p:spPr bwMode="auto">
          <a:xfrm>
            <a:off x="1774435" y="3617025"/>
            <a:ext cx="5807199"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Why Risk Tolerance is Key to Entrepreneurs’ Success</a:t>
            </a:r>
          </a:p>
          <a:p>
            <a:endParaRPr lang="en-US" dirty="0"/>
          </a:p>
        </p:txBody>
      </p:sp>
      <p:sp>
        <p:nvSpPr>
          <p:cNvPr id="61" name="Rectangle 60"/>
          <p:cNvSpPr/>
          <p:nvPr/>
        </p:nvSpPr>
        <p:spPr>
          <a:xfrm>
            <a:off x="1783359" y="4155926"/>
            <a:ext cx="5831974"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2" name="TextBox 61"/>
          <p:cNvSpPr txBox="1"/>
          <p:nvPr/>
        </p:nvSpPr>
        <p:spPr bwMode="auto">
          <a:xfrm>
            <a:off x="1817060" y="4124163"/>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Assessment</a:t>
            </a:r>
          </a:p>
          <a:p>
            <a:endParaRPr lang="en-US" dirty="0"/>
          </a:p>
        </p:txBody>
      </p:sp>
      <p:sp>
        <p:nvSpPr>
          <p:cNvPr id="63" name="Rectangle 62"/>
          <p:cNvSpPr/>
          <p:nvPr/>
        </p:nvSpPr>
        <p:spPr>
          <a:xfrm>
            <a:off x="1783359" y="4608153"/>
            <a:ext cx="5831974"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4" name="TextBox 63"/>
          <p:cNvSpPr txBox="1"/>
          <p:nvPr/>
        </p:nvSpPr>
        <p:spPr bwMode="auto">
          <a:xfrm>
            <a:off x="1817060" y="4576390"/>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Activity</a:t>
            </a:r>
          </a:p>
          <a:p>
            <a:endParaRPr lang="en-US" dirty="0"/>
          </a:p>
        </p:txBody>
      </p:sp>
    </p:spTree>
    <p:extLst>
      <p:ext uri="{BB962C8B-B14F-4D97-AF65-F5344CB8AC3E}">
        <p14:creationId xmlns:p14="http://schemas.microsoft.com/office/powerpoint/2010/main" val="1095055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164287" y="195486"/>
            <a:ext cx="1728193" cy="4824536"/>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251520" y="195486"/>
            <a:ext cx="1488670" cy="4824536"/>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9" name="Rectangle 8"/>
          <p:cNvSpPr/>
          <p:nvPr/>
        </p:nvSpPr>
        <p:spPr>
          <a:xfrm>
            <a:off x="683568" y="591530"/>
            <a:ext cx="7776864" cy="39604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7"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205" y="195486"/>
            <a:ext cx="5136067" cy="4824536"/>
          </a:xfrm>
          <a:prstGeom prst="rect">
            <a:avLst/>
          </a:prstGeom>
          <a:solidFill>
            <a:schemeClr val="bg1">
              <a:lumMod val="95000"/>
            </a:schemeClr>
          </a:solidFill>
        </p:spPr>
      </p:pic>
    </p:spTree>
    <p:extLst>
      <p:ext uri="{BB962C8B-B14F-4D97-AF65-F5344CB8AC3E}">
        <p14:creationId xmlns:p14="http://schemas.microsoft.com/office/powerpoint/2010/main" val="3101234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03400" y="3651870"/>
            <a:ext cx="8136904" cy="954107"/>
          </a:xfrm>
          <a:prstGeom prst="rect">
            <a:avLst/>
          </a:prstGeom>
          <a:noFill/>
        </p:spPr>
        <p:txBody>
          <a:bodyPr wrap="square" rtlCol="0">
            <a:spAutoFit/>
          </a:bodyPr>
          <a:lstStyle/>
          <a:p>
            <a:r>
              <a:rPr lang="en-US" sz="2800" b="1" dirty="0">
                <a:solidFill>
                  <a:schemeClr val="bg1"/>
                </a:solidFill>
              </a:rPr>
              <a:t>All our dreams can come true,</a:t>
            </a:r>
          </a:p>
          <a:p>
            <a:r>
              <a:rPr lang="en-US" sz="2800" dirty="0"/>
              <a:t>                 if we have the courage to pursue them..</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4802" b="14000"/>
          <a:stretch/>
        </p:blipFill>
        <p:spPr>
          <a:xfrm flipH="1">
            <a:off x="827584" y="1491630"/>
            <a:ext cx="2031627" cy="2088232"/>
          </a:xfrm>
          <a:prstGeom prst="rect">
            <a:avLst/>
          </a:prstGeom>
        </p:spPr>
      </p:pic>
    </p:spTree>
    <p:extLst>
      <p:ext uri="{BB962C8B-B14F-4D97-AF65-F5344CB8AC3E}">
        <p14:creationId xmlns:p14="http://schemas.microsoft.com/office/powerpoint/2010/main" val="785014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52536" y="2067694"/>
            <a:ext cx="741682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 name="Text Placeholder 1"/>
          <p:cNvSpPr>
            <a:spLocks noGrp="1"/>
          </p:cNvSpPr>
          <p:nvPr>
            <p:ph type="body" sz="quarter" idx="4294967295"/>
          </p:nvPr>
        </p:nvSpPr>
        <p:spPr>
          <a:xfrm>
            <a:off x="179512" y="1352349"/>
            <a:ext cx="9144000" cy="576262"/>
          </a:xfrm>
          <a:prstGeom prst="rect">
            <a:avLst/>
          </a:prstGeom>
        </p:spPr>
        <p:txBody>
          <a:bodyPr/>
          <a:lstStyle/>
          <a:p>
            <a:pPr marL="0" indent="0">
              <a:buNone/>
            </a:pPr>
            <a:r>
              <a:rPr lang="en-US" sz="4000" b="1" dirty="0">
                <a:solidFill>
                  <a:srgbClr val="009D97"/>
                </a:solidFill>
              </a:rPr>
              <a:t>Why Be an Entrepreneur?</a:t>
            </a:r>
            <a:endParaRPr lang="ko-KR" altLang="en-US" sz="4000" dirty="0">
              <a:solidFill>
                <a:srgbClr val="009D97"/>
              </a:solidFill>
            </a:endParaRPr>
          </a:p>
        </p:txBody>
      </p:sp>
      <p:sp>
        <p:nvSpPr>
          <p:cNvPr id="27" name="TextBox 26"/>
          <p:cNvSpPr txBox="1"/>
          <p:nvPr/>
        </p:nvSpPr>
        <p:spPr>
          <a:xfrm>
            <a:off x="179512" y="2355726"/>
            <a:ext cx="5472608" cy="1815882"/>
          </a:xfrm>
          <a:prstGeom prst="rect">
            <a:avLst/>
          </a:prstGeom>
          <a:noFill/>
        </p:spPr>
        <p:txBody>
          <a:bodyPr wrap="square" rtlCol="0">
            <a:spAutoFit/>
          </a:bodyPr>
          <a:lstStyle/>
          <a:p>
            <a:pPr algn="justLow"/>
            <a:r>
              <a:rPr lang="en-US" sz="1600" b="1" dirty="0"/>
              <a:t>You may think most people become entrepreneurs to make money. After all, making a good living allows people to provide for their needs and wants instead of depending on others. But more often the biggest reward of becoming an entrepreneur is the feeling of self-sufficiency it brings.</a:t>
            </a:r>
          </a:p>
          <a:p>
            <a:endParaRPr lang="en-US" sz="1400" b="1" dirty="0"/>
          </a:p>
        </p:txBody>
      </p: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652120" y="472710"/>
            <a:ext cx="3792629" cy="4670790"/>
          </a:xfrm>
          <a:prstGeom prst="rect">
            <a:avLst/>
          </a:prstGeom>
        </p:spPr>
      </p:pic>
    </p:spTree>
    <p:extLst>
      <p:ext uri="{BB962C8B-B14F-4D97-AF65-F5344CB8AC3E}">
        <p14:creationId xmlns:p14="http://schemas.microsoft.com/office/powerpoint/2010/main" val="1508814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987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 Placeholder 2"/>
          <p:cNvSpPr>
            <a:spLocks noGrp="1"/>
          </p:cNvSpPr>
          <p:nvPr>
            <p:ph type="body" sz="quarter" idx="4294967295"/>
          </p:nvPr>
        </p:nvSpPr>
        <p:spPr>
          <a:xfrm>
            <a:off x="323528" y="209020"/>
            <a:ext cx="9144000" cy="287337"/>
          </a:xfrm>
          <a:prstGeom prst="rect">
            <a:avLst/>
          </a:prstGeom>
        </p:spPr>
        <p:txBody>
          <a:bodyPr/>
          <a:lstStyle/>
          <a:p>
            <a:pPr marL="0" lvl="0" indent="0">
              <a:buNone/>
            </a:pPr>
            <a:r>
              <a:rPr lang="en-US" sz="3600" b="1" dirty="0">
                <a:solidFill>
                  <a:srgbClr val="009D97"/>
                </a:solidFill>
              </a:rPr>
              <a:t>Advantages of being an </a:t>
            </a:r>
            <a:r>
              <a:rPr lang="en-US" sz="3600" b="1" dirty="0">
                <a:solidFill>
                  <a:schemeClr val="tx1">
                    <a:lumMod val="50000"/>
                    <a:lumOff val="50000"/>
                  </a:schemeClr>
                </a:solidFill>
              </a:rPr>
              <a:t>Entrepreneur</a:t>
            </a:r>
            <a:endParaRPr lang="en-US" altLang="ko-KR" sz="3600" b="1" dirty="0">
              <a:solidFill>
                <a:schemeClr val="tx1">
                  <a:lumMod val="50000"/>
                  <a:lumOff val="50000"/>
                </a:schemeClr>
              </a:solidFill>
            </a:endParaRPr>
          </a:p>
        </p:txBody>
      </p:sp>
      <p:sp>
        <p:nvSpPr>
          <p:cNvPr id="8" name="Snip Diagonal Corner Rectangle 7"/>
          <p:cNvSpPr/>
          <p:nvPr/>
        </p:nvSpPr>
        <p:spPr>
          <a:xfrm>
            <a:off x="539552" y="1995686"/>
            <a:ext cx="2376264" cy="2952328"/>
          </a:xfrm>
          <a:prstGeom prst="snip2Diag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lumMod val="50000"/>
                  <a:lumOff val="50000"/>
                </a:schemeClr>
              </a:solidFill>
            </a:endParaRPr>
          </a:p>
        </p:txBody>
      </p:sp>
      <p:sp>
        <p:nvSpPr>
          <p:cNvPr id="49" name="Snip Diagonal Corner Rectangle 48"/>
          <p:cNvSpPr/>
          <p:nvPr/>
        </p:nvSpPr>
        <p:spPr>
          <a:xfrm>
            <a:off x="3311860" y="1995686"/>
            <a:ext cx="2376264" cy="2952328"/>
          </a:xfrm>
          <a:prstGeom prst="snip2Diag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lumMod val="50000"/>
                  <a:lumOff val="50000"/>
                </a:schemeClr>
              </a:solidFill>
            </a:endParaRPr>
          </a:p>
        </p:txBody>
      </p:sp>
      <p:sp>
        <p:nvSpPr>
          <p:cNvPr id="50" name="Snip Diagonal Corner Rectangle 49"/>
          <p:cNvSpPr/>
          <p:nvPr/>
        </p:nvSpPr>
        <p:spPr>
          <a:xfrm>
            <a:off x="6084168" y="1995686"/>
            <a:ext cx="2376264" cy="2952328"/>
          </a:xfrm>
          <a:prstGeom prst="snip2Diag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lumMod val="50000"/>
                  <a:lumOff val="50000"/>
                </a:schemeClr>
              </a:solidFill>
            </a:endParaRPr>
          </a:p>
        </p:txBody>
      </p:sp>
      <p:sp>
        <p:nvSpPr>
          <p:cNvPr id="18" name="TextBox 17"/>
          <p:cNvSpPr txBox="1"/>
          <p:nvPr/>
        </p:nvSpPr>
        <p:spPr>
          <a:xfrm>
            <a:off x="264179" y="1395085"/>
            <a:ext cx="2808312" cy="369332"/>
          </a:xfrm>
          <a:prstGeom prst="rect">
            <a:avLst/>
          </a:prstGeom>
          <a:noFill/>
        </p:spPr>
        <p:txBody>
          <a:bodyPr wrap="square" rtlCol="0">
            <a:spAutoFit/>
          </a:bodyPr>
          <a:lstStyle/>
          <a:p>
            <a:r>
              <a:rPr lang="en-US" b="1" dirty="0">
                <a:solidFill>
                  <a:schemeClr val="bg1"/>
                </a:solidFill>
              </a:rPr>
              <a:t>Making Your Own Rules</a:t>
            </a:r>
            <a:endParaRPr lang="en-US" dirty="0"/>
          </a:p>
        </p:txBody>
      </p:sp>
      <p:sp>
        <p:nvSpPr>
          <p:cNvPr id="52" name="TextBox 51"/>
          <p:cNvSpPr txBox="1"/>
          <p:nvPr/>
        </p:nvSpPr>
        <p:spPr>
          <a:xfrm>
            <a:off x="3135542" y="1395085"/>
            <a:ext cx="2808312" cy="369332"/>
          </a:xfrm>
          <a:prstGeom prst="rect">
            <a:avLst/>
          </a:prstGeom>
          <a:noFill/>
        </p:spPr>
        <p:txBody>
          <a:bodyPr wrap="square" rtlCol="0">
            <a:spAutoFit/>
          </a:bodyPr>
          <a:lstStyle/>
          <a:p>
            <a:r>
              <a:rPr lang="en-US" b="1" dirty="0">
                <a:solidFill>
                  <a:schemeClr val="bg1"/>
                </a:solidFill>
              </a:rPr>
              <a:t>Creating Greater Wealth</a:t>
            </a:r>
            <a:endParaRPr lang="en-US" dirty="0"/>
          </a:p>
        </p:txBody>
      </p:sp>
      <p:sp>
        <p:nvSpPr>
          <p:cNvPr id="53" name="TextBox 52"/>
          <p:cNvSpPr txBox="1"/>
          <p:nvPr/>
        </p:nvSpPr>
        <p:spPr>
          <a:xfrm>
            <a:off x="6006905" y="1395085"/>
            <a:ext cx="2916324" cy="369332"/>
          </a:xfrm>
          <a:prstGeom prst="rect">
            <a:avLst/>
          </a:prstGeom>
          <a:noFill/>
        </p:spPr>
        <p:txBody>
          <a:bodyPr wrap="square" rtlCol="0">
            <a:spAutoFit/>
          </a:bodyPr>
          <a:lstStyle/>
          <a:p>
            <a:r>
              <a:rPr lang="en-US" b="1" dirty="0">
                <a:solidFill>
                  <a:schemeClr val="bg1"/>
                </a:solidFill>
              </a:rPr>
              <a:t>Helping Your Community</a:t>
            </a:r>
            <a:endParaRPr lang="en-US" dirty="0"/>
          </a:p>
        </p:txBody>
      </p:sp>
      <p:sp>
        <p:nvSpPr>
          <p:cNvPr id="19" name="TextBox 18"/>
          <p:cNvSpPr txBox="1"/>
          <p:nvPr/>
        </p:nvSpPr>
        <p:spPr>
          <a:xfrm>
            <a:off x="647564" y="2317688"/>
            <a:ext cx="2160240" cy="1292662"/>
          </a:xfrm>
          <a:prstGeom prst="rect">
            <a:avLst/>
          </a:prstGeom>
          <a:noFill/>
        </p:spPr>
        <p:txBody>
          <a:bodyPr wrap="square" rtlCol="0">
            <a:spAutoFit/>
          </a:bodyPr>
          <a:lstStyle/>
          <a:p>
            <a:r>
              <a:rPr lang="en-US" sz="1200" dirty="0">
                <a:solidFill>
                  <a:schemeClr val="bg1"/>
                </a:solidFill>
              </a:rPr>
              <a:t>Depending on your business, you can decide what type of schedule you work, where you work, and how and when you get paid</a:t>
            </a:r>
          </a:p>
          <a:p>
            <a:endParaRPr lang="en-US" dirty="0"/>
          </a:p>
        </p:txBody>
      </p:sp>
      <p:sp>
        <p:nvSpPr>
          <p:cNvPr id="54" name="TextBox 53"/>
          <p:cNvSpPr txBox="1"/>
          <p:nvPr/>
        </p:nvSpPr>
        <p:spPr>
          <a:xfrm>
            <a:off x="3419872" y="2355726"/>
            <a:ext cx="2160240" cy="1015663"/>
          </a:xfrm>
          <a:prstGeom prst="rect">
            <a:avLst/>
          </a:prstGeom>
          <a:noFill/>
        </p:spPr>
        <p:txBody>
          <a:bodyPr wrap="square" rtlCol="0">
            <a:spAutoFit/>
          </a:bodyPr>
          <a:lstStyle/>
          <a:p>
            <a:r>
              <a:rPr lang="en-US" sz="1200" dirty="0">
                <a:solidFill>
                  <a:schemeClr val="bg1"/>
                </a:solidFill>
              </a:rPr>
              <a:t>A successful business, particularly one that keeps growing, can often be sold for much more than the amount that was invest in it.</a:t>
            </a:r>
          </a:p>
        </p:txBody>
      </p:sp>
      <p:sp>
        <p:nvSpPr>
          <p:cNvPr id="55" name="TextBox 54"/>
          <p:cNvSpPr txBox="1"/>
          <p:nvPr/>
        </p:nvSpPr>
        <p:spPr>
          <a:xfrm>
            <a:off x="6194002" y="2355726"/>
            <a:ext cx="2160240" cy="2339102"/>
          </a:xfrm>
          <a:prstGeom prst="rect">
            <a:avLst/>
          </a:prstGeom>
          <a:noFill/>
        </p:spPr>
        <p:txBody>
          <a:bodyPr wrap="square" rtlCol="0">
            <a:spAutoFit/>
          </a:bodyPr>
          <a:lstStyle/>
          <a:p>
            <a:r>
              <a:rPr lang="en-US" sz="1200" dirty="0">
                <a:solidFill>
                  <a:schemeClr val="bg1"/>
                </a:solidFill>
              </a:rPr>
              <a:t>Entrepreneurs help others by providing products or services needed by the community.</a:t>
            </a:r>
          </a:p>
          <a:p>
            <a:endParaRPr lang="en-US" sz="1200" dirty="0">
              <a:solidFill>
                <a:schemeClr val="bg1"/>
              </a:solidFill>
            </a:endParaRPr>
          </a:p>
          <a:p>
            <a:r>
              <a:rPr lang="en-US" sz="1200" dirty="0">
                <a:solidFill>
                  <a:schemeClr val="bg1"/>
                </a:solidFill>
              </a:rPr>
              <a:t>They also create jobs. </a:t>
            </a:r>
          </a:p>
          <a:p>
            <a:endParaRPr lang="en-US" sz="1200" dirty="0">
              <a:solidFill>
                <a:schemeClr val="bg1"/>
              </a:solidFill>
            </a:endParaRPr>
          </a:p>
          <a:p>
            <a:r>
              <a:rPr lang="en-US" sz="1200" dirty="0">
                <a:solidFill>
                  <a:schemeClr val="bg1"/>
                </a:solidFill>
              </a:rPr>
              <a:t>Entrepreneurs often gain personal satisfaction and community recognition from the time and money they donate to worthy causes.</a:t>
            </a:r>
          </a:p>
          <a:p>
            <a:endParaRPr lang="en-US" sz="1400" dirty="0"/>
          </a:p>
        </p:txBody>
      </p:sp>
      <p:sp>
        <p:nvSpPr>
          <p:cNvPr id="2" name="Oval 1"/>
          <p:cNvSpPr/>
          <p:nvPr/>
        </p:nvSpPr>
        <p:spPr>
          <a:xfrm>
            <a:off x="611560" y="2427734"/>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Oval 13"/>
          <p:cNvSpPr/>
          <p:nvPr/>
        </p:nvSpPr>
        <p:spPr>
          <a:xfrm>
            <a:off x="3383868" y="2453006"/>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Oval 15"/>
          <p:cNvSpPr/>
          <p:nvPr/>
        </p:nvSpPr>
        <p:spPr>
          <a:xfrm>
            <a:off x="6157998" y="2455922"/>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7" name="Oval 16"/>
          <p:cNvSpPr/>
          <p:nvPr/>
        </p:nvSpPr>
        <p:spPr>
          <a:xfrm>
            <a:off x="6157801" y="3172192"/>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Oval 19"/>
          <p:cNvSpPr/>
          <p:nvPr/>
        </p:nvSpPr>
        <p:spPr>
          <a:xfrm>
            <a:off x="6142731" y="3569119"/>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523461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234792"/>
            <a:ext cx="9144000" cy="576064"/>
          </a:xfrm>
        </p:spPr>
        <p:txBody>
          <a:bodyPr/>
          <a:lstStyle/>
          <a:p>
            <a:r>
              <a:rPr lang="en-US" b="1" dirty="0"/>
              <a:t>Entrepreneurship in History</a:t>
            </a:r>
            <a:endParaRPr lang="en-US" altLang="ko-KR" b="1" dirty="0">
              <a:solidFill>
                <a:schemeClr val="bg1"/>
              </a:solidFill>
            </a:endParaRPr>
          </a:p>
        </p:txBody>
      </p:sp>
      <p:sp>
        <p:nvSpPr>
          <p:cNvPr id="12" name="Isosceles Triangle 11"/>
          <p:cNvSpPr/>
          <p:nvPr/>
        </p:nvSpPr>
        <p:spPr>
          <a:xfrm rot="10800000">
            <a:off x="3851920" y="914711"/>
            <a:ext cx="1285659" cy="89760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3" name="Rectangle 12"/>
          <p:cNvSpPr/>
          <p:nvPr/>
        </p:nvSpPr>
        <p:spPr>
          <a:xfrm>
            <a:off x="688261" y="3291830"/>
            <a:ext cx="7776864" cy="165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TextBox 13"/>
          <p:cNvSpPr txBox="1"/>
          <p:nvPr/>
        </p:nvSpPr>
        <p:spPr>
          <a:xfrm>
            <a:off x="755576" y="3493068"/>
            <a:ext cx="7632848" cy="1600438"/>
          </a:xfrm>
          <a:prstGeom prst="rect">
            <a:avLst/>
          </a:prstGeom>
          <a:noFill/>
        </p:spPr>
        <p:txBody>
          <a:bodyPr wrap="square" rtlCol="0">
            <a:spAutoFit/>
          </a:bodyPr>
          <a:lstStyle/>
          <a:p>
            <a:pPr algn="ctr"/>
            <a:r>
              <a:rPr lang="en-US" sz="2000" b="1" dirty="0">
                <a:solidFill>
                  <a:schemeClr val="bg1"/>
                </a:solidFill>
              </a:rPr>
              <a:t>Entrepreneurship (on-</a:t>
            </a:r>
            <a:r>
              <a:rPr lang="en-US" sz="2000" b="1" dirty="0" err="1">
                <a:solidFill>
                  <a:schemeClr val="bg1"/>
                </a:solidFill>
              </a:rPr>
              <a:t>trah</a:t>
            </a:r>
            <a:r>
              <a:rPr lang="en-US" sz="2000" b="1" dirty="0">
                <a:solidFill>
                  <a:schemeClr val="bg1"/>
                </a:solidFill>
              </a:rPr>
              <a:t>-</a:t>
            </a:r>
            <a:r>
              <a:rPr lang="en-US" sz="2000" b="1" dirty="0" err="1">
                <a:solidFill>
                  <a:schemeClr val="bg1"/>
                </a:solidFill>
              </a:rPr>
              <a:t>prih</a:t>
            </a:r>
            <a:r>
              <a:rPr lang="en-US" sz="2000" b="1" dirty="0">
                <a:solidFill>
                  <a:schemeClr val="bg1"/>
                </a:solidFill>
              </a:rPr>
              <a:t>-NER-ship), the process of being an entrepreneur, is more than just learning how to run a business. It can affect the economy, your community, and ultimately the world in which we live. </a:t>
            </a:r>
          </a:p>
          <a:p>
            <a:pPr algn="ctr"/>
            <a:endParaRPr lang="en-US" altLang="ko-KR" b="1" dirty="0">
              <a:solidFill>
                <a:schemeClr val="bg1"/>
              </a:solidFill>
              <a:cs typeface="Arial" pitchFamily="34" charset="0"/>
            </a:endParaRPr>
          </a:p>
        </p:txBody>
      </p:sp>
      <p:sp>
        <p:nvSpPr>
          <p:cNvPr id="15" name="Frame 14"/>
          <p:cNvSpPr/>
          <p:nvPr/>
        </p:nvSpPr>
        <p:spPr>
          <a:xfrm>
            <a:off x="188640" y="159482"/>
            <a:ext cx="8766720" cy="4824536"/>
          </a:xfrm>
          <a:prstGeom prst="frame">
            <a:avLst>
              <a:gd name="adj1" fmla="val 10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7494" y="968494"/>
            <a:ext cx="2643758" cy="2643758"/>
          </a:xfrm>
          <a:prstGeom prst="rect">
            <a:avLst/>
          </a:prstGeom>
        </p:spPr>
      </p:pic>
    </p:spTree>
    <p:extLst>
      <p:ext uri="{BB962C8B-B14F-4D97-AF65-F5344CB8AC3E}">
        <p14:creationId xmlns:p14="http://schemas.microsoft.com/office/powerpoint/2010/main" val="3685261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3854258" y="1770622"/>
            <a:ext cx="3332582" cy="2999495"/>
            <a:chOff x="3203848" y="1779662"/>
            <a:chExt cx="3332582" cy="2999495"/>
          </a:xfrm>
          <a:solidFill>
            <a:schemeClr val="tx1">
              <a:lumMod val="75000"/>
              <a:lumOff val="25000"/>
            </a:schemeClr>
          </a:solidFill>
        </p:grpSpPr>
        <p:sp>
          <p:nvSpPr>
            <p:cNvPr id="86" name="Rectangle 85"/>
            <p:cNvSpPr/>
            <p:nvPr/>
          </p:nvSpPr>
          <p:spPr>
            <a:xfrm>
              <a:off x="3203848" y="1779662"/>
              <a:ext cx="108000" cy="2773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7" name="Block Arc 86"/>
            <p:cNvSpPr/>
            <p:nvPr/>
          </p:nvSpPr>
          <p:spPr>
            <a:xfrm>
              <a:off x="320384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8" name="Rectangle 87"/>
            <p:cNvSpPr/>
            <p:nvPr/>
          </p:nvSpPr>
          <p:spPr>
            <a:xfrm>
              <a:off x="3425216" y="4671157"/>
              <a:ext cx="2916000" cy="10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9" name="Block Arc 88"/>
            <p:cNvSpPr/>
            <p:nvPr/>
          </p:nvSpPr>
          <p:spPr>
            <a:xfrm rot="16200000">
              <a:off x="608416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0" name="Rectangle 89"/>
            <p:cNvSpPr/>
            <p:nvPr/>
          </p:nvSpPr>
          <p:spPr>
            <a:xfrm>
              <a:off x="6428430" y="3989950"/>
              <a:ext cx="108000" cy="57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09" name="Group 108"/>
          <p:cNvGrpSpPr/>
          <p:nvPr/>
        </p:nvGrpSpPr>
        <p:grpSpPr>
          <a:xfrm>
            <a:off x="5767918" y="1056963"/>
            <a:ext cx="2758049" cy="2928608"/>
            <a:chOff x="4848046" y="3681671"/>
            <a:chExt cx="2758049" cy="2928608"/>
          </a:xfrm>
        </p:grpSpPr>
        <p:sp>
          <p:nvSpPr>
            <p:cNvPr id="110" name="Teardrop 30"/>
            <p:cNvSpPr/>
            <p:nvPr/>
          </p:nvSpPr>
          <p:spPr>
            <a:xfrm rot="8100000">
              <a:off x="5417737" y="4225696"/>
              <a:ext cx="1602534" cy="1602536"/>
            </a:xfrm>
            <a:custGeom>
              <a:avLst/>
              <a:gdLst>
                <a:gd name="connsiteX0" fmla="*/ 293361 w 2192670"/>
                <a:gd name="connsiteY0" fmla="*/ 1899310 h 2192671"/>
                <a:gd name="connsiteX1" fmla="*/ 0 w 2192670"/>
                <a:gd name="connsiteY1" fmla="*/ 1191074 h 2192671"/>
                <a:gd name="connsiteX2" fmla="*/ 1001597 w 2192670"/>
                <a:gd name="connsiteY2" fmla="*/ 189477 h 2192671"/>
                <a:gd name="connsiteX3" fmla="*/ 1341342 w 2192670"/>
                <a:gd name="connsiteY3" fmla="*/ 189477 h 2192671"/>
                <a:gd name="connsiteX4" fmla="*/ 1530818 w 2192670"/>
                <a:gd name="connsiteY4" fmla="*/ 0 h 2192671"/>
                <a:gd name="connsiteX5" fmla="*/ 1806586 w 2192670"/>
                <a:gd name="connsiteY5" fmla="*/ 0 h 2192671"/>
                <a:gd name="connsiteX6" fmla="*/ 1996062 w 2192670"/>
                <a:gd name="connsiteY6" fmla="*/ 189477 h 2192671"/>
                <a:gd name="connsiteX7" fmla="*/ 2003194 w 2192670"/>
                <a:gd name="connsiteY7" fmla="*/ 189477 h 2192671"/>
                <a:gd name="connsiteX8" fmla="*/ 2003194 w 2192670"/>
                <a:gd name="connsiteY8" fmla="*/ 196609 h 2192671"/>
                <a:gd name="connsiteX9" fmla="*/ 2192670 w 2192670"/>
                <a:gd name="connsiteY9" fmla="*/ 386085 h 2192671"/>
                <a:gd name="connsiteX10" fmla="*/ 2192670 w 2192670"/>
                <a:gd name="connsiteY10" fmla="*/ 661852 h 2192671"/>
                <a:gd name="connsiteX11" fmla="*/ 2003193 w 2192670"/>
                <a:gd name="connsiteY11" fmla="*/ 851329 h 2192671"/>
                <a:gd name="connsiteX12" fmla="*/ 2003194 w 2192670"/>
                <a:gd name="connsiteY12" fmla="*/ 1191074 h 2192671"/>
                <a:gd name="connsiteX13" fmla="*/ 1001597 w 2192670"/>
                <a:gd name="connsiteY13" fmla="*/ 2192671 h 2192671"/>
                <a:gd name="connsiteX14" fmla="*/ 293361 w 2192670"/>
                <a:gd name="connsiteY14" fmla="*/ 1899310 h 21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2670" h="2192671">
                  <a:moveTo>
                    <a:pt x="293361" y="1899310"/>
                  </a:moveTo>
                  <a:cubicBezTo>
                    <a:pt x="112107" y="1718057"/>
                    <a:pt x="0" y="1467657"/>
                    <a:pt x="0" y="1191074"/>
                  </a:cubicBezTo>
                  <a:cubicBezTo>
                    <a:pt x="0" y="637907"/>
                    <a:pt x="448430" y="189477"/>
                    <a:pt x="1001597" y="189477"/>
                  </a:cubicBezTo>
                  <a:lnTo>
                    <a:pt x="1341342" y="189477"/>
                  </a:lnTo>
                  <a:lnTo>
                    <a:pt x="1530818" y="0"/>
                  </a:lnTo>
                  <a:cubicBezTo>
                    <a:pt x="1606970" y="-76151"/>
                    <a:pt x="1730435" y="-76151"/>
                    <a:pt x="1806586" y="0"/>
                  </a:cubicBezTo>
                  <a:lnTo>
                    <a:pt x="1996062" y="189477"/>
                  </a:lnTo>
                  <a:lnTo>
                    <a:pt x="2003194" y="189477"/>
                  </a:lnTo>
                  <a:lnTo>
                    <a:pt x="2003194" y="196609"/>
                  </a:lnTo>
                  <a:lnTo>
                    <a:pt x="2192670" y="386085"/>
                  </a:lnTo>
                  <a:cubicBezTo>
                    <a:pt x="2268822" y="462236"/>
                    <a:pt x="2268822" y="585701"/>
                    <a:pt x="2192670" y="661852"/>
                  </a:cubicBezTo>
                  <a:lnTo>
                    <a:pt x="2003193" y="851329"/>
                  </a:lnTo>
                  <a:cubicBezTo>
                    <a:pt x="2003193" y="964577"/>
                    <a:pt x="2003194" y="1077826"/>
                    <a:pt x="2003194" y="1191074"/>
                  </a:cubicBezTo>
                  <a:cubicBezTo>
                    <a:pt x="2003194" y="1744241"/>
                    <a:pt x="1554764" y="2192671"/>
                    <a:pt x="1001597" y="2192671"/>
                  </a:cubicBezTo>
                  <a:cubicBezTo>
                    <a:pt x="725014" y="2192671"/>
                    <a:pt x="474614" y="2080563"/>
                    <a:pt x="293361" y="1899310"/>
                  </a:cubicBezTo>
                  <a:close/>
                </a:path>
              </a:pathLst>
            </a:custGeom>
            <a:solidFill>
              <a:schemeClr val="bg1"/>
            </a:solidFill>
            <a:ln w="698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Rounded Rectangle 110"/>
            <p:cNvSpPr/>
            <p:nvPr/>
          </p:nvSpPr>
          <p:spPr>
            <a:xfrm>
              <a:off x="5903273" y="6071006"/>
              <a:ext cx="631463"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Rounded Rectangle 111"/>
            <p:cNvSpPr/>
            <p:nvPr/>
          </p:nvSpPr>
          <p:spPr>
            <a:xfrm>
              <a:off x="5929584" y="6274865"/>
              <a:ext cx="578841"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Rounded Rectangle 112"/>
            <p:cNvSpPr/>
            <p:nvPr/>
          </p:nvSpPr>
          <p:spPr>
            <a:xfrm>
              <a:off x="5982205" y="6478724"/>
              <a:ext cx="473597"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Rounded Rectangle 113"/>
            <p:cNvSpPr/>
            <p:nvPr/>
          </p:nvSpPr>
          <p:spPr>
            <a:xfrm rot="2700000">
              <a:off x="7086448"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5" name="Rounded Rectangle 114"/>
            <p:cNvSpPr/>
            <p:nvPr/>
          </p:nvSpPr>
          <p:spPr>
            <a:xfrm rot="18900000" flipH="1">
              <a:off x="5218102"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6" name="Rounded Rectangle 115"/>
            <p:cNvSpPr/>
            <p:nvPr/>
          </p:nvSpPr>
          <p:spPr>
            <a:xfrm>
              <a:off x="6155070" y="3681671"/>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7" name="Rounded Rectangle 116"/>
            <p:cNvSpPr/>
            <p:nvPr/>
          </p:nvSpPr>
          <p:spPr>
            <a:xfrm rot="5400000">
              <a:off x="7354095" y="4745637"/>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8" name="Rounded Rectangle 117"/>
            <p:cNvSpPr/>
            <p:nvPr/>
          </p:nvSpPr>
          <p:spPr>
            <a:xfrm rot="16200000" flipH="1">
              <a:off x="4956046" y="4745638"/>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6" name="TextBox 5"/>
          <p:cNvSpPr txBox="1"/>
          <p:nvPr/>
        </p:nvSpPr>
        <p:spPr>
          <a:xfrm>
            <a:off x="299022" y="576594"/>
            <a:ext cx="5754193" cy="1384995"/>
          </a:xfrm>
          <a:prstGeom prst="rect">
            <a:avLst/>
          </a:prstGeom>
          <a:noFill/>
        </p:spPr>
        <p:txBody>
          <a:bodyPr wrap="square" rtlCol="0">
            <a:spAutoFit/>
          </a:bodyPr>
          <a:lstStyle/>
          <a:p>
            <a:r>
              <a:rPr lang="en-US" sz="2800" b="1" dirty="0"/>
              <a:t>Examples of entrepreneurs </a:t>
            </a:r>
            <a:r>
              <a:rPr lang="en-US" sz="2800" b="1" dirty="0">
                <a:solidFill>
                  <a:schemeClr val="bg1"/>
                </a:solidFill>
              </a:rPr>
              <a:t>who have changed the world in one way or another</a:t>
            </a:r>
          </a:p>
        </p:txBody>
      </p:sp>
    </p:spTree>
    <p:extLst>
      <p:ext uri="{BB962C8B-B14F-4D97-AF65-F5344CB8AC3E}">
        <p14:creationId xmlns:p14="http://schemas.microsoft.com/office/powerpoint/2010/main" val="2455110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6047" b="6047"/>
          <a:stretch>
            <a:fillRect/>
          </a:stretch>
        </p:blipFill>
        <p:spPr/>
      </p:pic>
      <p:sp>
        <p:nvSpPr>
          <p:cNvPr id="6" name="Frame 5"/>
          <p:cNvSpPr/>
          <p:nvPr/>
        </p:nvSpPr>
        <p:spPr>
          <a:xfrm>
            <a:off x="197768" y="159481"/>
            <a:ext cx="4176464" cy="4824536"/>
          </a:xfrm>
          <a:prstGeom prst="frame">
            <a:avLst>
              <a:gd name="adj1" fmla="val 10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Text Placeholder 1"/>
          <p:cNvSpPr txBox="1">
            <a:spLocks/>
          </p:cNvSpPr>
          <p:nvPr/>
        </p:nvSpPr>
        <p:spPr>
          <a:xfrm>
            <a:off x="4769768" y="1030547"/>
            <a:ext cx="4104456" cy="123990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009D97"/>
                </a:solidFill>
              </a:rPr>
              <a:t>The 1800s</a:t>
            </a:r>
            <a:endParaRPr lang="ko-KR" altLang="en-US" b="1" dirty="0">
              <a:solidFill>
                <a:srgbClr val="009D97"/>
              </a:solidFill>
              <a:latin typeface="+mj-lt"/>
              <a:cs typeface="Arial" pitchFamily="34" charset="0"/>
            </a:endParaRPr>
          </a:p>
        </p:txBody>
      </p:sp>
      <p:sp>
        <p:nvSpPr>
          <p:cNvPr id="10" name="TextBox 9"/>
          <p:cNvSpPr txBox="1"/>
          <p:nvPr/>
        </p:nvSpPr>
        <p:spPr>
          <a:xfrm>
            <a:off x="4820277" y="1906835"/>
            <a:ext cx="4104456" cy="2308324"/>
          </a:xfrm>
          <a:prstGeom prst="rect">
            <a:avLst/>
          </a:prstGeom>
          <a:noFill/>
        </p:spPr>
        <p:txBody>
          <a:bodyPr wrap="square" rtlCol="0">
            <a:spAutoFit/>
          </a:bodyPr>
          <a:lstStyle/>
          <a:p>
            <a:pPr algn="just"/>
            <a:r>
              <a:rPr lang="en-US" sz="1200" dirty="0"/>
              <a:t>He was selling newspapers, candy, and snacks at the local railroad station. By 14 he had his own newspaper business. Gathering the daily news releases that were </a:t>
            </a:r>
            <a:r>
              <a:rPr lang="en-US" sz="1200" dirty="0" err="1"/>
              <a:t>teletyped</a:t>
            </a:r>
            <a:r>
              <a:rPr lang="en-US" sz="1200" dirty="0"/>
              <a:t> into the station, he pulled out the “scoops” and convinced over 300 commuters to subscribe to his paper, which he called the </a:t>
            </a:r>
            <a:r>
              <a:rPr lang="en-US" sz="1200" i="1" dirty="0"/>
              <a:t>Weekly Herald</a:t>
            </a:r>
            <a:r>
              <a:rPr lang="en-US" sz="1200" dirty="0"/>
              <a:t>. One of the most prolific inventors in history and holding over 1000 patents, Edison is credited with numerous inventions that contributed to mass communication. One of his inventions was the phonograph. Edison’s greatest achievement, however, was creating a practical and economical system to generate and distribute electric light, heat, and power.</a:t>
            </a:r>
          </a:p>
        </p:txBody>
      </p:sp>
      <p:sp>
        <p:nvSpPr>
          <p:cNvPr id="11" name="Text Placeholder 1"/>
          <p:cNvSpPr txBox="1">
            <a:spLocks/>
          </p:cNvSpPr>
          <p:nvPr/>
        </p:nvSpPr>
        <p:spPr>
          <a:xfrm>
            <a:off x="5148064" y="4471493"/>
            <a:ext cx="3600400" cy="50430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Thomas Edison </a:t>
            </a:r>
          </a:p>
        </p:txBody>
      </p:sp>
    </p:spTree>
    <p:extLst>
      <p:ext uri="{BB962C8B-B14F-4D97-AF65-F5344CB8AC3E}">
        <p14:creationId xmlns:p14="http://schemas.microsoft.com/office/powerpoint/2010/main" val="391264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idx="1"/>
          </p:nvPr>
        </p:nvPicPr>
        <p:blipFill>
          <a:blip r:embed="rId2">
            <a:extLst>
              <a:ext uri="{28A0092B-C50C-407E-A947-70E740481C1C}">
                <a14:useLocalDpi xmlns:a14="http://schemas.microsoft.com/office/drawing/2010/main" val="0"/>
              </a:ext>
            </a:extLst>
          </a:blip>
          <a:srcRect l="1627" r="1627"/>
          <a:stretch>
            <a:fillRect/>
          </a:stretch>
        </p:blipFill>
        <p:spPr/>
      </p:pic>
      <p:sp>
        <p:nvSpPr>
          <p:cNvPr id="6" name="Frame 5"/>
          <p:cNvSpPr/>
          <p:nvPr/>
        </p:nvSpPr>
        <p:spPr>
          <a:xfrm>
            <a:off x="197768" y="159481"/>
            <a:ext cx="4176464" cy="4824536"/>
          </a:xfrm>
          <a:prstGeom prst="frame">
            <a:avLst>
              <a:gd name="adj1" fmla="val 10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Text Placeholder 1"/>
          <p:cNvSpPr txBox="1">
            <a:spLocks/>
          </p:cNvSpPr>
          <p:nvPr/>
        </p:nvSpPr>
        <p:spPr>
          <a:xfrm>
            <a:off x="4769768" y="1030547"/>
            <a:ext cx="4104456" cy="123990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009D97"/>
                </a:solidFill>
              </a:rPr>
              <a:t>The 1900s </a:t>
            </a:r>
            <a:endParaRPr lang="ko-KR" altLang="en-US" b="1" dirty="0">
              <a:solidFill>
                <a:srgbClr val="009D97"/>
              </a:solidFill>
              <a:latin typeface="+mj-lt"/>
              <a:cs typeface="Arial" pitchFamily="34" charset="0"/>
            </a:endParaRPr>
          </a:p>
        </p:txBody>
      </p:sp>
      <p:sp>
        <p:nvSpPr>
          <p:cNvPr id="10" name="TextBox 9"/>
          <p:cNvSpPr txBox="1"/>
          <p:nvPr/>
        </p:nvSpPr>
        <p:spPr>
          <a:xfrm>
            <a:off x="4820277" y="1906835"/>
            <a:ext cx="4104456" cy="1015663"/>
          </a:xfrm>
          <a:prstGeom prst="rect">
            <a:avLst/>
          </a:prstGeom>
          <a:noFill/>
        </p:spPr>
        <p:txBody>
          <a:bodyPr wrap="square" rtlCol="0">
            <a:spAutoFit/>
          </a:bodyPr>
          <a:lstStyle/>
          <a:p>
            <a:pPr algn="just"/>
            <a:r>
              <a:rPr lang="en-US" sz="1200" dirty="0"/>
              <a:t>Harley-Davidson was one of only two manufacturers to stay afloat during the Depression of the 1930s. Now it has out ridden its competition to become the world’s largest manufacturer of motorcycles, with revenues of over $41 million annually.</a:t>
            </a:r>
          </a:p>
        </p:txBody>
      </p:sp>
      <p:sp>
        <p:nvSpPr>
          <p:cNvPr id="11" name="Text Placeholder 1"/>
          <p:cNvSpPr txBox="1">
            <a:spLocks/>
          </p:cNvSpPr>
          <p:nvPr/>
        </p:nvSpPr>
        <p:spPr>
          <a:xfrm>
            <a:off x="4763069" y="4299942"/>
            <a:ext cx="4266728" cy="50430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Two friends—William Harley and Arthur Davidson</a:t>
            </a:r>
          </a:p>
        </p:txBody>
      </p:sp>
    </p:spTree>
    <p:extLst>
      <p:ext uri="{BB962C8B-B14F-4D97-AF65-F5344CB8AC3E}">
        <p14:creationId xmlns:p14="http://schemas.microsoft.com/office/powerpoint/2010/main" val="3735175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18264" r="18264"/>
          <a:stretch>
            <a:fillRect/>
          </a:stretch>
        </p:blipFill>
        <p:spPr/>
      </p:pic>
      <p:sp>
        <p:nvSpPr>
          <p:cNvPr id="6" name="Frame 5"/>
          <p:cNvSpPr/>
          <p:nvPr/>
        </p:nvSpPr>
        <p:spPr>
          <a:xfrm>
            <a:off x="197768" y="159481"/>
            <a:ext cx="4176464" cy="4824536"/>
          </a:xfrm>
          <a:prstGeom prst="frame">
            <a:avLst>
              <a:gd name="adj1" fmla="val 10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Text Placeholder 1"/>
          <p:cNvSpPr txBox="1">
            <a:spLocks/>
          </p:cNvSpPr>
          <p:nvPr/>
        </p:nvSpPr>
        <p:spPr>
          <a:xfrm>
            <a:off x="4769768" y="1030547"/>
            <a:ext cx="4104456" cy="123990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009D97"/>
                </a:solidFill>
              </a:rPr>
              <a:t>Present</a:t>
            </a:r>
            <a:r>
              <a:rPr lang="en-US" sz="2400" b="1" dirty="0">
                <a:solidFill>
                  <a:srgbClr val="009D97"/>
                </a:solidFill>
              </a:rPr>
              <a:t> </a:t>
            </a:r>
            <a:r>
              <a:rPr lang="en-US" b="1" dirty="0">
                <a:solidFill>
                  <a:srgbClr val="009D97"/>
                </a:solidFill>
              </a:rPr>
              <a:t>- IKEA</a:t>
            </a:r>
            <a:endParaRPr lang="ko-KR" altLang="en-US" b="1" dirty="0">
              <a:solidFill>
                <a:srgbClr val="009D97"/>
              </a:solidFill>
              <a:latin typeface="+mj-lt"/>
              <a:cs typeface="Arial" pitchFamily="34" charset="0"/>
            </a:endParaRPr>
          </a:p>
        </p:txBody>
      </p:sp>
      <p:sp>
        <p:nvSpPr>
          <p:cNvPr id="10" name="TextBox 9"/>
          <p:cNvSpPr txBox="1"/>
          <p:nvPr/>
        </p:nvSpPr>
        <p:spPr>
          <a:xfrm>
            <a:off x="4796831" y="2139702"/>
            <a:ext cx="4104456" cy="830997"/>
          </a:xfrm>
          <a:prstGeom prst="rect">
            <a:avLst/>
          </a:prstGeom>
          <a:noFill/>
        </p:spPr>
        <p:txBody>
          <a:bodyPr wrap="square" rtlCol="0">
            <a:spAutoFit/>
          </a:bodyPr>
          <a:lstStyle/>
          <a:p>
            <a:pPr algn="just"/>
            <a:r>
              <a:rPr lang="en-US" sz="1200" dirty="0"/>
              <a:t>When </a:t>
            </a:r>
            <a:r>
              <a:rPr lang="en-US" sz="1200" dirty="0" err="1"/>
              <a:t>Kamprad</a:t>
            </a:r>
            <a:r>
              <a:rPr lang="en-US" sz="1200" dirty="0"/>
              <a:t> was 17, he founded IKEA, a furniture business. Today, IKEA has expanded to 300 stores in over 35 countries and Ingvar </a:t>
            </a:r>
            <a:r>
              <a:rPr lang="en-US" sz="1200" dirty="0" err="1"/>
              <a:t>Kamprad</a:t>
            </a:r>
            <a:r>
              <a:rPr lang="en-US" sz="1200" dirty="0"/>
              <a:t> has become one of the ten wealthiest people in the world.</a:t>
            </a:r>
          </a:p>
        </p:txBody>
      </p:sp>
      <p:sp>
        <p:nvSpPr>
          <p:cNvPr id="11" name="Text Placeholder 1"/>
          <p:cNvSpPr txBox="1">
            <a:spLocks/>
          </p:cNvSpPr>
          <p:nvPr/>
        </p:nvSpPr>
        <p:spPr>
          <a:xfrm>
            <a:off x="4763069" y="4299942"/>
            <a:ext cx="4266728" cy="50430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Ingvar </a:t>
            </a:r>
            <a:r>
              <a:rPr lang="en-US" altLang="ko-KR" sz="2400" b="1" dirty="0" err="1">
                <a:solidFill>
                  <a:schemeClr val="bg1"/>
                </a:solidFill>
                <a:cs typeface="Arial" pitchFamily="34" charset="0"/>
              </a:rPr>
              <a:t>Kamprad</a:t>
            </a:r>
            <a:r>
              <a:rPr lang="en-US" altLang="ko-KR" sz="2400" b="1" dirty="0">
                <a:solidFill>
                  <a:schemeClr val="bg1"/>
                </a:solidFill>
                <a:cs typeface="Arial" pitchFamily="34" charset="0"/>
              </a:rPr>
              <a:t> </a:t>
            </a:r>
          </a:p>
        </p:txBody>
      </p:sp>
    </p:spTree>
    <p:extLst>
      <p:ext uri="{BB962C8B-B14F-4D97-AF65-F5344CB8AC3E}">
        <p14:creationId xmlns:p14="http://schemas.microsoft.com/office/powerpoint/2010/main" val="1468764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14781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0" name="TextBox 9"/>
          <p:cNvSpPr txBox="1"/>
          <p:nvPr/>
        </p:nvSpPr>
        <p:spPr>
          <a:xfrm>
            <a:off x="179512" y="3198360"/>
            <a:ext cx="8739844" cy="1754326"/>
          </a:xfrm>
          <a:prstGeom prst="rect">
            <a:avLst/>
          </a:prstGeom>
          <a:noFill/>
        </p:spPr>
        <p:txBody>
          <a:bodyPr wrap="square" rtlCol="0">
            <a:spAutoFit/>
          </a:bodyPr>
          <a:lstStyle/>
          <a:p>
            <a:r>
              <a:rPr lang="en-US" dirty="0"/>
              <a:t>As in the past, present-day entrepreneurs pay attention to social trends to attract customers. To be successful in today’s business world, most entrepreneurs use the Internet in some way. In fact, more and more companies are making the Internet their primary business resource.</a:t>
            </a:r>
          </a:p>
          <a:p>
            <a:endParaRPr lang="en-US" u="sng" dirty="0">
              <a:solidFill>
                <a:srgbClr val="009D97"/>
              </a:solidFill>
            </a:endParaRPr>
          </a:p>
          <a:p>
            <a:r>
              <a:rPr lang="en-US" dirty="0">
                <a:solidFill>
                  <a:srgbClr val="009D97"/>
                </a:solidFill>
                <a:hlinkClick r:id="rId2"/>
              </a:rPr>
              <a:t>Amazon.com</a:t>
            </a:r>
            <a:r>
              <a:rPr lang="en-US" u="sng" dirty="0">
                <a:solidFill>
                  <a:srgbClr val="009D97"/>
                </a:solidFill>
                <a:hlinkClick r:id="rId2"/>
              </a:rPr>
              <a:t> </a:t>
            </a:r>
            <a:r>
              <a:rPr lang="en-US" u="sng" dirty="0">
                <a:solidFill>
                  <a:srgbClr val="009D97"/>
                </a:solidFill>
              </a:rPr>
              <a:t>is a good example, doing its business entirely on the Internet. </a:t>
            </a:r>
          </a:p>
        </p:txBody>
      </p:sp>
      <p:sp>
        <p:nvSpPr>
          <p:cNvPr id="11" name="Frame 10"/>
          <p:cNvSpPr/>
          <p:nvPr/>
        </p:nvSpPr>
        <p:spPr>
          <a:xfrm>
            <a:off x="224644" y="188136"/>
            <a:ext cx="8694712" cy="2700301"/>
          </a:xfrm>
          <a:prstGeom prst="frame">
            <a:avLst>
              <a:gd name="adj1" fmla="val 10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 name="TextBox 3"/>
          <p:cNvSpPr txBox="1"/>
          <p:nvPr/>
        </p:nvSpPr>
        <p:spPr>
          <a:xfrm>
            <a:off x="899592" y="915566"/>
            <a:ext cx="7344816" cy="830997"/>
          </a:xfrm>
          <a:prstGeom prst="rect">
            <a:avLst/>
          </a:prstGeom>
          <a:noFill/>
        </p:spPr>
        <p:txBody>
          <a:bodyPr wrap="square" rtlCol="0">
            <a:spAutoFit/>
          </a:bodyPr>
          <a:lstStyle/>
          <a:p>
            <a:r>
              <a:rPr lang="en-US" sz="4800" b="1" dirty="0">
                <a:solidFill>
                  <a:schemeClr val="bg1"/>
                </a:solidFill>
              </a:rPr>
              <a:t>Today’s Entrepreneurs</a:t>
            </a:r>
            <a:endParaRPr lang="en-US" sz="4800" dirty="0">
              <a:solidFill>
                <a:schemeClr val="bg1"/>
              </a:solidFill>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5308" y="2139702"/>
            <a:ext cx="2774913" cy="1058658"/>
          </a:xfrm>
          <a:prstGeom prst="rect">
            <a:avLst/>
          </a:prstGeom>
        </p:spPr>
      </p:pic>
    </p:spTree>
    <p:extLst>
      <p:ext uri="{BB962C8B-B14F-4D97-AF65-F5344CB8AC3E}">
        <p14:creationId xmlns:p14="http://schemas.microsoft.com/office/powerpoint/2010/main" val="2534820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ame 17"/>
          <p:cNvSpPr/>
          <p:nvPr/>
        </p:nvSpPr>
        <p:spPr>
          <a:xfrm rot="18900000">
            <a:off x="6343368" y="2430572"/>
            <a:ext cx="1793332" cy="1793332"/>
          </a:xfrm>
          <a:prstGeom prst="frame">
            <a:avLst>
              <a:gd name="adj1" fmla="val 483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9" name="Text Placeholder 1"/>
          <p:cNvSpPr txBox="1">
            <a:spLocks/>
          </p:cNvSpPr>
          <p:nvPr/>
        </p:nvSpPr>
        <p:spPr>
          <a:xfrm>
            <a:off x="120930" y="2859782"/>
            <a:ext cx="3456384" cy="194446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ko-KR" b="1" dirty="0">
                <a:solidFill>
                  <a:schemeClr val="bg1"/>
                </a:solidFill>
                <a:latin typeface="+mj-lt"/>
                <a:cs typeface="Arial" pitchFamily="34" charset="0"/>
              </a:rPr>
              <a:t>Steve Jobs</a:t>
            </a:r>
            <a:endParaRPr lang="ko-KR" altLang="en-US" b="1" dirty="0">
              <a:solidFill>
                <a:schemeClr val="bg1"/>
              </a:solidFill>
              <a:latin typeface="+mj-lt"/>
              <a:cs typeface="Arial" pitchFamily="34" charset="0"/>
            </a:endParaRPr>
          </a:p>
        </p:txBody>
      </p:sp>
      <p:sp>
        <p:nvSpPr>
          <p:cNvPr id="20" name="TextBox 19"/>
          <p:cNvSpPr txBox="1"/>
          <p:nvPr/>
        </p:nvSpPr>
        <p:spPr>
          <a:xfrm>
            <a:off x="148486" y="4187512"/>
            <a:ext cx="4135482" cy="761747"/>
          </a:xfrm>
          <a:prstGeom prst="rect">
            <a:avLst/>
          </a:prstGeom>
          <a:noFill/>
        </p:spPr>
        <p:txBody>
          <a:bodyPr wrap="square" rtlCol="0">
            <a:spAutoFit/>
          </a:bodyPr>
          <a:lstStyle/>
          <a:p>
            <a:r>
              <a:rPr lang="en-US" sz="1100" b="1" dirty="0"/>
              <a:t>What's important is that you have a faith in people, that they're basically good and smart, and if you give them tools, </a:t>
            </a:r>
          </a:p>
          <a:p>
            <a:r>
              <a:rPr lang="en-US" sz="1100" b="1" dirty="0"/>
              <a:t>they'll do wonderful things with them.</a:t>
            </a:r>
            <a:br>
              <a:rPr lang="en-US" sz="1000" b="1" dirty="0">
                <a:solidFill>
                  <a:srgbClr val="009D97"/>
                </a:solidFill>
              </a:rPr>
            </a:br>
            <a:endParaRPr lang="en-US" altLang="ko-KR" sz="1000" b="1" dirty="0">
              <a:solidFill>
                <a:srgbClr val="009D97"/>
              </a:solidFill>
              <a:cs typeface="Arial" pitchFamily="34" charset="0"/>
            </a:endParaRPr>
          </a:p>
        </p:txBody>
      </p:sp>
      <p:sp>
        <p:nvSpPr>
          <p:cNvPr id="5" name="그림 개체 틀 4">
            <a:extLst>
              <a:ext uri="{FF2B5EF4-FFF2-40B4-BE49-F238E27FC236}">
                <a16:creationId xmlns:a16="http://schemas.microsoft.com/office/drawing/2014/main" id="{5E9D2E2D-36E6-460B-B2E6-9B3BF0EF6074}"/>
              </a:ext>
            </a:extLst>
          </p:cNvPr>
          <p:cNvSpPr>
            <a:spLocks noGrp="1"/>
          </p:cNvSpPr>
          <p:nvPr>
            <p:ph type="pic" idx="21"/>
          </p:nvPr>
        </p:nvSpPr>
        <p:spPr>
          <a:solidFill>
            <a:schemeClr val="bg1"/>
          </a:solidFill>
        </p:spPr>
      </p:sp>
      <p:pic>
        <p:nvPicPr>
          <p:cNvPr id="2" name="Picture Placeholder 1"/>
          <p:cNvPicPr>
            <a:picLocks noGrp="1" noChangeAspect="1"/>
          </p:cNvPicPr>
          <p:nvPr>
            <p:ph type="pic" idx="18"/>
          </p:nvPr>
        </p:nvPicPr>
        <p:blipFill>
          <a:blip r:embed="rId2">
            <a:extLst>
              <a:ext uri="{28A0092B-C50C-407E-A947-70E740481C1C}">
                <a14:useLocalDpi xmlns:a14="http://schemas.microsoft.com/office/drawing/2010/main" val="0"/>
              </a:ext>
            </a:extLst>
          </a:blip>
          <a:srcRect l="35230" r="35230"/>
          <a:stretch>
            <a:fillRect/>
          </a:stretch>
        </p:blipFill>
        <p:spPr/>
      </p:pic>
      <p:sp>
        <p:nvSpPr>
          <p:cNvPr id="9" name="그림 개체 틀 8">
            <a:extLst>
              <a:ext uri="{FF2B5EF4-FFF2-40B4-BE49-F238E27FC236}">
                <a16:creationId xmlns:a16="http://schemas.microsoft.com/office/drawing/2014/main" id="{FC01822E-DC72-472E-BAF0-9CCBB8D77A9C}"/>
              </a:ext>
            </a:extLst>
          </p:cNvPr>
          <p:cNvSpPr>
            <a:spLocks noGrp="1"/>
          </p:cNvSpPr>
          <p:nvPr>
            <p:ph type="pic" idx="19"/>
          </p:nvPr>
        </p:nvSpPr>
        <p:spPr>
          <a:solidFill>
            <a:schemeClr val="bg1"/>
          </a:solidFill>
        </p:spPr>
      </p:sp>
      <p:pic>
        <p:nvPicPr>
          <p:cNvPr id="8" name="Picture Placeholder 7"/>
          <p:cNvPicPr>
            <a:picLocks noGrp="1" noChangeAspect="1"/>
          </p:cNvPicPr>
          <p:nvPr>
            <p:ph type="pic" idx="20"/>
          </p:nvPr>
        </p:nvPicPr>
        <p:blipFill>
          <a:blip r:embed="rId3">
            <a:extLst>
              <a:ext uri="{28A0092B-C50C-407E-A947-70E740481C1C}">
                <a14:useLocalDpi xmlns:a14="http://schemas.microsoft.com/office/drawing/2010/main" val="0"/>
              </a:ext>
            </a:extLst>
          </a:blip>
          <a:srcRect t="145" b="145"/>
          <a:stretch>
            <a:fillRect/>
          </a:stretch>
        </p:blipFill>
        <p:spPr/>
      </p:pic>
    </p:spTree>
    <p:extLst>
      <p:ext uri="{BB962C8B-B14F-4D97-AF65-F5344CB8AC3E}">
        <p14:creationId xmlns:p14="http://schemas.microsoft.com/office/powerpoint/2010/main" val="3191137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1"/>
          <p:cNvSpPr txBox="1">
            <a:spLocks/>
          </p:cNvSpPr>
          <p:nvPr/>
        </p:nvSpPr>
        <p:spPr>
          <a:xfrm>
            <a:off x="192348" y="3651870"/>
            <a:ext cx="3399830" cy="1367182"/>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chemeClr val="bg1"/>
                </a:solidFill>
              </a:rPr>
              <a:t>What is an </a:t>
            </a:r>
          </a:p>
          <a:p>
            <a:pPr marL="0" indent="0">
              <a:buNone/>
            </a:pPr>
            <a:r>
              <a:rPr lang="en-US" b="1" dirty="0">
                <a:solidFill>
                  <a:schemeClr val="bg1"/>
                </a:solidFill>
              </a:rPr>
              <a:t>Entrepreneur?</a:t>
            </a:r>
            <a:endParaRPr lang="ko-KR" altLang="en-US" b="1" dirty="0">
              <a:solidFill>
                <a:schemeClr val="bg1"/>
              </a:solidFill>
              <a:cs typeface="Arial" pitchFamily="34" charset="0"/>
            </a:endParaRPr>
          </a:p>
        </p:txBody>
      </p:sp>
      <p:pic>
        <p:nvPicPr>
          <p:cNvPr id="4" name="Picture Placeholder 3"/>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4709" r="4709"/>
          <a:stretch>
            <a:fillRect/>
          </a:stretch>
        </p:blipFill>
        <p:spPr/>
      </p:pic>
      <p:sp>
        <p:nvSpPr>
          <p:cNvPr id="8" name="TextBox 7"/>
          <p:cNvSpPr txBox="1"/>
          <p:nvPr/>
        </p:nvSpPr>
        <p:spPr>
          <a:xfrm>
            <a:off x="5796136" y="1635646"/>
            <a:ext cx="3168353" cy="1938992"/>
          </a:xfrm>
          <a:prstGeom prst="rect">
            <a:avLst/>
          </a:prstGeom>
          <a:noFill/>
        </p:spPr>
        <p:txBody>
          <a:bodyPr wrap="square" rtlCol="0">
            <a:spAutoFit/>
          </a:bodyPr>
          <a:lstStyle/>
          <a:p>
            <a:r>
              <a:rPr lang="en-US" sz="2000" dirty="0"/>
              <a:t>An entrepreneur takes an idea, develops a business around it, manages the </a:t>
            </a:r>
          </a:p>
          <a:p>
            <a:r>
              <a:rPr lang="en-US" sz="2000" dirty="0"/>
              <a:t>business, and assumes the risk for its success.</a:t>
            </a:r>
          </a:p>
          <a:p>
            <a:endParaRPr lang="en-US" sz="2000" dirty="0"/>
          </a:p>
        </p:txBody>
      </p:sp>
    </p:spTree>
    <p:extLst>
      <p:ext uri="{BB962C8B-B14F-4D97-AF65-F5344CB8AC3E}">
        <p14:creationId xmlns:p14="http://schemas.microsoft.com/office/powerpoint/2010/main" val="579613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004" y="362906"/>
            <a:ext cx="9144000" cy="576064"/>
          </a:xfrm>
        </p:spPr>
        <p:txBody>
          <a:bodyPr/>
          <a:lstStyle/>
          <a:p>
            <a:r>
              <a:rPr lang="en-US" b="1" dirty="0"/>
              <a:t>Types of Entrepreneurs</a:t>
            </a:r>
            <a:endParaRPr lang="en-US" altLang="ko-KR" b="1" dirty="0">
              <a:solidFill>
                <a:schemeClr val="tx1">
                  <a:lumMod val="75000"/>
                  <a:lumOff val="25000"/>
                </a:schemeClr>
              </a:solidFill>
            </a:endParaRPr>
          </a:p>
        </p:txBody>
      </p:sp>
      <p:sp>
        <p:nvSpPr>
          <p:cNvPr id="5" name="그림 개체 틀 4">
            <a:extLst>
              <a:ext uri="{FF2B5EF4-FFF2-40B4-BE49-F238E27FC236}">
                <a16:creationId xmlns:a16="http://schemas.microsoft.com/office/drawing/2014/main" id="{E08AE788-70A3-482C-ADAE-16A50CE4E8E7}"/>
              </a:ext>
            </a:extLst>
          </p:cNvPr>
          <p:cNvSpPr>
            <a:spLocks noGrp="1"/>
          </p:cNvSpPr>
          <p:nvPr>
            <p:ph type="pic" idx="14"/>
          </p:nvPr>
        </p:nvSpPr>
        <p:spPr>
          <a:solidFill>
            <a:schemeClr val="bg1">
              <a:lumMod val="95000"/>
            </a:schemeClr>
          </a:solidFill>
        </p:spPr>
      </p:sp>
      <p:sp>
        <p:nvSpPr>
          <p:cNvPr id="7" name="그림 개체 틀 6">
            <a:extLst>
              <a:ext uri="{FF2B5EF4-FFF2-40B4-BE49-F238E27FC236}">
                <a16:creationId xmlns:a16="http://schemas.microsoft.com/office/drawing/2014/main" id="{CB011B8A-0C8A-44F1-9A0A-0114FCE504D2}"/>
              </a:ext>
            </a:extLst>
          </p:cNvPr>
          <p:cNvSpPr>
            <a:spLocks noGrp="1"/>
          </p:cNvSpPr>
          <p:nvPr>
            <p:ph type="pic" idx="15"/>
          </p:nvPr>
        </p:nvSpPr>
        <p:spPr>
          <a:xfrm>
            <a:off x="395536" y="3075806"/>
            <a:ext cx="2956304" cy="1728191"/>
          </a:xfrm>
          <a:solidFill>
            <a:schemeClr val="bg1">
              <a:lumMod val="95000"/>
            </a:schemeClr>
          </a:solidFill>
        </p:spPr>
      </p:sp>
      <p:sp>
        <p:nvSpPr>
          <p:cNvPr id="11" name="그림 개체 틀 10">
            <a:extLst>
              <a:ext uri="{FF2B5EF4-FFF2-40B4-BE49-F238E27FC236}">
                <a16:creationId xmlns:a16="http://schemas.microsoft.com/office/drawing/2014/main" id="{F88ED6E0-3EAB-4F26-924F-9BB185F04661}"/>
              </a:ext>
            </a:extLst>
          </p:cNvPr>
          <p:cNvSpPr>
            <a:spLocks noGrp="1"/>
          </p:cNvSpPr>
          <p:nvPr>
            <p:ph type="pic" idx="16"/>
          </p:nvPr>
        </p:nvSpPr>
        <p:spPr>
          <a:solidFill>
            <a:schemeClr val="bg1">
              <a:lumMod val="95000"/>
            </a:schemeClr>
          </a:solidFill>
        </p:spPr>
      </p:sp>
      <p:sp>
        <p:nvSpPr>
          <p:cNvPr id="14" name="그림 개체 틀 13">
            <a:extLst>
              <a:ext uri="{FF2B5EF4-FFF2-40B4-BE49-F238E27FC236}">
                <a16:creationId xmlns:a16="http://schemas.microsoft.com/office/drawing/2014/main" id="{D4E89160-9A36-476D-B617-1F6C4BF355DF}"/>
              </a:ext>
            </a:extLst>
          </p:cNvPr>
          <p:cNvSpPr>
            <a:spLocks noGrp="1"/>
          </p:cNvSpPr>
          <p:nvPr>
            <p:ph type="pic" idx="18"/>
          </p:nvPr>
        </p:nvSpPr>
        <p:spPr>
          <a:solidFill>
            <a:schemeClr val="bg1">
              <a:lumMod val="95000"/>
            </a:schemeClr>
          </a:solidFill>
        </p:spPr>
      </p:sp>
      <p:sp>
        <p:nvSpPr>
          <p:cNvPr id="16" name="그림 개체 틀 15">
            <a:extLst>
              <a:ext uri="{FF2B5EF4-FFF2-40B4-BE49-F238E27FC236}">
                <a16:creationId xmlns:a16="http://schemas.microsoft.com/office/drawing/2014/main" id="{017EDE49-9390-412A-B0D4-279DB594BF79}"/>
              </a:ext>
            </a:extLst>
          </p:cNvPr>
          <p:cNvSpPr>
            <a:spLocks noGrp="1"/>
          </p:cNvSpPr>
          <p:nvPr>
            <p:ph type="pic" idx="20"/>
          </p:nvPr>
        </p:nvSpPr>
        <p:spPr>
          <a:solidFill>
            <a:schemeClr val="bg1">
              <a:lumMod val="95000"/>
            </a:schemeClr>
          </a:solidFill>
        </p:spPr>
      </p:sp>
      <p:sp>
        <p:nvSpPr>
          <p:cNvPr id="20" name="그림 개체 틀 19">
            <a:extLst>
              <a:ext uri="{FF2B5EF4-FFF2-40B4-BE49-F238E27FC236}">
                <a16:creationId xmlns:a16="http://schemas.microsoft.com/office/drawing/2014/main" id="{74F5D7DF-A820-4464-B6C6-D39A3A07CEAD}"/>
              </a:ext>
            </a:extLst>
          </p:cNvPr>
          <p:cNvSpPr>
            <a:spLocks noGrp="1"/>
          </p:cNvSpPr>
          <p:nvPr>
            <p:ph type="pic" idx="19"/>
          </p:nvPr>
        </p:nvSpPr>
        <p:spPr>
          <a:xfrm>
            <a:off x="5736054" y="3075806"/>
            <a:ext cx="2956303" cy="1728191"/>
          </a:xfrm>
          <a:solidFill>
            <a:schemeClr val="bg1">
              <a:lumMod val="95000"/>
            </a:schemeClr>
          </a:solidFill>
        </p:spPr>
      </p:sp>
      <p:sp>
        <p:nvSpPr>
          <p:cNvPr id="8" name="TextBox 7"/>
          <p:cNvSpPr txBox="1"/>
          <p:nvPr/>
        </p:nvSpPr>
        <p:spPr>
          <a:xfrm>
            <a:off x="503548" y="1851670"/>
            <a:ext cx="1224136" cy="646331"/>
          </a:xfrm>
          <a:prstGeom prst="rect">
            <a:avLst/>
          </a:prstGeom>
          <a:noFill/>
        </p:spPr>
        <p:txBody>
          <a:bodyPr wrap="square" rtlCol="0">
            <a:spAutoFit/>
          </a:bodyPr>
          <a:lstStyle/>
          <a:p>
            <a:pPr algn="ctr"/>
            <a:r>
              <a:rPr lang="en-US" b="1" dirty="0"/>
              <a:t>Small </a:t>
            </a:r>
          </a:p>
          <a:p>
            <a:pPr algn="ctr"/>
            <a:r>
              <a:rPr lang="en-US" b="1" dirty="0"/>
              <a:t>business</a:t>
            </a:r>
          </a:p>
        </p:txBody>
      </p:sp>
      <p:sp>
        <p:nvSpPr>
          <p:cNvPr id="17" name="TextBox 16"/>
          <p:cNvSpPr txBox="1"/>
          <p:nvPr/>
        </p:nvSpPr>
        <p:spPr>
          <a:xfrm>
            <a:off x="2019692" y="1779662"/>
            <a:ext cx="1224136" cy="923330"/>
          </a:xfrm>
          <a:prstGeom prst="rect">
            <a:avLst/>
          </a:prstGeom>
          <a:noFill/>
        </p:spPr>
        <p:txBody>
          <a:bodyPr wrap="square" rtlCol="0">
            <a:spAutoFit/>
          </a:bodyPr>
          <a:lstStyle/>
          <a:p>
            <a:pPr algn="ctr"/>
            <a:r>
              <a:rPr lang="en-US" b="1" dirty="0"/>
              <a:t>Home</a:t>
            </a:r>
          </a:p>
          <a:p>
            <a:pPr algn="ctr"/>
            <a:r>
              <a:rPr lang="en-US" b="1" dirty="0"/>
              <a:t>Based </a:t>
            </a:r>
          </a:p>
          <a:p>
            <a:pPr algn="ctr"/>
            <a:r>
              <a:rPr lang="en-US" b="1" dirty="0"/>
              <a:t>Business</a:t>
            </a:r>
          </a:p>
        </p:txBody>
      </p:sp>
      <p:sp>
        <p:nvSpPr>
          <p:cNvPr id="19" name="TextBox 18"/>
          <p:cNvSpPr txBox="1"/>
          <p:nvPr/>
        </p:nvSpPr>
        <p:spPr>
          <a:xfrm>
            <a:off x="5844066" y="1853828"/>
            <a:ext cx="1224136" cy="646331"/>
          </a:xfrm>
          <a:prstGeom prst="rect">
            <a:avLst/>
          </a:prstGeom>
          <a:noFill/>
        </p:spPr>
        <p:txBody>
          <a:bodyPr wrap="square" rtlCol="0">
            <a:spAutoFit/>
          </a:bodyPr>
          <a:lstStyle/>
          <a:p>
            <a:pPr algn="ctr"/>
            <a:r>
              <a:rPr lang="en-US" b="1" dirty="0"/>
              <a:t>Online </a:t>
            </a:r>
          </a:p>
          <a:p>
            <a:pPr algn="ctr"/>
            <a:r>
              <a:rPr lang="en-US" b="1" dirty="0"/>
              <a:t>Business</a:t>
            </a:r>
          </a:p>
        </p:txBody>
      </p:sp>
      <p:sp>
        <p:nvSpPr>
          <p:cNvPr id="21" name="TextBox 20"/>
          <p:cNvSpPr txBox="1"/>
          <p:nvPr/>
        </p:nvSpPr>
        <p:spPr>
          <a:xfrm>
            <a:off x="996616" y="3616734"/>
            <a:ext cx="1754144" cy="646331"/>
          </a:xfrm>
          <a:prstGeom prst="rect">
            <a:avLst/>
          </a:prstGeom>
          <a:noFill/>
        </p:spPr>
        <p:txBody>
          <a:bodyPr wrap="square" rtlCol="0">
            <a:spAutoFit/>
          </a:bodyPr>
          <a:lstStyle/>
          <a:p>
            <a:pPr algn="ctr"/>
            <a:r>
              <a:rPr lang="en-US" b="1" dirty="0"/>
              <a:t>Serial </a:t>
            </a:r>
          </a:p>
          <a:p>
            <a:pPr algn="ctr"/>
            <a:r>
              <a:rPr lang="en-US" b="1" dirty="0"/>
              <a:t>Entrepreneur</a:t>
            </a:r>
          </a:p>
        </p:txBody>
      </p:sp>
      <p:sp>
        <p:nvSpPr>
          <p:cNvPr id="23" name="TextBox 22"/>
          <p:cNvSpPr txBox="1"/>
          <p:nvPr/>
        </p:nvSpPr>
        <p:spPr>
          <a:xfrm>
            <a:off x="5942026" y="3616735"/>
            <a:ext cx="2544358" cy="646331"/>
          </a:xfrm>
          <a:prstGeom prst="rect">
            <a:avLst/>
          </a:prstGeom>
          <a:noFill/>
        </p:spPr>
        <p:txBody>
          <a:bodyPr wrap="square" rtlCol="0">
            <a:spAutoFit/>
          </a:bodyPr>
          <a:lstStyle/>
          <a:p>
            <a:pPr algn="ctr"/>
            <a:r>
              <a:rPr lang="en-US" b="1" dirty="0"/>
              <a:t>Lifestyle </a:t>
            </a:r>
          </a:p>
          <a:p>
            <a:pPr algn="ctr"/>
            <a:r>
              <a:rPr lang="en-US" b="1" dirty="0"/>
              <a:t>Entrepreneur</a:t>
            </a:r>
          </a:p>
        </p:txBody>
      </p:sp>
      <p:sp>
        <p:nvSpPr>
          <p:cNvPr id="25" name="TextBox 24"/>
          <p:cNvSpPr txBox="1"/>
          <p:nvPr/>
        </p:nvSpPr>
        <p:spPr>
          <a:xfrm>
            <a:off x="7360210" y="1851670"/>
            <a:ext cx="1224136" cy="369332"/>
          </a:xfrm>
          <a:prstGeom prst="rect">
            <a:avLst/>
          </a:prstGeom>
          <a:noFill/>
        </p:spPr>
        <p:txBody>
          <a:bodyPr wrap="square" rtlCol="0">
            <a:spAutoFit/>
          </a:bodyPr>
          <a:lstStyle/>
          <a:p>
            <a:pPr algn="ctr"/>
            <a:r>
              <a:rPr lang="en-US" b="1" dirty="0"/>
              <a:t>Inventors</a:t>
            </a:r>
          </a:p>
        </p:txBody>
      </p:sp>
      <p:pic>
        <p:nvPicPr>
          <p:cNvPr id="30" name="Picture Placeholder 29"/>
          <p:cNvPicPr>
            <a:picLocks noGrp="1" noChangeAspect="1"/>
          </p:cNvPicPr>
          <p:nvPr>
            <p:ph type="pic" idx="16"/>
          </p:nvPr>
        </p:nvPicPr>
        <p:blipFill>
          <a:blip r:embed="rId2" cstate="print">
            <a:extLst>
              <a:ext uri="{28A0092B-C50C-407E-A947-70E740481C1C}">
                <a14:useLocalDpi xmlns:a14="http://schemas.microsoft.com/office/drawing/2010/main" val="0"/>
              </a:ext>
            </a:extLst>
          </a:blip>
          <a:srcRect l="243" r="243"/>
          <a:stretch>
            <a:fillRect/>
          </a:stretch>
        </p:blipFill>
        <p:spPr>
          <a:xfrm>
            <a:off x="3427413" y="1268413"/>
            <a:ext cx="2232025" cy="3535362"/>
          </a:xfrm>
          <a:solidFill>
            <a:schemeClr val="bg1"/>
          </a:solidFill>
        </p:spPr>
      </p:pic>
    </p:spTree>
    <p:extLst>
      <p:ext uri="{BB962C8B-B14F-4D97-AF65-F5344CB8AC3E}">
        <p14:creationId xmlns:p14="http://schemas.microsoft.com/office/powerpoint/2010/main" val="3391549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277957979"/>
              </p:ext>
            </p:extLst>
          </p:nvPr>
        </p:nvGraphicFramePr>
        <p:xfrm>
          <a:off x="395535" y="1251304"/>
          <a:ext cx="4032448" cy="2676680"/>
        </p:xfrm>
        <a:graphic>
          <a:graphicData uri="http://schemas.openxmlformats.org/drawingml/2006/table">
            <a:tbl>
              <a:tblPr firstRow="1" bandRow="1">
                <a:tableStyleId>{5940675A-B579-460E-94D1-54222C63F5DA}</a:tableStyleId>
              </a:tblPr>
              <a:tblGrid>
                <a:gridCol w="461330">
                  <a:extLst>
                    <a:ext uri="{9D8B030D-6E8A-4147-A177-3AD203B41FA5}">
                      <a16:colId xmlns:a16="http://schemas.microsoft.com/office/drawing/2014/main" val="20000"/>
                    </a:ext>
                  </a:extLst>
                </a:gridCol>
                <a:gridCol w="3109788">
                  <a:extLst>
                    <a:ext uri="{9D8B030D-6E8A-4147-A177-3AD203B41FA5}">
                      <a16:colId xmlns:a16="http://schemas.microsoft.com/office/drawing/2014/main" val="20001"/>
                    </a:ext>
                  </a:extLst>
                </a:gridCol>
                <a:gridCol w="461330">
                  <a:extLst>
                    <a:ext uri="{9D8B030D-6E8A-4147-A177-3AD203B41FA5}">
                      <a16:colId xmlns:a16="http://schemas.microsoft.com/office/drawing/2014/main" val="20002"/>
                    </a:ext>
                  </a:extLst>
                </a:gridCol>
              </a:tblGrid>
              <a:tr h="612000">
                <a:tc>
                  <a:txBody>
                    <a:bodyPr/>
                    <a:lstStyle/>
                    <a:p>
                      <a:pPr algn="ctr" latinLnBrk="1"/>
                      <a:endParaRPr lang="ko-KR" altLang="en-US" dirty="0">
                        <a:latin typeface="+mn-lt"/>
                      </a:endParaRPr>
                    </a:p>
                  </a:txBody>
                  <a:tcP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400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800" b="1" dirty="0">
                          <a:solidFill>
                            <a:schemeClr val="bg1"/>
                          </a:solidFill>
                          <a:latin typeface="+mn-lt"/>
                          <a:cs typeface="Arial" pitchFamily="34" charset="0"/>
                        </a:rPr>
                        <a:t>1. Small business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a:lnSpc>
                          <a:spcPct val="0"/>
                        </a:lnSpc>
                      </a:pPr>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208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1200" dirty="0"/>
                        <a:t>This includes mom and pop shops and local business owners. Small business can include partnerships, sole proprietors, and LLCs. Generally it's any business that has less than 500 employees, according to the Small Business Administration.</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0000">
                <a:tc>
                  <a:txBody>
                    <a:bodyPr/>
                    <a:lstStyle/>
                    <a:p>
                      <a:pPr>
                        <a:lnSpc>
                          <a:spcPct val="0"/>
                        </a:lnSpc>
                      </a:pPr>
                      <a:endParaRPr lang="ko-KR" altLang="en-US" kern="100" spc="0" baseline="0"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068415352"/>
              </p:ext>
            </p:extLst>
          </p:nvPr>
        </p:nvGraphicFramePr>
        <p:xfrm>
          <a:off x="4716016" y="1251304"/>
          <a:ext cx="4032448" cy="2676680"/>
        </p:xfrm>
        <a:graphic>
          <a:graphicData uri="http://schemas.openxmlformats.org/drawingml/2006/table">
            <a:tbl>
              <a:tblPr firstRow="1" bandRow="1">
                <a:tableStyleId>{5940675A-B579-460E-94D1-54222C63F5DA}</a:tableStyleId>
              </a:tblPr>
              <a:tblGrid>
                <a:gridCol w="461330">
                  <a:extLst>
                    <a:ext uri="{9D8B030D-6E8A-4147-A177-3AD203B41FA5}">
                      <a16:colId xmlns:a16="http://schemas.microsoft.com/office/drawing/2014/main" val="20000"/>
                    </a:ext>
                  </a:extLst>
                </a:gridCol>
                <a:gridCol w="3109788">
                  <a:extLst>
                    <a:ext uri="{9D8B030D-6E8A-4147-A177-3AD203B41FA5}">
                      <a16:colId xmlns:a16="http://schemas.microsoft.com/office/drawing/2014/main" val="20001"/>
                    </a:ext>
                  </a:extLst>
                </a:gridCol>
                <a:gridCol w="461330">
                  <a:extLst>
                    <a:ext uri="{9D8B030D-6E8A-4147-A177-3AD203B41FA5}">
                      <a16:colId xmlns:a16="http://schemas.microsoft.com/office/drawing/2014/main" val="20002"/>
                    </a:ext>
                  </a:extLst>
                </a:gridCol>
              </a:tblGrid>
              <a:tr h="612000">
                <a:tc>
                  <a:txBody>
                    <a:bodyPr/>
                    <a:lstStyle/>
                    <a:p>
                      <a:pPr algn="ctr" latinLnBrk="1"/>
                      <a:endParaRPr lang="ko-KR" altLang="en-US" dirty="0">
                        <a:latin typeface="+mn-lt"/>
                      </a:endParaRPr>
                    </a:p>
                  </a:txBody>
                  <a:tcP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400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800" b="1" dirty="0">
                          <a:solidFill>
                            <a:schemeClr val="bg1"/>
                          </a:solidFill>
                          <a:latin typeface="+mn-lt"/>
                          <a:cs typeface="Arial" pitchFamily="34" charset="0"/>
                        </a:rPr>
                        <a:t>2. Home-Based Business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a:lnSpc>
                          <a:spcPct val="0"/>
                        </a:lnSpc>
                      </a:pPr>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208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1200" dirty="0"/>
                        <a:t>the primary factor in this case is that it's run from home, as opposed to an office or other location. But just because a business is run from home, doesn't mean it can't compete with larger businesses. In fact, many large corporations were started from a home, including Apple and Disney. </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0000">
                <a:tc>
                  <a:txBody>
                    <a:bodyPr/>
                    <a:lstStyle/>
                    <a:p>
                      <a:pPr>
                        <a:lnSpc>
                          <a:spcPct val="0"/>
                        </a:lnSpc>
                      </a:pPr>
                      <a:endParaRPr lang="ko-KR" altLang="en-US" kern="100" spc="0" baseline="0"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9647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90682559"/>
              </p:ext>
            </p:extLst>
          </p:nvPr>
        </p:nvGraphicFramePr>
        <p:xfrm>
          <a:off x="395535" y="1251304"/>
          <a:ext cx="4032448" cy="2676680"/>
        </p:xfrm>
        <a:graphic>
          <a:graphicData uri="http://schemas.openxmlformats.org/drawingml/2006/table">
            <a:tbl>
              <a:tblPr firstRow="1" bandRow="1">
                <a:tableStyleId>{5940675A-B579-460E-94D1-54222C63F5DA}</a:tableStyleId>
              </a:tblPr>
              <a:tblGrid>
                <a:gridCol w="461330">
                  <a:extLst>
                    <a:ext uri="{9D8B030D-6E8A-4147-A177-3AD203B41FA5}">
                      <a16:colId xmlns:a16="http://schemas.microsoft.com/office/drawing/2014/main" val="20000"/>
                    </a:ext>
                  </a:extLst>
                </a:gridCol>
                <a:gridCol w="3109788">
                  <a:extLst>
                    <a:ext uri="{9D8B030D-6E8A-4147-A177-3AD203B41FA5}">
                      <a16:colId xmlns:a16="http://schemas.microsoft.com/office/drawing/2014/main" val="20001"/>
                    </a:ext>
                  </a:extLst>
                </a:gridCol>
                <a:gridCol w="461330">
                  <a:extLst>
                    <a:ext uri="{9D8B030D-6E8A-4147-A177-3AD203B41FA5}">
                      <a16:colId xmlns:a16="http://schemas.microsoft.com/office/drawing/2014/main" val="20002"/>
                    </a:ext>
                  </a:extLst>
                </a:gridCol>
              </a:tblGrid>
              <a:tr h="612000">
                <a:tc>
                  <a:txBody>
                    <a:bodyPr/>
                    <a:lstStyle/>
                    <a:p>
                      <a:pPr algn="ctr" latinLnBrk="1"/>
                      <a:endParaRPr lang="ko-KR" altLang="en-US" dirty="0">
                        <a:latin typeface="+mn-lt"/>
                      </a:endParaRPr>
                    </a:p>
                  </a:txBody>
                  <a:tcP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400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800" b="1" dirty="0">
                          <a:solidFill>
                            <a:schemeClr val="bg1"/>
                          </a:solidFill>
                          <a:latin typeface="+mn-lt"/>
                          <a:cs typeface="Arial" pitchFamily="34" charset="0"/>
                        </a:rPr>
                        <a:t>3. Online Business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a:lnSpc>
                          <a:spcPct val="0"/>
                        </a:lnSpc>
                      </a:pPr>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208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1200" dirty="0"/>
                        <a:t>The key difference here is that the business is operated primarily online. This includes companies like Amazon or other e-commerce businesses, bloggers, </a:t>
                      </a:r>
                      <a:r>
                        <a:rPr lang="en-US" sz="1200" dirty="0" err="1"/>
                        <a:t>Ebay</a:t>
                      </a:r>
                      <a:r>
                        <a:rPr lang="en-US" sz="1200" dirty="0"/>
                        <a:t> etc..</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0000">
                <a:tc>
                  <a:txBody>
                    <a:bodyPr/>
                    <a:lstStyle/>
                    <a:p>
                      <a:pPr>
                        <a:lnSpc>
                          <a:spcPct val="0"/>
                        </a:lnSpc>
                      </a:pPr>
                      <a:endParaRPr lang="ko-KR" altLang="en-US" kern="100" spc="0" baseline="0"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466689482"/>
              </p:ext>
            </p:extLst>
          </p:nvPr>
        </p:nvGraphicFramePr>
        <p:xfrm>
          <a:off x="4716016" y="1251304"/>
          <a:ext cx="4032448" cy="2676680"/>
        </p:xfrm>
        <a:graphic>
          <a:graphicData uri="http://schemas.openxmlformats.org/drawingml/2006/table">
            <a:tbl>
              <a:tblPr firstRow="1" bandRow="1">
                <a:tableStyleId>{5940675A-B579-460E-94D1-54222C63F5DA}</a:tableStyleId>
              </a:tblPr>
              <a:tblGrid>
                <a:gridCol w="461330">
                  <a:extLst>
                    <a:ext uri="{9D8B030D-6E8A-4147-A177-3AD203B41FA5}">
                      <a16:colId xmlns:a16="http://schemas.microsoft.com/office/drawing/2014/main" val="20000"/>
                    </a:ext>
                  </a:extLst>
                </a:gridCol>
                <a:gridCol w="3109788">
                  <a:extLst>
                    <a:ext uri="{9D8B030D-6E8A-4147-A177-3AD203B41FA5}">
                      <a16:colId xmlns:a16="http://schemas.microsoft.com/office/drawing/2014/main" val="20001"/>
                    </a:ext>
                  </a:extLst>
                </a:gridCol>
                <a:gridCol w="461330">
                  <a:extLst>
                    <a:ext uri="{9D8B030D-6E8A-4147-A177-3AD203B41FA5}">
                      <a16:colId xmlns:a16="http://schemas.microsoft.com/office/drawing/2014/main" val="20002"/>
                    </a:ext>
                  </a:extLst>
                </a:gridCol>
              </a:tblGrid>
              <a:tr h="612000">
                <a:tc>
                  <a:txBody>
                    <a:bodyPr/>
                    <a:lstStyle/>
                    <a:p>
                      <a:pPr algn="ctr" latinLnBrk="1"/>
                      <a:endParaRPr lang="ko-KR" altLang="en-US" dirty="0">
                        <a:latin typeface="+mn-lt"/>
                      </a:endParaRPr>
                    </a:p>
                  </a:txBody>
                  <a:tcP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400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800" b="1" dirty="0">
                          <a:solidFill>
                            <a:schemeClr val="bg1"/>
                          </a:solidFill>
                          <a:latin typeface="+mn-lt"/>
                          <a:cs typeface="Arial" pitchFamily="34" charset="0"/>
                        </a:rPr>
                        <a:t>4. Inventors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a:lnSpc>
                          <a:spcPct val="0"/>
                        </a:lnSpc>
                      </a:pPr>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02080">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1200" dirty="0"/>
                        <a:t>For an inventor to be considered an entrepreneur, he needs to go beyond the idea stage to build the product and get it to market. A good example of inventors that transition to entrepreneurs are the contestants on Shark Tank.</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0000">
                <a:tc>
                  <a:txBody>
                    <a:bodyPr/>
                    <a:lstStyle/>
                    <a:p>
                      <a:pPr>
                        <a:lnSpc>
                          <a:spcPct val="0"/>
                        </a:lnSpc>
                      </a:pPr>
                      <a:endParaRPr lang="ko-KR" altLang="en-US" kern="100" spc="0" baseline="0"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56814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62822706"/>
              </p:ext>
            </p:extLst>
          </p:nvPr>
        </p:nvGraphicFramePr>
        <p:xfrm>
          <a:off x="395535" y="1251304"/>
          <a:ext cx="4032448" cy="3048639"/>
        </p:xfrm>
        <a:graphic>
          <a:graphicData uri="http://schemas.openxmlformats.org/drawingml/2006/table">
            <a:tbl>
              <a:tblPr firstRow="1" bandRow="1">
                <a:tableStyleId>{5940675A-B579-460E-94D1-54222C63F5DA}</a:tableStyleId>
              </a:tblPr>
              <a:tblGrid>
                <a:gridCol w="461330">
                  <a:extLst>
                    <a:ext uri="{9D8B030D-6E8A-4147-A177-3AD203B41FA5}">
                      <a16:colId xmlns:a16="http://schemas.microsoft.com/office/drawing/2014/main" val="20000"/>
                    </a:ext>
                  </a:extLst>
                </a:gridCol>
                <a:gridCol w="3109788">
                  <a:extLst>
                    <a:ext uri="{9D8B030D-6E8A-4147-A177-3AD203B41FA5}">
                      <a16:colId xmlns:a16="http://schemas.microsoft.com/office/drawing/2014/main" val="20001"/>
                    </a:ext>
                  </a:extLst>
                </a:gridCol>
                <a:gridCol w="461330">
                  <a:extLst>
                    <a:ext uri="{9D8B030D-6E8A-4147-A177-3AD203B41FA5}">
                      <a16:colId xmlns:a16="http://schemas.microsoft.com/office/drawing/2014/main" val="20002"/>
                    </a:ext>
                  </a:extLst>
                </a:gridCol>
              </a:tblGrid>
              <a:tr h="619453">
                <a:tc>
                  <a:txBody>
                    <a:bodyPr/>
                    <a:lstStyle/>
                    <a:p>
                      <a:pPr algn="ctr" latinLnBrk="1"/>
                      <a:endParaRPr lang="ko-KR" altLang="en-US" dirty="0">
                        <a:latin typeface="+mn-lt"/>
                      </a:endParaRPr>
                    </a:p>
                  </a:txBody>
                  <a:tcP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214">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800" b="1" dirty="0">
                          <a:solidFill>
                            <a:schemeClr val="bg1"/>
                          </a:solidFill>
                          <a:latin typeface="+mn-lt"/>
                          <a:cs typeface="Arial" pitchFamily="34" charset="0"/>
                        </a:rPr>
                        <a:t>5. Serial Entrepreneur</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18263">
                <a:tc>
                  <a:txBody>
                    <a:bodyPr/>
                    <a:lstStyle/>
                    <a:p>
                      <a:pPr>
                        <a:lnSpc>
                          <a:spcPct val="0"/>
                        </a:lnSpc>
                      </a:pPr>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58517">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1200" dirty="0"/>
                        <a:t>Many entrepreneurs get the most joy out of starting and building a business, but not in its continued management, so they sell it to launch a new idea. They are still considered entrepreneurs because they operate and assume risk in the business for the time they own it. Other times, serial entrepreneurs juggle several businesses at once, earning multiple streams of income.</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2192">
                <a:tc>
                  <a:txBody>
                    <a:bodyPr/>
                    <a:lstStyle/>
                    <a:p>
                      <a:pPr>
                        <a:lnSpc>
                          <a:spcPct val="0"/>
                        </a:lnSpc>
                      </a:pPr>
                      <a:endParaRPr lang="ko-KR" altLang="en-US" kern="100" spc="0" baseline="0"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60707095"/>
              </p:ext>
            </p:extLst>
          </p:nvPr>
        </p:nvGraphicFramePr>
        <p:xfrm>
          <a:off x="4716016" y="1251304"/>
          <a:ext cx="4032448" cy="3048637"/>
        </p:xfrm>
        <a:graphic>
          <a:graphicData uri="http://schemas.openxmlformats.org/drawingml/2006/table">
            <a:tbl>
              <a:tblPr firstRow="1" bandRow="1">
                <a:tableStyleId>{5940675A-B579-460E-94D1-54222C63F5DA}</a:tableStyleId>
              </a:tblPr>
              <a:tblGrid>
                <a:gridCol w="461330">
                  <a:extLst>
                    <a:ext uri="{9D8B030D-6E8A-4147-A177-3AD203B41FA5}">
                      <a16:colId xmlns:a16="http://schemas.microsoft.com/office/drawing/2014/main" val="20000"/>
                    </a:ext>
                  </a:extLst>
                </a:gridCol>
                <a:gridCol w="3109788">
                  <a:extLst>
                    <a:ext uri="{9D8B030D-6E8A-4147-A177-3AD203B41FA5}">
                      <a16:colId xmlns:a16="http://schemas.microsoft.com/office/drawing/2014/main" val="20001"/>
                    </a:ext>
                  </a:extLst>
                </a:gridCol>
                <a:gridCol w="461330">
                  <a:extLst>
                    <a:ext uri="{9D8B030D-6E8A-4147-A177-3AD203B41FA5}">
                      <a16:colId xmlns:a16="http://schemas.microsoft.com/office/drawing/2014/main" val="20002"/>
                    </a:ext>
                  </a:extLst>
                </a:gridCol>
              </a:tblGrid>
              <a:tr h="697045">
                <a:tc>
                  <a:txBody>
                    <a:bodyPr/>
                    <a:lstStyle/>
                    <a:p>
                      <a:pPr algn="ctr" latinLnBrk="1"/>
                      <a:endParaRPr lang="ko-KR" altLang="en-US" dirty="0">
                        <a:latin typeface="+mn-lt"/>
                      </a:endParaRPr>
                    </a:p>
                  </a:txBody>
                  <a:tcP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6587">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800" b="1" dirty="0">
                          <a:solidFill>
                            <a:schemeClr val="bg1"/>
                          </a:solidFill>
                          <a:latin typeface="+mn-lt"/>
                          <a:cs typeface="Arial" pitchFamily="34" charset="0"/>
                        </a:rPr>
                        <a:t>6. Lifestyle Entrepreneur</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33076">
                <a:tc>
                  <a:txBody>
                    <a:bodyPr/>
                    <a:lstStyle/>
                    <a:p>
                      <a:pPr>
                        <a:lnSpc>
                          <a:spcPct val="0"/>
                        </a:lnSpc>
                      </a:pPr>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596916">
                <a:tc>
                  <a:txBody>
                    <a:bodyPr/>
                    <a:lstStyle/>
                    <a:p>
                      <a:endParaRPr lang="ko-KR" altLang="en-US"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just">
                        <a:buNone/>
                      </a:pPr>
                      <a:r>
                        <a:rPr lang="en-US" sz="1200" dirty="0"/>
                        <a:t>A lifestyle entrepreneur is one that builds a business that incorporates their interests and passions, and sustains their life goals. </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05013">
                <a:tc>
                  <a:txBody>
                    <a:bodyPr/>
                    <a:lstStyle/>
                    <a:p>
                      <a:pPr>
                        <a:lnSpc>
                          <a:spcPct val="0"/>
                        </a:lnSpc>
                      </a:pPr>
                      <a:endParaRPr lang="ko-KR" altLang="en-US" kern="100" spc="0" baseline="0" dirty="0">
                        <a:latin typeface="+mn-lt"/>
                      </a:endParaRPr>
                    </a:p>
                  </a:txBody>
                  <a:tcPr anchor="ctr">
                    <a:lnL w="28575" cap="flat" cmpd="sng" algn="ctr">
                      <a:solidFill>
                        <a:schemeClr val="tx1">
                          <a:lumMod val="75000"/>
                          <a:lumOff val="2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19050" cap="flat" cmpd="sng" algn="ctr">
                      <a:no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288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968" y="1203598"/>
            <a:ext cx="5253203" cy="3939902"/>
          </a:xfrm>
          <a:prstGeom prst="rect">
            <a:avLst/>
          </a:prstGeom>
        </p:spPr>
      </p:pic>
      <p:pic>
        <p:nvPicPr>
          <p:cNvPr id="7" name="Picture 6"/>
          <p:cNvPicPr>
            <a:picLocks noChangeAspect="1"/>
          </p:cNvPicPr>
          <p:nvPr/>
        </p:nvPicPr>
        <p:blipFill>
          <a:blip r:embed="rId3"/>
          <a:stretch>
            <a:fillRect/>
          </a:stretch>
        </p:blipFill>
        <p:spPr>
          <a:xfrm>
            <a:off x="453806" y="699542"/>
            <a:ext cx="5253751" cy="3228750"/>
          </a:xfrm>
          <a:prstGeom prst="rect">
            <a:avLst/>
          </a:prstGeom>
        </p:spPr>
      </p:pic>
      <p:sp>
        <p:nvSpPr>
          <p:cNvPr id="9" name="TextBox 8"/>
          <p:cNvSpPr txBox="1"/>
          <p:nvPr/>
        </p:nvSpPr>
        <p:spPr>
          <a:xfrm>
            <a:off x="992450" y="1237602"/>
            <a:ext cx="4176464" cy="2246769"/>
          </a:xfrm>
          <a:prstGeom prst="rect">
            <a:avLst/>
          </a:prstGeom>
          <a:noFill/>
        </p:spPr>
        <p:txBody>
          <a:bodyPr wrap="square" rtlCol="0">
            <a:spAutoFit/>
          </a:bodyPr>
          <a:lstStyle/>
          <a:p>
            <a:pPr algn="ctr"/>
            <a:r>
              <a:rPr lang="en-US" sz="2800" dirty="0">
                <a:solidFill>
                  <a:srgbClr val="EBC417"/>
                </a:solidFill>
              </a:rPr>
              <a:t>Create the highest, </a:t>
            </a:r>
          </a:p>
          <a:p>
            <a:pPr algn="ctr"/>
            <a:r>
              <a:rPr lang="en-US" sz="2800" dirty="0">
                <a:solidFill>
                  <a:srgbClr val="EBC417"/>
                </a:solidFill>
              </a:rPr>
              <a:t>grandest vision possible </a:t>
            </a:r>
          </a:p>
          <a:p>
            <a:pPr algn="ctr"/>
            <a:r>
              <a:rPr lang="en-US" sz="2800" dirty="0">
                <a:solidFill>
                  <a:srgbClr val="EBC417"/>
                </a:solidFill>
              </a:rPr>
              <a:t>for your life, because </a:t>
            </a:r>
          </a:p>
          <a:p>
            <a:pPr algn="ctr"/>
            <a:r>
              <a:rPr lang="en-US" sz="2800" dirty="0">
                <a:solidFill>
                  <a:srgbClr val="EBC417"/>
                </a:solidFill>
              </a:rPr>
              <a:t>you become what you </a:t>
            </a:r>
          </a:p>
          <a:p>
            <a:pPr algn="ctr"/>
            <a:r>
              <a:rPr lang="en-US" sz="2800" dirty="0">
                <a:solidFill>
                  <a:srgbClr val="EBC417"/>
                </a:solidFill>
              </a:rPr>
              <a:t>believe</a:t>
            </a:r>
          </a:p>
        </p:txBody>
      </p:sp>
    </p:spTree>
    <p:extLst>
      <p:ext uri="{BB962C8B-B14F-4D97-AF65-F5344CB8AC3E}">
        <p14:creationId xmlns:p14="http://schemas.microsoft.com/office/powerpoint/2010/main" val="1574293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372200" y="987574"/>
            <a:ext cx="2664296" cy="374441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1"/>
          <p:cNvSpPr txBox="1">
            <a:spLocks/>
          </p:cNvSpPr>
          <p:nvPr/>
        </p:nvSpPr>
        <p:spPr>
          <a:xfrm>
            <a:off x="251520" y="3629186"/>
            <a:ext cx="5571118" cy="19444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Characteristics of </a:t>
            </a:r>
          </a:p>
          <a:p>
            <a:pPr marL="0" indent="0">
              <a:buNone/>
            </a:pPr>
            <a:r>
              <a:rPr lang="en-US" b="1" dirty="0"/>
              <a:t>a Successful Entrepreneur</a:t>
            </a:r>
            <a:endParaRPr lang="ko-KR" altLang="en-US" b="1" dirty="0">
              <a:solidFill>
                <a:schemeClr val="tx1">
                  <a:lumMod val="75000"/>
                  <a:lumOff val="25000"/>
                </a:schemeClr>
              </a:solidFill>
              <a:latin typeface="+mj-lt"/>
              <a:cs typeface="Arial" pitchFamily="34" charset="0"/>
            </a:endParaRPr>
          </a:p>
        </p:txBody>
      </p:sp>
      <p:sp>
        <p:nvSpPr>
          <p:cNvPr id="26" name="Frame 25"/>
          <p:cNvSpPr/>
          <p:nvPr/>
        </p:nvSpPr>
        <p:spPr>
          <a:xfrm>
            <a:off x="5244150" y="1513554"/>
            <a:ext cx="2376264" cy="2115632"/>
          </a:xfrm>
          <a:prstGeom prst="frame">
            <a:avLst>
              <a:gd name="adj1" fmla="val 138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7" name="Frame 26"/>
          <p:cNvSpPr/>
          <p:nvPr/>
        </p:nvSpPr>
        <p:spPr>
          <a:xfrm>
            <a:off x="3800094" y="411510"/>
            <a:ext cx="4948370" cy="937768"/>
          </a:xfrm>
          <a:prstGeom prst="frame">
            <a:avLst>
              <a:gd name="adj1" fmla="val 26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2" name="Picture Placeholder 1"/>
          <p:cNvPicPr>
            <a:picLocks noGrp="1" noChangeAspect="1"/>
          </p:cNvPicPr>
          <p:nvPr>
            <p:ph type="pic" idx="1"/>
          </p:nvPr>
        </p:nvPicPr>
        <p:blipFill>
          <a:blip r:embed="rId2">
            <a:extLst>
              <a:ext uri="{28A0092B-C50C-407E-A947-70E740481C1C}">
                <a14:useLocalDpi xmlns:a14="http://schemas.microsoft.com/office/drawing/2010/main" val="0"/>
              </a:ext>
            </a:extLst>
          </a:blip>
          <a:srcRect l="13886" r="13886"/>
          <a:stretch>
            <a:fillRect/>
          </a:stretch>
        </p:blipFill>
        <p:spPr/>
      </p:pic>
      <p:sp>
        <p:nvSpPr>
          <p:cNvPr id="4" name="TextBox 3"/>
          <p:cNvSpPr txBox="1"/>
          <p:nvPr/>
        </p:nvSpPr>
        <p:spPr>
          <a:xfrm>
            <a:off x="3923928" y="591030"/>
            <a:ext cx="4968552" cy="584775"/>
          </a:xfrm>
          <a:prstGeom prst="rect">
            <a:avLst/>
          </a:prstGeom>
          <a:noFill/>
        </p:spPr>
        <p:txBody>
          <a:bodyPr wrap="square" rtlCol="0">
            <a:spAutoFit/>
          </a:bodyPr>
          <a:lstStyle/>
          <a:p>
            <a:r>
              <a:rPr lang="en-US" sz="1600" dirty="0"/>
              <a:t>Successful entrepreneurs don't wait for the perfect </a:t>
            </a:r>
          </a:p>
          <a:p>
            <a:r>
              <a:rPr lang="en-US" sz="1600" dirty="0"/>
              <a:t>moment - they create it</a:t>
            </a:r>
          </a:p>
        </p:txBody>
      </p:sp>
      <p:sp>
        <p:nvSpPr>
          <p:cNvPr id="9" name="TextBox 8"/>
          <p:cNvSpPr txBox="1"/>
          <p:nvPr/>
        </p:nvSpPr>
        <p:spPr>
          <a:xfrm rot="16200000">
            <a:off x="6720020" y="2239980"/>
            <a:ext cx="2376264" cy="369332"/>
          </a:xfrm>
          <a:prstGeom prst="rect">
            <a:avLst/>
          </a:prstGeom>
          <a:noFill/>
        </p:spPr>
        <p:txBody>
          <a:bodyPr wrap="square" rtlCol="0">
            <a:spAutoFit/>
          </a:bodyPr>
          <a:lstStyle/>
          <a:p>
            <a:r>
              <a:rPr lang="en-US" b="1" dirty="0"/>
              <a:t>Richard Branson</a:t>
            </a:r>
            <a:endParaRPr lang="en-US" dirty="0"/>
          </a:p>
        </p:txBody>
      </p:sp>
    </p:spTree>
    <p:extLst>
      <p:ext uri="{BB962C8B-B14F-4D97-AF65-F5344CB8AC3E}">
        <p14:creationId xmlns:p14="http://schemas.microsoft.com/office/powerpoint/2010/main" val="1814632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763602" y="1563638"/>
            <a:ext cx="835293" cy="720080"/>
            <a:chOff x="3496214" y="1275606"/>
            <a:chExt cx="1060704" cy="914400"/>
          </a:xfrm>
        </p:grpSpPr>
        <p:sp>
          <p:nvSpPr>
            <p:cNvPr id="6" name="Hexagon 5"/>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7" name="Hexagon 6"/>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0" name="Group 9"/>
          <p:cNvGrpSpPr/>
          <p:nvPr/>
        </p:nvGrpSpPr>
        <p:grpSpPr>
          <a:xfrm>
            <a:off x="4521480" y="2004501"/>
            <a:ext cx="835293" cy="720080"/>
            <a:chOff x="3496214" y="1275606"/>
            <a:chExt cx="1060704" cy="914400"/>
          </a:xfrm>
        </p:grpSpPr>
        <p:sp>
          <p:nvSpPr>
            <p:cNvPr id="11" name="Hexagon 10"/>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2" name="Hexagon 11"/>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3" name="Group 12"/>
          <p:cNvGrpSpPr/>
          <p:nvPr/>
        </p:nvGrpSpPr>
        <p:grpSpPr>
          <a:xfrm>
            <a:off x="3763602" y="2490555"/>
            <a:ext cx="835293" cy="720080"/>
            <a:chOff x="3496214" y="1275606"/>
            <a:chExt cx="1060704" cy="914400"/>
          </a:xfrm>
        </p:grpSpPr>
        <p:sp>
          <p:nvSpPr>
            <p:cNvPr id="14" name="Hexagon 13"/>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5" name="Hexagon 14"/>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9" name="Group 18"/>
          <p:cNvGrpSpPr/>
          <p:nvPr/>
        </p:nvGrpSpPr>
        <p:grpSpPr>
          <a:xfrm>
            <a:off x="3763602" y="3435846"/>
            <a:ext cx="835293" cy="720080"/>
            <a:chOff x="3496214" y="1275606"/>
            <a:chExt cx="1060704" cy="914400"/>
          </a:xfrm>
        </p:grpSpPr>
        <p:sp>
          <p:nvSpPr>
            <p:cNvPr id="20" name="Hexagon 19"/>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1" name="Hexagon 20"/>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22" name="Group 21"/>
          <p:cNvGrpSpPr/>
          <p:nvPr/>
        </p:nvGrpSpPr>
        <p:grpSpPr>
          <a:xfrm>
            <a:off x="4521480" y="2931790"/>
            <a:ext cx="835293" cy="720080"/>
            <a:chOff x="3496214" y="1275606"/>
            <a:chExt cx="1060704" cy="914400"/>
          </a:xfrm>
        </p:grpSpPr>
        <p:sp>
          <p:nvSpPr>
            <p:cNvPr id="23" name="Hexagon 22"/>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24" name="Hexagon 23"/>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cxnSp>
        <p:nvCxnSpPr>
          <p:cNvPr id="25" name="Straight Arrow Connector 24"/>
          <p:cNvCxnSpPr/>
          <p:nvPr/>
        </p:nvCxnSpPr>
        <p:spPr>
          <a:xfrm>
            <a:off x="5356773" y="2364541"/>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356773" y="3291830"/>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731801" y="1944870"/>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731801" y="2847756"/>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731951" y="3822703"/>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896045" y="1091409"/>
            <a:ext cx="2669702" cy="706858"/>
            <a:chOff x="848260" y="3442974"/>
            <a:chExt cx="2121164" cy="706858"/>
          </a:xfrm>
        </p:grpSpPr>
        <p:sp>
          <p:nvSpPr>
            <p:cNvPr id="42" name="TextBox 41"/>
            <p:cNvSpPr txBox="1"/>
            <p:nvPr/>
          </p:nvSpPr>
          <p:spPr>
            <a:xfrm>
              <a:off x="848260" y="3688167"/>
              <a:ext cx="2121164" cy="461665"/>
            </a:xfrm>
            <a:prstGeom prst="rect">
              <a:avLst/>
            </a:prstGeom>
            <a:noFill/>
          </p:spPr>
          <p:txBody>
            <a:bodyPr wrap="square" rtlCol="0">
              <a:spAutoFit/>
            </a:bodyPr>
            <a:lstStyle/>
            <a:p>
              <a:r>
                <a:rPr lang="en-US" sz="1200" dirty="0"/>
                <a:t>Following your passion is one of the best predictors of success.</a:t>
              </a:r>
            </a:p>
          </p:txBody>
        </p:sp>
        <p:sp>
          <p:nvSpPr>
            <p:cNvPr id="43" name="TextBox 42"/>
            <p:cNvSpPr txBox="1"/>
            <p:nvPr/>
          </p:nvSpPr>
          <p:spPr>
            <a:xfrm>
              <a:off x="848260" y="3442974"/>
              <a:ext cx="2059657" cy="307777"/>
            </a:xfrm>
            <a:prstGeom prst="rect">
              <a:avLst/>
            </a:prstGeom>
            <a:noFill/>
          </p:spPr>
          <p:txBody>
            <a:bodyPr wrap="square" rtlCol="0">
              <a:spAutoFit/>
            </a:bodyPr>
            <a:lstStyle/>
            <a:p>
              <a:r>
                <a:rPr lang="en-US" sz="1400" b="1" dirty="0">
                  <a:solidFill>
                    <a:schemeClr val="bg1"/>
                  </a:solidFill>
                </a:rPr>
                <a:t>Passion</a:t>
              </a:r>
              <a:endParaRPr lang="ko-KR" altLang="en-US" sz="1400" b="1" dirty="0">
                <a:solidFill>
                  <a:schemeClr val="bg1"/>
                </a:solidFill>
                <a:cs typeface="Arial" pitchFamily="34" charset="0"/>
              </a:endParaRPr>
            </a:p>
          </p:txBody>
        </p:sp>
      </p:grpSp>
      <p:grpSp>
        <p:nvGrpSpPr>
          <p:cNvPr id="44" name="Group 43"/>
          <p:cNvGrpSpPr/>
          <p:nvPr/>
        </p:nvGrpSpPr>
        <p:grpSpPr>
          <a:xfrm>
            <a:off x="247297" y="1944870"/>
            <a:ext cx="3388599" cy="885459"/>
            <a:chOff x="328051" y="3350614"/>
            <a:chExt cx="2692352" cy="855163"/>
          </a:xfrm>
        </p:grpSpPr>
        <p:sp>
          <p:nvSpPr>
            <p:cNvPr id="45" name="TextBox 44"/>
            <p:cNvSpPr txBox="1"/>
            <p:nvPr/>
          </p:nvSpPr>
          <p:spPr>
            <a:xfrm>
              <a:off x="823561" y="3559446"/>
              <a:ext cx="2196842" cy="646331"/>
            </a:xfrm>
            <a:prstGeom prst="rect">
              <a:avLst/>
            </a:prstGeom>
            <a:noFill/>
          </p:spPr>
          <p:txBody>
            <a:bodyPr wrap="square" rtlCol="0">
              <a:spAutoFit/>
            </a:bodyPr>
            <a:lstStyle/>
            <a:p>
              <a:pPr lvl="0" algn="just"/>
              <a:r>
                <a:rPr lang="en-US" sz="1200" dirty="0"/>
                <a:t>Often think outside the box and aren't swayed by others who might question their ideas.</a:t>
              </a:r>
            </a:p>
          </p:txBody>
        </p:sp>
        <p:sp>
          <p:nvSpPr>
            <p:cNvPr id="46" name="TextBox 45"/>
            <p:cNvSpPr txBox="1"/>
            <p:nvPr/>
          </p:nvSpPr>
          <p:spPr>
            <a:xfrm>
              <a:off x="328051" y="3350614"/>
              <a:ext cx="2059657" cy="297247"/>
            </a:xfrm>
            <a:prstGeom prst="rect">
              <a:avLst/>
            </a:prstGeom>
            <a:noFill/>
          </p:spPr>
          <p:txBody>
            <a:bodyPr wrap="square" rtlCol="0">
              <a:spAutoFit/>
            </a:bodyPr>
            <a:lstStyle/>
            <a:p>
              <a:pPr algn="r"/>
              <a:r>
                <a:rPr lang="en-US" altLang="ko-KR" sz="1400" b="1" dirty="0">
                  <a:solidFill>
                    <a:schemeClr val="bg1"/>
                  </a:solidFill>
                  <a:cs typeface="Arial" pitchFamily="34" charset="0"/>
                </a:rPr>
                <a:t>Independent thinking</a:t>
              </a:r>
              <a:endParaRPr lang="ko-KR" altLang="en-US" sz="1400" b="1" dirty="0">
                <a:solidFill>
                  <a:schemeClr val="bg1"/>
                </a:solidFill>
                <a:cs typeface="Arial" pitchFamily="34" charset="0"/>
              </a:endParaRPr>
            </a:p>
          </p:txBody>
        </p:sp>
      </p:grpSp>
      <p:grpSp>
        <p:nvGrpSpPr>
          <p:cNvPr id="47" name="Group 46"/>
          <p:cNvGrpSpPr/>
          <p:nvPr/>
        </p:nvGrpSpPr>
        <p:grpSpPr>
          <a:xfrm>
            <a:off x="-719142" y="2902858"/>
            <a:ext cx="4534941" cy="879150"/>
            <a:chOff x="-465266" y="3319905"/>
            <a:chExt cx="3603158" cy="879150"/>
          </a:xfrm>
        </p:grpSpPr>
        <p:sp>
          <p:nvSpPr>
            <p:cNvPr id="48" name="TextBox 47"/>
            <p:cNvSpPr txBox="1"/>
            <p:nvPr/>
          </p:nvSpPr>
          <p:spPr>
            <a:xfrm>
              <a:off x="798111" y="3552724"/>
              <a:ext cx="2339781" cy="646331"/>
            </a:xfrm>
            <a:prstGeom prst="rect">
              <a:avLst/>
            </a:prstGeom>
            <a:noFill/>
          </p:spPr>
          <p:txBody>
            <a:bodyPr wrap="square" rtlCol="0">
              <a:spAutoFit/>
            </a:bodyPr>
            <a:lstStyle/>
            <a:p>
              <a:pPr algn="just"/>
              <a:r>
                <a:rPr lang="en-US" sz="1200" dirty="0"/>
                <a:t>Entrepreneurs are dreamers and believe their ideas are possible, even when they seem unattainable.</a:t>
              </a:r>
            </a:p>
          </p:txBody>
        </p:sp>
        <p:sp>
          <p:nvSpPr>
            <p:cNvPr id="49" name="TextBox 48"/>
            <p:cNvSpPr txBox="1"/>
            <p:nvPr/>
          </p:nvSpPr>
          <p:spPr>
            <a:xfrm>
              <a:off x="-465266" y="3319905"/>
              <a:ext cx="2059657" cy="307777"/>
            </a:xfrm>
            <a:prstGeom prst="rect">
              <a:avLst/>
            </a:prstGeom>
            <a:noFill/>
          </p:spPr>
          <p:txBody>
            <a:bodyPr wrap="square" rtlCol="0">
              <a:spAutoFit/>
            </a:bodyPr>
            <a:lstStyle/>
            <a:p>
              <a:pPr algn="r"/>
              <a:r>
                <a:rPr lang="en-US" altLang="ko-KR" sz="1400" b="1" dirty="0">
                  <a:solidFill>
                    <a:schemeClr val="bg1"/>
                  </a:solidFill>
                  <a:cs typeface="Arial" pitchFamily="34" charset="0"/>
                </a:rPr>
                <a:t>Optimism</a:t>
              </a:r>
              <a:endParaRPr lang="ko-KR" altLang="en-US" sz="1400" b="1" dirty="0">
                <a:solidFill>
                  <a:schemeClr val="bg1"/>
                </a:solidFill>
                <a:cs typeface="Arial" pitchFamily="34" charset="0"/>
              </a:endParaRPr>
            </a:p>
          </p:txBody>
        </p:sp>
      </p:grpSp>
      <p:grpSp>
        <p:nvGrpSpPr>
          <p:cNvPr id="50" name="Group 49"/>
          <p:cNvGrpSpPr/>
          <p:nvPr/>
        </p:nvGrpSpPr>
        <p:grpSpPr>
          <a:xfrm>
            <a:off x="5522912" y="1496796"/>
            <a:ext cx="2600922" cy="727088"/>
            <a:chOff x="803640" y="3064931"/>
            <a:chExt cx="2066517" cy="727088"/>
          </a:xfrm>
        </p:grpSpPr>
        <p:sp>
          <p:nvSpPr>
            <p:cNvPr id="51" name="TextBox 50"/>
            <p:cNvSpPr txBox="1"/>
            <p:nvPr/>
          </p:nvSpPr>
          <p:spPr>
            <a:xfrm>
              <a:off x="810500" y="3330354"/>
              <a:ext cx="2059657" cy="461665"/>
            </a:xfrm>
            <a:prstGeom prst="rect">
              <a:avLst/>
            </a:prstGeom>
            <a:noFill/>
          </p:spPr>
          <p:txBody>
            <a:bodyPr wrap="square" rtlCol="0">
              <a:spAutoFit/>
            </a:bodyPr>
            <a:lstStyle/>
            <a:p>
              <a:r>
                <a:rPr lang="en-US" sz="1200" dirty="0"/>
                <a:t>They believe they can achieve their goal.</a:t>
              </a:r>
            </a:p>
          </p:txBody>
        </p:sp>
        <p:sp>
          <p:nvSpPr>
            <p:cNvPr id="52" name="TextBox 51"/>
            <p:cNvSpPr txBox="1"/>
            <p:nvPr/>
          </p:nvSpPr>
          <p:spPr>
            <a:xfrm>
              <a:off x="803640" y="3064931"/>
              <a:ext cx="2059657" cy="307777"/>
            </a:xfrm>
            <a:prstGeom prst="rect">
              <a:avLst/>
            </a:prstGeom>
            <a:noFill/>
          </p:spPr>
          <p:txBody>
            <a:bodyPr wrap="square" rtlCol="0">
              <a:spAutoFit/>
            </a:bodyPr>
            <a:lstStyle/>
            <a:p>
              <a:r>
                <a:rPr lang="en-US" altLang="ko-KR" sz="1400" b="1" dirty="0">
                  <a:solidFill>
                    <a:schemeClr val="bg1"/>
                  </a:solidFill>
                  <a:cs typeface="Arial" pitchFamily="34" charset="0"/>
                </a:rPr>
                <a:t>Self-confidence</a:t>
              </a:r>
              <a:endParaRPr lang="ko-KR" altLang="en-US" sz="1400" b="1" dirty="0">
                <a:solidFill>
                  <a:schemeClr val="bg1"/>
                </a:solidFill>
                <a:cs typeface="Arial" pitchFamily="34" charset="0"/>
              </a:endParaRPr>
            </a:p>
          </p:txBody>
        </p:sp>
      </p:grpSp>
      <p:grpSp>
        <p:nvGrpSpPr>
          <p:cNvPr id="53" name="Group 52"/>
          <p:cNvGrpSpPr/>
          <p:nvPr/>
        </p:nvGrpSpPr>
        <p:grpSpPr>
          <a:xfrm>
            <a:off x="5522912" y="2397727"/>
            <a:ext cx="3456383" cy="1061116"/>
            <a:chOff x="758193" y="3309606"/>
            <a:chExt cx="2746209" cy="1061116"/>
          </a:xfrm>
        </p:grpSpPr>
        <p:sp>
          <p:nvSpPr>
            <p:cNvPr id="54" name="TextBox 53"/>
            <p:cNvSpPr txBox="1"/>
            <p:nvPr/>
          </p:nvSpPr>
          <p:spPr>
            <a:xfrm>
              <a:off x="758193" y="3539725"/>
              <a:ext cx="2231295" cy="830997"/>
            </a:xfrm>
            <a:prstGeom prst="rect">
              <a:avLst/>
            </a:prstGeom>
            <a:noFill/>
          </p:spPr>
          <p:txBody>
            <a:bodyPr wrap="square" rtlCol="0">
              <a:spAutoFit/>
            </a:bodyPr>
            <a:lstStyle/>
            <a:p>
              <a:r>
                <a:rPr lang="en-US" sz="1200" dirty="0"/>
                <a:t>They never let problems and challenges get in the way, and instead find ways to achieve success .</a:t>
              </a:r>
            </a:p>
            <a:p>
              <a:r>
                <a:rPr lang="en-US" altLang="ko-KR" sz="1200" dirty="0">
                  <a:solidFill>
                    <a:schemeClr val="tx1">
                      <a:lumMod val="75000"/>
                      <a:lumOff val="25000"/>
                    </a:schemeClr>
                  </a:solidFill>
                  <a:cs typeface="Arial" pitchFamily="34" charset="0"/>
                </a:rPr>
                <a:t>.     </a:t>
              </a:r>
              <a:endParaRPr lang="ko-KR" altLang="en-US" sz="1200" dirty="0">
                <a:solidFill>
                  <a:schemeClr val="tx1">
                    <a:lumMod val="75000"/>
                    <a:lumOff val="25000"/>
                  </a:schemeClr>
                </a:solidFill>
                <a:cs typeface="Arial" pitchFamily="34" charset="0"/>
              </a:endParaRPr>
            </a:p>
          </p:txBody>
        </p:sp>
        <p:sp>
          <p:nvSpPr>
            <p:cNvPr id="55" name="TextBox 54"/>
            <p:cNvSpPr txBox="1"/>
            <p:nvPr/>
          </p:nvSpPr>
          <p:spPr>
            <a:xfrm>
              <a:off x="758193" y="3309606"/>
              <a:ext cx="2746209" cy="307777"/>
            </a:xfrm>
            <a:prstGeom prst="rect">
              <a:avLst/>
            </a:prstGeom>
            <a:noFill/>
          </p:spPr>
          <p:txBody>
            <a:bodyPr wrap="square" rtlCol="0">
              <a:spAutoFit/>
            </a:bodyPr>
            <a:lstStyle/>
            <a:p>
              <a:r>
                <a:rPr lang="en-US" altLang="ko-KR" sz="1400" b="1" dirty="0">
                  <a:solidFill>
                    <a:schemeClr val="bg1"/>
                  </a:solidFill>
                  <a:cs typeface="Arial" pitchFamily="34" charset="0"/>
                </a:rPr>
                <a:t>Resourceful and problem solvers</a:t>
              </a:r>
              <a:endParaRPr lang="ko-KR" altLang="en-US" sz="1400" b="1" dirty="0">
                <a:solidFill>
                  <a:schemeClr val="bg1"/>
                </a:solidFill>
                <a:cs typeface="Arial" pitchFamily="34" charset="0"/>
              </a:endParaRPr>
            </a:p>
          </p:txBody>
        </p:sp>
      </p:grpSp>
      <p:grpSp>
        <p:nvGrpSpPr>
          <p:cNvPr id="56" name="Group 55"/>
          <p:cNvGrpSpPr/>
          <p:nvPr/>
        </p:nvGrpSpPr>
        <p:grpSpPr>
          <a:xfrm>
            <a:off x="4545104" y="1065762"/>
            <a:ext cx="835293" cy="720080"/>
            <a:chOff x="3496214" y="1275606"/>
            <a:chExt cx="1060704" cy="914400"/>
          </a:xfrm>
        </p:grpSpPr>
        <p:sp>
          <p:nvSpPr>
            <p:cNvPr id="57" name="Hexagon 56"/>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8" name="Hexagon 57"/>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59" name="Group 58"/>
          <p:cNvGrpSpPr/>
          <p:nvPr/>
        </p:nvGrpSpPr>
        <p:grpSpPr>
          <a:xfrm>
            <a:off x="3763602" y="613076"/>
            <a:ext cx="835293" cy="720080"/>
            <a:chOff x="3496214" y="1275606"/>
            <a:chExt cx="1060704" cy="914400"/>
          </a:xfrm>
        </p:grpSpPr>
        <p:sp>
          <p:nvSpPr>
            <p:cNvPr id="60" name="Hexagon 59"/>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61" name="Hexagon 60"/>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62" name="Group 61"/>
          <p:cNvGrpSpPr/>
          <p:nvPr/>
        </p:nvGrpSpPr>
        <p:grpSpPr>
          <a:xfrm>
            <a:off x="4521480" y="176483"/>
            <a:ext cx="835293" cy="720080"/>
            <a:chOff x="3496214" y="1275606"/>
            <a:chExt cx="1060704" cy="914400"/>
          </a:xfrm>
        </p:grpSpPr>
        <p:sp>
          <p:nvSpPr>
            <p:cNvPr id="63" name="Hexagon 62"/>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64" name="Hexagon 63"/>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65" name="Group 64"/>
          <p:cNvGrpSpPr/>
          <p:nvPr/>
        </p:nvGrpSpPr>
        <p:grpSpPr>
          <a:xfrm>
            <a:off x="4573178" y="3883836"/>
            <a:ext cx="835293" cy="720080"/>
            <a:chOff x="3496214" y="1275606"/>
            <a:chExt cx="1060704" cy="914400"/>
          </a:xfrm>
        </p:grpSpPr>
        <p:sp>
          <p:nvSpPr>
            <p:cNvPr id="66" name="Hexagon 65"/>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67" name="Hexagon 66"/>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cxnSp>
        <p:nvCxnSpPr>
          <p:cNvPr id="68" name="Straight Arrow Connector 67"/>
          <p:cNvCxnSpPr/>
          <p:nvPr/>
        </p:nvCxnSpPr>
        <p:spPr>
          <a:xfrm flipH="1">
            <a:off x="731801" y="987574"/>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5380397" y="1425802"/>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5408471" y="4243876"/>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grpSp>
        <p:nvGrpSpPr>
          <p:cNvPr id="73" name="Group 72"/>
          <p:cNvGrpSpPr/>
          <p:nvPr/>
        </p:nvGrpSpPr>
        <p:grpSpPr>
          <a:xfrm>
            <a:off x="-1015040" y="67730"/>
            <a:ext cx="4856054" cy="866710"/>
            <a:chOff x="-674917" y="3417774"/>
            <a:chExt cx="3858294" cy="837055"/>
          </a:xfrm>
        </p:grpSpPr>
        <p:sp>
          <p:nvSpPr>
            <p:cNvPr id="74" name="TextBox 73"/>
            <p:cNvSpPr txBox="1"/>
            <p:nvPr/>
          </p:nvSpPr>
          <p:spPr>
            <a:xfrm>
              <a:off x="823561" y="3630612"/>
              <a:ext cx="2359816" cy="624217"/>
            </a:xfrm>
            <a:prstGeom prst="rect">
              <a:avLst/>
            </a:prstGeom>
            <a:noFill/>
          </p:spPr>
          <p:txBody>
            <a:bodyPr wrap="square" rtlCol="0">
              <a:spAutoFit/>
            </a:bodyPr>
            <a:lstStyle/>
            <a:p>
              <a:pPr algn="just"/>
              <a:r>
                <a:rPr lang="en-US" sz="1200" dirty="0"/>
                <a:t>It helps to know your end goal when you start. Further, vision is the fuel that propels you forward toward your goal.</a:t>
              </a:r>
            </a:p>
          </p:txBody>
        </p:sp>
        <p:sp>
          <p:nvSpPr>
            <p:cNvPr id="75" name="TextBox 74"/>
            <p:cNvSpPr txBox="1"/>
            <p:nvPr/>
          </p:nvSpPr>
          <p:spPr>
            <a:xfrm>
              <a:off x="-674917" y="3417774"/>
              <a:ext cx="2059657" cy="297247"/>
            </a:xfrm>
            <a:prstGeom prst="rect">
              <a:avLst/>
            </a:prstGeom>
            <a:noFill/>
          </p:spPr>
          <p:txBody>
            <a:bodyPr wrap="square" rtlCol="0">
              <a:spAutoFit/>
            </a:bodyPr>
            <a:lstStyle/>
            <a:p>
              <a:pPr algn="r"/>
              <a:r>
                <a:rPr lang="en-US" sz="1400" b="1" dirty="0">
                  <a:solidFill>
                    <a:schemeClr val="bg1"/>
                  </a:solidFill>
                </a:rPr>
                <a:t>Vision</a:t>
              </a:r>
              <a:endParaRPr lang="ko-KR" altLang="en-US" sz="1400" b="1" dirty="0">
                <a:solidFill>
                  <a:schemeClr val="bg1"/>
                </a:solidFill>
                <a:cs typeface="Arial" pitchFamily="34" charset="0"/>
              </a:endParaRPr>
            </a:p>
          </p:txBody>
        </p:sp>
      </p:grpSp>
      <p:sp>
        <p:nvSpPr>
          <p:cNvPr id="72" name="TextBox 71"/>
          <p:cNvSpPr txBox="1"/>
          <p:nvPr/>
        </p:nvSpPr>
        <p:spPr>
          <a:xfrm>
            <a:off x="5531546" y="915566"/>
            <a:ext cx="2669701" cy="461665"/>
          </a:xfrm>
          <a:prstGeom prst="rect">
            <a:avLst/>
          </a:prstGeom>
          <a:noFill/>
        </p:spPr>
        <p:txBody>
          <a:bodyPr wrap="square" rtlCol="0">
            <a:spAutoFit/>
          </a:bodyPr>
          <a:lstStyle/>
          <a:p>
            <a:r>
              <a:rPr lang="en-US" sz="1200" dirty="0"/>
              <a:t>Following your passion is one of the best predictors of success.</a:t>
            </a:r>
          </a:p>
        </p:txBody>
      </p:sp>
      <p:sp>
        <p:nvSpPr>
          <p:cNvPr id="76" name="TextBox 75"/>
          <p:cNvSpPr txBox="1"/>
          <p:nvPr/>
        </p:nvSpPr>
        <p:spPr>
          <a:xfrm>
            <a:off x="5522912" y="654693"/>
            <a:ext cx="2592288" cy="307777"/>
          </a:xfrm>
          <a:prstGeom prst="rect">
            <a:avLst/>
          </a:prstGeom>
          <a:noFill/>
        </p:spPr>
        <p:txBody>
          <a:bodyPr wrap="square" rtlCol="0">
            <a:spAutoFit/>
          </a:bodyPr>
          <a:lstStyle/>
          <a:p>
            <a:r>
              <a:rPr lang="en-US" sz="1400" b="1" dirty="0">
                <a:solidFill>
                  <a:schemeClr val="bg1"/>
                </a:solidFill>
              </a:rPr>
              <a:t>Tenacity</a:t>
            </a:r>
            <a:endParaRPr lang="ko-KR" altLang="en-US" sz="1400" b="1" dirty="0">
              <a:solidFill>
                <a:schemeClr val="bg1"/>
              </a:solidFill>
              <a:cs typeface="Arial" pitchFamily="34" charset="0"/>
            </a:endParaRPr>
          </a:p>
        </p:txBody>
      </p:sp>
      <p:sp>
        <p:nvSpPr>
          <p:cNvPr id="78" name="TextBox 77"/>
          <p:cNvSpPr txBox="1"/>
          <p:nvPr/>
        </p:nvSpPr>
        <p:spPr>
          <a:xfrm>
            <a:off x="5531546" y="3647324"/>
            <a:ext cx="2746721" cy="461665"/>
          </a:xfrm>
          <a:prstGeom prst="rect">
            <a:avLst/>
          </a:prstGeom>
          <a:noFill/>
        </p:spPr>
        <p:txBody>
          <a:bodyPr wrap="square" rtlCol="0">
            <a:spAutoFit/>
          </a:bodyPr>
          <a:lstStyle/>
          <a:p>
            <a:pPr lvl="0" algn="just"/>
            <a:r>
              <a:rPr lang="en-US" sz="1200" dirty="0"/>
              <a:t>Successful entrepreneurs are focused on what will bring results.</a:t>
            </a:r>
          </a:p>
        </p:txBody>
      </p:sp>
      <p:sp>
        <p:nvSpPr>
          <p:cNvPr id="80" name="TextBox 79"/>
          <p:cNvSpPr txBox="1"/>
          <p:nvPr/>
        </p:nvSpPr>
        <p:spPr>
          <a:xfrm>
            <a:off x="5525867" y="3381080"/>
            <a:ext cx="2592288" cy="307777"/>
          </a:xfrm>
          <a:prstGeom prst="rect">
            <a:avLst/>
          </a:prstGeom>
          <a:noFill/>
        </p:spPr>
        <p:txBody>
          <a:bodyPr wrap="square" rtlCol="0">
            <a:spAutoFit/>
          </a:bodyPr>
          <a:lstStyle/>
          <a:p>
            <a:r>
              <a:rPr lang="en-US" sz="1400" b="1" dirty="0">
                <a:solidFill>
                  <a:schemeClr val="bg1"/>
                </a:solidFill>
              </a:rPr>
              <a:t>Focus</a:t>
            </a:r>
            <a:endParaRPr lang="ko-KR" altLang="en-US" sz="1400" b="1" dirty="0">
              <a:solidFill>
                <a:schemeClr val="bg1"/>
              </a:solidFill>
              <a:cs typeface="Arial" pitchFamily="34" charset="0"/>
            </a:endParaRPr>
          </a:p>
        </p:txBody>
      </p:sp>
      <p:cxnSp>
        <p:nvCxnSpPr>
          <p:cNvPr id="84" name="Straight Arrow Connector 83"/>
          <p:cNvCxnSpPr/>
          <p:nvPr/>
        </p:nvCxnSpPr>
        <p:spPr>
          <a:xfrm flipH="1">
            <a:off x="751060" y="4657188"/>
            <a:ext cx="3031651" cy="0"/>
          </a:xfrm>
          <a:prstGeom prst="straightConnector1">
            <a:avLst/>
          </a:prstGeom>
          <a:ln w="25400">
            <a:solidFill>
              <a:srgbClr val="009D97"/>
            </a:solidFill>
            <a:tailEnd type="oval" w="lg" len="lg"/>
          </a:ln>
        </p:spPr>
        <p:style>
          <a:lnRef idx="1">
            <a:schemeClr val="accent1"/>
          </a:lnRef>
          <a:fillRef idx="0">
            <a:schemeClr val="accent1"/>
          </a:fillRef>
          <a:effectRef idx="0">
            <a:schemeClr val="accent1"/>
          </a:effectRef>
          <a:fontRef idx="minor">
            <a:schemeClr val="tx1"/>
          </a:fontRef>
        </p:style>
      </p:cxnSp>
      <p:grpSp>
        <p:nvGrpSpPr>
          <p:cNvPr id="85" name="Group 84"/>
          <p:cNvGrpSpPr/>
          <p:nvPr/>
        </p:nvGrpSpPr>
        <p:grpSpPr>
          <a:xfrm>
            <a:off x="3782711" y="4299942"/>
            <a:ext cx="835293" cy="720080"/>
            <a:chOff x="3496214" y="1275606"/>
            <a:chExt cx="1060704" cy="914400"/>
          </a:xfrm>
        </p:grpSpPr>
        <p:sp>
          <p:nvSpPr>
            <p:cNvPr id="86" name="Hexagon 85"/>
            <p:cNvSpPr/>
            <p:nvPr/>
          </p:nvSpPr>
          <p:spPr>
            <a:xfrm>
              <a:off x="3496214" y="1275606"/>
              <a:ext cx="1060704" cy="914400"/>
            </a:xfrm>
            <a:prstGeom prst="hexagon">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7" name="Hexagon 86"/>
            <p:cNvSpPr/>
            <p:nvPr/>
          </p:nvSpPr>
          <p:spPr>
            <a:xfrm>
              <a:off x="3594518" y="1360351"/>
              <a:ext cx="864096" cy="744910"/>
            </a:xfrm>
            <a:prstGeom prst="hexagon">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88" name="TextBox 87"/>
          <p:cNvSpPr txBox="1"/>
          <p:nvPr/>
        </p:nvSpPr>
        <p:spPr>
          <a:xfrm>
            <a:off x="811912" y="4124900"/>
            <a:ext cx="2944853" cy="461665"/>
          </a:xfrm>
          <a:prstGeom prst="rect">
            <a:avLst/>
          </a:prstGeom>
          <a:noFill/>
        </p:spPr>
        <p:txBody>
          <a:bodyPr wrap="square" rtlCol="0">
            <a:spAutoFit/>
          </a:bodyPr>
          <a:lstStyle/>
          <a:p>
            <a:pPr algn="just"/>
            <a:r>
              <a:rPr lang="en-US" sz="1200" dirty="0"/>
              <a:t>They overcome challenges and avoid procrastination.</a:t>
            </a:r>
          </a:p>
        </p:txBody>
      </p:sp>
      <p:sp>
        <p:nvSpPr>
          <p:cNvPr id="89" name="TextBox 88"/>
          <p:cNvSpPr txBox="1"/>
          <p:nvPr/>
        </p:nvSpPr>
        <p:spPr>
          <a:xfrm>
            <a:off x="-277456" y="3880161"/>
            <a:ext cx="2592288" cy="307777"/>
          </a:xfrm>
          <a:prstGeom prst="rect">
            <a:avLst/>
          </a:prstGeom>
          <a:noFill/>
        </p:spPr>
        <p:txBody>
          <a:bodyPr wrap="square" rtlCol="0">
            <a:spAutoFit/>
          </a:bodyPr>
          <a:lstStyle/>
          <a:p>
            <a:pPr algn="r"/>
            <a:r>
              <a:rPr lang="en-US" altLang="ko-KR" sz="1400" b="1" dirty="0">
                <a:solidFill>
                  <a:schemeClr val="bg1"/>
                </a:solidFill>
                <a:cs typeface="Arial" pitchFamily="34" charset="0"/>
              </a:rPr>
              <a:t>Action oriented</a:t>
            </a:r>
            <a:endParaRPr lang="ko-KR" altLang="en-US" sz="1400" b="1" dirty="0">
              <a:solidFill>
                <a:schemeClr val="bg1"/>
              </a:solidFill>
              <a:cs typeface="Arial" pitchFamily="34" charset="0"/>
            </a:endParaRPr>
          </a:p>
        </p:txBody>
      </p:sp>
    </p:spTree>
    <p:extLst>
      <p:ext uri="{BB962C8B-B14F-4D97-AF65-F5344CB8AC3E}">
        <p14:creationId xmlns:p14="http://schemas.microsoft.com/office/powerpoint/2010/main" val="1629145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Group 20480"/>
          <p:cNvGrpSpPr/>
          <p:nvPr/>
        </p:nvGrpSpPr>
        <p:grpSpPr>
          <a:xfrm>
            <a:off x="1619672" y="1541512"/>
            <a:ext cx="6765723" cy="1816297"/>
            <a:chOff x="1291353" y="1755670"/>
            <a:chExt cx="7025063" cy="1816297"/>
          </a:xfrm>
        </p:grpSpPr>
        <p:sp>
          <p:nvSpPr>
            <p:cNvPr id="22" name="Block Arc 21"/>
            <p:cNvSpPr/>
            <p:nvPr/>
          </p:nvSpPr>
          <p:spPr>
            <a:xfrm>
              <a:off x="6500119" y="1755670"/>
              <a:ext cx="1816297" cy="1816297"/>
            </a:xfrm>
            <a:prstGeom prst="blockArc">
              <a:avLst>
                <a:gd name="adj1" fmla="val 16127381"/>
                <a:gd name="adj2" fmla="val 5490194"/>
                <a:gd name="adj3" fmla="val 404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20480" name="Rectangle 20479"/>
            <p:cNvSpPr/>
            <p:nvPr/>
          </p:nvSpPr>
          <p:spPr>
            <a:xfrm>
              <a:off x="1291353" y="1755670"/>
              <a:ext cx="6156000" cy="72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Rectangle 33"/>
            <p:cNvSpPr/>
            <p:nvPr/>
          </p:nvSpPr>
          <p:spPr>
            <a:xfrm>
              <a:off x="2340248" y="3499967"/>
              <a:ext cx="5112000" cy="72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3" name="Text Placeholder 2"/>
          <p:cNvSpPr>
            <a:spLocks noGrp="1"/>
          </p:cNvSpPr>
          <p:nvPr>
            <p:ph type="body" sz="quarter" idx="4294967295"/>
          </p:nvPr>
        </p:nvSpPr>
        <p:spPr>
          <a:xfrm>
            <a:off x="107504" y="86931"/>
            <a:ext cx="9144000" cy="287337"/>
          </a:xfrm>
          <a:prstGeom prst="rect">
            <a:avLst/>
          </a:prstGeom>
        </p:spPr>
        <p:txBody>
          <a:bodyPr/>
          <a:lstStyle/>
          <a:p>
            <a:pPr marL="0" lvl="0" indent="0">
              <a:buNone/>
            </a:pPr>
            <a:r>
              <a:rPr lang="en-US" b="1" dirty="0">
                <a:solidFill>
                  <a:schemeClr val="bg1"/>
                </a:solidFill>
              </a:rPr>
              <a:t>How to Become an Entrepreneur</a:t>
            </a:r>
            <a:endParaRPr lang="en-US" altLang="ko-KR" dirty="0">
              <a:solidFill>
                <a:schemeClr val="bg1"/>
              </a:solidFill>
            </a:endParaRPr>
          </a:p>
        </p:txBody>
      </p:sp>
      <p:grpSp>
        <p:nvGrpSpPr>
          <p:cNvPr id="8" name="Group 7"/>
          <p:cNvGrpSpPr/>
          <p:nvPr/>
        </p:nvGrpSpPr>
        <p:grpSpPr>
          <a:xfrm>
            <a:off x="3609680" y="1130448"/>
            <a:ext cx="914400" cy="914400"/>
            <a:chOff x="5364088" y="2787774"/>
            <a:chExt cx="914400" cy="914400"/>
          </a:xfrm>
        </p:grpSpPr>
        <p:sp>
          <p:nvSpPr>
            <p:cNvPr id="9" name="Oval 8"/>
            <p:cNvSpPr/>
            <p:nvPr/>
          </p:nvSpPr>
          <p:spPr>
            <a:xfrm>
              <a:off x="5364088" y="2787774"/>
              <a:ext cx="914400" cy="914400"/>
            </a:xfrm>
            <a:prstGeom prst="ellipse">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0" name="Oval 9"/>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1" name="Group 10"/>
          <p:cNvGrpSpPr/>
          <p:nvPr/>
        </p:nvGrpSpPr>
        <p:grpSpPr>
          <a:xfrm>
            <a:off x="6297163" y="1130448"/>
            <a:ext cx="914400" cy="914400"/>
            <a:chOff x="5364088" y="2787774"/>
            <a:chExt cx="914400" cy="914400"/>
          </a:xfrm>
        </p:grpSpPr>
        <p:sp>
          <p:nvSpPr>
            <p:cNvPr id="12" name="Oval 11"/>
            <p:cNvSpPr/>
            <p:nvPr/>
          </p:nvSpPr>
          <p:spPr>
            <a:xfrm>
              <a:off x="5364088" y="2787774"/>
              <a:ext cx="914400" cy="914400"/>
            </a:xfrm>
            <a:prstGeom prst="ellipse">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3" name="Oval 12"/>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4" name="Group 13"/>
          <p:cNvGrpSpPr/>
          <p:nvPr/>
        </p:nvGrpSpPr>
        <p:grpSpPr>
          <a:xfrm>
            <a:off x="2265939" y="2863724"/>
            <a:ext cx="914400" cy="914400"/>
            <a:chOff x="5364088" y="2787774"/>
            <a:chExt cx="914400" cy="914400"/>
          </a:xfrm>
        </p:grpSpPr>
        <p:sp>
          <p:nvSpPr>
            <p:cNvPr id="15" name="Oval 14"/>
            <p:cNvSpPr/>
            <p:nvPr/>
          </p:nvSpPr>
          <p:spPr>
            <a:xfrm>
              <a:off x="5364088" y="2787774"/>
              <a:ext cx="914400" cy="914400"/>
            </a:xfrm>
            <a:prstGeom prst="ellipse">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6" name="Oval 15"/>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7" name="Group 16"/>
          <p:cNvGrpSpPr/>
          <p:nvPr/>
        </p:nvGrpSpPr>
        <p:grpSpPr>
          <a:xfrm>
            <a:off x="4953422" y="2863724"/>
            <a:ext cx="914400" cy="914400"/>
            <a:chOff x="5364088" y="2787774"/>
            <a:chExt cx="914400" cy="914400"/>
          </a:xfrm>
        </p:grpSpPr>
        <p:sp>
          <p:nvSpPr>
            <p:cNvPr id="18" name="Oval 17"/>
            <p:cNvSpPr/>
            <p:nvPr/>
          </p:nvSpPr>
          <p:spPr>
            <a:xfrm>
              <a:off x="5364088" y="2787774"/>
              <a:ext cx="914400" cy="914400"/>
            </a:xfrm>
            <a:prstGeom prst="ellipse">
              <a:avLst/>
            </a:prstGeom>
            <a:solidFill>
              <a:schemeClr val="accent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9" name="Oval 18"/>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23" name="Group 22"/>
          <p:cNvGrpSpPr/>
          <p:nvPr/>
        </p:nvGrpSpPr>
        <p:grpSpPr>
          <a:xfrm>
            <a:off x="5257220" y="1434246"/>
            <a:ext cx="306803" cy="306803"/>
            <a:chOff x="1547664" y="3147814"/>
            <a:chExt cx="720080" cy="720080"/>
          </a:xfrm>
        </p:grpSpPr>
        <p:sp>
          <p:nvSpPr>
            <p:cNvPr id="24" name="Oval 23"/>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5" name="Chevron 24"/>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grpSp>
        <p:nvGrpSpPr>
          <p:cNvPr id="26" name="Group 25"/>
          <p:cNvGrpSpPr/>
          <p:nvPr/>
        </p:nvGrpSpPr>
        <p:grpSpPr>
          <a:xfrm rot="10800000">
            <a:off x="3913479" y="3167523"/>
            <a:ext cx="306803" cy="306803"/>
            <a:chOff x="1547664" y="3147814"/>
            <a:chExt cx="720080" cy="720080"/>
          </a:xfrm>
        </p:grpSpPr>
        <p:sp>
          <p:nvSpPr>
            <p:cNvPr id="27" name="Oval 26"/>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8" name="Chevron 27"/>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grpSp>
        <p:nvGrpSpPr>
          <p:cNvPr id="29" name="Group 28"/>
          <p:cNvGrpSpPr/>
          <p:nvPr/>
        </p:nvGrpSpPr>
        <p:grpSpPr>
          <a:xfrm rot="5400000">
            <a:off x="8169371" y="2300884"/>
            <a:ext cx="306803" cy="306803"/>
            <a:chOff x="1547664" y="3147814"/>
            <a:chExt cx="720080" cy="720080"/>
          </a:xfrm>
        </p:grpSpPr>
        <p:sp>
          <p:nvSpPr>
            <p:cNvPr id="30" name="Oval 29"/>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1" name="Chevron 30"/>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sp>
        <p:nvSpPr>
          <p:cNvPr id="45" name="TextBox 44"/>
          <p:cNvSpPr txBox="1"/>
          <p:nvPr/>
        </p:nvSpPr>
        <p:spPr>
          <a:xfrm>
            <a:off x="2774834" y="2115179"/>
            <a:ext cx="2509123" cy="577081"/>
          </a:xfrm>
          <a:prstGeom prst="rect">
            <a:avLst/>
          </a:prstGeom>
          <a:noFill/>
        </p:spPr>
        <p:txBody>
          <a:bodyPr wrap="square" rtlCol="0">
            <a:spAutoFit/>
          </a:bodyPr>
          <a:lstStyle/>
          <a:p>
            <a:pPr lvl="0" algn="ctr"/>
            <a:r>
              <a:rPr lang="en-US" sz="1050" b="1" dirty="0">
                <a:solidFill>
                  <a:schemeClr val="bg1"/>
                </a:solidFill>
              </a:rPr>
              <a:t>Development of the characteristics of a Successful Entrepreneur </a:t>
            </a:r>
            <a:endParaRPr lang="ar-EG" sz="1050" b="1" dirty="0">
              <a:solidFill>
                <a:schemeClr val="bg1"/>
              </a:solidFill>
            </a:endParaRPr>
          </a:p>
          <a:p>
            <a:pPr lvl="0" algn="ctr"/>
            <a:r>
              <a:rPr lang="en-US" sz="1050" b="1" dirty="0">
                <a:solidFill>
                  <a:schemeClr val="bg1"/>
                </a:solidFill>
              </a:rPr>
              <a:t>“mentioned in the previous slides”</a:t>
            </a:r>
          </a:p>
        </p:txBody>
      </p:sp>
      <p:sp>
        <p:nvSpPr>
          <p:cNvPr id="32" name="TextBox 31"/>
          <p:cNvSpPr txBox="1"/>
          <p:nvPr/>
        </p:nvSpPr>
        <p:spPr>
          <a:xfrm>
            <a:off x="109326" y="618377"/>
            <a:ext cx="3579512" cy="738664"/>
          </a:xfrm>
          <a:prstGeom prst="rect">
            <a:avLst/>
          </a:prstGeom>
          <a:noFill/>
        </p:spPr>
        <p:txBody>
          <a:bodyPr wrap="square" rtlCol="0">
            <a:spAutoFit/>
          </a:bodyPr>
          <a:lstStyle/>
          <a:p>
            <a:r>
              <a:rPr lang="en-US" sz="1400" dirty="0">
                <a:solidFill>
                  <a:srgbClr val="009D97"/>
                </a:solidFill>
              </a:rPr>
              <a:t>One of the great things about becoming an entrepreneur is that anyone can do it.</a:t>
            </a:r>
          </a:p>
          <a:p>
            <a:endParaRPr lang="en-US" sz="1400" dirty="0">
              <a:solidFill>
                <a:srgbClr val="009D97"/>
              </a:solidFill>
            </a:endParaRPr>
          </a:p>
        </p:txBody>
      </p:sp>
      <p:sp>
        <p:nvSpPr>
          <p:cNvPr id="33" name="TextBox 32"/>
          <p:cNvSpPr txBox="1"/>
          <p:nvPr/>
        </p:nvSpPr>
        <p:spPr>
          <a:xfrm>
            <a:off x="302138" y="1971400"/>
            <a:ext cx="2212868" cy="1169551"/>
          </a:xfrm>
          <a:prstGeom prst="rect">
            <a:avLst/>
          </a:prstGeom>
          <a:noFill/>
        </p:spPr>
        <p:txBody>
          <a:bodyPr wrap="square" rtlCol="0">
            <a:spAutoFit/>
          </a:bodyPr>
          <a:lstStyle/>
          <a:p>
            <a:r>
              <a:rPr lang="en-US" sz="1400" dirty="0"/>
              <a:t>Becoming an entrepreneur isn't hard, but it is work and requires many steps</a:t>
            </a:r>
            <a:endParaRPr lang="ar-EG" sz="1400" dirty="0"/>
          </a:p>
          <a:p>
            <a:r>
              <a:rPr lang="en-US" sz="1400" dirty="0"/>
              <a:t>including:</a:t>
            </a:r>
          </a:p>
          <a:p>
            <a:endParaRPr lang="en-US" sz="1400" dirty="0"/>
          </a:p>
        </p:txBody>
      </p:sp>
      <p:grpSp>
        <p:nvGrpSpPr>
          <p:cNvPr id="57" name="Group 56"/>
          <p:cNvGrpSpPr/>
          <p:nvPr/>
        </p:nvGrpSpPr>
        <p:grpSpPr>
          <a:xfrm>
            <a:off x="1531220" y="1420666"/>
            <a:ext cx="306803" cy="306803"/>
            <a:chOff x="1547664" y="3147814"/>
            <a:chExt cx="720080" cy="720080"/>
          </a:xfrm>
        </p:grpSpPr>
        <p:sp>
          <p:nvSpPr>
            <p:cNvPr id="58" name="Oval 57"/>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9" name="Chevron 58"/>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sp>
        <p:nvSpPr>
          <p:cNvPr id="35" name="TextBox 34"/>
          <p:cNvSpPr txBox="1"/>
          <p:nvPr/>
        </p:nvSpPr>
        <p:spPr>
          <a:xfrm>
            <a:off x="3820756" y="1254085"/>
            <a:ext cx="442497" cy="707886"/>
          </a:xfrm>
          <a:prstGeom prst="rect">
            <a:avLst/>
          </a:prstGeom>
          <a:noFill/>
        </p:spPr>
        <p:txBody>
          <a:bodyPr wrap="square" rtlCol="0">
            <a:spAutoFit/>
          </a:bodyPr>
          <a:lstStyle/>
          <a:p>
            <a:r>
              <a:rPr lang="ar-EG" sz="4000" dirty="0">
                <a:solidFill>
                  <a:srgbClr val="009D97"/>
                </a:solidFill>
              </a:rPr>
              <a:t>1</a:t>
            </a:r>
            <a:endParaRPr lang="en-US" sz="4000" dirty="0">
              <a:solidFill>
                <a:srgbClr val="009D97"/>
              </a:solidFill>
            </a:endParaRPr>
          </a:p>
        </p:txBody>
      </p:sp>
      <p:sp>
        <p:nvSpPr>
          <p:cNvPr id="61" name="TextBox 60"/>
          <p:cNvSpPr txBox="1"/>
          <p:nvPr/>
        </p:nvSpPr>
        <p:spPr>
          <a:xfrm>
            <a:off x="6479045" y="1213513"/>
            <a:ext cx="442497" cy="707886"/>
          </a:xfrm>
          <a:prstGeom prst="rect">
            <a:avLst/>
          </a:prstGeom>
          <a:noFill/>
        </p:spPr>
        <p:txBody>
          <a:bodyPr wrap="square" rtlCol="0">
            <a:spAutoFit/>
          </a:bodyPr>
          <a:lstStyle/>
          <a:p>
            <a:r>
              <a:rPr lang="ar-EG" sz="4000" dirty="0">
                <a:solidFill>
                  <a:srgbClr val="009D97"/>
                </a:solidFill>
              </a:rPr>
              <a:t>2</a:t>
            </a:r>
            <a:endParaRPr lang="en-US" sz="4000" dirty="0">
              <a:solidFill>
                <a:srgbClr val="009D97"/>
              </a:solidFill>
            </a:endParaRPr>
          </a:p>
        </p:txBody>
      </p:sp>
      <p:sp>
        <p:nvSpPr>
          <p:cNvPr id="62" name="TextBox 61"/>
          <p:cNvSpPr txBox="1"/>
          <p:nvPr/>
        </p:nvSpPr>
        <p:spPr>
          <a:xfrm>
            <a:off x="2471088" y="2961296"/>
            <a:ext cx="442497" cy="707886"/>
          </a:xfrm>
          <a:prstGeom prst="rect">
            <a:avLst/>
          </a:prstGeom>
          <a:noFill/>
        </p:spPr>
        <p:txBody>
          <a:bodyPr wrap="square" rtlCol="0">
            <a:spAutoFit/>
          </a:bodyPr>
          <a:lstStyle/>
          <a:p>
            <a:r>
              <a:rPr lang="ar-EG" sz="4000" dirty="0">
                <a:solidFill>
                  <a:srgbClr val="009D97"/>
                </a:solidFill>
              </a:rPr>
              <a:t>4</a:t>
            </a:r>
            <a:endParaRPr lang="en-US" sz="4000" dirty="0">
              <a:solidFill>
                <a:srgbClr val="009D97"/>
              </a:solidFill>
            </a:endParaRPr>
          </a:p>
        </p:txBody>
      </p:sp>
      <p:sp>
        <p:nvSpPr>
          <p:cNvPr id="63" name="TextBox 62"/>
          <p:cNvSpPr txBox="1"/>
          <p:nvPr/>
        </p:nvSpPr>
        <p:spPr>
          <a:xfrm>
            <a:off x="5145944" y="2945603"/>
            <a:ext cx="442497" cy="707886"/>
          </a:xfrm>
          <a:prstGeom prst="rect">
            <a:avLst/>
          </a:prstGeom>
          <a:noFill/>
        </p:spPr>
        <p:txBody>
          <a:bodyPr wrap="square" rtlCol="0">
            <a:spAutoFit/>
          </a:bodyPr>
          <a:lstStyle/>
          <a:p>
            <a:r>
              <a:rPr lang="ar-EG" sz="4000" dirty="0">
                <a:solidFill>
                  <a:srgbClr val="009D97"/>
                </a:solidFill>
              </a:rPr>
              <a:t>3</a:t>
            </a:r>
            <a:endParaRPr lang="en-US" sz="4000" dirty="0">
              <a:solidFill>
                <a:srgbClr val="009D97"/>
              </a:solidFill>
            </a:endParaRPr>
          </a:p>
        </p:txBody>
      </p:sp>
      <p:sp>
        <p:nvSpPr>
          <p:cNvPr id="64" name="TextBox 63"/>
          <p:cNvSpPr txBox="1"/>
          <p:nvPr/>
        </p:nvSpPr>
        <p:spPr>
          <a:xfrm>
            <a:off x="5441061" y="2154745"/>
            <a:ext cx="2509123" cy="415498"/>
          </a:xfrm>
          <a:prstGeom prst="rect">
            <a:avLst/>
          </a:prstGeom>
          <a:noFill/>
        </p:spPr>
        <p:txBody>
          <a:bodyPr wrap="square" rtlCol="0">
            <a:spAutoFit/>
          </a:bodyPr>
          <a:lstStyle/>
          <a:p>
            <a:pPr lvl="0" algn="ctr"/>
            <a:r>
              <a:rPr lang="en-US" sz="1050" b="1" dirty="0">
                <a:solidFill>
                  <a:schemeClr val="bg1"/>
                </a:solidFill>
              </a:rPr>
              <a:t>A great idea that people will pay </a:t>
            </a:r>
            <a:endParaRPr lang="ar-EG" sz="1050" b="1" dirty="0">
              <a:solidFill>
                <a:schemeClr val="bg1"/>
              </a:solidFill>
            </a:endParaRPr>
          </a:p>
          <a:p>
            <a:pPr lvl="0" algn="ctr"/>
            <a:r>
              <a:rPr lang="en-US" sz="1050" b="1" dirty="0">
                <a:solidFill>
                  <a:schemeClr val="bg1"/>
                </a:solidFill>
              </a:rPr>
              <a:t>money for</a:t>
            </a:r>
          </a:p>
        </p:txBody>
      </p:sp>
      <p:sp>
        <p:nvSpPr>
          <p:cNvPr id="65" name="TextBox 64"/>
          <p:cNvSpPr txBox="1"/>
          <p:nvPr/>
        </p:nvSpPr>
        <p:spPr>
          <a:xfrm>
            <a:off x="1437774" y="3964846"/>
            <a:ext cx="2509123" cy="253916"/>
          </a:xfrm>
          <a:prstGeom prst="rect">
            <a:avLst/>
          </a:prstGeom>
          <a:noFill/>
        </p:spPr>
        <p:txBody>
          <a:bodyPr wrap="square" rtlCol="0">
            <a:spAutoFit/>
          </a:bodyPr>
          <a:lstStyle/>
          <a:p>
            <a:pPr lvl="0" algn="ctr"/>
            <a:r>
              <a:rPr lang="en-US" sz="1050" b="1" dirty="0">
                <a:solidFill>
                  <a:schemeClr val="bg1"/>
                </a:solidFill>
              </a:rPr>
              <a:t>A plan of success</a:t>
            </a:r>
          </a:p>
        </p:txBody>
      </p:sp>
      <p:sp>
        <p:nvSpPr>
          <p:cNvPr id="66" name="TextBox 65"/>
          <p:cNvSpPr txBox="1"/>
          <p:nvPr/>
        </p:nvSpPr>
        <p:spPr>
          <a:xfrm>
            <a:off x="4186499" y="3965777"/>
            <a:ext cx="2509123" cy="253916"/>
          </a:xfrm>
          <a:prstGeom prst="rect">
            <a:avLst/>
          </a:prstGeom>
          <a:noFill/>
        </p:spPr>
        <p:txBody>
          <a:bodyPr wrap="square" rtlCol="0">
            <a:spAutoFit/>
          </a:bodyPr>
          <a:lstStyle/>
          <a:p>
            <a:pPr lvl="0" algn="ctr"/>
            <a:r>
              <a:rPr lang="en-US" sz="1050" b="1" dirty="0">
                <a:solidFill>
                  <a:schemeClr val="bg1"/>
                </a:solidFill>
              </a:rPr>
              <a:t>Consistent execution of the plan</a:t>
            </a:r>
          </a:p>
        </p:txBody>
      </p:sp>
      <p:sp>
        <p:nvSpPr>
          <p:cNvPr id="56" name="Rectangle 55"/>
          <p:cNvSpPr/>
          <p:nvPr/>
        </p:nvSpPr>
        <p:spPr>
          <a:xfrm>
            <a:off x="0" y="4587974"/>
            <a:ext cx="9144000" cy="555526"/>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84446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4930" r="4930"/>
          <a:stretch>
            <a:fillRect/>
          </a:stretch>
        </p:blipFill>
        <p:spPr/>
      </p:pic>
      <p:sp>
        <p:nvSpPr>
          <p:cNvPr id="30" name="TextBox 29"/>
          <p:cNvSpPr txBox="1"/>
          <p:nvPr/>
        </p:nvSpPr>
        <p:spPr>
          <a:xfrm>
            <a:off x="4211960" y="1563638"/>
            <a:ext cx="4680520" cy="1877437"/>
          </a:xfrm>
          <a:prstGeom prst="rect">
            <a:avLst/>
          </a:prstGeom>
          <a:noFill/>
        </p:spPr>
        <p:txBody>
          <a:bodyPr wrap="square" rtlCol="0">
            <a:spAutoFit/>
          </a:bodyPr>
          <a:lstStyle/>
          <a:p>
            <a:r>
              <a:rPr lang="en-US" sz="3600" b="1" dirty="0">
                <a:solidFill>
                  <a:schemeClr val="bg1"/>
                </a:solidFill>
              </a:rPr>
              <a:t>10 Biggest </a:t>
            </a:r>
            <a:r>
              <a:rPr lang="en-US" sz="3600" b="1" dirty="0">
                <a:solidFill>
                  <a:schemeClr val="tx1">
                    <a:lumMod val="65000"/>
                    <a:lumOff val="35000"/>
                  </a:schemeClr>
                </a:solidFill>
              </a:rPr>
              <a:t>Myths</a:t>
            </a:r>
            <a:r>
              <a:rPr lang="en-US" sz="3600" b="1" dirty="0">
                <a:solidFill>
                  <a:schemeClr val="bg1"/>
                </a:solidFill>
              </a:rPr>
              <a:t> About Being </a:t>
            </a:r>
          </a:p>
          <a:p>
            <a:r>
              <a:rPr lang="en-US" sz="4400" b="1" dirty="0">
                <a:solidFill>
                  <a:srgbClr val="009D97"/>
                </a:solidFill>
              </a:rPr>
              <a:t>An Entrepreneur</a:t>
            </a:r>
          </a:p>
        </p:txBody>
      </p:sp>
    </p:spTree>
    <p:extLst>
      <p:ext uri="{BB962C8B-B14F-4D97-AF65-F5344CB8AC3E}">
        <p14:creationId xmlns:p14="http://schemas.microsoft.com/office/powerpoint/2010/main" val="3210970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0" y="-92546"/>
            <a:ext cx="2664296" cy="1569660"/>
          </a:xfrm>
          <a:prstGeom prst="rect">
            <a:avLst/>
          </a:prstGeom>
          <a:noFill/>
        </p:spPr>
        <p:txBody>
          <a:bodyPr wrap="square" rtlCol="0">
            <a:spAutoFit/>
          </a:bodyPr>
          <a:lstStyle/>
          <a:p>
            <a:r>
              <a:rPr lang="en-US" sz="9600" dirty="0">
                <a:solidFill>
                  <a:schemeClr val="bg1"/>
                </a:solidFill>
              </a:rPr>
              <a:t>1</a:t>
            </a:r>
          </a:p>
        </p:txBody>
      </p:sp>
      <p:sp>
        <p:nvSpPr>
          <p:cNvPr id="6" name="TextBox 5"/>
          <p:cNvSpPr txBox="1"/>
          <p:nvPr/>
        </p:nvSpPr>
        <p:spPr>
          <a:xfrm>
            <a:off x="251520" y="1995686"/>
            <a:ext cx="3312368" cy="1754326"/>
          </a:xfrm>
          <a:prstGeom prst="rect">
            <a:avLst/>
          </a:prstGeom>
          <a:noFill/>
        </p:spPr>
        <p:txBody>
          <a:bodyPr wrap="square" rtlCol="0">
            <a:spAutoFit/>
          </a:bodyPr>
          <a:lstStyle/>
          <a:p>
            <a:r>
              <a:rPr lang="en-US" sz="3600" dirty="0">
                <a:solidFill>
                  <a:schemeClr val="bg1"/>
                </a:solidFill>
              </a:rPr>
              <a:t>Entrepreneurs Are High Risk Takers</a:t>
            </a:r>
          </a:p>
        </p:txBody>
      </p:sp>
      <p:sp>
        <p:nvSpPr>
          <p:cNvPr id="7" name="TextBox 6"/>
          <p:cNvSpPr txBox="1"/>
          <p:nvPr/>
        </p:nvSpPr>
        <p:spPr>
          <a:xfrm>
            <a:off x="3707904" y="2139702"/>
            <a:ext cx="5184576" cy="1754326"/>
          </a:xfrm>
          <a:prstGeom prst="rect">
            <a:avLst/>
          </a:prstGeom>
          <a:noFill/>
        </p:spPr>
        <p:txBody>
          <a:bodyPr wrap="square" rtlCol="0">
            <a:spAutoFit/>
          </a:bodyPr>
          <a:lstStyle/>
          <a:p>
            <a:pPr algn="justLow"/>
            <a:r>
              <a:rPr lang="en-US" dirty="0"/>
              <a:t>They seldom act until they have assessed all the risks associated with an endeavor, and they have an innate ability to make sense out of complexity. These are traits that carry them on to success where others fail.</a:t>
            </a:r>
          </a:p>
          <a:p>
            <a:pPr algn="justLow"/>
            <a:endParaRPr lang="en-US" dirty="0"/>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918179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79512" y="-92546"/>
            <a:ext cx="2664296" cy="1569660"/>
          </a:xfrm>
          <a:prstGeom prst="rect">
            <a:avLst/>
          </a:prstGeom>
          <a:noFill/>
        </p:spPr>
        <p:txBody>
          <a:bodyPr wrap="square" rtlCol="0">
            <a:spAutoFit/>
          </a:bodyPr>
          <a:lstStyle/>
          <a:p>
            <a:r>
              <a:rPr lang="en-US" sz="9600" dirty="0">
                <a:solidFill>
                  <a:schemeClr val="bg1"/>
                </a:solidFill>
              </a:rPr>
              <a:t>2</a:t>
            </a:r>
          </a:p>
        </p:txBody>
      </p:sp>
      <p:sp>
        <p:nvSpPr>
          <p:cNvPr id="6" name="TextBox 5"/>
          <p:cNvSpPr txBox="1"/>
          <p:nvPr/>
        </p:nvSpPr>
        <p:spPr>
          <a:xfrm>
            <a:off x="251520" y="1995686"/>
            <a:ext cx="3312368" cy="1200329"/>
          </a:xfrm>
          <a:prstGeom prst="rect">
            <a:avLst/>
          </a:prstGeom>
          <a:noFill/>
        </p:spPr>
        <p:txBody>
          <a:bodyPr wrap="square" rtlCol="0">
            <a:spAutoFit/>
          </a:bodyPr>
          <a:lstStyle/>
          <a:p>
            <a:r>
              <a:rPr lang="en-US" sz="3600" dirty="0">
                <a:solidFill>
                  <a:schemeClr val="bg1"/>
                </a:solidFill>
              </a:rPr>
              <a:t>Entrepreneurs Are Born</a:t>
            </a:r>
          </a:p>
        </p:txBody>
      </p:sp>
      <p:sp>
        <p:nvSpPr>
          <p:cNvPr id="7" name="TextBox 6"/>
          <p:cNvSpPr txBox="1"/>
          <p:nvPr/>
        </p:nvSpPr>
        <p:spPr>
          <a:xfrm>
            <a:off x="3707904" y="2139702"/>
            <a:ext cx="5184576" cy="1200329"/>
          </a:xfrm>
          <a:prstGeom prst="rect">
            <a:avLst/>
          </a:prstGeom>
          <a:noFill/>
        </p:spPr>
        <p:txBody>
          <a:bodyPr wrap="square" rtlCol="0">
            <a:spAutoFit/>
          </a:bodyPr>
          <a:lstStyle/>
          <a:p>
            <a:pPr algn="just"/>
            <a:r>
              <a:rPr lang="en-US" dirty="0"/>
              <a:t>Experts generally agree that most entrepreneurs were not born; they learned to become entrepreneurs</a:t>
            </a:r>
          </a:p>
          <a:p>
            <a:pPr algn="justLow"/>
            <a:endParaRPr lang="en-US" dirty="0"/>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018280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3</a:t>
            </a:r>
          </a:p>
        </p:txBody>
      </p:sp>
      <p:sp>
        <p:nvSpPr>
          <p:cNvPr id="6" name="TextBox 5"/>
          <p:cNvSpPr txBox="1"/>
          <p:nvPr/>
        </p:nvSpPr>
        <p:spPr>
          <a:xfrm>
            <a:off x="251520" y="1995686"/>
            <a:ext cx="3312368" cy="1384995"/>
          </a:xfrm>
          <a:prstGeom prst="rect">
            <a:avLst/>
          </a:prstGeom>
          <a:noFill/>
        </p:spPr>
        <p:txBody>
          <a:bodyPr wrap="square" rtlCol="0">
            <a:spAutoFit/>
          </a:bodyPr>
          <a:lstStyle/>
          <a:p>
            <a:r>
              <a:rPr lang="en-US" sz="2800" dirty="0">
                <a:solidFill>
                  <a:schemeClr val="bg1"/>
                </a:solidFill>
              </a:rPr>
              <a:t>Entrepreneurs Are Mainly Motivated to Get Rich</a:t>
            </a:r>
          </a:p>
        </p:txBody>
      </p:sp>
      <p:sp>
        <p:nvSpPr>
          <p:cNvPr id="7" name="TextBox 6"/>
          <p:cNvSpPr txBox="1"/>
          <p:nvPr/>
        </p:nvSpPr>
        <p:spPr>
          <a:xfrm>
            <a:off x="3707904" y="1923678"/>
            <a:ext cx="5184576" cy="2277547"/>
          </a:xfrm>
          <a:prstGeom prst="rect">
            <a:avLst/>
          </a:prstGeom>
          <a:noFill/>
        </p:spPr>
        <p:txBody>
          <a:bodyPr wrap="square" rtlCol="0">
            <a:spAutoFit/>
          </a:bodyPr>
          <a:lstStyle/>
          <a:p>
            <a:pPr algn="justLow"/>
            <a:r>
              <a:rPr lang="en-US" sz="1600" dirty="0"/>
              <a:t>New businesses usually take from one to three years to turn a profit. In the meantime, you’re considered to be doing well if you break even. During the business start-up stage, entrepreneurs do not buy anything they do not need, such as fancy cars. Most drive junk cars and use their surplus money to pay off debt or reinvest it in the business. Their focus is on creating a company with a strong financial base for future expansion.</a:t>
            </a:r>
          </a:p>
          <a:p>
            <a:pPr algn="justLow"/>
            <a:endParaRPr lang="en-US" sz="1200" dirty="0"/>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062734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4</a:t>
            </a:r>
          </a:p>
        </p:txBody>
      </p:sp>
      <p:sp>
        <p:nvSpPr>
          <p:cNvPr id="6" name="TextBox 5"/>
          <p:cNvSpPr txBox="1"/>
          <p:nvPr/>
        </p:nvSpPr>
        <p:spPr>
          <a:xfrm>
            <a:off x="251520" y="1995686"/>
            <a:ext cx="3312368" cy="1384995"/>
          </a:xfrm>
          <a:prstGeom prst="rect">
            <a:avLst/>
          </a:prstGeom>
          <a:noFill/>
        </p:spPr>
        <p:txBody>
          <a:bodyPr wrap="square" rtlCol="0">
            <a:spAutoFit/>
          </a:bodyPr>
          <a:lstStyle/>
          <a:p>
            <a:r>
              <a:rPr lang="en-US" sz="2800" dirty="0">
                <a:solidFill>
                  <a:schemeClr val="bg1"/>
                </a:solidFill>
              </a:rPr>
              <a:t>Entrepreneurs Give Little Attention to </a:t>
            </a:r>
          </a:p>
          <a:p>
            <a:r>
              <a:rPr lang="en-US" sz="2800" dirty="0">
                <a:solidFill>
                  <a:schemeClr val="bg1"/>
                </a:solidFill>
              </a:rPr>
              <a:t>Their Personal </a:t>
            </a:r>
          </a:p>
        </p:txBody>
      </p:sp>
      <p:sp>
        <p:nvSpPr>
          <p:cNvPr id="7" name="TextBox 6"/>
          <p:cNvSpPr txBox="1"/>
          <p:nvPr/>
        </p:nvSpPr>
        <p:spPr>
          <a:xfrm>
            <a:off x="3693851" y="2058015"/>
            <a:ext cx="5184576" cy="923330"/>
          </a:xfrm>
          <a:prstGeom prst="rect">
            <a:avLst/>
          </a:prstGeom>
          <a:noFill/>
        </p:spPr>
        <p:txBody>
          <a:bodyPr wrap="square" rtlCol="0">
            <a:spAutoFit/>
          </a:bodyPr>
          <a:lstStyle/>
          <a:p>
            <a:pPr algn="justLow"/>
            <a:r>
              <a:rPr lang="en-US" dirty="0"/>
              <a:t>Entrepreneurs are not afraid to work long hours, but they will do everything to preserve their private time and schedule control.</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750614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5</a:t>
            </a:r>
          </a:p>
        </p:txBody>
      </p:sp>
      <p:sp>
        <p:nvSpPr>
          <p:cNvPr id="6" name="TextBox 5"/>
          <p:cNvSpPr txBox="1"/>
          <p:nvPr/>
        </p:nvSpPr>
        <p:spPr>
          <a:xfrm>
            <a:off x="251520" y="1995686"/>
            <a:ext cx="3312368" cy="1384995"/>
          </a:xfrm>
          <a:prstGeom prst="rect">
            <a:avLst/>
          </a:prstGeom>
          <a:noFill/>
        </p:spPr>
        <p:txBody>
          <a:bodyPr wrap="square" rtlCol="0">
            <a:spAutoFit/>
          </a:bodyPr>
          <a:lstStyle/>
          <a:p>
            <a:r>
              <a:rPr lang="en-US" sz="2800" dirty="0">
                <a:solidFill>
                  <a:schemeClr val="bg1"/>
                </a:solidFill>
              </a:rPr>
              <a:t>Entrepreneurs Are Often High-Tech </a:t>
            </a:r>
          </a:p>
          <a:p>
            <a:r>
              <a:rPr lang="en-US" sz="2800" dirty="0">
                <a:solidFill>
                  <a:schemeClr val="bg1"/>
                </a:solidFill>
              </a:rPr>
              <a:t>Wizards</a:t>
            </a:r>
          </a:p>
        </p:txBody>
      </p:sp>
      <p:sp>
        <p:nvSpPr>
          <p:cNvPr id="7" name="TextBox 6"/>
          <p:cNvSpPr txBox="1"/>
          <p:nvPr/>
        </p:nvSpPr>
        <p:spPr>
          <a:xfrm>
            <a:off x="3707904" y="2067694"/>
            <a:ext cx="5184576" cy="1569660"/>
          </a:xfrm>
          <a:prstGeom prst="rect">
            <a:avLst/>
          </a:prstGeom>
          <a:noFill/>
        </p:spPr>
        <p:txBody>
          <a:bodyPr wrap="square" rtlCol="0">
            <a:spAutoFit/>
          </a:bodyPr>
          <a:lstStyle/>
          <a:p>
            <a:pPr algn="just"/>
            <a:r>
              <a:rPr lang="en-US" sz="1600" dirty="0"/>
              <a:t>It takes high profit margins, not high tech, to make it as an entrepreneur. One has only to look at the recent problems that have plagued the computer industry to understand this basic principle. High-tech personal computers did very well when they made high profit margins. The industry then went into a nosedive when profits fell.</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99724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6</a:t>
            </a:r>
          </a:p>
        </p:txBody>
      </p:sp>
      <p:sp>
        <p:nvSpPr>
          <p:cNvPr id="6" name="TextBox 5"/>
          <p:cNvSpPr txBox="1"/>
          <p:nvPr/>
        </p:nvSpPr>
        <p:spPr>
          <a:xfrm>
            <a:off x="251520" y="1995686"/>
            <a:ext cx="3312368" cy="1384995"/>
          </a:xfrm>
          <a:prstGeom prst="rect">
            <a:avLst/>
          </a:prstGeom>
          <a:noFill/>
        </p:spPr>
        <p:txBody>
          <a:bodyPr wrap="square" rtlCol="0">
            <a:spAutoFit/>
          </a:bodyPr>
          <a:lstStyle/>
          <a:p>
            <a:r>
              <a:rPr lang="en-US" sz="2800" dirty="0">
                <a:solidFill>
                  <a:schemeClr val="bg1"/>
                </a:solidFill>
              </a:rPr>
              <a:t>Entrepreneurs Are Loners and </a:t>
            </a:r>
          </a:p>
          <a:p>
            <a:r>
              <a:rPr lang="en-US" sz="2800" dirty="0">
                <a:solidFill>
                  <a:schemeClr val="bg1"/>
                </a:solidFill>
              </a:rPr>
              <a:t>Introverts</a:t>
            </a:r>
          </a:p>
        </p:txBody>
      </p:sp>
      <p:sp>
        <p:nvSpPr>
          <p:cNvPr id="7" name="TextBox 6"/>
          <p:cNvSpPr txBox="1"/>
          <p:nvPr/>
        </p:nvSpPr>
        <p:spPr>
          <a:xfrm>
            <a:off x="3707904" y="2091770"/>
            <a:ext cx="5184576" cy="584775"/>
          </a:xfrm>
          <a:prstGeom prst="rect">
            <a:avLst/>
          </a:prstGeom>
          <a:noFill/>
        </p:spPr>
        <p:txBody>
          <a:bodyPr wrap="square" rtlCol="0">
            <a:spAutoFit/>
          </a:bodyPr>
          <a:lstStyle/>
          <a:p>
            <a:pPr algn="just"/>
            <a:r>
              <a:rPr lang="en-US" sz="1600" dirty="0"/>
              <a:t>Entrepreneurs need to seek the advice of others. A loner will find it difficult to start a successful business.</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682070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7</a:t>
            </a:r>
          </a:p>
        </p:txBody>
      </p:sp>
      <p:sp>
        <p:nvSpPr>
          <p:cNvPr id="6" name="TextBox 5"/>
          <p:cNvSpPr txBox="1"/>
          <p:nvPr/>
        </p:nvSpPr>
        <p:spPr>
          <a:xfrm>
            <a:off x="251520" y="1995686"/>
            <a:ext cx="3312368" cy="954107"/>
          </a:xfrm>
          <a:prstGeom prst="rect">
            <a:avLst/>
          </a:prstGeom>
          <a:noFill/>
        </p:spPr>
        <p:txBody>
          <a:bodyPr wrap="square" rtlCol="0">
            <a:spAutoFit/>
          </a:bodyPr>
          <a:lstStyle/>
          <a:p>
            <a:r>
              <a:rPr lang="en-US" sz="2800" dirty="0">
                <a:solidFill>
                  <a:schemeClr val="bg1"/>
                </a:solidFill>
              </a:rPr>
              <a:t>Entrepreneurs Are Job Hoppers</a:t>
            </a:r>
          </a:p>
        </p:txBody>
      </p:sp>
      <p:sp>
        <p:nvSpPr>
          <p:cNvPr id="7" name="TextBox 6"/>
          <p:cNvSpPr txBox="1"/>
          <p:nvPr/>
        </p:nvSpPr>
        <p:spPr>
          <a:xfrm>
            <a:off x="3707904" y="2091770"/>
            <a:ext cx="5184576" cy="1569660"/>
          </a:xfrm>
          <a:prstGeom prst="rect">
            <a:avLst/>
          </a:prstGeom>
          <a:noFill/>
        </p:spPr>
        <p:txBody>
          <a:bodyPr wrap="square" rtlCol="0">
            <a:spAutoFit/>
          </a:bodyPr>
          <a:lstStyle/>
          <a:p>
            <a:pPr algn="just"/>
            <a:r>
              <a:rPr lang="en-US" sz="1600" dirty="0"/>
              <a:t>Most of them worked for a large corporation for a number of years before they started their own business. In every instance, they used the corporate structure to learn everything they could about the business they intended to establish before they started their own. Entrepreneurs are not job hoppers.</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862071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8</a:t>
            </a:r>
          </a:p>
        </p:txBody>
      </p:sp>
      <p:sp>
        <p:nvSpPr>
          <p:cNvPr id="6" name="TextBox 5"/>
          <p:cNvSpPr txBox="1"/>
          <p:nvPr/>
        </p:nvSpPr>
        <p:spPr>
          <a:xfrm>
            <a:off x="251520" y="1995686"/>
            <a:ext cx="3312368" cy="1815882"/>
          </a:xfrm>
          <a:prstGeom prst="rect">
            <a:avLst/>
          </a:prstGeom>
          <a:noFill/>
        </p:spPr>
        <p:txBody>
          <a:bodyPr wrap="square" rtlCol="0">
            <a:spAutoFit/>
          </a:bodyPr>
          <a:lstStyle/>
          <a:p>
            <a:r>
              <a:rPr lang="en-US" sz="2800" dirty="0">
                <a:solidFill>
                  <a:schemeClr val="bg1"/>
                </a:solidFill>
              </a:rPr>
              <a:t>Entrepreneurs Finance Their Business with Venture </a:t>
            </a:r>
          </a:p>
          <a:p>
            <a:r>
              <a:rPr lang="en-US" sz="2800" dirty="0">
                <a:solidFill>
                  <a:schemeClr val="bg1"/>
                </a:solidFill>
              </a:rPr>
              <a:t>Capital</a:t>
            </a:r>
          </a:p>
        </p:txBody>
      </p:sp>
      <p:sp>
        <p:nvSpPr>
          <p:cNvPr id="7" name="TextBox 6"/>
          <p:cNvSpPr txBox="1"/>
          <p:nvPr/>
        </p:nvSpPr>
        <p:spPr>
          <a:xfrm>
            <a:off x="3707904" y="2091770"/>
            <a:ext cx="5184576" cy="1569660"/>
          </a:xfrm>
          <a:prstGeom prst="rect">
            <a:avLst/>
          </a:prstGeom>
          <a:noFill/>
        </p:spPr>
        <p:txBody>
          <a:bodyPr wrap="square" rtlCol="0">
            <a:spAutoFit/>
          </a:bodyPr>
          <a:lstStyle/>
          <a:p>
            <a:pPr algn="just"/>
            <a:r>
              <a:rPr lang="en-US" sz="1600" dirty="0"/>
              <a:t>Venture capital money is one of the most expensive forms of funding they can get. Consequently, they will avoid venture capitalists, using them only as a last resort. Most entrepreneurs fund their business from personal savings, or by borrowing from friends or lending institutions.</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636742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9</a:t>
            </a:r>
          </a:p>
        </p:txBody>
      </p:sp>
      <p:sp>
        <p:nvSpPr>
          <p:cNvPr id="6" name="TextBox 5"/>
          <p:cNvSpPr txBox="1"/>
          <p:nvPr/>
        </p:nvSpPr>
        <p:spPr>
          <a:xfrm>
            <a:off x="251520" y="1995686"/>
            <a:ext cx="3312368" cy="1384995"/>
          </a:xfrm>
          <a:prstGeom prst="rect">
            <a:avLst/>
          </a:prstGeom>
          <a:noFill/>
        </p:spPr>
        <p:txBody>
          <a:bodyPr wrap="square" rtlCol="0">
            <a:spAutoFit/>
          </a:bodyPr>
          <a:lstStyle/>
          <a:p>
            <a:r>
              <a:rPr lang="en-US" sz="2800" dirty="0">
                <a:solidFill>
                  <a:schemeClr val="bg1"/>
                </a:solidFill>
              </a:rPr>
              <a:t>Entrepreneurs Are Often Ruthless or </a:t>
            </a:r>
          </a:p>
          <a:p>
            <a:r>
              <a:rPr lang="en-US" sz="2800" dirty="0">
                <a:solidFill>
                  <a:schemeClr val="bg1"/>
                </a:solidFill>
              </a:rPr>
              <a:t>Deceptive</a:t>
            </a:r>
          </a:p>
        </p:txBody>
      </p:sp>
      <p:sp>
        <p:nvSpPr>
          <p:cNvPr id="7" name="TextBox 6"/>
          <p:cNvSpPr txBox="1"/>
          <p:nvPr/>
        </p:nvSpPr>
        <p:spPr>
          <a:xfrm>
            <a:off x="3707904" y="2091770"/>
            <a:ext cx="5112568" cy="2062103"/>
          </a:xfrm>
          <a:prstGeom prst="rect">
            <a:avLst/>
          </a:prstGeom>
          <a:noFill/>
        </p:spPr>
        <p:txBody>
          <a:bodyPr wrap="square" rtlCol="0">
            <a:spAutoFit/>
          </a:bodyPr>
          <a:lstStyle/>
          <a:p>
            <a:pPr algn="just"/>
            <a:r>
              <a:rPr lang="en-US" sz="1600" dirty="0"/>
              <a:t>Some people believe that to make it as an entrepreneur, you have to be deceptive and step on anybody who gets in your way. On the contrary, this mode of operation doesn’t work for the entrepreneur. The truly ruthless or deceptive entrepreneur will often alienate others and be forced to waste time and energy repairing relationships with employees, customers, and suppliers, or simply fail.</a:t>
            </a:r>
          </a:p>
        </p:txBody>
      </p:sp>
      <p:sp>
        <p:nvSpPr>
          <p:cNvPr id="8" name="Rectangle 7"/>
          <p:cNvSpPr/>
          <p:nvPr/>
        </p:nvSpPr>
        <p:spPr>
          <a:xfrm>
            <a:off x="251520" y="1851670"/>
            <a:ext cx="8640960" cy="244827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992390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10</a:t>
            </a:r>
          </a:p>
        </p:txBody>
      </p:sp>
      <p:sp>
        <p:nvSpPr>
          <p:cNvPr id="6" name="TextBox 5"/>
          <p:cNvSpPr txBox="1"/>
          <p:nvPr/>
        </p:nvSpPr>
        <p:spPr>
          <a:xfrm>
            <a:off x="251520" y="1995686"/>
            <a:ext cx="3312368" cy="1384995"/>
          </a:xfrm>
          <a:prstGeom prst="rect">
            <a:avLst/>
          </a:prstGeom>
          <a:noFill/>
        </p:spPr>
        <p:txBody>
          <a:bodyPr wrap="square" rtlCol="0">
            <a:spAutoFit/>
          </a:bodyPr>
          <a:lstStyle/>
          <a:p>
            <a:r>
              <a:rPr lang="en-US" sz="2800" dirty="0">
                <a:solidFill>
                  <a:schemeClr val="bg1"/>
                </a:solidFill>
              </a:rPr>
              <a:t>Entrepreneurs </a:t>
            </a:r>
          </a:p>
          <a:p>
            <a:r>
              <a:rPr lang="en-US" sz="2800" dirty="0">
                <a:solidFill>
                  <a:schemeClr val="bg1"/>
                </a:solidFill>
              </a:rPr>
              <a:t>Have Limited </a:t>
            </a:r>
          </a:p>
          <a:p>
            <a:r>
              <a:rPr lang="en-US" sz="2800" dirty="0">
                <a:solidFill>
                  <a:schemeClr val="bg1"/>
                </a:solidFill>
              </a:rPr>
              <a:t>Dedication</a:t>
            </a:r>
          </a:p>
        </p:txBody>
      </p:sp>
      <p:sp>
        <p:nvSpPr>
          <p:cNvPr id="7" name="TextBox 6"/>
          <p:cNvSpPr txBox="1"/>
          <p:nvPr/>
        </p:nvSpPr>
        <p:spPr>
          <a:xfrm>
            <a:off x="3707904" y="2091770"/>
            <a:ext cx="5040560" cy="1323439"/>
          </a:xfrm>
          <a:prstGeom prst="rect">
            <a:avLst/>
          </a:prstGeom>
          <a:noFill/>
        </p:spPr>
        <p:txBody>
          <a:bodyPr wrap="square" rtlCol="0">
            <a:spAutoFit/>
          </a:bodyPr>
          <a:lstStyle/>
          <a:p>
            <a:pPr algn="just"/>
            <a:r>
              <a:rPr lang="en-US" sz="1600" dirty="0"/>
              <a:t>Entrepreneurs are not dedicated to any one thing. But he adds that dedication is an attribute that all successful entrepreneurs exhibit. They are dedicated to becoming their own boss. To this end, they’ll work like a dog to make their business succeed.</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005571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284875" y="1828832"/>
            <a:ext cx="2912557" cy="1569660"/>
          </a:xfrm>
          <a:prstGeom prst="rect">
            <a:avLst/>
          </a:prstGeom>
          <a:noFill/>
        </p:spPr>
        <p:txBody>
          <a:bodyPr wrap="square" rtlCol="0">
            <a:spAutoFit/>
          </a:bodyPr>
          <a:lstStyle/>
          <a:p>
            <a:r>
              <a:rPr lang="en-US" sz="2400" b="1" dirty="0">
                <a:solidFill>
                  <a:schemeClr val="bg1"/>
                </a:solidFill>
              </a:rPr>
              <a:t>“Setting goals is </a:t>
            </a:r>
          </a:p>
          <a:p>
            <a:r>
              <a:rPr lang="en-US" sz="2400" b="1" dirty="0">
                <a:solidFill>
                  <a:schemeClr val="bg1"/>
                </a:solidFill>
              </a:rPr>
              <a:t>the first step in </a:t>
            </a:r>
          </a:p>
          <a:p>
            <a:r>
              <a:rPr lang="en-US" sz="2400" b="1" dirty="0">
                <a:solidFill>
                  <a:schemeClr val="bg1"/>
                </a:solidFill>
              </a:rPr>
              <a:t>turning the invisible into the visible.”</a:t>
            </a:r>
            <a:endParaRPr lang="ko-KR" altLang="en-US" sz="2400" b="1" dirty="0">
              <a:solidFill>
                <a:schemeClr val="bg1"/>
              </a:solidFill>
              <a:cs typeface="Arial" pitchFamily="34" charset="0"/>
            </a:endParaRPr>
          </a:p>
        </p:txBody>
      </p:sp>
      <p:sp>
        <p:nvSpPr>
          <p:cNvPr id="36" name="Text Placeholder 1"/>
          <p:cNvSpPr txBox="1">
            <a:spLocks/>
          </p:cNvSpPr>
          <p:nvPr/>
        </p:nvSpPr>
        <p:spPr>
          <a:xfrm>
            <a:off x="395536" y="147331"/>
            <a:ext cx="2952328" cy="1200283"/>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ko-KR" b="1" dirty="0">
                <a:solidFill>
                  <a:schemeClr val="tx1">
                    <a:lumMod val="75000"/>
                    <a:lumOff val="25000"/>
                  </a:schemeClr>
                </a:solidFill>
                <a:latin typeface="+mj-lt"/>
                <a:cs typeface="Arial" pitchFamily="34" charset="0"/>
              </a:rPr>
              <a:t>Tony Robbins</a:t>
            </a:r>
          </a:p>
        </p:txBody>
      </p:sp>
      <p:sp>
        <p:nvSpPr>
          <p:cNvPr id="43" name="Frame 42"/>
          <p:cNvSpPr/>
          <p:nvPr/>
        </p:nvSpPr>
        <p:spPr>
          <a:xfrm rot="18900000">
            <a:off x="6357213" y="1495074"/>
            <a:ext cx="1164819" cy="1164819"/>
          </a:xfrm>
          <a:prstGeom prst="frame">
            <a:avLst>
              <a:gd name="adj1" fmla="val 77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 name="그림 개체 틀 2">
            <a:extLst>
              <a:ext uri="{FF2B5EF4-FFF2-40B4-BE49-F238E27FC236}">
                <a16:creationId xmlns:a16="http://schemas.microsoft.com/office/drawing/2014/main" id="{7F45A51F-D51E-4990-B1E6-41EA580827E1}"/>
              </a:ext>
            </a:extLst>
          </p:cNvPr>
          <p:cNvSpPr>
            <a:spLocks noGrp="1"/>
          </p:cNvSpPr>
          <p:nvPr>
            <p:ph type="pic" idx="13"/>
          </p:nvPr>
        </p:nvSpPr>
        <p:spPr>
          <a:solidFill>
            <a:schemeClr val="bg1"/>
          </a:solidFill>
        </p:spPr>
      </p:sp>
      <p:sp>
        <p:nvSpPr>
          <p:cNvPr id="5" name="그림 개체 틀 4">
            <a:extLst>
              <a:ext uri="{FF2B5EF4-FFF2-40B4-BE49-F238E27FC236}">
                <a16:creationId xmlns:a16="http://schemas.microsoft.com/office/drawing/2014/main" id="{D2C4CCD0-F317-4CE8-85E2-542A9897BDD2}"/>
              </a:ext>
            </a:extLst>
          </p:cNvPr>
          <p:cNvSpPr>
            <a:spLocks noGrp="1"/>
          </p:cNvSpPr>
          <p:nvPr>
            <p:ph type="pic" idx="14"/>
          </p:nvPr>
        </p:nvSpPr>
        <p:spPr>
          <a:solidFill>
            <a:schemeClr val="bg1"/>
          </a:solidFill>
        </p:spPr>
      </p:sp>
      <p:pic>
        <p:nvPicPr>
          <p:cNvPr id="2" name="Picture Placeholder 1"/>
          <p:cNvPicPr>
            <a:picLocks noGrp="1" noChangeAspect="1"/>
          </p:cNvPicPr>
          <p:nvPr>
            <p:ph type="pic" idx="12"/>
          </p:nvPr>
        </p:nvPicPr>
        <p:blipFill>
          <a:blip r:embed="rId2" cstate="print">
            <a:extLst>
              <a:ext uri="{28A0092B-C50C-407E-A947-70E740481C1C}">
                <a14:useLocalDpi xmlns:a14="http://schemas.microsoft.com/office/drawing/2010/main" val="0"/>
              </a:ext>
            </a:extLst>
          </a:blip>
          <a:srcRect l="29822" r="29822"/>
          <a:stretch>
            <a:fillRect/>
          </a:stretch>
        </p:blipFill>
        <p:spPr/>
      </p:pic>
      <p:sp>
        <p:nvSpPr>
          <p:cNvPr id="38" name="그림 개체 틀 37">
            <a:extLst>
              <a:ext uri="{FF2B5EF4-FFF2-40B4-BE49-F238E27FC236}">
                <a16:creationId xmlns:a16="http://schemas.microsoft.com/office/drawing/2014/main" id="{A9279663-8533-40CD-B2A7-73949CEAC06D}"/>
              </a:ext>
            </a:extLst>
          </p:cNvPr>
          <p:cNvSpPr>
            <a:spLocks noGrp="1"/>
          </p:cNvSpPr>
          <p:nvPr>
            <p:ph type="pic" idx="1"/>
          </p:nvPr>
        </p:nvSpPr>
        <p:spPr>
          <a:solidFill>
            <a:schemeClr val="bg1"/>
          </a:solidFill>
        </p:spPr>
      </p:sp>
    </p:spTree>
    <p:extLst>
      <p:ext uri="{BB962C8B-B14F-4D97-AF65-F5344CB8AC3E}">
        <p14:creationId xmlns:p14="http://schemas.microsoft.com/office/powerpoint/2010/main" val="3836961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18495" r="18495"/>
          <a:stretch>
            <a:fillRect/>
          </a:stretch>
        </p:blipFill>
        <p:spPr>
          <a:xfrm>
            <a:off x="0" y="-92545"/>
            <a:ext cx="2160588" cy="5256584"/>
          </a:xfrm>
        </p:spPr>
      </p:pic>
      <p:sp>
        <p:nvSpPr>
          <p:cNvPr id="7" name="TextBox 6"/>
          <p:cNvSpPr txBox="1"/>
          <p:nvPr/>
        </p:nvSpPr>
        <p:spPr>
          <a:xfrm>
            <a:off x="2397707" y="555526"/>
            <a:ext cx="6696744" cy="461665"/>
          </a:xfrm>
          <a:prstGeom prst="rect">
            <a:avLst/>
          </a:prstGeom>
          <a:noFill/>
        </p:spPr>
        <p:txBody>
          <a:bodyPr wrap="square" rtlCol="0">
            <a:spAutoFit/>
          </a:bodyPr>
          <a:lstStyle/>
          <a:p>
            <a:r>
              <a:rPr lang="en-US" sz="2400" b="1" dirty="0">
                <a:solidFill>
                  <a:schemeClr val="bg1"/>
                </a:solidFill>
              </a:rPr>
              <a:t>Clarifying Goals: Where Do I Want to Go?</a:t>
            </a:r>
          </a:p>
        </p:txBody>
      </p:sp>
      <p:sp>
        <p:nvSpPr>
          <p:cNvPr id="9" name="TextBox 8"/>
          <p:cNvSpPr txBox="1"/>
          <p:nvPr/>
        </p:nvSpPr>
        <p:spPr>
          <a:xfrm>
            <a:off x="2411760" y="1131590"/>
            <a:ext cx="6480720" cy="2308324"/>
          </a:xfrm>
          <a:prstGeom prst="rect">
            <a:avLst/>
          </a:prstGeom>
          <a:noFill/>
        </p:spPr>
        <p:txBody>
          <a:bodyPr wrap="square" rtlCol="0">
            <a:spAutoFit/>
          </a:bodyPr>
          <a:lstStyle/>
          <a:p>
            <a:pPr algn="justLow"/>
            <a:r>
              <a:rPr lang="en-US" dirty="0"/>
              <a:t>Before they can set goals for a business, entrepreneurs must be explicit about their personal goals. And they must periodically ask themselves if those goals have changed. Many entrepreneurs say that they are launching their businesses to achieve independence and control their destiny, but those goals are too vague. If they stop and think about it, most entrepreneurs can identify goals that are more specific.</a:t>
            </a:r>
          </a:p>
          <a:p>
            <a:pPr algn="justLow"/>
            <a:endParaRPr lang="en-US" dirty="0"/>
          </a:p>
        </p:txBody>
      </p:sp>
      <p:pic>
        <p:nvPicPr>
          <p:cNvPr id="10" name="Picture 9" descr="https://hbr.org/resources/images/article_assets/hbr/9611/96603_A.gif"/>
          <p:cNvPicPr/>
          <p:nvPr/>
        </p:nvPicPr>
        <p:blipFill>
          <a:blip r:embed="rId3">
            <a:extLst>
              <a:ext uri="{28A0092B-C50C-407E-A947-70E740481C1C}">
                <a14:useLocalDpi xmlns:a14="http://schemas.microsoft.com/office/drawing/2010/main" val="0"/>
              </a:ext>
            </a:extLst>
          </a:blip>
          <a:srcRect/>
          <a:stretch>
            <a:fillRect/>
          </a:stretch>
        </p:blipFill>
        <p:spPr bwMode="auto">
          <a:xfrm>
            <a:off x="5718653" y="3291830"/>
            <a:ext cx="3096344" cy="1693727"/>
          </a:xfrm>
          <a:prstGeom prst="rect">
            <a:avLst/>
          </a:prstGeom>
          <a:noFill/>
          <a:ln>
            <a:noFill/>
          </a:ln>
        </p:spPr>
      </p:pic>
    </p:spTree>
    <p:extLst>
      <p:ext uri="{BB962C8B-B14F-4D97-AF65-F5344CB8AC3E}">
        <p14:creationId xmlns:p14="http://schemas.microsoft.com/office/powerpoint/2010/main" val="28449659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idx="14"/>
          </p:nvPr>
        </p:nvPicPr>
        <p:blipFill>
          <a:blip r:embed="rId2" cstate="print">
            <a:extLst>
              <a:ext uri="{28A0092B-C50C-407E-A947-70E740481C1C}">
                <a14:useLocalDpi xmlns:a14="http://schemas.microsoft.com/office/drawing/2010/main" val="0"/>
              </a:ext>
            </a:extLst>
          </a:blip>
          <a:srcRect t="4906" b="4906"/>
          <a:stretch>
            <a:fillRect/>
          </a:stretch>
        </p:blipFill>
        <p:spPr>
          <a:xfrm>
            <a:off x="107950" y="123825"/>
            <a:ext cx="3394075" cy="2043113"/>
          </a:xfrm>
        </p:spPr>
      </p:pic>
      <p:sp>
        <p:nvSpPr>
          <p:cNvPr id="7" name="TextBox 6"/>
          <p:cNvSpPr txBox="1"/>
          <p:nvPr/>
        </p:nvSpPr>
        <p:spPr>
          <a:xfrm>
            <a:off x="104353" y="3075806"/>
            <a:ext cx="3455938" cy="1477328"/>
          </a:xfrm>
          <a:prstGeom prst="rect">
            <a:avLst/>
          </a:prstGeom>
          <a:noFill/>
        </p:spPr>
        <p:txBody>
          <a:bodyPr wrap="square" rtlCol="0">
            <a:spAutoFit/>
          </a:bodyPr>
          <a:lstStyle/>
          <a:p>
            <a:pPr algn="justLow"/>
            <a:r>
              <a:rPr lang="en-US" b="1" dirty="0">
                <a:solidFill>
                  <a:schemeClr val="bg1"/>
                </a:solidFill>
              </a:rPr>
              <a:t>Only when entrepreneurs can say what they want personally from their businesses does it make sense for them to ask the following three questions:</a:t>
            </a:r>
          </a:p>
        </p:txBody>
      </p:sp>
      <p:sp>
        <p:nvSpPr>
          <p:cNvPr id="8" name="Rectangle 7"/>
          <p:cNvSpPr/>
          <p:nvPr/>
        </p:nvSpPr>
        <p:spPr>
          <a:xfrm>
            <a:off x="3635896" y="123825"/>
            <a:ext cx="5400600" cy="489619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9" name="TextBox 8"/>
          <p:cNvSpPr txBox="1"/>
          <p:nvPr/>
        </p:nvSpPr>
        <p:spPr>
          <a:xfrm>
            <a:off x="-1116632" y="-2108770"/>
            <a:ext cx="9937104" cy="5040560"/>
          </a:xfrm>
          <a:prstGeom prst="rect">
            <a:avLst/>
          </a:prstGeom>
          <a:noFill/>
        </p:spPr>
        <p:txBody>
          <a:bodyPr wrap="square" rtlCol="0">
            <a:spAutoFit/>
          </a:bodyPr>
          <a:lstStyle/>
          <a:p>
            <a:endParaRPr lang="en-US" dirty="0"/>
          </a:p>
        </p:txBody>
      </p:sp>
      <p:sp>
        <p:nvSpPr>
          <p:cNvPr id="10" name="TextBox 9"/>
          <p:cNvSpPr txBox="1"/>
          <p:nvPr/>
        </p:nvSpPr>
        <p:spPr>
          <a:xfrm>
            <a:off x="3846848" y="627534"/>
            <a:ext cx="5040560" cy="2585323"/>
          </a:xfrm>
          <a:prstGeom prst="rect">
            <a:avLst/>
          </a:prstGeom>
          <a:noFill/>
        </p:spPr>
        <p:txBody>
          <a:bodyPr wrap="square" rtlCol="0">
            <a:spAutoFit/>
          </a:bodyPr>
          <a:lstStyle/>
          <a:p>
            <a:r>
              <a:rPr lang="en-US" dirty="0">
                <a:solidFill>
                  <a:schemeClr val="bg1"/>
                </a:solidFill>
              </a:rPr>
              <a:t>- What kind of enterprise do I need to build?</a:t>
            </a:r>
          </a:p>
          <a:p>
            <a:endParaRPr lang="en-US" dirty="0">
              <a:solidFill>
                <a:schemeClr val="bg1"/>
              </a:solidFill>
            </a:endParaRPr>
          </a:p>
          <a:p>
            <a:endParaRPr lang="en-US" dirty="0">
              <a:solidFill>
                <a:schemeClr val="bg1"/>
              </a:solidFill>
            </a:endParaRPr>
          </a:p>
          <a:p>
            <a:r>
              <a:rPr lang="en-US" dirty="0">
                <a:solidFill>
                  <a:schemeClr val="bg1"/>
                </a:solidFill>
              </a:rPr>
              <a:t>- What risks and sacrifices does such an enterprise demand?</a:t>
            </a:r>
          </a:p>
          <a:p>
            <a:endParaRPr lang="en-US" dirty="0">
              <a:solidFill>
                <a:schemeClr val="bg1"/>
              </a:solidFill>
            </a:endParaRPr>
          </a:p>
          <a:p>
            <a:endParaRPr lang="en-US" dirty="0">
              <a:solidFill>
                <a:schemeClr val="bg1"/>
              </a:solidFill>
            </a:endParaRPr>
          </a:p>
          <a:p>
            <a:r>
              <a:rPr lang="en-US" dirty="0">
                <a:solidFill>
                  <a:schemeClr val="bg1"/>
                </a:solidFill>
              </a:rPr>
              <a:t>- Can I accept those risks and sacrifices?</a:t>
            </a:r>
          </a:p>
          <a:p>
            <a:endParaRPr lang="en-US" dirty="0">
              <a:solidFill>
                <a:schemeClr val="bg1"/>
              </a:solidFill>
            </a:endParaRPr>
          </a:p>
        </p:txBody>
      </p:sp>
      <p:sp>
        <p:nvSpPr>
          <p:cNvPr id="11" name="TextBox 10"/>
          <p:cNvSpPr txBox="1"/>
          <p:nvPr/>
        </p:nvSpPr>
        <p:spPr>
          <a:xfrm>
            <a:off x="7524328" y="2571923"/>
            <a:ext cx="2016224" cy="3154710"/>
          </a:xfrm>
          <a:prstGeom prst="rect">
            <a:avLst/>
          </a:prstGeom>
          <a:noFill/>
        </p:spPr>
        <p:txBody>
          <a:bodyPr wrap="square" rtlCol="0">
            <a:spAutoFit/>
          </a:bodyPr>
          <a:lstStyle/>
          <a:p>
            <a:r>
              <a:rPr lang="en-US" sz="19900" dirty="0">
                <a:solidFill>
                  <a:srgbClr val="FFDD4F"/>
                </a:solidFill>
              </a:rPr>
              <a:t>?</a:t>
            </a:r>
          </a:p>
        </p:txBody>
      </p:sp>
    </p:spTree>
    <p:extLst>
      <p:ext uri="{BB962C8B-B14F-4D97-AF65-F5344CB8AC3E}">
        <p14:creationId xmlns:p14="http://schemas.microsoft.com/office/powerpoint/2010/main" val="3898988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51520" y="195486"/>
            <a:ext cx="8712968" cy="2016224"/>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16930" r="9706"/>
          <a:stretch/>
        </p:blipFill>
        <p:spPr>
          <a:xfrm>
            <a:off x="0" y="-20538"/>
            <a:ext cx="3744417" cy="5164038"/>
          </a:xfrm>
          <a:prstGeom prst="rect">
            <a:avLst/>
          </a:prstGeom>
        </p:spPr>
      </p:pic>
      <p:sp>
        <p:nvSpPr>
          <p:cNvPr id="9" name="TextBox 8"/>
          <p:cNvSpPr txBox="1"/>
          <p:nvPr/>
        </p:nvSpPr>
        <p:spPr>
          <a:xfrm>
            <a:off x="3923928" y="2427734"/>
            <a:ext cx="5112568" cy="2585323"/>
          </a:xfrm>
          <a:prstGeom prst="rect">
            <a:avLst/>
          </a:prstGeom>
          <a:noFill/>
        </p:spPr>
        <p:txBody>
          <a:bodyPr wrap="square" rtlCol="0">
            <a:spAutoFit/>
          </a:bodyPr>
          <a:lstStyle/>
          <a:p>
            <a:pPr algn="justLow"/>
            <a:r>
              <a:rPr lang="en-US" sz="1600" dirty="0"/>
              <a:t>Entrepreneurs’ personal goals should determine the target size of the businesses they launch. A lifestyle entrepreneur’s venture needn’t grow very large. In fact, a business that becomes too big might prevent the founder from enjoying life or remaining personally involved in all aspects of the work. In contrast, entrepreneurs seeking capital gains must build companies large enough to support an infrastructure that will not require their day-to-day intervention.</a:t>
            </a:r>
          </a:p>
          <a:p>
            <a:pPr algn="justLow"/>
            <a:endParaRPr lang="en-US" sz="1600" dirty="0"/>
          </a:p>
        </p:txBody>
      </p:sp>
      <p:sp>
        <p:nvSpPr>
          <p:cNvPr id="10" name="TextBox 9"/>
          <p:cNvSpPr txBox="1"/>
          <p:nvPr/>
        </p:nvSpPr>
        <p:spPr>
          <a:xfrm>
            <a:off x="3906180" y="603433"/>
            <a:ext cx="4896544" cy="1200329"/>
          </a:xfrm>
          <a:prstGeom prst="rect">
            <a:avLst/>
          </a:prstGeom>
          <a:noFill/>
        </p:spPr>
        <p:txBody>
          <a:bodyPr wrap="square" rtlCol="0">
            <a:spAutoFit/>
          </a:bodyPr>
          <a:lstStyle/>
          <a:p>
            <a:r>
              <a:rPr lang="en-US" sz="3600" dirty="0">
                <a:solidFill>
                  <a:schemeClr val="bg1"/>
                </a:solidFill>
              </a:rPr>
              <a:t>What kind of enterprise do I need to build?</a:t>
            </a:r>
          </a:p>
        </p:txBody>
      </p:sp>
    </p:spTree>
    <p:extLst>
      <p:ext uri="{BB962C8B-B14F-4D97-AF65-F5344CB8AC3E}">
        <p14:creationId xmlns:p14="http://schemas.microsoft.com/office/powerpoint/2010/main" val="42276806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88640" y="1712618"/>
            <a:ext cx="8766720"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2" name="Rectangle 11"/>
          <p:cNvSpPr/>
          <p:nvPr/>
        </p:nvSpPr>
        <p:spPr>
          <a:xfrm>
            <a:off x="188640" y="843558"/>
            <a:ext cx="8766720" cy="4683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Frame 5"/>
          <p:cNvSpPr/>
          <p:nvPr/>
        </p:nvSpPr>
        <p:spPr>
          <a:xfrm>
            <a:off x="188640" y="159482"/>
            <a:ext cx="8766720" cy="4824536"/>
          </a:xfrm>
          <a:prstGeom prst="frame">
            <a:avLst>
              <a:gd name="adj1" fmla="val 10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TextBox 7"/>
          <p:cNvSpPr txBox="1"/>
          <p:nvPr/>
        </p:nvSpPr>
        <p:spPr>
          <a:xfrm>
            <a:off x="539552" y="2067694"/>
            <a:ext cx="8064896" cy="2585323"/>
          </a:xfrm>
          <a:prstGeom prst="rect">
            <a:avLst/>
          </a:prstGeom>
          <a:noFill/>
        </p:spPr>
        <p:txBody>
          <a:bodyPr wrap="square" rtlCol="0">
            <a:spAutoFit/>
          </a:bodyPr>
          <a:lstStyle/>
          <a:p>
            <a:pPr algn="justLow"/>
            <a:r>
              <a:rPr lang="en-US" sz="1600" dirty="0"/>
              <a:t>Entrepreneurs who operate small-scale, or lifestyle, ventures face different risks and stresses. Talented people usually avoid companies that offer no stock options and only limited opportunities for personal growth, so the entrepreneur’s long hours may never end. Because personal franchises are difficult to sell and often require the owner’s daily presence, founders may become locked into their businesses. They may face financial distress if they become sick or just burn out. “I’m always running, running, running,” complains one entrepreneur, whose business earns him half a million dollars per year. “I work 14-hour days, and I can’t remember the last time I took a vacation. I would like to sell the business, but who wants to buy a company with no infrastructure or employees?”</a:t>
            </a:r>
          </a:p>
          <a:p>
            <a:pPr algn="justLow"/>
            <a:endParaRPr lang="en-US" sz="1600" dirty="0"/>
          </a:p>
        </p:txBody>
      </p:sp>
      <p:sp>
        <p:nvSpPr>
          <p:cNvPr id="9" name="Rectangle 8"/>
          <p:cNvSpPr/>
          <p:nvPr/>
        </p:nvSpPr>
        <p:spPr>
          <a:xfrm>
            <a:off x="611560" y="1013473"/>
            <a:ext cx="7848872"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0" name="TextBox 9"/>
          <p:cNvSpPr txBox="1"/>
          <p:nvPr/>
        </p:nvSpPr>
        <p:spPr>
          <a:xfrm>
            <a:off x="827584" y="1101450"/>
            <a:ext cx="7704856" cy="400110"/>
          </a:xfrm>
          <a:prstGeom prst="rect">
            <a:avLst/>
          </a:prstGeom>
          <a:noFill/>
        </p:spPr>
        <p:txBody>
          <a:bodyPr wrap="square" rtlCol="0">
            <a:spAutoFit/>
          </a:bodyPr>
          <a:lstStyle/>
          <a:p>
            <a:r>
              <a:rPr lang="en-US" sz="2000" b="1" dirty="0">
                <a:solidFill>
                  <a:srgbClr val="009D97"/>
                </a:solidFill>
              </a:rPr>
              <a:t>What risks and sacrifices does such an enterprise demand?</a:t>
            </a:r>
          </a:p>
        </p:txBody>
      </p:sp>
    </p:spTree>
    <p:extLst>
      <p:ext uri="{BB962C8B-B14F-4D97-AF65-F5344CB8AC3E}">
        <p14:creationId xmlns:p14="http://schemas.microsoft.com/office/powerpoint/2010/main" val="4009877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5496" y="51471"/>
            <a:ext cx="9073008" cy="1080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Frame 5"/>
          <p:cNvSpPr/>
          <p:nvPr/>
        </p:nvSpPr>
        <p:spPr>
          <a:xfrm>
            <a:off x="188640" y="159482"/>
            <a:ext cx="8766720" cy="4824536"/>
          </a:xfrm>
          <a:prstGeom prst="frame">
            <a:avLst>
              <a:gd name="adj1" fmla="val 100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TextBox 7"/>
          <p:cNvSpPr txBox="1"/>
          <p:nvPr/>
        </p:nvSpPr>
        <p:spPr>
          <a:xfrm>
            <a:off x="467544" y="1816393"/>
            <a:ext cx="8064896" cy="2554545"/>
          </a:xfrm>
          <a:prstGeom prst="rect">
            <a:avLst/>
          </a:prstGeom>
          <a:noFill/>
        </p:spPr>
        <p:txBody>
          <a:bodyPr wrap="square" rtlCol="0">
            <a:spAutoFit/>
          </a:bodyPr>
          <a:lstStyle/>
          <a:p>
            <a:pPr algn="just"/>
            <a:r>
              <a:rPr lang="en-US" sz="2000" dirty="0"/>
              <a:t>Entrepreneurs would do well to follow Alsop’s example by thinking explicitly about what they are and are not willing to risk. If entrepreneurs find that their businesses even if very successful—won’t satisfy them personally, or if they discover that achieving their personal goals requires them to take more risks and make more sacrifices than they are willing to, they need to reset their goals. When entrepreneurs have aligned their personal and their business goals, they must then make sure that they have the right strategy.</a:t>
            </a:r>
          </a:p>
        </p:txBody>
      </p:sp>
      <p:sp>
        <p:nvSpPr>
          <p:cNvPr id="10" name="TextBox 9"/>
          <p:cNvSpPr txBox="1"/>
          <p:nvPr/>
        </p:nvSpPr>
        <p:spPr>
          <a:xfrm>
            <a:off x="256084" y="339502"/>
            <a:ext cx="8928992" cy="646331"/>
          </a:xfrm>
          <a:prstGeom prst="rect">
            <a:avLst/>
          </a:prstGeom>
          <a:noFill/>
        </p:spPr>
        <p:txBody>
          <a:bodyPr wrap="square" rtlCol="0">
            <a:spAutoFit/>
          </a:bodyPr>
          <a:lstStyle/>
          <a:p>
            <a:r>
              <a:rPr lang="en-US" sz="3500" b="1" dirty="0"/>
              <a:t>Can I accept those risks and sacrifices?</a:t>
            </a:r>
            <a:endParaRPr lang="en-US" sz="3500" b="1" dirty="0">
              <a:solidFill>
                <a:srgbClr val="009D97"/>
              </a:solidFill>
            </a:endParaRPr>
          </a:p>
        </p:txBody>
      </p:sp>
      <p:sp>
        <p:nvSpPr>
          <p:cNvPr id="2" name="Rectangle 1"/>
          <p:cNvSpPr/>
          <p:nvPr/>
        </p:nvSpPr>
        <p:spPr>
          <a:xfrm>
            <a:off x="323528" y="1238457"/>
            <a:ext cx="8496944" cy="109157"/>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584114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E:\002-KIMS BUSINESS\007-02-MaxPPT-Contents\150902-com-Global-Laptop\mo900.png">
            <a:extLst>
              <a:ext uri="{FF2B5EF4-FFF2-40B4-BE49-F238E27FC236}">
                <a16:creationId xmlns:a16="http://schemas.microsoft.com/office/drawing/2014/main" id="{3505F014-CDEF-4058-AE04-756173FA6CE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8253"/>
          <a:stretch/>
        </p:blipFill>
        <p:spPr bwMode="auto">
          <a:xfrm>
            <a:off x="0" y="915566"/>
            <a:ext cx="3325249" cy="40702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rot="178828">
            <a:off x="1547664" y="1873461"/>
            <a:ext cx="1339408" cy="954107"/>
          </a:xfrm>
          <a:prstGeom prst="rect">
            <a:avLst/>
          </a:prstGeom>
          <a:noFill/>
        </p:spPr>
        <p:txBody>
          <a:bodyPr wrap="square" rtlCol="0">
            <a:spAutoFit/>
          </a:bodyPr>
          <a:lstStyle/>
          <a:p>
            <a:pPr algn="ctr"/>
            <a:r>
              <a:rPr lang="en-US" sz="1400" b="1" dirty="0">
                <a:solidFill>
                  <a:schemeClr val="bg1"/>
                </a:solidFill>
              </a:rPr>
              <a:t>What kind </a:t>
            </a:r>
          </a:p>
          <a:p>
            <a:pPr algn="ctr"/>
            <a:r>
              <a:rPr lang="en-US" sz="1400" b="1" dirty="0">
                <a:solidFill>
                  <a:schemeClr val="bg1"/>
                </a:solidFill>
              </a:rPr>
              <a:t>of Enterprise </a:t>
            </a:r>
          </a:p>
          <a:p>
            <a:pPr algn="ctr"/>
            <a:r>
              <a:rPr lang="en-US" sz="1400" b="1" dirty="0">
                <a:solidFill>
                  <a:schemeClr val="bg1"/>
                </a:solidFill>
              </a:rPr>
              <a:t>do I need to </a:t>
            </a:r>
          </a:p>
          <a:p>
            <a:pPr algn="ctr"/>
            <a:r>
              <a:rPr lang="en-US" sz="1400" b="1" dirty="0">
                <a:solidFill>
                  <a:schemeClr val="bg1"/>
                </a:solidFill>
              </a:rPr>
              <a:t>build?</a:t>
            </a:r>
          </a:p>
        </p:txBody>
      </p:sp>
      <p:sp>
        <p:nvSpPr>
          <p:cNvPr id="10" name="TextBox 9"/>
          <p:cNvSpPr txBox="1"/>
          <p:nvPr/>
        </p:nvSpPr>
        <p:spPr>
          <a:xfrm>
            <a:off x="3635896" y="1203598"/>
            <a:ext cx="5112568" cy="3139321"/>
          </a:xfrm>
          <a:prstGeom prst="rect">
            <a:avLst/>
          </a:prstGeom>
          <a:noFill/>
        </p:spPr>
        <p:txBody>
          <a:bodyPr wrap="square" rtlCol="0">
            <a:spAutoFit/>
          </a:bodyPr>
          <a:lstStyle/>
          <a:p>
            <a:pPr algn="justLow"/>
            <a:r>
              <a:rPr lang="en-US" dirty="0"/>
              <a:t>Entrepreneurs’ personal goals should determine the target size of the businesses they launch. A lifestyle entrepreneur’s venture needn’t grow very large. In fact, a business that becomes too big might prevent the founder from enjoying life or remaining personally involved in all aspects of the work. In contrast, entrepreneurs seeking capital gains must build companies large enough to support an infrastructure that will not require their day-to-day intervention.</a:t>
            </a:r>
          </a:p>
          <a:p>
            <a:pPr algn="justLow"/>
            <a:endParaRPr lang="en-US" dirty="0"/>
          </a:p>
        </p:txBody>
      </p:sp>
    </p:spTree>
    <p:extLst>
      <p:ext uri="{BB962C8B-B14F-4D97-AF65-F5344CB8AC3E}">
        <p14:creationId xmlns:p14="http://schemas.microsoft.com/office/powerpoint/2010/main" val="2626349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323528" y="1491630"/>
            <a:ext cx="8496944" cy="33123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251520" y="463084"/>
            <a:ext cx="4608512" cy="707886"/>
          </a:xfrm>
          <a:prstGeom prst="rect">
            <a:avLst/>
          </a:prstGeom>
          <a:noFill/>
        </p:spPr>
        <p:txBody>
          <a:bodyPr wrap="square" rtlCol="0">
            <a:spAutoFit/>
          </a:bodyPr>
          <a:lstStyle/>
          <a:p>
            <a:r>
              <a:rPr lang="en-US" sz="2000" b="1" dirty="0">
                <a:solidFill>
                  <a:srgbClr val="009D97"/>
                </a:solidFill>
              </a:rPr>
              <a:t>What risks and sacrifices does such an enterprise demand?</a:t>
            </a:r>
          </a:p>
        </p:txBody>
      </p:sp>
      <p:pic>
        <p:nvPicPr>
          <p:cNvPr id="13" name="Picture Placeholder 12"/>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rcRect t="2294" b="2294"/>
          <a:stretch>
            <a:fillRect/>
          </a:stretch>
        </p:blipFill>
        <p:spPr>
          <a:xfrm>
            <a:off x="4932363" y="484188"/>
            <a:ext cx="3600450" cy="3932237"/>
          </a:xfrm>
        </p:spPr>
      </p:pic>
      <p:sp>
        <p:nvSpPr>
          <p:cNvPr id="14" name="TextBox 13"/>
          <p:cNvSpPr txBox="1"/>
          <p:nvPr/>
        </p:nvSpPr>
        <p:spPr>
          <a:xfrm>
            <a:off x="467706" y="1654224"/>
            <a:ext cx="4320480" cy="3077766"/>
          </a:xfrm>
          <a:prstGeom prst="rect">
            <a:avLst/>
          </a:prstGeom>
          <a:noFill/>
        </p:spPr>
        <p:txBody>
          <a:bodyPr wrap="square" rtlCol="0">
            <a:spAutoFit/>
          </a:bodyPr>
          <a:lstStyle/>
          <a:p>
            <a:pPr algn="justLow"/>
            <a:r>
              <a:rPr lang="en-US" sz="1300" dirty="0"/>
              <a:t>Entrepreneurs who operate small-scale, or lifestyle, ventures face different risks and stresses. Talented people usually avoid companies that offer no stock options and only limited opportunities for personal growth, so the entrepreneur’s long hours may never end. Because personal franchises are difficult to sell and often require the owner’s daily presence, founders may become locked into their businesses. They may face financial distress if they become sick or just burn out. “I’m always running, running, running,” complains one entrepreneur, whose business earns him half a million dollars per year. “I work 14-hour days, and I can’t remember the last time I took a vacation. I would like to sell the business, but who wants to buy a company with no infrastructure or employees?”</a:t>
            </a:r>
          </a:p>
          <a:p>
            <a:pPr algn="justLow"/>
            <a:endParaRPr lang="en-US" sz="1200" dirty="0"/>
          </a:p>
        </p:txBody>
      </p:sp>
    </p:spTree>
    <p:extLst>
      <p:ext uri="{BB962C8B-B14F-4D97-AF65-F5344CB8AC3E}">
        <p14:creationId xmlns:p14="http://schemas.microsoft.com/office/powerpoint/2010/main" val="33500879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23528" y="339502"/>
            <a:ext cx="8568952" cy="453650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7" name="Picture Placeholder 6"/>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rcRect l="14016" r="14016"/>
          <a:stretch>
            <a:fillRect/>
          </a:stretch>
        </p:blipFill>
        <p:spPr>
          <a:xfrm>
            <a:off x="3924300" y="0"/>
            <a:ext cx="5219700" cy="5170488"/>
          </a:xfrm>
          <a:custGeom>
            <a:avLst/>
            <a:gdLst>
              <a:gd name="connsiteX0" fmla="*/ 1714500 w 6923314"/>
              <a:gd name="connsiteY0" fmla="*/ 0 h 6858000"/>
              <a:gd name="connsiteX1" fmla="*/ 6923314 w 6923314"/>
              <a:gd name="connsiteY1" fmla="*/ 0 h 6858000"/>
              <a:gd name="connsiteX2" fmla="*/ 6923314 w 6923314"/>
              <a:gd name="connsiteY2" fmla="*/ 1637212 h 6858000"/>
              <a:gd name="connsiteX3" fmla="*/ 5618117 w 6923314"/>
              <a:gd name="connsiteY3" fmla="*/ 6858000 h 6858000"/>
              <a:gd name="connsiteX4" fmla="*/ 0 w 692331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3314" h="6858000">
                <a:moveTo>
                  <a:pt x="1714500" y="0"/>
                </a:moveTo>
                <a:lnTo>
                  <a:pt x="6923314" y="0"/>
                </a:lnTo>
                <a:lnTo>
                  <a:pt x="6923314" y="1637212"/>
                </a:lnTo>
                <a:lnTo>
                  <a:pt x="5618117" y="6858000"/>
                </a:lnTo>
                <a:lnTo>
                  <a:pt x="0" y="6858000"/>
                </a:lnTo>
                <a:close/>
              </a:path>
            </a:pathLst>
          </a:custGeom>
        </p:spPr>
      </p:pic>
      <p:sp>
        <p:nvSpPr>
          <p:cNvPr id="9" name="TextBox 8"/>
          <p:cNvSpPr txBox="1"/>
          <p:nvPr/>
        </p:nvSpPr>
        <p:spPr>
          <a:xfrm>
            <a:off x="452864" y="885742"/>
            <a:ext cx="4623192" cy="369332"/>
          </a:xfrm>
          <a:prstGeom prst="rect">
            <a:avLst/>
          </a:prstGeom>
          <a:noFill/>
        </p:spPr>
        <p:txBody>
          <a:bodyPr wrap="square" rtlCol="0">
            <a:spAutoFit/>
          </a:bodyPr>
          <a:lstStyle/>
          <a:p>
            <a:r>
              <a:rPr lang="en-US" b="1" dirty="0">
                <a:solidFill>
                  <a:schemeClr val="bg1"/>
                </a:solidFill>
              </a:rPr>
              <a:t>Can I accept those risks and sacrifices?</a:t>
            </a:r>
          </a:p>
        </p:txBody>
      </p:sp>
      <p:sp>
        <p:nvSpPr>
          <p:cNvPr id="10" name="TextBox 9"/>
          <p:cNvSpPr txBox="1"/>
          <p:nvPr/>
        </p:nvSpPr>
        <p:spPr>
          <a:xfrm>
            <a:off x="467544" y="1552019"/>
            <a:ext cx="3312368" cy="3323987"/>
          </a:xfrm>
          <a:prstGeom prst="rect">
            <a:avLst/>
          </a:prstGeom>
          <a:noFill/>
        </p:spPr>
        <p:txBody>
          <a:bodyPr wrap="square" rtlCol="0">
            <a:spAutoFit/>
          </a:bodyPr>
          <a:lstStyle/>
          <a:p>
            <a:pPr algn="justLow"/>
            <a:r>
              <a:rPr lang="en-US" sz="1400" dirty="0"/>
              <a:t>Entrepreneurs would do well to follow Alsop’s example by thinking explicitly about what they are and are not willing to risk. If entrepreneurs find that their businesses—even if very successful—won’t satisfy them personally, or if they discover that achieving their personal goals requires them to take more risks and make more sacrifices than they are willing to, they need to reset their goals. When entrepreneurs have aligned their personal and their business goals, they must then make sure that they have the right strategy.</a:t>
            </a:r>
          </a:p>
          <a:p>
            <a:pPr algn="justLow"/>
            <a:endParaRPr lang="en-US" sz="1400" dirty="0"/>
          </a:p>
        </p:txBody>
      </p:sp>
    </p:spTree>
    <p:extLst>
      <p:ext uri="{BB962C8B-B14F-4D97-AF65-F5344CB8AC3E}">
        <p14:creationId xmlns:p14="http://schemas.microsoft.com/office/powerpoint/2010/main" val="1059495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915566"/>
            <a:ext cx="251520" cy="4227934"/>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395536" y="195486"/>
            <a:ext cx="8748464" cy="646331"/>
          </a:xfrm>
          <a:prstGeom prst="rect">
            <a:avLst/>
          </a:prstGeom>
          <a:noFill/>
        </p:spPr>
        <p:txBody>
          <a:bodyPr wrap="square" rtlCol="0">
            <a:spAutoFit/>
          </a:bodyPr>
          <a:lstStyle/>
          <a:p>
            <a:r>
              <a:rPr lang="en-US" sz="3600" b="1" dirty="0">
                <a:solidFill>
                  <a:schemeClr val="bg1"/>
                </a:solidFill>
              </a:rPr>
              <a:t>Setting Strategy: How Will I Get There?</a:t>
            </a:r>
          </a:p>
        </p:txBody>
      </p:sp>
      <p:sp>
        <p:nvSpPr>
          <p:cNvPr id="8" name="Rectangle 7"/>
          <p:cNvSpPr/>
          <p:nvPr/>
        </p:nvSpPr>
        <p:spPr>
          <a:xfrm>
            <a:off x="0" y="0"/>
            <a:ext cx="251520" cy="841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9" name="TextBox 8"/>
          <p:cNvSpPr txBox="1"/>
          <p:nvPr/>
        </p:nvSpPr>
        <p:spPr>
          <a:xfrm>
            <a:off x="424000" y="1059582"/>
            <a:ext cx="8612496" cy="936104"/>
          </a:xfrm>
          <a:prstGeom prst="rect">
            <a:avLst/>
          </a:prstGeom>
          <a:noFill/>
        </p:spPr>
        <p:txBody>
          <a:bodyPr wrap="square" rtlCol="0">
            <a:spAutoFit/>
          </a:bodyPr>
          <a:lstStyle/>
          <a:p>
            <a:r>
              <a:rPr lang="en-US" dirty="0"/>
              <a:t>Many entrepreneurs start businesses to seize short-term opportunities without thinking about long-term strategy. </a:t>
            </a:r>
          </a:p>
          <a:p>
            <a:endParaRPr lang="en-US" dirty="0"/>
          </a:p>
        </p:txBody>
      </p:sp>
      <p:sp>
        <p:nvSpPr>
          <p:cNvPr id="10" name="TextBox 9"/>
          <p:cNvSpPr txBox="1"/>
          <p:nvPr/>
        </p:nvSpPr>
        <p:spPr>
          <a:xfrm>
            <a:off x="395296" y="1890285"/>
            <a:ext cx="8641200" cy="1077218"/>
          </a:xfrm>
          <a:prstGeom prst="rect">
            <a:avLst/>
          </a:prstGeom>
          <a:noFill/>
        </p:spPr>
        <p:txBody>
          <a:bodyPr wrap="square" rtlCol="0">
            <a:spAutoFit/>
          </a:bodyPr>
          <a:lstStyle/>
          <a:p>
            <a:r>
              <a:rPr lang="en-US" sz="3200" b="1" dirty="0">
                <a:solidFill>
                  <a:schemeClr val="bg1"/>
                </a:solidFill>
              </a:rPr>
              <a:t>Entrepreneurs should periodically put their strategies to the following four tests:</a:t>
            </a:r>
          </a:p>
        </p:txBody>
      </p:sp>
      <p:sp>
        <p:nvSpPr>
          <p:cNvPr id="12" name="TextBox 11"/>
          <p:cNvSpPr txBox="1"/>
          <p:nvPr/>
        </p:nvSpPr>
        <p:spPr>
          <a:xfrm>
            <a:off x="395296" y="3277307"/>
            <a:ext cx="8612496" cy="1477328"/>
          </a:xfrm>
          <a:prstGeom prst="rect">
            <a:avLst/>
          </a:prstGeom>
          <a:noFill/>
        </p:spPr>
        <p:txBody>
          <a:bodyPr wrap="square" rtlCol="0">
            <a:spAutoFit/>
          </a:bodyPr>
          <a:lstStyle/>
          <a:p>
            <a:pPr marL="514350" indent="-514350" algn="just">
              <a:buFont typeface="+mj-lt"/>
              <a:buAutoNum type="arabicPeriod"/>
            </a:pPr>
            <a:r>
              <a:rPr lang="en-US" dirty="0">
                <a:solidFill>
                  <a:srgbClr val="009D97"/>
                </a:solidFill>
              </a:rPr>
              <a:t>Is the strategy well defined?</a:t>
            </a:r>
          </a:p>
          <a:p>
            <a:pPr marL="514350" indent="-514350" algn="just">
              <a:buFont typeface="+mj-lt"/>
              <a:buAutoNum type="arabicPeriod"/>
            </a:pPr>
            <a:r>
              <a:rPr lang="en-US" dirty="0">
                <a:solidFill>
                  <a:srgbClr val="009D97"/>
                </a:solidFill>
              </a:rPr>
              <a:t>Can the strategy generate sufficient profits and growth?</a:t>
            </a:r>
          </a:p>
          <a:p>
            <a:pPr marL="514350" indent="-514350" algn="just">
              <a:buFont typeface="+mj-lt"/>
              <a:buAutoNum type="arabicPeriod"/>
            </a:pPr>
            <a:r>
              <a:rPr lang="en-US" dirty="0">
                <a:solidFill>
                  <a:srgbClr val="009D97"/>
                </a:solidFill>
              </a:rPr>
              <a:t>Is the strategy sustainable?</a:t>
            </a:r>
          </a:p>
          <a:p>
            <a:pPr marL="514350" indent="-514350" algn="just">
              <a:buFont typeface="+mj-lt"/>
              <a:buAutoNum type="arabicPeriod"/>
            </a:pPr>
            <a:r>
              <a:rPr lang="en-US" dirty="0">
                <a:solidFill>
                  <a:srgbClr val="009D97"/>
                </a:solidFill>
              </a:rPr>
              <a:t>Are my goals for growth too conservative or too aggressive?</a:t>
            </a:r>
          </a:p>
          <a:p>
            <a:endParaRPr lang="en-US" dirty="0">
              <a:solidFill>
                <a:srgbClr val="009D97"/>
              </a:solidFill>
            </a:endParaRPr>
          </a:p>
        </p:txBody>
      </p:sp>
    </p:spTree>
    <p:extLst>
      <p:ext uri="{BB962C8B-B14F-4D97-AF65-F5344CB8AC3E}">
        <p14:creationId xmlns:p14="http://schemas.microsoft.com/office/powerpoint/2010/main" val="827009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9D97"/>
        </a:solidFill>
        <a:effectLst/>
      </p:bgPr>
    </p:bg>
    <p:spTree>
      <p:nvGrpSpPr>
        <p:cNvPr id="1" name=""/>
        <p:cNvGrpSpPr/>
        <p:nvPr/>
      </p:nvGrpSpPr>
      <p:grpSpPr>
        <a:xfrm>
          <a:off x="0" y="0"/>
          <a:ext cx="0" cy="0"/>
          <a:chOff x="0" y="0"/>
          <a:chExt cx="0" cy="0"/>
        </a:xfrm>
      </p:grpSpPr>
      <p:pic>
        <p:nvPicPr>
          <p:cNvPr id="9" name="Picture Placeholder 8"/>
          <p:cNvPicPr>
            <a:picLocks noGrp="1" noChangeAspect="1"/>
          </p:cNvPicPr>
          <p:nvPr>
            <p:ph type="pic" sz="quarter" idx="4294967295"/>
          </p:nvPr>
        </p:nvPicPr>
        <p:blipFill rotWithShape="1">
          <a:blip r:embed="rId2" cstate="print">
            <a:extLst>
              <a:ext uri="{28A0092B-C50C-407E-A947-70E740481C1C}">
                <a14:useLocalDpi xmlns:a14="http://schemas.microsoft.com/office/drawing/2010/main" val="0"/>
              </a:ext>
            </a:extLst>
          </a:blip>
          <a:srcRect l="476" t="399" r="37094" b="-399"/>
          <a:stretch/>
        </p:blipFill>
        <p:spPr>
          <a:xfrm>
            <a:off x="4211961" y="-20538"/>
            <a:ext cx="4968552" cy="5182732"/>
          </a:xfrm>
          <a:custGeom>
            <a:avLst/>
            <a:gdLst>
              <a:gd name="connsiteX0" fmla="*/ 555736 w 8060638"/>
              <a:gd name="connsiteY0" fmla="*/ 0 h 6858000"/>
              <a:gd name="connsiteX1" fmla="*/ 8060638 w 8060638"/>
              <a:gd name="connsiteY1" fmla="*/ 0 h 6858000"/>
              <a:gd name="connsiteX2" fmla="*/ 8060638 w 8060638"/>
              <a:gd name="connsiteY2" fmla="*/ 6858000 h 6858000"/>
              <a:gd name="connsiteX3" fmla="*/ 1386404 w 8060638"/>
              <a:gd name="connsiteY3" fmla="*/ 6858000 h 6858000"/>
              <a:gd name="connsiteX4" fmla="*/ 1368697 w 8060638"/>
              <a:gd name="connsiteY4" fmla="*/ 6835467 h 6858000"/>
              <a:gd name="connsiteX5" fmla="*/ 0 w 8060638"/>
              <a:gd name="connsiteY5" fmla="*/ 2713384 h 6858000"/>
              <a:gd name="connsiteX6" fmla="*/ 541410 w 8060638"/>
              <a:gd name="connsiteY6" fmla="*/ 316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0638" h="6858000">
                <a:moveTo>
                  <a:pt x="555736" y="0"/>
                </a:moveTo>
                <a:lnTo>
                  <a:pt x="8060638" y="0"/>
                </a:lnTo>
                <a:lnTo>
                  <a:pt x="8060638" y="6858000"/>
                </a:lnTo>
                <a:lnTo>
                  <a:pt x="1386404" y="6858000"/>
                </a:lnTo>
                <a:lnTo>
                  <a:pt x="1368697" y="6835467"/>
                </a:lnTo>
                <a:cubicBezTo>
                  <a:pt x="509067" y="5686009"/>
                  <a:pt x="0" y="4259146"/>
                  <a:pt x="0" y="2713384"/>
                </a:cubicBezTo>
                <a:cubicBezTo>
                  <a:pt x="0" y="1762146"/>
                  <a:pt x="192784" y="855935"/>
                  <a:pt x="541410" y="31689"/>
                </a:cubicBezTo>
                <a:close/>
              </a:path>
            </a:pathLst>
          </a:custGeom>
          <a:ln w="28575">
            <a:solidFill>
              <a:schemeClr val="bg1"/>
            </a:solidFill>
          </a:ln>
        </p:spPr>
      </p:pic>
      <p:sp>
        <p:nvSpPr>
          <p:cNvPr id="10" name="TextBox 9"/>
          <p:cNvSpPr txBox="1"/>
          <p:nvPr/>
        </p:nvSpPr>
        <p:spPr>
          <a:xfrm>
            <a:off x="179512" y="555526"/>
            <a:ext cx="4752528" cy="400110"/>
          </a:xfrm>
          <a:prstGeom prst="rect">
            <a:avLst/>
          </a:prstGeom>
          <a:noFill/>
        </p:spPr>
        <p:txBody>
          <a:bodyPr wrap="square" rtlCol="0">
            <a:spAutoFit/>
          </a:bodyPr>
          <a:lstStyle/>
          <a:p>
            <a:r>
              <a:rPr lang="en-US" sz="2000" b="1" dirty="0">
                <a:solidFill>
                  <a:srgbClr val="FFDD4F"/>
                </a:solidFill>
              </a:rPr>
              <a:t>Is the strategy well defined?</a:t>
            </a:r>
          </a:p>
        </p:txBody>
      </p:sp>
      <p:sp>
        <p:nvSpPr>
          <p:cNvPr id="11" name="TextBox 10"/>
          <p:cNvSpPr txBox="1"/>
          <p:nvPr/>
        </p:nvSpPr>
        <p:spPr>
          <a:xfrm>
            <a:off x="179512" y="1059582"/>
            <a:ext cx="3816424" cy="3785652"/>
          </a:xfrm>
          <a:prstGeom prst="rect">
            <a:avLst/>
          </a:prstGeom>
          <a:noFill/>
        </p:spPr>
        <p:txBody>
          <a:bodyPr wrap="square" rtlCol="0">
            <a:spAutoFit/>
          </a:bodyPr>
          <a:lstStyle/>
          <a:p>
            <a:pPr algn="justLow"/>
            <a:r>
              <a:rPr lang="en-US" sz="1600" dirty="0">
                <a:solidFill>
                  <a:schemeClr val="bg1"/>
                </a:solidFill>
              </a:rPr>
              <a:t>An entrepreneur who wants to build a sustainable company must formulate a bolder and more explicit strategy. The strategy should integrate the entrepreneur’s aspirations with specific long-term policies about the needs the company will serve, its geographic reach, its technological capabilities, and other strategic considerations. To help attract people and resources, the strategy must embody the entrepreneur’s vision of where the company is going instead of where it is. The strategy must also provide a framework for making the decisions and setting the policies that will take the company there</a:t>
            </a:r>
          </a:p>
        </p:txBody>
      </p:sp>
    </p:spTree>
    <p:extLst>
      <p:ext uri="{BB962C8B-B14F-4D97-AF65-F5344CB8AC3E}">
        <p14:creationId xmlns:p14="http://schemas.microsoft.com/office/powerpoint/2010/main" val="2572660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4294967295"/>
          </p:nvPr>
        </p:nvPicPr>
        <p:blipFill rotWithShape="1">
          <a:blip r:embed="rId2" cstate="print">
            <a:extLst>
              <a:ext uri="{28A0092B-C50C-407E-A947-70E740481C1C}">
                <a14:useLocalDpi xmlns:a14="http://schemas.microsoft.com/office/drawing/2010/main" val="0"/>
              </a:ext>
            </a:extLst>
          </a:blip>
          <a:srcRect l="26969" t="392" r="14780" b="1414"/>
          <a:stretch/>
        </p:blipFill>
        <p:spPr>
          <a:xfrm>
            <a:off x="-7938" y="0"/>
            <a:ext cx="4572001" cy="5143500"/>
          </a:xfrm>
          <a:prstGeom prst="rect">
            <a:avLst/>
          </a:prstGeom>
        </p:spPr>
      </p:pic>
      <p:sp>
        <p:nvSpPr>
          <p:cNvPr id="8" name="Rectangle 7">
            <a:extLst>
              <a:ext uri="{FF2B5EF4-FFF2-40B4-BE49-F238E27FC236}">
                <a16:creationId xmlns:a16="http://schemas.microsoft.com/office/drawing/2014/main" id="{4E1F1FAA-8C7F-4DA3-9847-627DFDB02DB0}"/>
              </a:ext>
            </a:extLst>
          </p:cNvPr>
          <p:cNvSpPr/>
          <p:nvPr/>
        </p:nvSpPr>
        <p:spPr>
          <a:xfrm>
            <a:off x="1979712" y="1995686"/>
            <a:ext cx="6984776" cy="2951934"/>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633279" y="915566"/>
            <a:ext cx="4503961" cy="830997"/>
          </a:xfrm>
          <a:prstGeom prst="rect">
            <a:avLst/>
          </a:prstGeom>
          <a:noFill/>
        </p:spPr>
        <p:txBody>
          <a:bodyPr wrap="square" rtlCol="0">
            <a:spAutoFit/>
          </a:bodyPr>
          <a:lstStyle/>
          <a:p>
            <a:r>
              <a:rPr lang="en-US" sz="2400" b="1" dirty="0">
                <a:solidFill>
                  <a:schemeClr val="bg1"/>
                </a:solidFill>
              </a:rPr>
              <a:t>Can the strategy generate </a:t>
            </a:r>
          </a:p>
          <a:p>
            <a:r>
              <a:rPr lang="en-US" sz="2400" b="1" dirty="0">
                <a:solidFill>
                  <a:schemeClr val="bg1"/>
                </a:solidFill>
              </a:rPr>
              <a:t>sufficient profits and growth?</a:t>
            </a:r>
          </a:p>
        </p:txBody>
      </p:sp>
      <p:sp>
        <p:nvSpPr>
          <p:cNvPr id="10" name="TextBox 9"/>
          <p:cNvSpPr txBox="1"/>
          <p:nvPr/>
        </p:nvSpPr>
        <p:spPr>
          <a:xfrm>
            <a:off x="2123728" y="2194380"/>
            <a:ext cx="6696744" cy="2554545"/>
          </a:xfrm>
          <a:prstGeom prst="rect">
            <a:avLst/>
          </a:prstGeom>
          <a:noFill/>
        </p:spPr>
        <p:txBody>
          <a:bodyPr wrap="square" rtlCol="0">
            <a:spAutoFit/>
          </a:bodyPr>
          <a:lstStyle/>
          <a:p>
            <a:pPr algn="justLow"/>
            <a:r>
              <a:rPr lang="en-US" sz="1600" dirty="0"/>
              <a:t>When a new venture is faltering, entrepreneurs must address basic economic issues. For instance, many people are attracted to personal service businesses, such as laundries and tax-preparation services, because they can start and operate those businesses just by working hard. They don’t have to worry about confronting large competitors, raising a lot of capital, or developing proprietary technology. But the factors that make it easy for entrepreneurs to launch such businesses often prevent them from attaining their long-term goals. Businesses based on an entrepreneur’s willingness to work hard usually confront other equally determined competitors</a:t>
            </a:r>
          </a:p>
        </p:txBody>
      </p:sp>
    </p:spTree>
    <p:extLst>
      <p:ext uri="{BB962C8B-B14F-4D97-AF65-F5344CB8AC3E}">
        <p14:creationId xmlns:p14="http://schemas.microsoft.com/office/powerpoint/2010/main" val="1672626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79540" y="0"/>
            <a:ext cx="8748944" cy="3312368"/>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0" name="TextBox 9"/>
          <p:cNvSpPr txBox="1"/>
          <p:nvPr/>
        </p:nvSpPr>
        <p:spPr>
          <a:xfrm>
            <a:off x="96672" y="3867894"/>
            <a:ext cx="8939824" cy="1354217"/>
          </a:xfrm>
          <a:prstGeom prst="rect">
            <a:avLst/>
          </a:prstGeom>
          <a:noFill/>
        </p:spPr>
        <p:txBody>
          <a:bodyPr wrap="square" rtlCol="0">
            <a:spAutoFit/>
          </a:bodyPr>
          <a:lstStyle/>
          <a:p>
            <a:pPr algn="justLow"/>
            <a:r>
              <a:rPr lang="en-US" sz="1600" b="1" dirty="0">
                <a:solidFill>
                  <a:schemeClr val="bg1"/>
                </a:solidFill>
              </a:rPr>
              <a:t>They must build on their initial strength by developing multiple strengths. Brand-new ventures usually cannot afford to innovate on every front. Few start-ups, for example, can expect to attract the resources needed to market a revolutionary product that requires radical advances in technology, a new manufacturing process, and new distribution channels. </a:t>
            </a:r>
          </a:p>
          <a:p>
            <a:pPr algn="justLow"/>
            <a:endParaRPr lang="en-US" dirty="0">
              <a:solidFill>
                <a:schemeClr val="bg1"/>
              </a:solidFill>
            </a:endParaRPr>
          </a:p>
        </p:txBody>
      </p:sp>
      <p:sp>
        <p:nvSpPr>
          <p:cNvPr id="12" name="TextBox 11"/>
          <p:cNvSpPr txBox="1"/>
          <p:nvPr/>
        </p:nvSpPr>
        <p:spPr>
          <a:xfrm>
            <a:off x="96672" y="3335422"/>
            <a:ext cx="7704828" cy="800219"/>
          </a:xfrm>
          <a:prstGeom prst="rect">
            <a:avLst/>
          </a:prstGeom>
          <a:noFill/>
        </p:spPr>
        <p:txBody>
          <a:bodyPr wrap="square" rtlCol="0">
            <a:spAutoFit/>
          </a:bodyPr>
          <a:lstStyle/>
          <a:p>
            <a:r>
              <a:rPr lang="en-US" sz="2800" b="1" dirty="0">
                <a:solidFill>
                  <a:srgbClr val="009D97"/>
                </a:solidFill>
              </a:rPr>
              <a:t>Is the strategy sustainable?</a:t>
            </a:r>
          </a:p>
          <a:p>
            <a:endParaRPr lang="en-US" dirty="0"/>
          </a:p>
        </p:txBody>
      </p:sp>
    </p:spTree>
    <p:extLst>
      <p:ext uri="{BB962C8B-B14F-4D97-AF65-F5344CB8AC3E}">
        <p14:creationId xmlns:p14="http://schemas.microsoft.com/office/powerpoint/2010/main" val="7958683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67544" y="483518"/>
            <a:ext cx="8352928" cy="4320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D3E5E83E-B048-4088-A5D1-F328DADD82CE}"/>
              </a:ext>
            </a:extLst>
          </p:cNvPr>
          <p:cNvSpPr/>
          <p:nvPr/>
        </p:nvSpPr>
        <p:spPr>
          <a:xfrm>
            <a:off x="179512" y="195486"/>
            <a:ext cx="2594505" cy="281974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Placeholder 13"/>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Lst>
          </a:blip>
          <a:srcRect l="31829" t="-12" r="711" b="12"/>
          <a:stretch/>
        </p:blipFill>
        <p:spPr>
          <a:xfrm>
            <a:off x="251520" y="267494"/>
            <a:ext cx="2593975" cy="2819400"/>
          </a:xfrm>
          <a:prstGeom prst="rect">
            <a:avLst/>
          </a:prstGeom>
          <a:ln>
            <a:solidFill>
              <a:schemeClr val="bg1"/>
            </a:solidFill>
          </a:ln>
        </p:spPr>
      </p:pic>
      <p:sp>
        <p:nvSpPr>
          <p:cNvPr id="16" name="TextBox 15"/>
          <p:cNvSpPr txBox="1"/>
          <p:nvPr/>
        </p:nvSpPr>
        <p:spPr>
          <a:xfrm>
            <a:off x="2990041" y="944058"/>
            <a:ext cx="5616624" cy="1938992"/>
          </a:xfrm>
          <a:prstGeom prst="rect">
            <a:avLst/>
          </a:prstGeom>
          <a:noFill/>
        </p:spPr>
        <p:txBody>
          <a:bodyPr wrap="square" rtlCol="0">
            <a:spAutoFit/>
          </a:bodyPr>
          <a:lstStyle/>
          <a:p>
            <a:r>
              <a:rPr lang="en-US" sz="4000" dirty="0">
                <a:solidFill>
                  <a:srgbClr val="009D97"/>
                </a:solidFill>
              </a:rPr>
              <a:t>Are my goals for growth too conservative or too aggressive?</a:t>
            </a:r>
          </a:p>
        </p:txBody>
      </p:sp>
      <p:sp>
        <p:nvSpPr>
          <p:cNvPr id="17" name="TextBox 16"/>
          <p:cNvSpPr txBox="1"/>
          <p:nvPr/>
        </p:nvSpPr>
        <p:spPr>
          <a:xfrm>
            <a:off x="683568" y="3254474"/>
            <a:ext cx="7848872" cy="1631216"/>
          </a:xfrm>
          <a:prstGeom prst="rect">
            <a:avLst/>
          </a:prstGeom>
          <a:noFill/>
        </p:spPr>
        <p:txBody>
          <a:bodyPr wrap="square" rtlCol="0">
            <a:spAutoFit/>
          </a:bodyPr>
          <a:lstStyle/>
          <a:p>
            <a:pPr algn="justLow"/>
            <a:r>
              <a:rPr lang="en-US" sz="2000" dirty="0"/>
              <a:t>Entrepreneur should determine whether plans for its growth are appropriate. Different enterprises can and should grow at different rates. Setting the right pace is as important to a young business as it is to a novice bicyclist. </a:t>
            </a:r>
          </a:p>
          <a:p>
            <a:pPr algn="justLow"/>
            <a:endParaRPr lang="en-US" sz="2000" dirty="0"/>
          </a:p>
        </p:txBody>
      </p:sp>
    </p:spTree>
    <p:extLst>
      <p:ext uri="{BB962C8B-B14F-4D97-AF65-F5344CB8AC3E}">
        <p14:creationId xmlns:p14="http://schemas.microsoft.com/office/powerpoint/2010/main" val="32666134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8" y="1400096"/>
            <a:ext cx="9144000" cy="2127527"/>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0" y="3579862"/>
            <a:ext cx="9144000" cy="15636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323528" y="1563638"/>
            <a:ext cx="8496944" cy="3416320"/>
          </a:xfrm>
          <a:prstGeom prst="rect">
            <a:avLst/>
          </a:prstGeom>
          <a:noFill/>
        </p:spPr>
        <p:txBody>
          <a:bodyPr wrap="square" rtlCol="0">
            <a:spAutoFit/>
          </a:bodyPr>
          <a:lstStyle/>
          <a:p>
            <a:r>
              <a:rPr lang="en-US" dirty="0">
                <a:solidFill>
                  <a:schemeClr val="bg1"/>
                </a:solidFill>
              </a:rPr>
              <a:t>The third question entrepreneurs must ask themselves may be the hardest to answer because it requires the most candid self-examination: Can I execute the strategy? Great ideas don’t guarantee great performance.</a:t>
            </a:r>
          </a:p>
          <a:p>
            <a:r>
              <a:rPr lang="en-US" dirty="0">
                <a:solidFill>
                  <a:schemeClr val="bg1"/>
                </a:solidFill>
              </a:rPr>
              <a:t> </a:t>
            </a:r>
          </a:p>
          <a:p>
            <a:r>
              <a:rPr lang="en-US" dirty="0">
                <a:solidFill>
                  <a:schemeClr val="bg1"/>
                </a:solidFill>
              </a:rPr>
              <a:t>Entrepreneurs must examine three areas—resources, organizational capabilities, and their personal roles—to evaluate their ability to carry out their strategies.</a:t>
            </a:r>
          </a:p>
          <a:p>
            <a:endParaRPr lang="en-US" dirty="0"/>
          </a:p>
          <a:p>
            <a:endParaRPr lang="en-US" dirty="0"/>
          </a:p>
          <a:p>
            <a:r>
              <a:rPr lang="en-US" b="1" dirty="0">
                <a:solidFill>
                  <a:srgbClr val="009D97"/>
                </a:solidFill>
              </a:rPr>
              <a:t>- Do I have the right resources and relationships?</a:t>
            </a:r>
          </a:p>
          <a:p>
            <a:r>
              <a:rPr lang="en-US" b="1" dirty="0">
                <a:solidFill>
                  <a:srgbClr val="009D97"/>
                </a:solidFill>
              </a:rPr>
              <a:t>- How strong is the organization?</a:t>
            </a:r>
          </a:p>
          <a:p>
            <a:r>
              <a:rPr lang="en-US" b="1" dirty="0">
                <a:solidFill>
                  <a:srgbClr val="009D97"/>
                </a:solidFill>
              </a:rPr>
              <a:t>- Can I play my role?</a:t>
            </a:r>
          </a:p>
          <a:p>
            <a:endParaRPr lang="en-US" dirty="0"/>
          </a:p>
        </p:txBody>
      </p:sp>
      <p:sp>
        <p:nvSpPr>
          <p:cNvPr id="10" name="TextBox 9"/>
          <p:cNvSpPr txBox="1"/>
          <p:nvPr/>
        </p:nvSpPr>
        <p:spPr>
          <a:xfrm>
            <a:off x="251520" y="411510"/>
            <a:ext cx="8280920" cy="646331"/>
          </a:xfrm>
          <a:prstGeom prst="rect">
            <a:avLst/>
          </a:prstGeom>
          <a:noFill/>
        </p:spPr>
        <p:txBody>
          <a:bodyPr wrap="square" rtlCol="0">
            <a:spAutoFit/>
          </a:bodyPr>
          <a:lstStyle/>
          <a:p>
            <a:r>
              <a:rPr lang="en-US" sz="3600" b="1" dirty="0">
                <a:solidFill>
                  <a:schemeClr val="bg1"/>
                </a:solidFill>
              </a:rPr>
              <a:t>Executing the Strategy: Can I Do It?</a:t>
            </a:r>
          </a:p>
        </p:txBody>
      </p:sp>
    </p:spTree>
    <p:extLst>
      <p:ext uri="{BB962C8B-B14F-4D97-AF65-F5344CB8AC3E}">
        <p14:creationId xmlns:p14="http://schemas.microsoft.com/office/powerpoint/2010/main" val="3639443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1"/>
          </p:nvPr>
        </p:nvPicPr>
        <p:blipFill rotWithShape="1">
          <a:blip r:embed="rId3">
            <a:extLst>
              <a:ext uri="{28A0092B-C50C-407E-A947-70E740481C1C}">
                <a14:useLocalDpi xmlns:a14="http://schemas.microsoft.com/office/drawing/2010/main" val="0"/>
              </a:ext>
            </a:extLst>
          </a:blip>
          <a:srcRect l="44410" t="392" r="28120" b="1440"/>
          <a:stretch/>
        </p:blipFill>
        <p:spPr/>
      </p:pic>
      <p:sp>
        <p:nvSpPr>
          <p:cNvPr id="6" name="TextBox 5"/>
          <p:cNvSpPr txBox="1"/>
          <p:nvPr/>
        </p:nvSpPr>
        <p:spPr>
          <a:xfrm>
            <a:off x="251520" y="339502"/>
            <a:ext cx="6480720" cy="4801314"/>
          </a:xfrm>
          <a:prstGeom prst="rect">
            <a:avLst/>
          </a:prstGeom>
          <a:noFill/>
        </p:spPr>
        <p:txBody>
          <a:bodyPr wrap="square" rtlCol="0">
            <a:spAutoFit/>
          </a:bodyPr>
          <a:lstStyle/>
          <a:p>
            <a:pPr algn="justLow"/>
            <a:endParaRPr lang="en-US" dirty="0"/>
          </a:p>
          <a:p>
            <a:pPr algn="justLow"/>
            <a:endParaRPr lang="en-US" dirty="0"/>
          </a:p>
          <a:p>
            <a:pPr algn="justLow"/>
            <a:endParaRPr lang="en-US" dirty="0"/>
          </a:p>
          <a:p>
            <a:pPr algn="justLow"/>
            <a:r>
              <a:rPr lang="en-US" dirty="0"/>
              <a:t>For a new venture to survive, some resources that initially are external may have to become internal. Many start-ups operate at first as virtual enterprises because the founders cannot afford to produce in-house and hire employees, and because they value flexibility. But the flexibility that comes from owning few resources is a double-edged sword. Just as a young company is free to stop placing orders, suppliers can stop filling them. Furthermore, a company with no assets signals to customers and potential investors that the entrepreneur may not be committed for the long haul. A business with no employees and hard assets may also be difficult to sell, because potential buyers will probably worry that the company will vanish when the founder departs. </a:t>
            </a:r>
          </a:p>
          <a:p>
            <a:pPr algn="justLow"/>
            <a:endParaRPr lang="en-US" dirty="0"/>
          </a:p>
        </p:txBody>
      </p:sp>
      <p:sp>
        <p:nvSpPr>
          <p:cNvPr id="7" name="TextBox 6"/>
          <p:cNvSpPr txBox="1"/>
          <p:nvPr/>
        </p:nvSpPr>
        <p:spPr>
          <a:xfrm>
            <a:off x="251144" y="627534"/>
            <a:ext cx="6264696" cy="400110"/>
          </a:xfrm>
          <a:prstGeom prst="rect">
            <a:avLst/>
          </a:prstGeom>
          <a:noFill/>
        </p:spPr>
        <p:txBody>
          <a:bodyPr wrap="square" rtlCol="0">
            <a:spAutoFit/>
          </a:bodyPr>
          <a:lstStyle/>
          <a:p>
            <a:r>
              <a:rPr lang="en-US" sz="2000" b="1" dirty="0">
                <a:solidFill>
                  <a:schemeClr val="bg1"/>
                </a:solidFill>
              </a:rPr>
              <a:t>Do I have the right resources and relationships?</a:t>
            </a:r>
            <a:endParaRPr lang="en-US" sz="2000" dirty="0">
              <a:solidFill>
                <a:schemeClr val="bg1"/>
              </a:solidFill>
            </a:endParaRPr>
          </a:p>
        </p:txBody>
      </p:sp>
    </p:spTree>
    <p:extLst>
      <p:ext uri="{BB962C8B-B14F-4D97-AF65-F5344CB8AC3E}">
        <p14:creationId xmlns:p14="http://schemas.microsoft.com/office/powerpoint/2010/main" val="460976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nip Diagonal Corner Rectangle 5"/>
          <p:cNvSpPr/>
          <p:nvPr/>
        </p:nvSpPr>
        <p:spPr>
          <a:xfrm>
            <a:off x="251520" y="339502"/>
            <a:ext cx="8568952" cy="4536504"/>
          </a:xfrm>
          <a:prstGeom prst="snip2Diag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467544" y="699542"/>
            <a:ext cx="7992888" cy="646331"/>
          </a:xfrm>
          <a:prstGeom prst="rect">
            <a:avLst/>
          </a:prstGeom>
          <a:noFill/>
        </p:spPr>
        <p:txBody>
          <a:bodyPr wrap="square" rtlCol="0">
            <a:spAutoFit/>
          </a:bodyPr>
          <a:lstStyle/>
          <a:p>
            <a:r>
              <a:rPr lang="en-US" sz="3600" b="1" dirty="0">
                <a:solidFill>
                  <a:srgbClr val="009D97"/>
                </a:solidFill>
              </a:rPr>
              <a:t>How strong is the organization?</a:t>
            </a:r>
            <a:endParaRPr lang="en-US" sz="3600" dirty="0">
              <a:solidFill>
                <a:srgbClr val="009D97"/>
              </a:solidFill>
            </a:endParaRPr>
          </a:p>
        </p:txBody>
      </p:sp>
      <p:sp>
        <p:nvSpPr>
          <p:cNvPr id="8" name="TextBox 7"/>
          <p:cNvSpPr txBox="1"/>
          <p:nvPr/>
        </p:nvSpPr>
        <p:spPr>
          <a:xfrm>
            <a:off x="467544" y="1563638"/>
            <a:ext cx="7992888" cy="2862322"/>
          </a:xfrm>
          <a:prstGeom prst="rect">
            <a:avLst/>
          </a:prstGeom>
          <a:noFill/>
        </p:spPr>
        <p:txBody>
          <a:bodyPr wrap="square" rtlCol="0">
            <a:spAutoFit/>
          </a:bodyPr>
          <a:lstStyle/>
          <a:p>
            <a:pPr algn="justLow"/>
            <a:r>
              <a:rPr lang="en-US" dirty="0">
                <a:solidFill>
                  <a:schemeClr val="bg1"/>
                </a:solidFill>
              </a:rPr>
              <a:t>When entrepreneurs neglect to articulate organizational norms and instead hire employees mainly for their technical skills and credentials, their organizations develop a culture by chance rather than by design. The personalities and values of the first wave of employees shape a culture that may not serve the founders’ goals and strategies. Once a culture is established, it is difficult to change.</a:t>
            </a:r>
          </a:p>
          <a:p>
            <a:pPr algn="justLow"/>
            <a:endParaRPr lang="en-US" dirty="0">
              <a:solidFill>
                <a:schemeClr val="bg1"/>
              </a:solidFill>
            </a:endParaRPr>
          </a:p>
          <a:p>
            <a:pPr algn="justLow"/>
            <a:r>
              <a:rPr lang="en-US" dirty="0">
                <a:solidFill>
                  <a:schemeClr val="bg1"/>
                </a:solidFill>
              </a:rPr>
              <a:t>When entrepreneurs don’t stop to think about culture, their companies develop one by chance rather than by design.</a:t>
            </a:r>
          </a:p>
          <a:p>
            <a:endParaRPr lang="en-US" dirty="0"/>
          </a:p>
        </p:txBody>
      </p:sp>
    </p:spTree>
    <p:extLst>
      <p:ext uri="{BB962C8B-B14F-4D97-AF65-F5344CB8AC3E}">
        <p14:creationId xmlns:p14="http://schemas.microsoft.com/office/powerpoint/2010/main" val="34149172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267494"/>
            <a:ext cx="8820472" cy="4536504"/>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7" name="Picture Placeholder 6"/>
          <p:cNvPicPr>
            <a:picLocks noGrp="1" noChangeAspect="1"/>
          </p:cNvPicPr>
          <p:nvPr>
            <p:ph type="pic" sz="quarter" idx="4294967295"/>
          </p:nvPr>
        </p:nvPicPr>
        <p:blipFill rotWithShape="1">
          <a:blip r:embed="rId3" cstate="print">
            <a:extLst>
              <a:ext uri="{28A0092B-C50C-407E-A947-70E740481C1C}">
                <a14:useLocalDpi xmlns:a14="http://schemas.microsoft.com/office/drawing/2010/main" val="0"/>
              </a:ext>
            </a:extLst>
          </a:blip>
          <a:srcRect l="13433" r="8953"/>
          <a:stretch/>
        </p:blipFill>
        <p:spPr>
          <a:xfrm>
            <a:off x="5220072" y="123478"/>
            <a:ext cx="3744416" cy="4824413"/>
          </a:xfrm>
          <a:prstGeom prst="rect">
            <a:avLst/>
          </a:prstGeom>
        </p:spPr>
      </p:pic>
      <p:sp>
        <p:nvSpPr>
          <p:cNvPr id="9" name="TextBox 8"/>
          <p:cNvSpPr txBox="1"/>
          <p:nvPr/>
        </p:nvSpPr>
        <p:spPr>
          <a:xfrm>
            <a:off x="161764" y="2211710"/>
            <a:ext cx="4896544" cy="2339102"/>
          </a:xfrm>
          <a:prstGeom prst="rect">
            <a:avLst/>
          </a:prstGeom>
          <a:noFill/>
        </p:spPr>
        <p:txBody>
          <a:bodyPr wrap="square" rtlCol="0">
            <a:spAutoFit/>
          </a:bodyPr>
          <a:lstStyle/>
          <a:p>
            <a:pPr algn="justLow"/>
            <a:r>
              <a:rPr lang="en-US" sz="1600" dirty="0">
                <a:solidFill>
                  <a:schemeClr val="bg1"/>
                </a:solidFill>
              </a:rPr>
              <a:t>Entrepreneurs who aspire to operate small enterprises in which they perform all crucial tasks never have to change their roles. In personal service companies, for instance, the founding partners often perform client work from the time they start the company until they retire. Transforming a fledgling enterprise into an entity capable of an independent existence, however, requires founders to undertake new roles.</a:t>
            </a:r>
          </a:p>
          <a:p>
            <a:pPr algn="justLow"/>
            <a:endParaRPr lang="en-US" sz="1600" dirty="0">
              <a:solidFill>
                <a:schemeClr val="bg1"/>
              </a:solidFill>
            </a:endParaRPr>
          </a:p>
        </p:txBody>
      </p:sp>
      <p:sp>
        <p:nvSpPr>
          <p:cNvPr id="10" name="TextBox 9"/>
          <p:cNvSpPr txBox="1"/>
          <p:nvPr/>
        </p:nvSpPr>
        <p:spPr>
          <a:xfrm>
            <a:off x="161764" y="1071919"/>
            <a:ext cx="5040560" cy="707886"/>
          </a:xfrm>
          <a:prstGeom prst="rect">
            <a:avLst/>
          </a:prstGeom>
          <a:noFill/>
        </p:spPr>
        <p:txBody>
          <a:bodyPr wrap="square" rtlCol="0">
            <a:spAutoFit/>
          </a:bodyPr>
          <a:lstStyle/>
          <a:p>
            <a:r>
              <a:rPr lang="en-US" sz="4000" b="1" dirty="0">
                <a:solidFill>
                  <a:schemeClr val="bg1"/>
                </a:solidFill>
              </a:rPr>
              <a:t>Can I play my role?</a:t>
            </a:r>
            <a:endParaRPr lang="en-US" sz="4000" dirty="0">
              <a:solidFill>
                <a:schemeClr val="bg1"/>
              </a:solidFill>
            </a:endParaRPr>
          </a:p>
        </p:txBody>
      </p:sp>
    </p:spTree>
    <p:extLst>
      <p:ext uri="{BB962C8B-B14F-4D97-AF65-F5344CB8AC3E}">
        <p14:creationId xmlns:p14="http://schemas.microsoft.com/office/powerpoint/2010/main" val="15299121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 Same Side Corner Rectangle 8"/>
          <p:cNvSpPr/>
          <p:nvPr/>
        </p:nvSpPr>
        <p:spPr>
          <a:xfrm>
            <a:off x="251520" y="771550"/>
            <a:ext cx="8640960" cy="720080"/>
          </a:xfrm>
          <a:prstGeom prst="round2Same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0" y="3219822"/>
            <a:ext cx="9144000" cy="192367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79512" y="1635646"/>
            <a:ext cx="8784976" cy="3416320"/>
          </a:xfrm>
          <a:prstGeom prst="rect">
            <a:avLst/>
          </a:prstGeom>
          <a:noFill/>
        </p:spPr>
        <p:txBody>
          <a:bodyPr wrap="square" rtlCol="0">
            <a:spAutoFit/>
          </a:bodyPr>
          <a:lstStyle/>
          <a:p>
            <a:pPr algn="just"/>
            <a:r>
              <a:rPr lang="en-US" dirty="0"/>
              <a:t>Starting a business or joining an early-stage start-up means risking your social status, your income, and much of your free time; it means risking years of loneliness and years without proper support. It means putting your energy, your financial standing, your social capital, and often years of your life on the line for a high-risk, high-reward, high-failure path. </a:t>
            </a:r>
          </a:p>
          <a:p>
            <a:pPr algn="just"/>
            <a:endParaRPr lang="en-US" dirty="0"/>
          </a:p>
          <a:p>
            <a:pPr algn="just"/>
            <a:endParaRPr lang="en-US" dirty="0"/>
          </a:p>
          <a:p>
            <a:r>
              <a:rPr lang="en-US" dirty="0">
                <a:solidFill>
                  <a:srgbClr val="FFDD4F"/>
                </a:solidFill>
              </a:rPr>
              <a:t>If you’re at the early stages of building your own company, you’ve taken that leap, and you know how it goes. If you’re still climbing the diving board, wondering if you’ve got it in you: take a step up to the edge, and take a bet on yourself. Your tolerance for risk might surprise you.</a:t>
            </a:r>
          </a:p>
          <a:p>
            <a:endParaRPr lang="en-US" dirty="0"/>
          </a:p>
        </p:txBody>
      </p:sp>
      <p:sp>
        <p:nvSpPr>
          <p:cNvPr id="8" name="TextBox 7"/>
          <p:cNvSpPr txBox="1"/>
          <p:nvPr/>
        </p:nvSpPr>
        <p:spPr>
          <a:xfrm>
            <a:off x="323528" y="869980"/>
            <a:ext cx="8964488" cy="523220"/>
          </a:xfrm>
          <a:prstGeom prst="rect">
            <a:avLst/>
          </a:prstGeom>
          <a:noFill/>
        </p:spPr>
        <p:txBody>
          <a:bodyPr wrap="square" rtlCol="0">
            <a:spAutoFit/>
          </a:bodyPr>
          <a:lstStyle/>
          <a:p>
            <a:r>
              <a:rPr lang="en-US" sz="2800" b="1" dirty="0">
                <a:solidFill>
                  <a:schemeClr val="bg1"/>
                </a:solidFill>
              </a:rPr>
              <a:t>Risk Tolerance is Key to Entrepreneurs’ Success</a:t>
            </a:r>
          </a:p>
        </p:txBody>
      </p:sp>
    </p:spTree>
    <p:extLst>
      <p:ext uri="{BB962C8B-B14F-4D97-AF65-F5344CB8AC3E}">
        <p14:creationId xmlns:p14="http://schemas.microsoft.com/office/powerpoint/2010/main" val="3439154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764500-2214-4430-B440-EC615A3A1658}"/>
              </a:ext>
            </a:extLst>
          </p:cNvPr>
          <p:cNvSpPr/>
          <p:nvPr/>
        </p:nvSpPr>
        <p:spPr>
          <a:xfrm>
            <a:off x="251520" y="585885"/>
            <a:ext cx="4176464" cy="385807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1" name="Rounded Rectangle 17">
            <a:extLst>
              <a:ext uri="{FF2B5EF4-FFF2-40B4-BE49-F238E27FC236}">
                <a16:creationId xmlns:a16="http://schemas.microsoft.com/office/drawing/2014/main" id="{52BC6E8B-AD4E-4E2E-82AF-63ED16A39DF0}"/>
              </a:ext>
            </a:extLst>
          </p:cNvPr>
          <p:cNvSpPr/>
          <p:nvPr/>
        </p:nvSpPr>
        <p:spPr>
          <a:xfrm>
            <a:off x="395536" y="235782"/>
            <a:ext cx="3799452" cy="616126"/>
          </a:xfrm>
          <a:prstGeom prst="roundRect">
            <a:avLst>
              <a:gd name="adj" fmla="val 50000"/>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2" name="Rectangle 11">
            <a:extLst>
              <a:ext uri="{FF2B5EF4-FFF2-40B4-BE49-F238E27FC236}">
                <a16:creationId xmlns:a16="http://schemas.microsoft.com/office/drawing/2014/main" id="{C4764500-2214-4430-B440-EC615A3A1658}"/>
              </a:ext>
            </a:extLst>
          </p:cNvPr>
          <p:cNvSpPr/>
          <p:nvPr/>
        </p:nvSpPr>
        <p:spPr>
          <a:xfrm>
            <a:off x="4644008" y="555526"/>
            <a:ext cx="4248472" cy="388843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baseline="-25000">
                <a:solidFill>
                  <a:schemeClr val="bg1"/>
                </a:solidFill>
              </a:rPr>
              <a:t>Assessment</a:t>
            </a:r>
            <a:endParaRPr lang="en-US" sz="2800" baseline="-25000" dirty="0">
              <a:solidFill>
                <a:schemeClr val="bg1"/>
              </a:solidFill>
            </a:endParaRPr>
          </a:p>
        </p:txBody>
      </p:sp>
      <p:sp>
        <p:nvSpPr>
          <p:cNvPr id="13" name="Rounded Rectangle 17">
            <a:extLst>
              <a:ext uri="{FF2B5EF4-FFF2-40B4-BE49-F238E27FC236}">
                <a16:creationId xmlns:a16="http://schemas.microsoft.com/office/drawing/2014/main" id="{52BC6E8B-AD4E-4E2E-82AF-63ED16A39DF0}"/>
              </a:ext>
            </a:extLst>
          </p:cNvPr>
          <p:cNvSpPr/>
          <p:nvPr/>
        </p:nvSpPr>
        <p:spPr>
          <a:xfrm>
            <a:off x="4788024" y="227432"/>
            <a:ext cx="3799452" cy="616126"/>
          </a:xfrm>
          <a:prstGeom prst="roundRect">
            <a:avLst>
              <a:gd name="adj" fmla="val 50000"/>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4" name="TextBox 13"/>
          <p:cNvSpPr txBox="1"/>
          <p:nvPr/>
        </p:nvSpPr>
        <p:spPr>
          <a:xfrm>
            <a:off x="594588" y="1347614"/>
            <a:ext cx="3600400" cy="3139321"/>
          </a:xfrm>
          <a:prstGeom prst="rect">
            <a:avLst/>
          </a:prstGeom>
          <a:noFill/>
        </p:spPr>
        <p:txBody>
          <a:bodyPr wrap="square" rtlCol="0">
            <a:spAutoFit/>
          </a:bodyPr>
          <a:lstStyle/>
          <a:p>
            <a:r>
              <a:rPr lang="en-US" b="1" dirty="0"/>
              <a:t>How do entrepreneurs and employees differ?</a:t>
            </a:r>
          </a:p>
          <a:p>
            <a:pPr marL="342900" indent="-342900">
              <a:buAutoNum type="arabicPeriod"/>
            </a:pPr>
            <a:endParaRPr lang="en-US" b="1" dirty="0"/>
          </a:p>
          <a:p>
            <a:r>
              <a:rPr lang="en-US" b="1" dirty="0"/>
              <a:t>What are four rewards and </a:t>
            </a:r>
            <a:r>
              <a:rPr lang="en-US" b="1" dirty="0" err="1"/>
              <a:t>fo</a:t>
            </a:r>
            <a:r>
              <a:rPr lang="en-US" b="1" dirty="0"/>
              <a:t>  </a:t>
            </a:r>
            <a:r>
              <a:rPr lang="en-US" b="1" dirty="0" err="1"/>
              <a:t>ur</a:t>
            </a:r>
            <a:r>
              <a:rPr lang="en-US" b="1" dirty="0"/>
              <a:t> risks of being an entrepreneur?</a:t>
            </a:r>
          </a:p>
          <a:p>
            <a:endParaRPr lang="en-US" b="1" dirty="0"/>
          </a:p>
          <a:p>
            <a:r>
              <a:rPr lang="en-US" b="1" dirty="0"/>
              <a:t>Name three successful entrepreneurs and describe what they achieved.</a:t>
            </a:r>
          </a:p>
          <a:p>
            <a:endParaRPr lang="en-US" b="1" dirty="0"/>
          </a:p>
        </p:txBody>
      </p:sp>
      <p:sp>
        <p:nvSpPr>
          <p:cNvPr id="15" name="Rectangle 14"/>
          <p:cNvSpPr/>
          <p:nvPr/>
        </p:nvSpPr>
        <p:spPr>
          <a:xfrm>
            <a:off x="395536" y="1491630"/>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Rectangle 15"/>
          <p:cNvSpPr/>
          <p:nvPr/>
        </p:nvSpPr>
        <p:spPr>
          <a:xfrm>
            <a:off x="395536" y="2275368"/>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7" name="Rectangle 16"/>
          <p:cNvSpPr/>
          <p:nvPr/>
        </p:nvSpPr>
        <p:spPr>
          <a:xfrm>
            <a:off x="414568" y="3363838"/>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Box 17"/>
          <p:cNvSpPr txBox="1"/>
          <p:nvPr/>
        </p:nvSpPr>
        <p:spPr>
          <a:xfrm>
            <a:off x="683568" y="282235"/>
            <a:ext cx="3024336" cy="523220"/>
          </a:xfrm>
          <a:prstGeom prst="rect">
            <a:avLst/>
          </a:prstGeom>
          <a:noFill/>
        </p:spPr>
        <p:txBody>
          <a:bodyPr wrap="square" rtlCol="0">
            <a:spAutoFit/>
          </a:bodyPr>
          <a:lstStyle/>
          <a:p>
            <a:pPr algn="ctr"/>
            <a:r>
              <a:rPr lang="en-US" sz="2800" b="1" i="1" dirty="0">
                <a:solidFill>
                  <a:schemeClr val="bg1"/>
                </a:solidFill>
              </a:rPr>
              <a:t>Assessment</a:t>
            </a:r>
            <a:endParaRPr lang="en-US" sz="2800" dirty="0">
              <a:solidFill>
                <a:schemeClr val="bg1"/>
              </a:solidFill>
            </a:endParaRPr>
          </a:p>
        </p:txBody>
      </p:sp>
      <p:sp>
        <p:nvSpPr>
          <p:cNvPr id="20" name="TextBox 19"/>
          <p:cNvSpPr txBox="1"/>
          <p:nvPr/>
        </p:nvSpPr>
        <p:spPr>
          <a:xfrm>
            <a:off x="4896216" y="1070615"/>
            <a:ext cx="3816424" cy="3416320"/>
          </a:xfrm>
          <a:prstGeom prst="rect">
            <a:avLst/>
          </a:prstGeom>
          <a:noFill/>
        </p:spPr>
        <p:txBody>
          <a:bodyPr wrap="square" rtlCol="0">
            <a:spAutoFit/>
          </a:bodyPr>
          <a:lstStyle/>
          <a:p>
            <a:pPr algn="justLow"/>
            <a:r>
              <a:rPr lang="en-US" sz="1200" b="1" dirty="0"/>
              <a:t>Choose an entrepreneur from the past, and describe the risks and rewards involved in starting his or her business. Discuss whether the entrepreneur made life better in some way with a product or service.</a:t>
            </a:r>
          </a:p>
          <a:p>
            <a:pPr algn="justLow"/>
            <a:endParaRPr lang="en-US" sz="1200" b="1" dirty="0"/>
          </a:p>
          <a:p>
            <a:pPr algn="justLow"/>
            <a:r>
              <a:rPr lang="en-US" sz="1200" b="1" dirty="0"/>
              <a:t>Why do you think an entrepreneur might choose to keep a business small rather than expand it?</a:t>
            </a:r>
          </a:p>
          <a:p>
            <a:pPr algn="justLow"/>
            <a:endParaRPr lang="en-US" sz="1200" b="1" dirty="0"/>
          </a:p>
          <a:p>
            <a:pPr algn="justLow"/>
            <a:r>
              <a:rPr lang="en-US" sz="1200" b="1" dirty="0"/>
              <a:t>List several personal characteristics that might hinder someone from becoming an entrepreneur. In what ways could these characteristics also prevent someone from becoming a valued employee?</a:t>
            </a:r>
          </a:p>
          <a:p>
            <a:pPr algn="justLow"/>
            <a:endParaRPr lang="en-US" sz="1200" b="1" dirty="0"/>
          </a:p>
          <a:p>
            <a:pPr algn="justLow"/>
            <a:r>
              <a:rPr lang="en-US" sz="1200" b="1" dirty="0"/>
              <a:t>Develop a vision and mission for your life now, as a student. Then develop a vision and mission for your future life. Keep these simple.</a:t>
            </a:r>
          </a:p>
          <a:p>
            <a:pPr algn="justLow"/>
            <a:endParaRPr lang="en-US" sz="1200" b="1" dirty="0"/>
          </a:p>
        </p:txBody>
      </p:sp>
      <p:sp>
        <p:nvSpPr>
          <p:cNvPr id="21" name="TextBox 20"/>
          <p:cNvSpPr txBox="1"/>
          <p:nvPr/>
        </p:nvSpPr>
        <p:spPr>
          <a:xfrm>
            <a:off x="5851172" y="273885"/>
            <a:ext cx="2736304" cy="523220"/>
          </a:xfrm>
          <a:prstGeom prst="rect">
            <a:avLst/>
          </a:prstGeom>
          <a:noFill/>
        </p:spPr>
        <p:txBody>
          <a:bodyPr wrap="square" rtlCol="0">
            <a:spAutoFit/>
          </a:bodyPr>
          <a:lstStyle/>
          <a:p>
            <a:r>
              <a:rPr lang="en-US" sz="2800" b="1" i="1" dirty="0">
                <a:solidFill>
                  <a:schemeClr val="bg1"/>
                </a:solidFill>
              </a:rPr>
              <a:t>Activity</a:t>
            </a:r>
            <a:endParaRPr lang="en-US" dirty="0">
              <a:solidFill>
                <a:schemeClr val="bg1"/>
              </a:solidFill>
            </a:endParaRPr>
          </a:p>
        </p:txBody>
      </p:sp>
      <p:sp>
        <p:nvSpPr>
          <p:cNvPr id="22" name="Rectangle 21"/>
          <p:cNvSpPr/>
          <p:nvPr/>
        </p:nvSpPr>
        <p:spPr>
          <a:xfrm>
            <a:off x="4788024" y="1165536"/>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3" name="Rectangle 22"/>
          <p:cNvSpPr/>
          <p:nvPr/>
        </p:nvSpPr>
        <p:spPr>
          <a:xfrm>
            <a:off x="4788024" y="2216225"/>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4" name="Rectangle 23"/>
          <p:cNvSpPr/>
          <p:nvPr/>
        </p:nvSpPr>
        <p:spPr>
          <a:xfrm>
            <a:off x="4788072" y="2778775"/>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Rectangle 24"/>
          <p:cNvSpPr/>
          <p:nvPr/>
        </p:nvSpPr>
        <p:spPr>
          <a:xfrm>
            <a:off x="4788024" y="3683374"/>
            <a:ext cx="144016" cy="144016"/>
          </a:xfrm>
          <a:prstGeom prst="rect">
            <a:avLst/>
          </a:prstGeom>
          <a:solidFill>
            <a:srgbClr val="FFDD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6" name="Rectangle 25"/>
          <p:cNvSpPr/>
          <p:nvPr/>
        </p:nvSpPr>
        <p:spPr>
          <a:xfrm>
            <a:off x="251520" y="4572061"/>
            <a:ext cx="8640960" cy="23803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4484933"/>
      </p:ext>
    </p:extLst>
  </p:cSld>
  <p:clrMapOvr>
    <a:masterClrMapping/>
  </p:clrMapOvr>
</p:sld>
</file>

<file path=ppt/theme/theme1.xml><?xml version="1.0" encoding="utf-8"?>
<a:theme xmlns:a="http://schemas.openxmlformats.org/drawingml/2006/main" name="Contents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75000"/>
            <a:lumOff val="25000"/>
          </a:schemeClr>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Section Break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2266</TotalTime>
  <Words>3476</Words>
  <Application>Microsoft Office PowerPoint</Application>
  <PresentationFormat>On-screen Show (16:9)</PresentationFormat>
  <Paragraphs>249</Paragraphs>
  <Slides>54</Slides>
  <Notes>4</Notes>
  <HiddenSlides>0</HiddenSlides>
  <MMClips>0</MMClips>
  <ScaleCrop>false</ScaleCrop>
  <HeadingPairs>
    <vt:vector size="4" baseType="variant">
      <vt:variant>
        <vt:lpstr>Theme</vt:lpstr>
      </vt:variant>
      <vt:variant>
        <vt:i4>2</vt:i4>
      </vt:variant>
      <vt:variant>
        <vt:lpstr>Slide Titles</vt:lpstr>
      </vt:variant>
      <vt:variant>
        <vt:i4>54</vt:i4>
      </vt:variant>
    </vt:vector>
  </HeadingPairs>
  <TitlesOfParts>
    <vt:vector size="56" baseType="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Dr.Mohamed Abd Hamid Belal</cp:lastModifiedBy>
  <cp:revision>167</cp:revision>
  <dcterms:created xsi:type="dcterms:W3CDTF">2016-12-05T23:26:54Z</dcterms:created>
  <dcterms:modified xsi:type="dcterms:W3CDTF">2019-03-09T18:24:55Z</dcterms:modified>
</cp:coreProperties>
</file>