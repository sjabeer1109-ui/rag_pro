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 id="2147483653" r:id="rId2"/>
  </p:sldMasterIdLst>
  <p:notesMasterIdLst>
    <p:notesMasterId r:id="rId81"/>
  </p:notesMasterIdLst>
  <p:sldIdLst>
    <p:sldId id="256" r:id="rId3"/>
    <p:sldId id="265" r:id="rId4"/>
    <p:sldId id="261" r:id="rId5"/>
    <p:sldId id="268" r:id="rId6"/>
    <p:sldId id="282" r:id="rId7"/>
    <p:sldId id="271" r:id="rId8"/>
    <p:sldId id="329" r:id="rId9"/>
    <p:sldId id="331" r:id="rId10"/>
    <p:sldId id="332" r:id="rId11"/>
    <p:sldId id="333" r:id="rId12"/>
    <p:sldId id="334" r:id="rId13"/>
    <p:sldId id="277" r:id="rId14"/>
    <p:sldId id="336" r:id="rId15"/>
    <p:sldId id="281" r:id="rId16"/>
    <p:sldId id="337" r:id="rId17"/>
    <p:sldId id="279" r:id="rId18"/>
    <p:sldId id="338" r:id="rId19"/>
    <p:sldId id="284" r:id="rId20"/>
    <p:sldId id="275" r:id="rId21"/>
    <p:sldId id="339" r:id="rId22"/>
    <p:sldId id="340" r:id="rId23"/>
    <p:sldId id="342" r:id="rId24"/>
    <p:sldId id="341" r:id="rId25"/>
    <p:sldId id="344" r:id="rId26"/>
    <p:sldId id="283" r:id="rId27"/>
    <p:sldId id="343" r:id="rId28"/>
    <p:sldId id="345" r:id="rId29"/>
    <p:sldId id="346" r:id="rId30"/>
    <p:sldId id="347" r:id="rId31"/>
    <p:sldId id="348" r:id="rId32"/>
    <p:sldId id="349" r:id="rId33"/>
    <p:sldId id="350" r:id="rId34"/>
    <p:sldId id="351" r:id="rId35"/>
    <p:sldId id="352" r:id="rId36"/>
    <p:sldId id="353" r:id="rId37"/>
    <p:sldId id="354" r:id="rId38"/>
    <p:sldId id="355" r:id="rId39"/>
    <p:sldId id="356" r:id="rId40"/>
    <p:sldId id="357" r:id="rId41"/>
    <p:sldId id="358" r:id="rId42"/>
    <p:sldId id="359" r:id="rId43"/>
    <p:sldId id="361" r:id="rId44"/>
    <p:sldId id="360" r:id="rId45"/>
    <p:sldId id="362" r:id="rId46"/>
    <p:sldId id="363" r:id="rId47"/>
    <p:sldId id="364" r:id="rId48"/>
    <p:sldId id="365" r:id="rId49"/>
    <p:sldId id="366" r:id="rId50"/>
    <p:sldId id="367" r:id="rId51"/>
    <p:sldId id="368" r:id="rId52"/>
    <p:sldId id="369" r:id="rId53"/>
    <p:sldId id="370" r:id="rId54"/>
    <p:sldId id="371" r:id="rId55"/>
    <p:sldId id="372" r:id="rId56"/>
    <p:sldId id="373" r:id="rId57"/>
    <p:sldId id="375" r:id="rId58"/>
    <p:sldId id="376" r:id="rId59"/>
    <p:sldId id="377" r:id="rId60"/>
    <p:sldId id="378" r:id="rId61"/>
    <p:sldId id="379" r:id="rId62"/>
    <p:sldId id="298" r:id="rId63"/>
    <p:sldId id="302" r:id="rId64"/>
    <p:sldId id="381" r:id="rId65"/>
    <p:sldId id="382" r:id="rId66"/>
    <p:sldId id="383" r:id="rId67"/>
    <p:sldId id="384" r:id="rId68"/>
    <p:sldId id="385" r:id="rId69"/>
    <p:sldId id="386" r:id="rId70"/>
    <p:sldId id="387" r:id="rId71"/>
    <p:sldId id="388" r:id="rId72"/>
    <p:sldId id="301" r:id="rId73"/>
    <p:sldId id="312" r:id="rId74"/>
    <p:sldId id="389" r:id="rId75"/>
    <p:sldId id="390" r:id="rId76"/>
    <p:sldId id="391" r:id="rId77"/>
    <p:sldId id="392" r:id="rId78"/>
    <p:sldId id="317" r:id="rId79"/>
    <p:sldId id="330" r:id="rId80"/>
  </p:sldIdLst>
  <p:sldSz cx="9144000" cy="5143500" type="screen16x9"/>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38">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3D2FF"/>
    <a:srgbClr val="8FE2FF"/>
    <a:srgbClr val="FF3B3B"/>
    <a:srgbClr val="EF313A"/>
    <a:srgbClr val="ED1C24"/>
    <a:srgbClr val="FFDD4F"/>
    <a:srgbClr val="009D97"/>
    <a:srgbClr val="FFCE29"/>
    <a:srgbClr val="EBC417"/>
    <a:srgbClr val="FDE3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73" autoAdjust="0"/>
    <p:restoredTop sz="95036" autoAdjust="0"/>
  </p:normalViewPr>
  <p:slideViewPr>
    <p:cSldViewPr>
      <p:cViewPr varScale="1">
        <p:scale>
          <a:sx n="112" d="100"/>
          <a:sy n="112" d="100"/>
        </p:scale>
        <p:origin x="504" y="77"/>
      </p:cViewPr>
      <p:guideLst>
        <p:guide orient="horz" pos="1938"/>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slide" Target="slides/slide74.xml"/><Relationship Id="rId84"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presProps" Target="presProps.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35DA3F-ED3A-4897-B8F3-C49A97F730D1}" type="datetimeFigureOut">
              <a:rPr lang="ko-KR" altLang="en-US" smtClean="0"/>
              <a:t>2019-03-12</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D9ED4F-90B4-4BD8-A817-6A0A9D03637F}" type="slidenum">
              <a:rPr lang="ko-KR" altLang="en-US" smtClean="0"/>
              <a:t>‹#›</a:t>
            </a:fld>
            <a:endParaRPr lang="ko-KR" altLang="en-US"/>
          </a:p>
        </p:txBody>
      </p:sp>
    </p:spTree>
    <p:extLst>
      <p:ext uri="{BB962C8B-B14F-4D97-AF65-F5344CB8AC3E}">
        <p14:creationId xmlns:p14="http://schemas.microsoft.com/office/powerpoint/2010/main" val="334180048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4</a:t>
            </a:fld>
            <a:endParaRPr lang="ko-KR" altLang="en-US"/>
          </a:p>
        </p:txBody>
      </p:sp>
    </p:spTree>
    <p:extLst>
      <p:ext uri="{BB962C8B-B14F-4D97-AF65-F5344CB8AC3E}">
        <p14:creationId xmlns:p14="http://schemas.microsoft.com/office/powerpoint/2010/main" val="7856068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80D9ED4F-90B4-4BD8-A817-6A0A9D03637F}" type="slidenum">
              <a:rPr lang="ko-KR" altLang="en-US" smtClean="0"/>
              <a:t>6</a:t>
            </a:fld>
            <a:endParaRPr lang="ko-KR" altLang="en-US"/>
          </a:p>
        </p:txBody>
      </p:sp>
    </p:spTree>
    <p:extLst>
      <p:ext uri="{BB962C8B-B14F-4D97-AF65-F5344CB8AC3E}">
        <p14:creationId xmlns:p14="http://schemas.microsoft.com/office/powerpoint/2010/main" val="34284768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20</a:t>
            </a:fld>
            <a:endParaRPr lang="ko-KR" altLang="en-US"/>
          </a:p>
        </p:txBody>
      </p:sp>
    </p:spTree>
    <p:extLst>
      <p:ext uri="{BB962C8B-B14F-4D97-AF65-F5344CB8AC3E}">
        <p14:creationId xmlns:p14="http://schemas.microsoft.com/office/powerpoint/2010/main" val="29279409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45</a:t>
            </a:fld>
            <a:endParaRPr lang="ko-KR" altLang="en-US"/>
          </a:p>
        </p:txBody>
      </p:sp>
    </p:spTree>
    <p:extLst>
      <p:ext uri="{BB962C8B-B14F-4D97-AF65-F5344CB8AC3E}">
        <p14:creationId xmlns:p14="http://schemas.microsoft.com/office/powerpoint/2010/main" val="33983664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58</a:t>
            </a:fld>
            <a:endParaRPr lang="ko-KR" altLang="en-US"/>
          </a:p>
        </p:txBody>
      </p:sp>
    </p:spTree>
    <p:extLst>
      <p:ext uri="{BB962C8B-B14F-4D97-AF65-F5344CB8AC3E}">
        <p14:creationId xmlns:p14="http://schemas.microsoft.com/office/powerpoint/2010/main" val="10469123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59</a:t>
            </a:fld>
            <a:endParaRPr lang="ko-KR" altLang="en-US"/>
          </a:p>
        </p:txBody>
      </p:sp>
    </p:spTree>
    <p:extLst>
      <p:ext uri="{BB962C8B-B14F-4D97-AF65-F5344CB8AC3E}">
        <p14:creationId xmlns:p14="http://schemas.microsoft.com/office/powerpoint/2010/main" val="41415372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60</a:t>
            </a:fld>
            <a:endParaRPr lang="ko-KR" altLang="en-US"/>
          </a:p>
        </p:txBody>
      </p:sp>
    </p:spTree>
    <p:extLst>
      <p:ext uri="{BB962C8B-B14F-4D97-AF65-F5344CB8AC3E}">
        <p14:creationId xmlns:p14="http://schemas.microsoft.com/office/powerpoint/2010/main" val="12841245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63</a:t>
            </a:fld>
            <a:endParaRPr lang="ko-KR" altLang="en-US"/>
          </a:p>
        </p:txBody>
      </p:sp>
    </p:spTree>
    <p:extLst>
      <p:ext uri="{BB962C8B-B14F-4D97-AF65-F5344CB8AC3E}">
        <p14:creationId xmlns:p14="http://schemas.microsoft.com/office/powerpoint/2010/main" val="35437189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64</a:t>
            </a:fld>
            <a:endParaRPr lang="ko-KR" altLang="en-US"/>
          </a:p>
        </p:txBody>
      </p:sp>
    </p:spTree>
    <p:extLst>
      <p:ext uri="{BB962C8B-B14F-4D97-AF65-F5344CB8AC3E}">
        <p14:creationId xmlns:p14="http://schemas.microsoft.com/office/powerpoint/2010/main" val="6032701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65</a:t>
            </a:fld>
            <a:endParaRPr lang="ko-KR" altLang="en-US"/>
          </a:p>
        </p:txBody>
      </p:sp>
    </p:spTree>
    <p:extLst>
      <p:ext uri="{BB962C8B-B14F-4D97-AF65-F5344CB8AC3E}">
        <p14:creationId xmlns:p14="http://schemas.microsoft.com/office/powerpoint/2010/main" val="21239251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66</a:t>
            </a:fld>
            <a:endParaRPr lang="ko-KR" altLang="en-US"/>
          </a:p>
        </p:txBody>
      </p:sp>
    </p:spTree>
    <p:extLst>
      <p:ext uri="{BB962C8B-B14F-4D97-AF65-F5344CB8AC3E}">
        <p14:creationId xmlns:p14="http://schemas.microsoft.com/office/powerpoint/2010/main" val="15199713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67</a:t>
            </a:fld>
            <a:endParaRPr lang="ko-KR" altLang="en-US"/>
          </a:p>
        </p:txBody>
      </p:sp>
    </p:spTree>
    <p:extLst>
      <p:ext uri="{BB962C8B-B14F-4D97-AF65-F5344CB8AC3E}">
        <p14:creationId xmlns:p14="http://schemas.microsoft.com/office/powerpoint/2010/main" val="8461239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68</a:t>
            </a:fld>
            <a:endParaRPr lang="ko-KR" altLang="en-US"/>
          </a:p>
        </p:txBody>
      </p:sp>
    </p:spTree>
    <p:extLst>
      <p:ext uri="{BB962C8B-B14F-4D97-AF65-F5344CB8AC3E}">
        <p14:creationId xmlns:p14="http://schemas.microsoft.com/office/powerpoint/2010/main" val="32063085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69</a:t>
            </a:fld>
            <a:endParaRPr lang="ko-KR" altLang="en-US"/>
          </a:p>
        </p:txBody>
      </p:sp>
    </p:spTree>
    <p:extLst>
      <p:ext uri="{BB962C8B-B14F-4D97-AF65-F5344CB8AC3E}">
        <p14:creationId xmlns:p14="http://schemas.microsoft.com/office/powerpoint/2010/main" val="41571900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70</a:t>
            </a:fld>
            <a:endParaRPr lang="ko-KR" altLang="en-US"/>
          </a:p>
        </p:txBody>
      </p:sp>
    </p:spTree>
    <p:extLst>
      <p:ext uri="{BB962C8B-B14F-4D97-AF65-F5344CB8AC3E}">
        <p14:creationId xmlns:p14="http://schemas.microsoft.com/office/powerpoint/2010/main" val="26907332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71</a:t>
            </a:fld>
            <a:endParaRPr lang="ko-KR" altLang="en-US"/>
          </a:p>
        </p:txBody>
      </p:sp>
    </p:spTree>
    <p:extLst>
      <p:ext uri="{BB962C8B-B14F-4D97-AF65-F5344CB8AC3E}">
        <p14:creationId xmlns:p14="http://schemas.microsoft.com/office/powerpoint/2010/main" val="15872517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78</a:t>
            </a:fld>
            <a:endParaRPr lang="ko-KR" altLang="en-US"/>
          </a:p>
        </p:txBody>
      </p:sp>
    </p:spTree>
    <p:extLst>
      <p:ext uri="{BB962C8B-B14F-4D97-AF65-F5344CB8AC3E}">
        <p14:creationId xmlns:p14="http://schemas.microsoft.com/office/powerpoint/2010/main" val="42262493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875712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4" name="Rectangle 3"/>
          <p:cNvSpPr/>
          <p:nvPr userDrawn="1"/>
        </p:nvSpPr>
        <p:spPr>
          <a:xfrm>
            <a:off x="0" y="4948014"/>
            <a:ext cx="9144000" cy="216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ko-KR" altLang="en-US"/>
          </a:p>
        </p:txBody>
      </p:sp>
      <p:grpSp>
        <p:nvGrpSpPr>
          <p:cNvPr id="6" name="그룹 5">
            <a:extLst>
              <a:ext uri="{FF2B5EF4-FFF2-40B4-BE49-F238E27FC236}">
                <a16:creationId xmlns:a16="http://schemas.microsoft.com/office/drawing/2014/main" xmlns="" id="{3F6939C0-0F9C-4BB0-BE6D-CDFDBD48B8E1}"/>
              </a:ext>
            </a:extLst>
          </p:cNvPr>
          <p:cNvGrpSpPr/>
          <p:nvPr userDrawn="1"/>
        </p:nvGrpSpPr>
        <p:grpSpPr>
          <a:xfrm>
            <a:off x="8001641" y="3940074"/>
            <a:ext cx="1142359" cy="1189066"/>
            <a:chOff x="4572000" y="387072"/>
            <a:chExt cx="4569687" cy="4756528"/>
          </a:xfrm>
        </p:grpSpPr>
        <p:sp>
          <p:nvSpPr>
            <p:cNvPr id="7" name="자유형: 도형 6">
              <a:extLst>
                <a:ext uri="{FF2B5EF4-FFF2-40B4-BE49-F238E27FC236}">
                  <a16:creationId xmlns:a16="http://schemas.microsoft.com/office/drawing/2014/main" xmlns="" id="{D9278269-D816-4377-921A-50AEC083B847}"/>
                </a:ext>
              </a:extLst>
            </p:cNvPr>
            <p:cNvSpPr/>
            <p:nvPr userDrawn="1"/>
          </p:nvSpPr>
          <p:spPr>
            <a:xfrm>
              <a:off x="4572000" y="1408870"/>
              <a:ext cx="4569687" cy="3734730"/>
            </a:xfrm>
            <a:custGeom>
              <a:avLst/>
              <a:gdLst>
                <a:gd name="connsiteX0" fmla="*/ 2611712 w 4569687"/>
                <a:gd name="connsiteY0" fmla="*/ 0 h 3734631"/>
                <a:gd name="connsiteX1" fmla="*/ 2927539 w 4569687"/>
                <a:gd name="connsiteY1" fmla="*/ 0 h 3734631"/>
                <a:gd name="connsiteX2" fmla="*/ 3010471 w 4569687"/>
                <a:gd name="connsiteY2" fmla="*/ 662843 h 3734631"/>
                <a:gd name="connsiteX3" fmla="*/ 3062414 w 4569687"/>
                <a:gd name="connsiteY3" fmla="*/ 672782 h 3734631"/>
                <a:gd name="connsiteX4" fmla="*/ 3375104 w 4569687"/>
                <a:gd name="connsiteY4" fmla="*/ 893768 h 3734631"/>
                <a:gd name="connsiteX5" fmla="*/ 3401966 w 4569687"/>
                <a:gd name="connsiteY5" fmla="*/ 943258 h 3734631"/>
                <a:gd name="connsiteX6" fmla="*/ 3444529 w 4569687"/>
                <a:gd name="connsiteY6" fmla="*/ 938967 h 3734631"/>
                <a:gd name="connsiteX7" fmla="*/ 3941882 w 4569687"/>
                <a:gd name="connsiteY7" fmla="*/ 1268635 h 3734631"/>
                <a:gd name="connsiteX8" fmla="*/ 3950232 w 4569687"/>
                <a:gd name="connsiteY8" fmla="*/ 1295533 h 3734631"/>
                <a:gd name="connsiteX9" fmla="*/ 3968452 w 4569687"/>
                <a:gd name="connsiteY9" fmla="*/ 1289878 h 3734631"/>
                <a:gd name="connsiteX10" fmla="*/ 4041773 w 4569687"/>
                <a:gd name="connsiteY10" fmla="*/ 1282486 h 3734631"/>
                <a:gd name="connsiteX11" fmla="*/ 4398197 w 4569687"/>
                <a:gd name="connsiteY11" fmla="*/ 1572980 h 3734631"/>
                <a:gd name="connsiteX12" fmla="*/ 4401113 w 4569687"/>
                <a:gd name="connsiteY12" fmla="*/ 1601912 h 3734631"/>
                <a:gd name="connsiteX13" fmla="*/ 4509768 w 4569687"/>
                <a:gd name="connsiteY13" fmla="*/ 1612865 h 3734631"/>
                <a:gd name="connsiteX14" fmla="*/ 4569687 w 4569687"/>
                <a:gd name="connsiteY14" fmla="*/ 1630661 h 3734631"/>
                <a:gd name="connsiteX15" fmla="*/ 4569687 w 4569687"/>
                <a:gd name="connsiteY15" fmla="*/ 3685776 h 3734631"/>
                <a:gd name="connsiteX16" fmla="*/ 4479175 w 4569687"/>
                <a:gd name="connsiteY16" fmla="*/ 3694900 h 3734631"/>
                <a:gd name="connsiteX17" fmla="*/ 4083674 w 4569687"/>
                <a:gd name="connsiteY17" fmla="*/ 3574092 h 3734631"/>
                <a:gd name="connsiteX18" fmla="*/ 4051094 w 4569687"/>
                <a:gd name="connsiteY18" fmla="*/ 3547210 h 3734631"/>
                <a:gd name="connsiteX19" fmla="*/ 4009782 w 4569687"/>
                <a:gd name="connsiteY19" fmla="*/ 3581295 h 3734631"/>
                <a:gd name="connsiteX20" fmla="*/ 3782104 w 4569687"/>
                <a:gd name="connsiteY20" fmla="*/ 3650841 h 3734631"/>
                <a:gd name="connsiteX21" fmla="*/ 3494159 w 4569687"/>
                <a:gd name="connsiteY21" fmla="*/ 3531570 h 3734631"/>
                <a:gd name="connsiteX22" fmla="*/ 3452428 w 4569687"/>
                <a:gd name="connsiteY22" fmla="*/ 3480992 h 3734631"/>
                <a:gd name="connsiteX23" fmla="*/ 3441126 w 4569687"/>
                <a:gd name="connsiteY23" fmla="*/ 3501813 h 3734631"/>
                <a:gd name="connsiteX24" fmla="*/ 3103456 w 4569687"/>
                <a:gd name="connsiteY24" fmla="*/ 3681351 h 3734631"/>
                <a:gd name="connsiteX25" fmla="*/ 2815511 w 4569687"/>
                <a:gd name="connsiteY25" fmla="*/ 3562080 h 3734631"/>
                <a:gd name="connsiteX26" fmla="*/ 2772231 w 4569687"/>
                <a:gd name="connsiteY26" fmla="*/ 3509625 h 3734631"/>
                <a:gd name="connsiteX27" fmla="*/ 2697608 w 4569687"/>
                <a:gd name="connsiteY27" fmla="*/ 3571194 h 3734631"/>
                <a:gd name="connsiteX28" fmla="*/ 2162552 w 4569687"/>
                <a:gd name="connsiteY28" fmla="*/ 3734631 h 3734631"/>
                <a:gd name="connsiteX29" fmla="*/ 1369010 w 4569687"/>
                <a:gd name="connsiteY29" fmla="*/ 3312708 h 3734631"/>
                <a:gd name="connsiteX30" fmla="*/ 1363923 w 4569687"/>
                <a:gd name="connsiteY30" fmla="*/ 3304336 h 3734631"/>
                <a:gd name="connsiteX31" fmla="*/ 1334207 w 4569687"/>
                <a:gd name="connsiteY31" fmla="*/ 3340352 h 3734631"/>
                <a:gd name="connsiteX32" fmla="*/ 1046262 w 4569687"/>
                <a:gd name="connsiteY32" fmla="*/ 3459623 h 3734631"/>
                <a:gd name="connsiteX33" fmla="*/ 647319 w 4569687"/>
                <a:gd name="connsiteY33" fmla="*/ 3134475 h 3734631"/>
                <a:gd name="connsiteX34" fmla="*/ 642925 w 4569687"/>
                <a:gd name="connsiteY34" fmla="*/ 3090891 h 3734631"/>
                <a:gd name="connsiteX35" fmla="*/ 634894 w 4569687"/>
                <a:gd name="connsiteY35" fmla="*/ 3098188 h 3734631"/>
                <a:gd name="connsiteX36" fmla="*/ 407216 w 4569687"/>
                <a:gd name="connsiteY36" fmla="*/ 3167734 h 3734631"/>
                <a:gd name="connsiteX37" fmla="*/ 0 w 4569687"/>
                <a:gd name="connsiteY37" fmla="*/ 2760518 h 3734631"/>
                <a:gd name="connsiteX38" fmla="*/ 407216 w 4569687"/>
                <a:gd name="connsiteY38" fmla="*/ 2353302 h 3734631"/>
                <a:gd name="connsiteX39" fmla="*/ 489284 w 4569687"/>
                <a:gd name="connsiteY39" fmla="*/ 2361575 h 3734631"/>
                <a:gd name="connsiteX40" fmla="*/ 508084 w 4569687"/>
                <a:gd name="connsiteY40" fmla="*/ 2367411 h 3734631"/>
                <a:gd name="connsiteX41" fmla="*/ 503849 w 4569687"/>
                <a:gd name="connsiteY41" fmla="*/ 2325400 h 3734631"/>
                <a:gd name="connsiteX42" fmla="*/ 1121688 w 4569687"/>
                <a:gd name="connsiteY42" fmla="*/ 1707561 h 3734631"/>
                <a:gd name="connsiteX43" fmla="*/ 1246204 w 4569687"/>
                <a:gd name="connsiteY43" fmla="*/ 1720113 h 3734631"/>
                <a:gd name="connsiteX44" fmla="*/ 1284356 w 4569687"/>
                <a:gd name="connsiteY44" fmla="*/ 1731957 h 3734631"/>
                <a:gd name="connsiteX45" fmla="*/ 1305976 w 4569687"/>
                <a:gd name="connsiteY45" fmla="*/ 1705754 h 3734631"/>
                <a:gd name="connsiteX46" fmla="*/ 1742854 w 4569687"/>
                <a:gd name="connsiteY46" fmla="*/ 1524793 h 3734631"/>
                <a:gd name="connsiteX47" fmla="*/ 1760288 w 4569687"/>
                <a:gd name="connsiteY47" fmla="*/ 1526551 h 3734631"/>
                <a:gd name="connsiteX48" fmla="*/ 1748032 w 4569687"/>
                <a:gd name="connsiteY48" fmla="*/ 1487068 h 3734631"/>
                <a:gd name="connsiteX49" fmla="*/ 1742854 w 4569687"/>
                <a:gd name="connsiteY49" fmla="*/ 1435701 h 3734631"/>
                <a:gd name="connsiteX50" fmla="*/ 1946367 w 4569687"/>
                <a:gd name="connsiteY50" fmla="*/ 1185999 h 3734631"/>
                <a:gd name="connsiteX51" fmla="*/ 1956892 w 4569687"/>
                <a:gd name="connsiteY51" fmla="*/ 1184938 h 3734631"/>
                <a:gd name="connsiteX52" fmla="*/ 1963928 w 4569687"/>
                <a:gd name="connsiteY52" fmla="*/ 1115143 h 3734631"/>
                <a:gd name="connsiteX53" fmla="*/ 2450363 w 4569687"/>
                <a:gd name="connsiteY53" fmla="*/ 718687 h 3734631"/>
                <a:gd name="connsiteX54" fmla="*/ 2520904 w 4569687"/>
                <a:gd name="connsiteY54" fmla="*/ 725798 h 3734631"/>
                <a:gd name="connsiteX0" fmla="*/ 2611712 w 4569687"/>
                <a:gd name="connsiteY0" fmla="*/ 0 h 3734631"/>
                <a:gd name="connsiteX1" fmla="*/ 2927539 w 4569687"/>
                <a:gd name="connsiteY1" fmla="*/ 0 h 3734631"/>
                <a:gd name="connsiteX2" fmla="*/ 3010471 w 4569687"/>
                <a:gd name="connsiteY2" fmla="*/ 662843 h 3734631"/>
                <a:gd name="connsiteX3" fmla="*/ 3062414 w 4569687"/>
                <a:gd name="connsiteY3" fmla="*/ 672782 h 3734631"/>
                <a:gd name="connsiteX4" fmla="*/ 3375104 w 4569687"/>
                <a:gd name="connsiteY4" fmla="*/ 893768 h 3734631"/>
                <a:gd name="connsiteX5" fmla="*/ 3401966 w 4569687"/>
                <a:gd name="connsiteY5" fmla="*/ 943258 h 3734631"/>
                <a:gd name="connsiteX6" fmla="*/ 3444529 w 4569687"/>
                <a:gd name="connsiteY6" fmla="*/ 938967 h 3734631"/>
                <a:gd name="connsiteX7" fmla="*/ 3941882 w 4569687"/>
                <a:gd name="connsiteY7" fmla="*/ 1268635 h 3734631"/>
                <a:gd name="connsiteX8" fmla="*/ 3950232 w 4569687"/>
                <a:gd name="connsiteY8" fmla="*/ 1295533 h 3734631"/>
                <a:gd name="connsiteX9" fmla="*/ 3968452 w 4569687"/>
                <a:gd name="connsiteY9" fmla="*/ 1289878 h 3734631"/>
                <a:gd name="connsiteX10" fmla="*/ 4041773 w 4569687"/>
                <a:gd name="connsiteY10" fmla="*/ 1282486 h 3734631"/>
                <a:gd name="connsiteX11" fmla="*/ 4398197 w 4569687"/>
                <a:gd name="connsiteY11" fmla="*/ 1572980 h 3734631"/>
                <a:gd name="connsiteX12" fmla="*/ 4401113 w 4569687"/>
                <a:gd name="connsiteY12" fmla="*/ 1601912 h 3734631"/>
                <a:gd name="connsiteX13" fmla="*/ 4509768 w 4569687"/>
                <a:gd name="connsiteY13" fmla="*/ 1612865 h 3734631"/>
                <a:gd name="connsiteX14" fmla="*/ 4569687 w 4569687"/>
                <a:gd name="connsiteY14" fmla="*/ 1630661 h 3734631"/>
                <a:gd name="connsiteX15" fmla="*/ 4569687 w 4569687"/>
                <a:gd name="connsiteY15" fmla="*/ 3685776 h 3734631"/>
                <a:gd name="connsiteX16" fmla="*/ 4479175 w 4569687"/>
                <a:gd name="connsiteY16" fmla="*/ 3694900 h 3734631"/>
                <a:gd name="connsiteX17" fmla="*/ 4083674 w 4569687"/>
                <a:gd name="connsiteY17" fmla="*/ 3574092 h 3734631"/>
                <a:gd name="connsiteX18" fmla="*/ 4051094 w 4569687"/>
                <a:gd name="connsiteY18" fmla="*/ 3547210 h 3734631"/>
                <a:gd name="connsiteX19" fmla="*/ 4009782 w 4569687"/>
                <a:gd name="connsiteY19" fmla="*/ 3581295 h 3734631"/>
                <a:gd name="connsiteX20" fmla="*/ 3782104 w 4569687"/>
                <a:gd name="connsiteY20" fmla="*/ 3650841 h 3734631"/>
                <a:gd name="connsiteX21" fmla="*/ 3494159 w 4569687"/>
                <a:gd name="connsiteY21" fmla="*/ 3531570 h 3734631"/>
                <a:gd name="connsiteX22" fmla="*/ 3452428 w 4569687"/>
                <a:gd name="connsiteY22" fmla="*/ 3480992 h 3734631"/>
                <a:gd name="connsiteX23" fmla="*/ 3441126 w 4569687"/>
                <a:gd name="connsiteY23" fmla="*/ 3501813 h 3734631"/>
                <a:gd name="connsiteX24" fmla="*/ 3103456 w 4569687"/>
                <a:gd name="connsiteY24" fmla="*/ 3681351 h 3734631"/>
                <a:gd name="connsiteX25" fmla="*/ 2815511 w 4569687"/>
                <a:gd name="connsiteY25" fmla="*/ 3562080 h 3734631"/>
                <a:gd name="connsiteX26" fmla="*/ 2772231 w 4569687"/>
                <a:gd name="connsiteY26" fmla="*/ 3509625 h 3734631"/>
                <a:gd name="connsiteX27" fmla="*/ 2697608 w 4569687"/>
                <a:gd name="connsiteY27" fmla="*/ 3571194 h 3734631"/>
                <a:gd name="connsiteX28" fmla="*/ 2162552 w 4569687"/>
                <a:gd name="connsiteY28" fmla="*/ 3734631 h 3734631"/>
                <a:gd name="connsiteX29" fmla="*/ 1369010 w 4569687"/>
                <a:gd name="connsiteY29" fmla="*/ 3312708 h 3734631"/>
                <a:gd name="connsiteX30" fmla="*/ 1334207 w 4569687"/>
                <a:gd name="connsiteY30" fmla="*/ 3340352 h 3734631"/>
                <a:gd name="connsiteX31" fmla="*/ 1046262 w 4569687"/>
                <a:gd name="connsiteY31" fmla="*/ 3459623 h 3734631"/>
                <a:gd name="connsiteX32" fmla="*/ 647319 w 4569687"/>
                <a:gd name="connsiteY32" fmla="*/ 3134475 h 3734631"/>
                <a:gd name="connsiteX33" fmla="*/ 642925 w 4569687"/>
                <a:gd name="connsiteY33" fmla="*/ 3090891 h 3734631"/>
                <a:gd name="connsiteX34" fmla="*/ 634894 w 4569687"/>
                <a:gd name="connsiteY34" fmla="*/ 3098188 h 3734631"/>
                <a:gd name="connsiteX35" fmla="*/ 407216 w 4569687"/>
                <a:gd name="connsiteY35" fmla="*/ 3167734 h 3734631"/>
                <a:gd name="connsiteX36" fmla="*/ 0 w 4569687"/>
                <a:gd name="connsiteY36" fmla="*/ 2760518 h 3734631"/>
                <a:gd name="connsiteX37" fmla="*/ 407216 w 4569687"/>
                <a:gd name="connsiteY37" fmla="*/ 2353302 h 3734631"/>
                <a:gd name="connsiteX38" fmla="*/ 489284 w 4569687"/>
                <a:gd name="connsiteY38" fmla="*/ 2361575 h 3734631"/>
                <a:gd name="connsiteX39" fmla="*/ 508084 w 4569687"/>
                <a:gd name="connsiteY39" fmla="*/ 2367411 h 3734631"/>
                <a:gd name="connsiteX40" fmla="*/ 503849 w 4569687"/>
                <a:gd name="connsiteY40" fmla="*/ 2325400 h 3734631"/>
                <a:gd name="connsiteX41" fmla="*/ 1121688 w 4569687"/>
                <a:gd name="connsiteY41" fmla="*/ 1707561 h 3734631"/>
                <a:gd name="connsiteX42" fmla="*/ 1246204 w 4569687"/>
                <a:gd name="connsiteY42" fmla="*/ 1720113 h 3734631"/>
                <a:gd name="connsiteX43" fmla="*/ 1284356 w 4569687"/>
                <a:gd name="connsiteY43" fmla="*/ 1731957 h 3734631"/>
                <a:gd name="connsiteX44" fmla="*/ 1305976 w 4569687"/>
                <a:gd name="connsiteY44" fmla="*/ 1705754 h 3734631"/>
                <a:gd name="connsiteX45" fmla="*/ 1742854 w 4569687"/>
                <a:gd name="connsiteY45" fmla="*/ 1524793 h 3734631"/>
                <a:gd name="connsiteX46" fmla="*/ 1760288 w 4569687"/>
                <a:gd name="connsiteY46" fmla="*/ 1526551 h 3734631"/>
                <a:gd name="connsiteX47" fmla="*/ 1748032 w 4569687"/>
                <a:gd name="connsiteY47" fmla="*/ 1487068 h 3734631"/>
                <a:gd name="connsiteX48" fmla="*/ 1742854 w 4569687"/>
                <a:gd name="connsiteY48" fmla="*/ 1435701 h 3734631"/>
                <a:gd name="connsiteX49" fmla="*/ 1946367 w 4569687"/>
                <a:gd name="connsiteY49" fmla="*/ 1185999 h 3734631"/>
                <a:gd name="connsiteX50" fmla="*/ 1956892 w 4569687"/>
                <a:gd name="connsiteY50" fmla="*/ 1184938 h 3734631"/>
                <a:gd name="connsiteX51" fmla="*/ 1963928 w 4569687"/>
                <a:gd name="connsiteY51" fmla="*/ 1115143 h 3734631"/>
                <a:gd name="connsiteX52" fmla="*/ 2450363 w 4569687"/>
                <a:gd name="connsiteY52" fmla="*/ 718687 h 3734631"/>
                <a:gd name="connsiteX53" fmla="*/ 2520904 w 4569687"/>
                <a:gd name="connsiteY53" fmla="*/ 725798 h 3734631"/>
                <a:gd name="connsiteX54" fmla="*/ 2611712 w 4569687"/>
                <a:gd name="connsiteY54" fmla="*/ 0 h 3734631"/>
                <a:gd name="connsiteX0" fmla="*/ 2611712 w 4569687"/>
                <a:gd name="connsiteY0" fmla="*/ 0 h 3743131"/>
                <a:gd name="connsiteX1" fmla="*/ 2927539 w 4569687"/>
                <a:gd name="connsiteY1" fmla="*/ 0 h 3743131"/>
                <a:gd name="connsiteX2" fmla="*/ 3010471 w 4569687"/>
                <a:gd name="connsiteY2" fmla="*/ 662843 h 3743131"/>
                <a:gd name="connsiteX3" fmla="*/ 3062414 w 4569687"/>
                <a:gd name="connsiteY3" fmla="*/ 672782 h 3743131"/>
                <a:gd name="connsiteX4" fmla="*/ 3375104 w 4569687"/>
                <a:gd name="connsiteY4" fmla="*/ 893768 h 3743131"/>
                <a:gd name="connsiteX5" fmla="*/ 3401966 w 4569687"/>
                <a:gd name="connsiteY5" fmla="*/ 943258 h 3743131"/>
                <a:gd name="connsiteX6" fmla="*/ 3444529 w 4569687"/>
                <a:gd name="connsiteY6" fmla="*/ 938967 h 3743131"/>
                <a:gd name="connsiteX7" fmla="*/ 3941882 w 4569687"/>
                <a:gd name="connsiteY7" fmla="*/ 1268635 h 3743131"/>
                <a:gd name="connsiteX8" fmla="*/ 3950232 w 4569687"/>
                <a:gd name="connsiteY8" fmla="*/ 1295533 h 3743131"/>
                <a:gd name="connsiteX9" fmla="*/ 3968452 w 4569687"/>
                <a:gd name="connsiteY9" fmla="*/ 1289878 h 3743131"/>
                <a:gd name="connsiteX10" fmla="*/ 4041773 w 4569687"/>
                <a:gd name="connsiteY10" fmla="*/ 1282486 h 3743131"/>
                <a:gd name="connsiteX11" fmla="*/ 4398197 w 4569687"/>
                <a:gd name="connsiteY11" fmla="*/ 1572980 h 3743131"/>
                <a:gd name="connsiteX12" fmla="*/ 4401113 w 4569687"/>
                <a:gd name="connsiteY12" fmla="*/ 1601912 h 3743131"/>
                <a:gd name="connsiteX13" fmla="*/ 4509768 w 4569687"/>
                <a:gd name="connsiteY13" fmla="*/ 1612865 h 3743131"/>
                <a:gd name="connsiteX14" fmla="*/ 4569687 w 4569687"/>
                <a:gd name="connsiteY14" fmla="*/ 1630661 h 3743131"/>
                <a:gd name="connsiteX15" fmla="*/ 4569687 w 4569687"/>
                <a:gd name="connsiteY15" fmla="*/ 3685776 h 3743131"/>
                <a:gd name="connsiteX16" fmla="*/ 4479175 w 4569687"/>
                <a:gd name="connsiteY16" fmla="*/ 3694900 h 3743131"/>
                <a:gd name="connsiteX17" fmla="*/ 4083674 w 4569687"/>
                <a:gd name="connsiteY17" fmla="*/ 3574092 h 3743131"/>
                <a:gd name="connsiteX18" fmla="*/ 4051094 w 4569687"/>
                <a:gd name="connsiteY18" fmla="*/ 3547210 h 3743131"/>
                <a:gd name="connsiteX19" fmla="*/ 4009782 w 4569687"/>
                <a:gd name="connsiteY19" fmla="*/ 3581295 h 3743131"/>
                <a:gd name="connsiteX20" fmla="*/ 3782104 w 4569687"/>
                <a:gd name="connsiteY20" fmla="*/ 3650841 h 3743131"/>
                <a:gd name="connsiteX21" fmla="*/ 3494159 w 4569687"/>
                <a:gd name="connsiteY21" fmla="*/ 3531570 h 3743131"/>
                <a:gd name="connsiteX22" fmla="*/ 3452428 w 4569687"/>
                <a:gd name="connsiteY22" fmla="*/ 3480992 h 3743131"/>
                <a:gd name="connsiteX23" fmla="*/ 3441126 w 4569687"/>
                <a:gd name="connsiteY23" fmla="*/ 3501813 h 3743131"/>
                <a:gd name="connsiteX24" fmla="*/ 3103456 w 4569687"/>
                <a:gd name="connsiteY24" fmla="*/ 3681351 h 3743131"/>
                <a:gd name="connsiteX25" fmla="*/ 2815511 w 4569687"/>
                <a:gd name="connsiteY25" fmla="*/ 3562080 h 3743131"/>
                <a:gd name="connsiteX26" fmla="*/ 2772231 w 4569687"/>
                <a:gd name="connsiteY26" fmla="*/ 3509625 h 3743131"/>
                <a:gd name="connsiteX27" fmla="*/ 2697608 w 4569687"/>
                <a:gd name="connsiteY27" fmla="*/ 3571194 h 3743131"/>
                <a:gd name="connsiteX28" fmla="*/ 2162552 w 4569687"/>
                <a:gd name="connsiteY28" fmla="*/ 3734631 h 3743131"/>
                <a:gd name="connsiteX29" fmla="*/ 1334207 w 4569687"/>
                <a:gd name="connsiteY29" fmla="*/ 3340352 h 3743131"/>
                <a:gd name="connsiteX30" fmla="*/ 1046262 w 4569687"/>
                <a:gd name="connsiteY30" fmla="*/ 3459623 h 3743131"/>
                <a:gd name="connsiteX31" fmla="*/ 647319 w 4569687"/>
                <a:gd name="connsiteY31" fmla="*/ 3134475 h 3743131"/>
                <a:gd name="connsiteX32" fmla="*/ 642925 w 4569687"/>
                <a:gd name="connsiteY32" fmla="*/ 3090891 h 3743131"/>
                <a:gd name="connsiteX33" fmla="*/ 634894 w 4569687"/>
                <a:gd name="connsiteY33" fmla="*/ 3098188 h 3743131"/>
                <a:gd name="connsiteX34" fmla="*/ 407216 w 4569687"/>
                <a:gd name="connsiteY34" fmla="*/ 3167734 h 3743131"/>
                <a:gd name="connsiteX35" fmla="*/ 0 w 4569687"/>
                <a:gd name="connsiteY35" fmla="*/ 2760518 h 3743131"/>
                <a:gd name="connsiteX36" fmla="*/ 407216 w 4569687"/>
                <a:gd name="connsiteY36" fmla="*/ 2353302 h 3743131"/>
                <a:gd name="connsiteX37" fmla="*/ 489284 w 4569687"/>
                <a:gd name="connsiteY37" fmla="*/ 2361575 h 3743131"/>
                <a:gd name="connsiteX38" fmla="*/ 508084 w 4569687"/>
                <a:gd name="connsiteY38" fmla="*/ 2367411 h 3743131"/>
                <a:gd name="connsiteX39" fmla="*/ 503849 w 4569687"/>
                <a:gd name="connsiteY39" fmla="*/ 2325400 h 3743131"/>
                <a:gd name="connsiteX40" fmla="*/ 1121688 w 4569687"/>
                <a:gd name="connsiteY40" fmla="*/ 1707561 h 3743131"/>
                <a:gd name="connsiteX41" fmla="*/ 1246204 w 4569687"/>
                <a:gd name="connsiteY41" fmla="*/ 1720113 h 3743131"/>
                <a:gd name="connsiteX42" fmla="*/ 1284356 w 4569687"/>
                <a:gd name="connsiteY42" fmla="*/ 1731957 h 3743131"/>
                <a:gd name="connsiteX43" fmla="*/ 1305976 w 4569687"/>
                <a:gd name="connsiteY43" fmla="*/ 1705754 h 3743131"/>
                <a:gd name="connsiteX44" fmla="*/ 1742854 w 4569687"/>
                <a:gd name="connsiteY44" fmla="*/ 1524793 h 3743131"/>
                <a:gd name="connsiteX45" fmla="*/ 1760288 w 4569687"/>
                <a:gd name="connsiteY45" fmla="*/ 1526551 h 3743131"/>
                <a:gd name="connsiteX46" fmla="*/ 1748032 w 4569687"/>
                <a:gd name="connsiteY46" fmla="*/ 1487068 h 3743131"/>
                <a:gd name="connsiteX47" fmla="*/ 1742854 w 4569687"/>
                <a:gd name="connsiteY47" fmla="*/ 1435701 h 3743131"/>
                <a:gd name="connsiteX48" fmla="*/ 1946367 w 4569687"/>
                <a:gd name="connsiteY48" fmla="*/ 1185999 h 3743131"/>
                <a:gd name="connsiteX49" fmla="*/ 1956892 w 4569687"/>
                <a:gd name="connsiteY49" fmla="*/ 1184938 h 3743131"/>
                <a:gd name="connsiteX50" fmla="*/ 1963928 w 4569687"/>
                <a:gd name="connsiteY50" fmla="*/ 1115143 h 3743131"/>
                <a:gd name="connsiteX51" fmla="*/ 2450363 w 4569687"/>
                <a:gd name="connsiteY51" fmla="*/ 718687 h 3743131"/>
                <a:gd name="connsiteX52" fmla="*/ 2520904 w 4569687"/>
                <a:gd name="connsiteY52" fmla="*/ 725798 h 3743131"/>
                <a:gd name="connsiteX53" fmla="*/ 2611712 w 4569687"/>
                <a:gd name="connsiteY53" fmla="*/ 0 h 3743131"/>
                <a:gd name="connsiteX0" fmla="*/ 2611712 w 4569687"/>
                <a:gd name="connsiteY0" fmla="*/ 0 h 3741630"/>
                <a:gd name="connsiteX1" fmla="*/ 2927539 w 4569687"/>
                <a:gd name="connsiteY1" fmla="*/ 0 h 3741630"/>
                <a:gd name="connsiteX2" fmla="*/ 3010471 w 4569687"/>
                <a:gd name="connsiteY2" fmla="*/ 662843 h 3741630"/>
                <a:gd name="connsiteX3" fmla="*/ 3062414 w 4569687"/>
                <a:gd name="connsiteY3" fmla="*/ 672782 h 3741630"/>
                <a:gd name="connsiteX4" fmla="*/ 3375104 w 4569687"/>
                <a:gd name="connsiteY4" fmla="*/ 893768 h 3741630"/>
                <a:gd name="connsiteX5" fmla="*/ 3401966 w 4569687"/>
                <a:gd name="connsiteY5" fmla="*/ 943258 h 3741630"/>
                <a:gd name="connsiteX6" fmla="*/ 3444529 w 4569687"/>
                <a:gd name="connsiteY6" fmla="*/ 938967 h 3741630"/>
                <a:gd name="connsiteX7" fmla="*/ 3941882 w 4569687"/>
                <a:gd name="connsiteY7" fmla="*/ 1268635 h 3741630"/>
                <a:gd name="connsiteX8" fmla="*/ 3950232 w 4569687"/>
                <a:gd name="connsiteY8" fmla="*/ 1295533 h 3741630"/>
                <a:gd name="connsiteX9" fmla="*/ 3968452 w 4569687"/>
                <a:gd name="connsiteY9" fmla="*/ 1289878 h 3741630"/>
                <a:gd name="connsiteX10" fmla="*/ 4041773 w 4569687"/>
                <a:gd name="connsiteY10" fmla="*/ 1282486 h 3741630"/>
                <a:gd name="connsiteX11" fmla="*/ 4398197 w 4569687"/>
                <a:gd name="connsiteY11" fmla="*/ 1572980 h 3741630"/>
                <a:gd name="connsiteX12" fmla="*/ 4401113 w 4569687"/>
                <a:gd name="connsiteY12" fmla="*/ 1601912 h 3741630"/>
                <a:gd name="connsiteX13" fmla="*/ 4509768 w 4569687"/>
                <a:gd name="connsiteY13" fmla="*/ 1612865 h 3741630"/>
                <a:gd name="connsiteX14" fmla="*/ 4569687 w 4569687"/>
                <a:gd name="connsiteY14" fmla="*/ 1630661 h 3741630"/>
                <a:gd name="connsiteX15" fmla="*/ 4569687 w 4569687"/>
                <a:gd name="connsiteY15" fmla="*/ 3685776 h 3741630"/>
                <a:gd name="connsiteX16" fmla="*/ 4479175 w 4569687"/>
                <a:gd name="connsiteY16" fmla="*/ 3694900 h 3741630"/>
                <a:gd name="connsiteX17" fmla="*/ 4083674 w 4569687"/>
                <a:gd name="connsiteY17" fmla="*/ 3574092 h 3741630"/>
                <a:gd name="connsiteX18" fmla="*/ 4051094 w 4569687"/>
                <a:gd name="connsiteY18" fmla="*/ 3547210 h 3741630"/>
                <a:gd name="connsiteX19" fmla="*/ 4009782 w 4569687"/>
                <a:gd name="connsiteY19" fmla="*/ 3581295 h 3741630"/>
                <a:gd name="connsiteX20" fmla="*/ 3782104 w 4569687"/>
                <a:gd name="connsiteY20" fmla="*/ 3650841 h 3741630"/>
                <a:gd name="connsiteX21" fmla="*/ 3494159 w 4569687"/>
                <a:gd name="connsiteY21" fmla="*/ 3531570 h 3741630"/>
                <a:gd name="connsiteX22" fmla="*/ 3452428 w 4569687"/>
                <a:gd name="connsiteY22" fmla="*/ 3480992 h 3741630"/>
                <a:gd name="connsiteX23" fmla="*/ 3441126 w 4569687"/>
                <a:gd name="connsiteY23" fmla="*/ 3501813 h 3741630"/>
                <a:gd name="connsiteX24" fmla="*/ 3103456 w 4569687"/>
                <a:gd name="connsiteY24" fmla="*/ 3681351 h 3741630"/>
                <a:gd name="connsiteX25" fmla="*/ 2815511 w 4569687"/>
                <a:gd name="connsiteY25" fmla="*/ 3562080 h 3741630"/>
                <a:gd name="connsiteX26" fmla="*/ 2772231 w 4569687"/>
                <a:gd name="connsiteY26" fmla="*/ 3509625 h 3741630"/>
                <a:gd name="connsiteX27" fmla="*/ 2697608 w 4569687"/>
                <a:gd name="connsiteY27" fmla="*/ 3571194 h 3741630"/>
                <a:gd name="connsiteX28" fmla="*/ 2162552 w 4569687"/>
                <a:gd name="connsiteY28" fmla="*/ 3734631 h 3741630"/>
                <a:gd name="connsiteX29" fmla="*/ 1390478 w 4569687"/>
                <a:gd name="connsiteY29" fmla="*/ 3368488 h 3741630"/>
                <a:gd name="connsiteX30" fmla="*/ 1046262 w 4569687"/>
                <a:gd name="connsiteY30" fmla="*/ 3459623 h 3741630"/>
                <a:gd name="connsiteX31" fmla="*/ 647319 w 4569687"/>
                <a:gd name="connsiteY31" fmla="*/ 3134475 h 3741630"/>
                <a:gd name="connsiteX32" fmla="*/ 642925 w 4569687"/>
                <a:gd name="connsiteY32" fmla="*/ 3090891 h 3741630"/>
                <a:gd name="connsiteX33" fmla="*/ 634894 w 4569687"/>
                <a:gd name="connsiteY33" fmla="*/ 3098188 h 3741630"/>
                <a:gd name="connsiteX34" fmla="*/ 407216 w 4569687"/>
                <a:gd name="connsiteY34" fmla="*/ 3167734 h 3741630"/>
                <a:gd name="connsiteX35" fmla="*/ 0 w 4569687"/>
                <a:gd name="connsiteY35" fmla="*/ 2760518 h 3741630"/>
                <a:gd name="connsiteX36" fmla="*/ 407216 w 4569687"/>
                <a:gd name="connsiteY36" fmla="*/ 2353302 h 3741630"/>
                <a:gd name="connsiteX37" fmla="*/ 489284 w 4569687"/>
                <a:gd name="connsiteY37" fmla="*/ 2361575 h 3741630"/>
                <a:gd name="connsiteX38" fmla="*/ 508084 w 4569687"/>
                <a:gd name="connsiteY38" fmla="*/ 2367411 h 3741630"/>
                <a:gd name="connsiteX39" fmla="*/ 503849 w 4569687"/>
                <a:gd name="connsiteY39" fmla="*/ 2325400 h 3741630"/>
                <a:gd name="connsiteX40" fmla="*/ 1121688 w 4569687"/>
                <a:gd name="connsiteY40" fmla="*/ 1707561 h 3741630"/>
                <a:gd name="connsiteX41" fmla="*/ 1246204 w 4569687"/>
                <a:gd name="connsiteY41" fmla="*/ 1720113 h 3741630"/>
                <a:gd name="connsiteX42" fmla="*/ 1284356 w 4569687"/>
                <a:gd name="connsiteY42" fmla="*/ 1731957 h 3741630"/>
                <a:gd name="connsiteX43" fmla="*/ 1305976 w 4569687"/>
                <a:gd name="connsiteY43" fmla="*/ 1705754 h 3741630"/>
                <a:gd name="connsiteX44" fmla="*/ 1742854 w 4569687"/>
                <a:gd name="connsiteY44" fmla="*/ 1524793 h 3741630"/>
                <a:gd name="connsiteX45" fmla="*/ 1760288 w 4569687"/>
                <a:gd name="connsiteY45" fmla="*/ 1526551 h 3741630"/>
                <a:gd name="connsiteX46" fmla="*/ 1748032 w 4569687"/>
                <a:gd name="connsiteY46" fmla="*/ 1487068 h 3741630"/>
                <a:gd name="connsiteX47" fmla="*/ 1742854 w 4569687"/>
                <a:gd name="connsiteY47" fmla="*/ 1435701 h 3741630"/>
                <a:gd name="connsiteX48" fmla="*/ 1946367 w 4569687"/>
                <a:gd name="connsiteY48" fmla="*/ 1185999 h 3741630"/>
                <a:gd name="connsiteX49" fmla="*/ 1956892 w 4569687"/>
                <a:gd name="connsiteY49" fmla="*/ 1184938 h 3741630"/>
                <a:gd name="connsiteX50" fmla="*/ 1963928 w 4569687"/>
                <a:gd name="connsiteY50" fmla="*/ 1115143 h 3741630"/>
                <a:gd name="connsiteX51" fmla="*/ 2450363 w 4569687"/>
                <a:gd name="connsiteY51" fmla="*/ 718687 h 3741630"/>
                <a:gd name="connsiteX52" fmla="*/ 2520904 w 4569687"/>
                <a:gd name="connsiteY52" fmla="*/ 725798 h 3741630"/>
                <a:gd name="connsiteX53" fmla="*/ 2611712 w 4569687"/>
                <a:gd name="connsiteY53" fmla="*/ 0 h 3741630"/>
                <a:gd name="connsiteX0" fmla="*/ 2611712 w 4569687"/>
                <a:gd name="connsiteY0" fmla="*/ 0 h 3734730"/>
                <a:gd name="connsiteX1" fmla="*/ 2927539 w 4569687"/>
                <a:gd name="connsiteY1" fmla="*/ 0 h 3734730"/>
                <a:gd name="connsiteX2" fmla="*/ 3010471 w 4569687"/>
                <a:gd name="connsiteY2" fmla="*/ 662843 h 3734730"/>
                <a:gd name="connsiteX3" fmla="*/ 3062414 w 4569687"/>
                <a:gd name="connsiteY3" fmla="*/ 672782 h 3734730"/>
                <a:gd name="connsiteX4" fmla="*/ 3375104 w 4569687"/>
                <a:gd name="connsiteY4" fmla="*/ 893768 h 3734730"/>
                <a:gd name="connsiteX5" fmla="*/ 3401966 w 4569687"/>
                <a:gd name="connsiteY5" fmla="*/ 943258 h 3734730"/>
                <a:gd name="connsiteX6" fmla="*/ 3444529 w 4569687"/>
                <a:gd name="connsiteY6" fmla="*/ 938967 h 3734730"/>
                <a:gd name="connsiteX7" fmla="*/ 3941882 w 4569687"/>
                <a:gd name="connsiteY7" fmla="*/ 1268635 h 3734730"/>
                <a:gd name="connsiteX8" fmla="*/ 3950232 w 4569687"/>
                <a:gd name="connsiteY8" fmla="*/ 1295533 h 3734730"/>
                <a:gd name="connsiteX9" fmla="*/ 3968452 w 4569687"/>
                <a:gd name="connsiteY9" fmla="*/ 1289878 h 3734730"/>
                <a:gd name="connsiteX10" fmla="*/ 4041773 w 4569687"/>
                <a:gd name="connsiteY10" fmla="*/ 1282486 h 3734730"/>
                <a:gd name="connsiteX11" fmla="*/ 4398197 w 4569687"/>
                <a:gd name="connsiteY11" fmla="*/ 1572980 h 3734730"/>
                <a:gd name="connsiteX12" fmla="*/ 4401113 w 4569687"/>
                <a:gd name="connsiteY12" fmla="*/ 1601912 h 3734730"/>
                <a:gd name="connsiteX13" fmla="*/ 4509768 w 4569687"/>
                <a:gd name="connsiteY13" fmla="*/ 1612865 h 3734730"/>
                <a:gd name="connsiteX14" fmla="*/ 4569687 w 4569687"/>
                <a:gd name="connsiteY14" fmla="*/ 1630661 h 3734730"/>
                <a:gd name="connsiteX15" fmla="*/ 4569687 w 4569687"/>
                <a:gd name="connsiteY15" fmla="*/ 3685776 h 3734730"/>
                <a:gd name="connsiteX16" fmla="*/ 4479175 w 4569687"/>
                <a:gd name="connsiteY16" fmla="*/ 3694900 h 3734730"/>
                <a:gd name="connsiteX17" fmla="*/ 4083674 w 4569687"/>
                <a:gd name="connsiteY17" fmla="*/ 3574092 h 3734730"/>
                <a:gd name="connsiteX18" fmla="*/ 4051094 w 4569687"/>
                <a:gd name="connsiteY18" fmla="*/ 3547210 h 3734730"/>
                <a:gd name="connsiteX19" fmla="*/ 4009782 w 4569687"/>
                <a:gd name="connsiteY19" fmla="*/ 3581295 h 3734730"/>
                <a:gd name="connsiteX20" fmla="*/ 3782104 w 4569687"/>
                <a:gd name="connsiteY20" fmla="*/ 3650841 h 3734730"/>
                <a:gd name="connsiteX21" fmla="*/ 3494159 w 4569687"/>
                <a:gd name="connsiteY21" fmla="*/ 3531570 h 3734730"/>
                <a:gd name="connsiteX22" fmla="*/ 3452428 w 4569687"/>
                <a:gd name="connsiteY22" fmla="*/ 3480992 h 3734730"/>
                <a:gd name="connsiteX23" fmla="*/ 3441126 w 4569687"/>
                <a:gd name="connsiteY23" fmla="*/ 3501813 h 3734730"/>
                <a:gd name="connsiteX24" fmla="*/ 3103456 w 4569687"/>
                <a:gd name="connsiteY24" fmla="*/ 3681351 h 3734730"/>
                <a:gd name="connsiteX25" fmla="*/ 2815511 w 4569687"/>
                <a:gd name="connsiteY25" fmla="*/ 3562080 h 3734730"/>
                <a:gd name="connsiteX26" fmla="*/ 2772231 w 4569687"/>
                <a:gd name="connsiteY26" fmla="*/ 3509625 h 3734730"/>
                <a:gd name="connsiteX27" fmla="*/ 2697608 w 4569687"/>
                <a:gd name="connsiteY27" fmla="*/ 3571194 h 3734730"/>
                <a:gd name="connsiteX28" fmla="*/ 2162552 w 4569687"/>
                <a:gd name="connsiteY28" fmla="*/ 3734631 h 3734730"/>
                <a:gd name="connsiteX29" fmla="*/ 1390478 w 4569687"/>
                <a:gd name="connsiteY29" fmla="*/ 3368488 h 3734730"/>
                <a:gd name="connsiteX30" fmla="*/ 1046262 w 4569687"/>
                <a:gd name="connsiteY30" fmla="*/ 3459623 h 3734730"/>
                <a:gd name="connsiteX31" fmla="*/ 647319 w 4569687"/>
                <a:gd name="connsiteY31" fmla="*/ 3134475 h 3734730"/>
                <a:gd name="connsiteX32" fmla="*/ 642925 w 4569687"/>
                <a:gd name="connsiteY32" fmla="*/ 3090891 h 3734730"/>
                <a:gd name="connsiteX33" fmla="*/ 634894 w 4569687"/>
                <a:gd name="connsiteY33" fmla="*/ 3098188 h 3734730"/>
                <a:gd name="connsiteX34" fmla="*/ 407216 w 4569687"/>
                <a:gd name="connsiteY34" fmla="*/ 3167734 h 3734730"/>
                <a:gd name="connsiteX35" fmla="*/ 0 w 4569687"/>
                <a:gd name="connsiteY35" fmla="*/ 2760518 h 3734730"/>
                <a:gd name="connsiteX36" fmla="*/ 407216 w 4569687"/>
                <a:gd name="connsiteY36" fmla="*/ 2353302 h 3734730"/>
                <a:gd name="connsiteX37" fmla="*/ 489284 w 4569687"/>
                <a:gd name="connsiteY37" fmla="*/ 2361575 h 3734730"/>
                <a:gd name="connsiteX38" fmla="*/ 508084 w 4569687"/>
                <a:gd name="connsiteY38" fmla="*/ 2367411 h 3734730"/>
                <a:gd name="connsiteX39" fmla="*/ 503849 w 4569687"/>
                <a:gd name="connsiteY39" fmla="*/ 2325400 h 3734730"/>
                <a:gd name="connsiteX40" fmla="*/ 1121688 w 4569687"/>
                <a:gd name="connsiteY40" fmla="*/ 1707561 h 3734730"/>
                <a:gd name="connsiteX41" fmla="*/ 1246204 w 4569687"/>
                <a:gd name="connsiteY41" fmla="*/ 1720113 h 3734730"/>
                <a:gd name="connsiteX42" fmla="*/ 1284356 w 4569687"/>
                <a:gd name="connsiteY42" fmla="*/ 1731957 h 3734730"/>
                <a:gd name="connsiteX43" fmla="*/ 1305976 w 4569687"/>
                <a:gd name="connsiteY43" fmla="*/ 1705754 h 3734730"/>
                <a:gd name="connsiteX44" fmla="*/ 1742854 w 4569687"/>
                <a:gd name="connsiteY44" fmla="*/ 1524793 h 3734730"/>
                <a:gd name="connsiteX45" fmla="*/ 1760288 w 4569687"/>
                <a:gd name="connsiteY45" fmla="*/ 1526551 h 3734730"/>
                <a:gd name="connsiteX46" fmla="*/ 1748032 w 4569687"/>
                <a:gd name="connsiteY46" fmla="*/ 1487068 h 3734730"/>
                <a:gd name="connsiteX47" fmla="*/ 1742854 w 4569687"/>
                <a:gd name="connsiteY47" fmla="*/ 1435701 h 3734730"/>
                <a:gd name="connsiteX48" fmla="*/ 1946367 w 4569687"/>
                <a:gd name="connsiteY48" fmla="*/ 1185999 h 3734730"/>
                <a:gd name="connsiteX49" fmla="*/ 1956892 w 4569687"/>
                <a:gd name="connsiteY49" fmla="*/ 1184938 h 3734730"/>
                <a:gd name="connsiteX50" fmla="*/ 1963928 w 4569687"/>
                <a:gd name="connsiteY50" fmla="*/ 1115143 h 3734730"/>
                <a:gd name="connsiteX51" fmla="*/ 2450363 w 4569687"/>
                <a:gd name="connsiteY51" fmla="*/ 718687 h 3734730"/>
                <a:gd name="connsiteX52" fmla="*/ 2520904 w 4569687"/>
                <a:gd name="connsiteY52" fmla="*/ 725798 h 3734730"/>
                <a:gd name="connsiteX53" fmla="*/ 2611712 w 4569687"/>
                <a:gd name="connsiteY53" fmla="*/ 0 h 3734730"/>
                <a:gd name="connsiteX0" fmla="*/ 2611712 w 4569687"/>
                <a:gd name="connsiteY0" fmla="*/ 0 h 3734730"/>
                <a:gd name="connsiteX1" fmla="*/ 2927539 w 4569687"/>
                <a:gd name="connsiteY1" fmla="*/ 0 h 3734730"/>
                <a:gd name="connsiteX2" fmla="*/ 3010471 w 4569687"/>
                <a:gd name="connsiteY2" fmla="*/ 662843 h 3734730"/>
                <a:gd name="connsiteX3" fmla="*/ 3062414 w 4569687"/>
                <a:gd name="connsiteY3" fmla="*/ 672782 h 3734730"/>
                <a:gd name="connsiteX4" fmla="*/ 3375104 w 4569687"/>
                <a:gd name="connsiteY4" fmla="*/ 893768 h 3734730"/>
                <a:gd name="connsiteX5" fmla="*/ 3401966 w 4569687"/>
                <a:gd name="connsiteY5" fmla="*/ 943258 h 3734730"/>
                <a:gd name="connsiteX6" fmla="*/ 3444529 w 4569687"/>
                <a:gd name="connsiteY6" fmla="*/ 938967 h 3734730"/>
                <a:gd name="connsiteX7" fmla="*/ 3941882 w 4569687"/>
                <a:gd name="connsiteY7" fmla="*/ 1268635 h 3734730"/>
                <a:gd name="connsiteX8" fmla="*/ 3950232 w 4569687"/>
                <a:gd name="connsiteY8" fmla="*/ 1295533 h 3734730"/>
                <a:gd name="connsiteX9" fmla="*/ 3968452 w 4569687"/>
                <a:gd name="connsiteY9" fmla="*/ 1289878 h 3734730"/>
                <a:gd name="connsiteX10" fmla="*/ 4041773 w 4569687"/>
                <a:gd name="connsiteY10" fmla="*/ 1282486 h 3734730"/>
                <a:gd name="connsiteX11" fmla="*/ 4398197 w 4569687"/>
                <a:gd name="connsiteY11" fmla="*/ 1572980 h 3734730"/>
                <a:gd name="connsiteX12" fmla="*/ 4401113 w 4569687"/>
                <a:gd name="connsiteY12" fmla="*/ 1601912 h 3734730"/>
                <a:gd name="connsiteX13" fmla="*/ 4509768 w 4569687"/>
                <a:gd name="connsiteY13" fmla="*/ 1612865 h 3734730"/>
                <a:gd name="connsiteX14" fmla="*/ 4569687 w 4569687"/>
                <a:gd name="connsiteY14" fmla="*/ 1630661 h 3734730"/>
                <a:gd name="connsiteX15" fmla="*/ 4569687 w 4569687"/>
                <a:gd name="connsiteY15" fmla="*/ 3685776 h 3734730"/>
                <a:gd name="connsiteX16" fmla="*/ 4479175 w 4569687"/>
                <a:gd name="connsiteY16" fmla="*/ 3694900 h 3734730"/>
                <a:gd name="connsiteX17" fmla="*/ 4083674 w 4569687"/>
                <a:gd name="connsiteY17" fmla="*/ 3574092 h 3734730"/>
                <a:gd name="connsiteX18" fmla="*/ 4051094 w 4569687"/>
                <a:gd name="connsiteY18" fmla="*/ 3547210 h 3734730"/>
                <a:gd name="connsiteX19" fmla="*/ 4009782 w 4569687"/>
                <a:gd name="connsiteY19" fmla="*/ 3581295 h 3734730"/>
                <a:gd name="connsiteX20" fmla="*/ 3782104 w 4569687"/>
                <a:gd name="connsiteY20" fmla="*/ 3650841 h 3734730"/>
                <a:gd name="connsiteX21" fmla="*/ 3494159 w 4569687"/>
                <a:gd name="connsiteY21" fmla="*/ 3531570 h 3734730"/>
                <a:gd name="connsiteX22" fmla="*/ 3452428 w 4569687"/>
                <a:gd name="connsiteY22" fmla="*/ 3480992 h 3734730"/>
                <a:gd name="connsiteX23" fmla="*/ 3441126 w 4569687"/>
                <a:gd name="connsiteY23" fmla="*/ 3501813 h 3734730"/>
                <a:gd name="connsiteX24" fmla="*/ 3103456 w 4569687"/>
                <a:gd name="connsiteY24" fmla="*/ 3681351 h 3734730"/>
                <a:gd name="connsiteX25" fmla="*/ 2815511 w 4569687"/>
                <a:gd name="connsiteY25" fmla="*/ 3562080 h 3734730"/>
                <a:gd name="connsiteX26" fmla="*/ 2772231 w 4569687"/>
                <a:gd name="connsiteY26" fmla="*/ 3509625 h 3734730"/>
                <a:gd name="connsiteX27" fmla="*/ 2697608 w 4569687"/>
                <a:gd name="connsiteY27" fmla="*/ 3571194 h 3734730"/>
                <a:gd name="connsiteX28" fmla="*/ 2162552 w 4569687"/>
                <a:gd name="connsiteY28" fmla="*/ 3734631 h 3734730"/>
                <a:gd name="connsiteX29" fmla="*/ 1390478 w 4569687"/>
                <a:gd name="connsiteY29" fmla="*/ 3368488 h 3734730"/>
                <a:gd name="connsiteX30" fmla="*/ 1046262 w 4569687"/>
                <a:gd name="connsiteY30" fmla="*/ 3459623 h 3734730"/>
                <a:gd name="connsiteX31" fmla="*/ 647319 w 4569687"/>
                <a:gd name="connsiteY31" fmla="*/ 3134475 h 3734730"/>
                <a:gd name="connsiteX32" fmla="*/ 642925 w 4569687"/>
                <a:gd name="connsiteY32" fmla="*/ 3090891 h 3734730"/>
                <a:gd name="connsiteX33" fmla="*/ 634894 w 4569687"/>
                <a:gd name="connsiteY33" fmla="*/ 3098188 h 3734730"/>
                <a:gd name="connsiteX34" fmla="*/ 407216 w 4569687"/>
                <a:gd name="connsiteY34" fmla="*/ 3167734 h 3734730"/>
                <a:gd name="connsiteX35" fmla="*/ 0 w 4569687"/>
                <a:gd name="connsiteY35" fmla="*/ 2760518 h 3734730"/>
                <a:gd name="connsiteX36" fmla="*/ 407216 w 4569687"/>
                <a:gd name="connsiteY36" fmla="*/ 2353302 h 3734730"/>
                <a:gd name="connsiteX37" fmla="*/ 489284 w 4569687"/>
                <a:gd name="connsiteY37" fmla="*/ 2361575 h 3734730"/>
                <a:gd name="connsiteX38" fmla="*/ 508084 w 4569687"/>
                <a:gd name="connsiteY38" fmla="*/ 2367411 h 3734730"/>
                <a:gd name="connsiteX39" fmla="*/ 503849 w 4569687"/>
                <a:gd name="connsiteY39" fmla="*/ 2325400 h 3734730"/>
                <a:gd name="connsiteX40" fmla="*/ 1121688 w 4569687"/>
                <a:gd name="connsiteY40" fmla="*/ 1707561 h 3734730"/>
                <a:gd name="connsiteX41" fmla="*/ 1246204 w 4569687"/>
                <a:gd name="connsiteY41" fmla="*/ 1720113 h 3734730"/>
                <a:gd name="connsiteX42" fmla="*/ 1284356 w 4569687"/>
                <a:gd name="connsiteY42" fmla="*/ 1731957 h 3734730"/>
                <a:gd name="connsiteX43" fmla="*/ 1305976 w 4569687"/>
                <a:gd name="connsiteY43" fmla="*/ 1705754 h 3734730"/>
                <a:gd name="connsiteX44" fmla="*/ 1742854 w 4569687"/>
                <a:gd name="connsiteY44" fmla="*/ 1524793 h 3734730"/>
                <a:gd name="connsiteX45" fmla="*/ 1760288 w 4569687"/>
                <a:gd name="connsiteY45" fmla="*/ 1526551 h 3734730"/>
                <a:gd name="connsiteX46" fmla="*/ 1748032 w 4569687"/>
                <a:gd name="connsiteY46" fmla="*/ 1487068 h 3734730"/>
                <a:gd name="connsiteX47" fmla="*/ 1742854 w 4569687"/>
                <a:gd name="connsiteY47" fmla="*/ 1435701 h 3734730"/>
                <a:gd name="connsiteX48" fmla="*/ 1946367 w 4569687"/>
                <a:gd name="connsiteY48" fmla="*/ 1185999 h 3734730"/>
                <a:gd name="connsiteX49" fmla="*/ 1956892 w 4569687"/>
                <a:gd name="connsiteY49" fmla="*/ 1184938 h 3734730"/>
                <a:gd name="connsiteX50" fmla="*/ 1963928 w 4569687"/>
                <a:gd name="connsiteY50" fmla="*/ 1115143 h 3734730"/>
                <a:gd name="connsiteX51" fmla="*/ 2450363 w 4569687"/>
                <a:gd name="connsiteY51" fmla="*/ 718687 h 3734730"/>
                <a:gd name="connsiteX52" fmla="*/ 2520904 w 4569687"/>
                <a:gd name="connsiteY52" fmla="*/ 725798 h 3734730"/>
                <a:gd name="connsiteX53" fmla="*/ 2611712 w 4569687"/>
                <a:gd name="connsiteY53" fmla="*/ 0 h 3734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569687" h="3734730">
                  <a:moveTo>
                    <a:pt x="2611712" y="0"/>
                  </a:moveTo>
                  <a:lnTo>
                    <a:pt x="2927539" y="0"/>
                  </a:lnTo>
                  <a:lnTo>
                    <a:pt x="3010471" y="662843"/>
                  </a:lnTo>
                  <a:lnTo>
                    <a:pt x="3062414" y="672782"/>
                  </a:lnTo>
                  <a:cubicBezTo>
                    <a:pt x="3191764" y="706062"/>
                    <a:pt x="3302353" y="786083"/>
                    <a:pt x="3375104" y="893768"/>
                  </a:cubicBezTo>
                  <a:lnTo>
                    <a:pt x="3401966" y="943258"/>
                  </a:lnTo>
                  <a:lnTo>
                    <a:pt x="3444529" y="938967"/>
                  </a:lnTo>
                  <a:cubicBezTo>
                    <a:pt x="3668109" y="938967"/>
                    <a:pt x="3859940" y="1074903"/>
                    <a:pt x="3941882" y="1268635"/>
                  </a:cubicBezTo>
                  <a:lnTo>
                    <a:pt x="3950232" y="1295533"/>
                  </a:lnTo>
                  <a:lnTo>
                    <a:pt x="3968452" y="1289878"/>
                  </a:lnTo>
                  <a:cubicBezTo>
                    <a:pt x="3992135" y="1285031"/>
                    <a:pt x="4016657" y="1282486"/>
                    <a:pt x="4041773" y="1282486"/>
                  </a:cubicBezTo>
                  <a:cubicBezTo>
                    <a:pt x="4217586" y="1282486"/>
                    <a:pt x="4364272" y="1407196"/>
                    <a:pt x="4398197" y="1572980"/>
                  </a:cubicBezTo>
                  <a:lnTo>
                    <a:pt x="4401113" y="1601912"/>
                  </a:lnTo>
                  <a:lnTo>
                    <a:pt x="4509768" y="1612865"/>
                  </a:lnTo>
                  <a:lnTo>
                    <a:pt x="4569687" y="1630661"/>
                  </a:lnTo>
                  <a:lnTo>
                    <a:pt x="4569687" y="3685776"/>
                  </a:lnTo>
                  <a:lnTo>
                    <a:pt x="4479175" y="3694900"/>
                  </a:lnTo>
                  <a:cubicBezTo>
                    <a:pt x="4332673" y="3694900"/>
                    <a:pt x="4196572" y="3650364"/>
                    <a:pt x="4083674" y="3574092"/>
                  </a:cubicBezTo>
                  <a:lnTo>
                    <a:pt x="4051094" y="3547210"/>
                  </a:lnTo>
                  <a:lnTo>
                    <a:pt x="4009782" y="3581295"/>
                  </a:lnTo>
                  <a:cubicBezTo>
                    <a:pt x="3944790" y="3625203"/>
                    <a:pt x="3866441" y="3650841"/>
                    <a:pt x="3782104" y="3650841"/>
                  </a:cubicBezTo>
                  <a:cubicBezTo>
                    <a:pt x="3669655" y="3650841"/>
                    <a:pt x="3567851" y="3605262"/>
                    <a:pt x="3494159" y="3531570"/>
                  </a:cubicBezTo>
                  <a:lnTo>
                    <a:pt x="3452428" y="3480992"/>
                  </a:lnTo>
                  <a:lnTo>
                    <a:pt x="3441126" y="3501813"/>
                  </a:lnTo>
                  <a:cubicBezTo>
                    <a:pt x="3367946" y="3610134"/>
                    <a:pt x="3244018" y="3681351"/>
                    <a:pt x="3103456" y="3681351"/>
                  </a:cubicBezTo>
                  <a:cubicBezTo>
                    <a:pt x="2991007" y="3681351"/>
                    <a:pt x="2889203" y="3635772"/>
                    <a:pt x="2815511" y="3562080"/>
                  </a:cubicBezTo>
                  <a:lnTo>
                    <a:pt x="2772231" y="3509625"/>
                  </a:lnTo>
                  <a:lnTo>
                    <a:pt x="2697608" y="3571194"/>
                  </a:lnTo>
                  <a:cubicBezTo>
                    <a:pt x="2544873" y="3674380"/>
                    <a:pt x="2382991" y="3737583"/>
                    <a:pt x="2162552" y="3734631"/>
                  </a:cubicBezTo>
                  <a:cubicBezTo>
                    <a:pt x="1740716" y="3728982"/>
                    <a:pt x="1534323" y="3547967"/>
                    <a:pt x="1390478" y="3368488"/>
                  </a:cubicBezTo>
                  <a:cubicBezTo>
                    <a:pt x="1316786" y="3442180"/>
                    <a:pt x="1170122" y="3498625"/>
                    <a:pt x="1046262" y="3459623"/>
                  </a:cubicBezTo>
                  <a:cubicBezTo>
                    <a:pt x="922402" y="3420621"/>
                    <a:pt x="685290" y="3320037"/>
                    <a:pt x="647319" y="3134475"/>
                  </a:cubicBezTo>
                  <a:lnTo>
                    <a:pt x="642925" y="3090891"/>
                  </a:lnTo>
                  <a:lnTo>
                    <a:pt x="634894" y="3098188"/>
                  </a:lnTo>
                  <a:cubicBezTo>
                    <a:pt x="569902" y="3142096"/>
                    <a:pt x="491553" y="3167734"/>
                    <a:pt x="407216" y="3167734"/>
                  </a:cubicBezTo>
                  <a:cubicBezTo>
                    <a:pt x="182317" y="3167734"/>
                    <a:pt x="0" y="2985417"/>
                    <a:pt x="0" y="2760518"/>
                  </a:cubicBezTo>
                  <a:cubicBezTo>
                    <a:pt x="0" y="2535619"/>
                    <a:pt x="182317" y="2353302"/>
                    <a:pt x="407216" y="2353302"/>
                  </a:cubicBezTo>
                  <a:cubicBezTo>
                    <a:pt x="435328" y="2353302"/>
                    <a:pt x="462775" y="2356151"/>
                    <a:pt x="489284" y="2361575"/>
                  </a:cubicBezTo>
                  <a:lnTo>
                    <a:pt x="508084" y="2367411"/>
                  </a:lnTo>
                  <a:lnTo>
                    <a:pt x="503849" y="2325400"/>
                  </a:lnTo>
                  <a:cubicBezTo>
                    <a:pt x="503849" y="1984177"/>
                    <a:pt x="780465" y="1707561"/>
                    <a:pt x="1121688" y="1707561"/>
                  </a:cubicBezTo>
                  <a:cubicBezTo>
                    <a:pt x="1164341" y="1707561"/>
                    <a:pt x="1205984" y="1711883"/>
                    <a:pt x="1246204" y="1720113"/>
                  </a:cubicBezTo>
                  <a:lnTo>
                    <a:pt x="1284356" y="1731957"/>
                  </a:lnTo>
                  <a:lnTo>
                    <a:pt x="1305976" y="1705754"/>
                  </a:lnTo>
                  <a:cubicBezTo>
                    <a:pt x="1417783" y="1593947"/>
                    <a:pt x="1572242" y="1524793"/>
                    <a:pt x="1742854" y="1524793"/>
                  </a:cubicBezTo>
                  <a:lnTo>
                    <a:pt x="1760288" y="1526551"/>
                  </a:lnTo>
                  <a:lnTo>
                    <a:pt x="1748032" y="1487068"/>
                  </a:lnTo>
                  <a:cubicBezTo>
                    <a:pt x="1744637" y="1470476"/>
                    <a:pt x="1742854" y="1453297"/>
                    <a:pt x="1742854" y="1435701"/>
                  </a:cubicBezTo>
                  <a:cubicBezTo>
                    <a:pt x="1742854" y="1312531"/>
                    <a:pt x="1830222" y="1209766"/>
                    <a:pt x="1946367" y="1185999"/>
                  </a:cubicBezTo>
                  <a:lnTo>
                    <a:pt x="1956892" y="1184938"/>
                  </a:lnTo>
                  <a:lnTo>
                    <a:pt x="1963928" y="1115143"/>
                  </a:lnTo>
                  <a:cubicBezTo>
                    <a:pt x="2010227" y="888886"/>
                    <a:pt x="2210419" y="718687"/>
                    <a:pt x="2450363" y="718687"/>
                  </a:cubicBezTo>
                  <a:lnTo>
                    <a:pt x="2520904" y="725798"/>
                  </a:lnTo>
                  <a:lnTo>
                    <a:pt x="2611712"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grpSp>
          <p:nvGrpSpPr>
            <p:cNvPr id="8" name="그룹 7">
              <a:extLst>
                <a:ext uri="{FF2B5EF4-FFF2-40B4-BE49-F238E27FC236}">
                  <a16:creationId xmlns:a16="http://schemas.microsoft.com/office/drawing/2014/main" xmlns="" id="{D0429EA9-A20D-4800-80F6-48970138B795}"/>
                </a:ext>
              </a:extLst>
            </p:cNvPr>
            <p:cNvGrpSpPr/>
            <p:nvPr userDrawn="1"/>
          </p:nvGrpSpPr>
          <p:grpSpPr>
            <a:xfrm>
              <a:off x="6992136" y="387072"/>
              <a:ext cx="704897" cy="1355021"/>
              <a:chOff x="5304862" y="-789923"/>
              <a:chExt cx="645890" cy="1241591"/>
            </a:xfrm>
          </p:grpSpPr>
          <p:grpSp>
            <p:nvGrpSpPr>
              <p:cNvPr id="9" name="그룹 8">
                <a:extLst>
                  <a:ext uri="{FF2B5EF4-FFF2-40B4-BE49-F238E27FC236}">
                    <a16:creationId xmlns:a16="http://schemas.microsoft.com/office/drawing/2014/main" xmlns="" id="{4817FF4C-CE41-4E26-9FB9-CB745F3234F3}"/>
                  </a:ext>
                </a:extLst>
              </p:cNvPr>
              <p:cNvGrpSpPr/>
              <p:nvPr userDrawn="1"/>
            </p:nvGrpSpPr>
            <p:grpSpPr>
              <a:xfrm>
                <a:off x="5377232" y="-789923"/>
                <a:ext cx="495969" cy="1052585"/>
                <a:chOff x="5868144" y="-857099"/>
                <a:chExt cx="495969" cy="1052585"/>
              </a:xfrm>
            </p:grpSpPr>
            <p:sp>
              <p:nvSpPr>
                <p:cNvPr id="16" name="이등변 삼각형 49">
                  <a:extLst>
                    <a:ext uri="{FF2B5EF4-FFF2-40B4-BE49-F238E27FC236}">
                      <a16:creationId xmlns:a16="http://schemas.microsoft.com/office/drawing/2014/main" xmlns="" id="{688B8353-32F5-4D6E-81D9-D597B60FA9D3}"/>
                    </a:ext>
                  </a:extLst>
                </p:cNvPr>
                <p:cNvSpPr/>
                <p:nvPr userDrawn="1"/>
              </p:nvSpPr>
              <p:spPr>
                <a:xfrm>
                  <a:off x="5868144" y="-853769"/>
                  <a:ext cx="495969" cy="1049255"/>
                </a:xfrm>
                <a:custGeom>
                  <a:avLst/>
                  <a:gdLst>
                    <a:gd name="connsiteX0" fmla="*/ 0 w 311344"/>
                    <a:gd name="connsiteY0" fmla="*/ 1049255 h 1049255"/>
                    <a:gd name="connsiteX1" fmla="*/ 155672 w 311344"/>
                    <a:gd name="connsiteY1" fmla="*/ 0 h 1049255"/>
                    <a:gd name="connsiteX2" fmla="*/ 311344 w 311344"/>
                    <a:gd name="connsiteY2" fmla="*/ 1049255 h 1049255"/>
                    <a:gd name="connsiteX3" fmla="*/ 0 w 311344"/>
                    <a:gd name="connsiteY3" fmla="*/ 1049255 h 1049255"/>
                    <a:gd name="connsiteX0" fmla="*/ 45684 w 357028"/>
                    <a:gd name="connsiteY0" fmla="*/ 1049255 h 1049255"/>
                    <a:gd name="connsiteX1" fmla="*/ 201356 w 357028"/>
                    <a:gd name="connsiteY1" fmla="*/ 0 h 1049255"/>
                    <a:gd name="connsiteX2" fmla="*/ 357028 w 357028"/>
                    <a:gd name="connsiteY2" fmla="*/ 1049255 h 1049255"/>
                    <a:gd name="connsiteX3" fmla="*/ 45684 w 357028"/>
                    <a:gd name="connsiteY3" fmla="*/ 1049255 h 1049255"/>
                    <a:gd name="connsiteX0" fmla="*/ 45684 w 416158"/>
                    <a:gd name="connsiteY0" fmla="*/ 1049255 h 1049255"/>
                    <a:gd name="connsiteX1" fmla="*/ 201356 w 416158"/>
                    <a:gd name="connsiteY1" fmla="*/ 0 h 1049255"/>
                    <a:gd name="connsiteX2" fmla="*/ 357028 w 416158"/>
                    <a:gd name="connsiteY2" fmla="*/ 1049255 h 1049255"/>
                    <a:gd name="connsiteX3" fmla="*/ 45684 w 416158"/>
                    <a:gd name="connsiteY3" fmla="*/ 1049255 h 1049255"/>
                    <a:gd name="connsiteX0" fmla="*/ 87161 w 457635"/>
                    <a:gd name="connsiteY0" fmla="*/ 1049255 h 1049255"/>
                    <a:gd name="connsiteX1" fmla="*/ 242833 w 457635"/>
                    <a:gd name="connsiteY1" fmla="*/ 0 h 1049255"/>
                    <a:gd name="connsiteX2" fmla="*/ 398505 w 457635"/>
                    <a:gd name="connsiteY2" fmla="*/ 1049255 h 1049255"/>
                    <a:gd name="connsiteX3" fmla="*/ 87161 w 457635"/>
                    <a:gd name="connsiteY3" fmla="*/ 1049255 h 1049255"/>
                    <a:gd name="connsiteX0" fmla="*/ 87161 w 500627"/>
                    <a:gd name="connsiteY0" fmla="*/ 1049255 h 1049255"/>
                    <a:gd name="connsiteX1" fmla="*/ 242833 w 500627"/>
                    <a:gd name="connsiteY1" fmla="*/ 0 h 1049255"/>
                    <a:gd name="connsiteX2" fmla="*/ 398505 w 500627"/>
                    <a:gd name="connsiteY2" fmla="*/ 1049255 h 1049255"/>
                    <a:gd name="connsiteX3" fmla="*/ 87161 w 500627"/>
                    <a:gd name="connsiteY3" fmla="*/ 1049255 h 1049255"/>
                    <a:gd name="connsiteX0" fmla="*/ 91187 w 504653"/>
                    <a:gd name="connsiteY0" fmla="*/ 1049255 h 1049255"/>
                    <a:gd name="connsiteX1" fmla="*/ 246859 w 504653"/>
                    <a:gd name="connsiteY1" fmla="*/ 0 h 1049255"/>
                    <a:gd name="connsiteX2" fmla="*/ 402531 w 504653"/>
                    <a:gd name="connsiteY2" fmla="*/ 1049255 h 1049255"/>
                    <a:gd name="connsiteX3" fmla="*/ 91187 w 504653"/>
                    <a:gd name="connsiteY3" fmla="*/ 1049255 h 1049255"/>
                    <a:gd name="connsiteX0" fmla="*/ 91187 w 500775"/>
                    <a:gd name="connsiteY0" fmla="*/ 1049255 h 1049255"/>
                    <a:gd name="connsiteX1" fmla="*/ 246859 w 500775"/>
                    <a:gd name="connsiteY1" fmla="*/ 0 h 1049255"/>
                    <a:gd name="connsiteX2" fmla="*/ 402531 w 500775"/>
                    <a:gd name="connsiteY2" fmla="*/ 1049255 h 1049255"/>
                    <a:gd name="connsiteX3" fmla="*/ 91187 w 500775"/>
                    <a:gd name="connsiteY3" fmla="*/ 1049255 h 1049255"/>
                    <a:gd name="connsiteX0" fmla="*/ 91187 w 484758"/>
                    <a:gd name="connsiteY0" fmla="*/ 1049255 h 1049255"/>
                    <a:gd name="connsiteX1" fmla="*/ 246859 w 484758"/>
                    <a:gd name="connsiteY1" fmla="*/ 0 h 1049255"/>
                    <a:gd name="connsiteX2" fmla="*/ 402531 w 484758"/>
                    <a:gd name="connsiteY2" fmla="*/ 1049255 h 1049255"/>
                    <a:gd name="connsiteX3" fmla="*/ 91187 w 484758"/>
                    <a:gd name="connsiteY3" fmla="*/ 1049255 h 1049255"/>
                    <a:gd name="connsiteX0" fmla="*/ 91187 w 488692"/>
                    <a:gd name="connsiteY0" fmla="*/ 1049255 h 1049255"/>
                    <a:gd name="connsiteX1" fmla="*/ 246859 w 488692"/>
                    <a:gd name="connsiteY1" fmla="*/ 0 h 1049255"/>
                    <a:gd name="connsiteX2" fmla="*/ 402531 w 488692"/>
                    <a:gd name="connsiteY2" fmla="*/ 1049255 h 1049255"/>
                    <a:gd name="connsiteX3" fmla="*/ 91187 w 488692"/>
                    <a:gd name="connsiteY3" fmla="*/ 1049255 h 1049255"/>
                    <a:gd name="connsiteX0" fmla="*/ 91187 w 492707"/>
                    <a:gd name="connsiteY0" fmla="*/ 1049255 h 1049255"/>
                    <a:gd name="connsiteX1" fmla="*/ 246859 w 492707"/>
                    <a:gd name="connsiteY1" fmla="*/ 0 h 1049255"/>
                    <a:gd name="connsiteX2" fmla="*/ 402531 w 492707"/>
                    <a:gd name="connsiteY2" fmla="*/ 1049255 h 1049255"/>
                    <a:gd name="connsiteX3" fmla="*/ 91187 w 492707"/>
                    <a:gd name="connsiteY3" fmla="*/ 1049255 h 1049255"/>
                    <a:gd name="connsiteX0" fmla="*/ 95257 w 496777"/>
                    <a:gd name="connsiteY0" fmla="*/ 1049255 h 1049255"/>
                    <a:gd name="connsiteX1" fmla="*/ 250929 w 496777"/>
                    <a:gd name="connsiteY1" fmla="*/ 0 h 1049255"/>
                    <a:gd name="connsiteX2" fmla="*/ 406601 w 496777"/>
                    <a:gd name="connsiteY2" fmla="*/ 1049255 h 1049255"/>
                    <a:gd name="connsiteX3" fmla="*/ 95257 w 496777"/>
                    <a:gd name="connsiteY3" fmla="*/ 1049255 h 1049255"/>
                    <a:gd name="connsiteX0" fmla="*/ 95257 w 485293"/>
                    <a:gd name="connsiteY0" fmla="*/ 1049255 h 1049255"/>
                    <a:gd name="connsiteX1" fmla="*/ 250929 w 485293"/>
                    <a:gd name="connsiteY1" fmla="*/ 0 h 1049255"/>
                    <a:gd name="connsiteX2" fmla="*/ 406601 w 485293"/>
                    <a:gd name="connsiteY2" fmla="*/ 1049255 h 1049255"/>
                    <a:gd name="connsiteX3" fmla="*/ 95257 w 485293"/>
                    <a:gd name="connsiteY3" fmla="*/ 1049255 h 1049255"/>
                    <a:gd name="connsiteX0" fmla="*/ 95257 w 494828"/>
                    <a:gd name="connsiteY0" fmla="*/ 1049255 h 1049255"/>
                    <a:gd name="connsiteX1" fmla="*/ 250929 w 494828"/>
                    <a:gd name="connsiteY1" fmla="*/ 0 h 1049255"/>
                    <a:gd name="connsiteX2" fmla="*/ 406601 w 494828"/>
                    <a:gd name="connsiteY2" fmla="*/ 1049255 h 1049255"/>
                    <a:gd name="connsiteX3" fmla="*/ 95257 w 494828"/>
                    <a:gd name="connsiteY3" fmla="*/ 1049255 h 1049255"/>
                    <a:gd name="connsiteX0" fmla="*/ 95257 w 493814"/>
                    <a:gd name="connsiteY0" fmla="*/ 1049255 h 1049255"/>
                    <a:gd name="connsiteX1" fmla="*/ 250929 w 493814"/>
                    <a:gd name="connsiteY1" fmla="*/ 0 h 1049255"/>
                    <a:gd name="connsiteX2" fmla="*/ 406601 w 493814"/>
                    <a:gd name="connsiteY2" fmla="*/ 1049255 h 1049255"/>
                    <a:gd name="connsiteX3" fmla="*/ 95257 w 493814"/>
                    <a:gd name="connsiteY3" fmla="*/ 1049255 h 1049255"/>
                    <a:gd name="connsiteX0" fmla="*/ 95257 w 496864"/>
                    <a:gd name="connsiteY0" fmla="*/ 1049255 h 1049255"/>
                    <a:gd name="connsiteX1" fmla="*/ 250929 w 496864"/>
                    <a:gd name="connsiteY1" fmla="*/ 0 h 1049255"/>
                    <a:gd name="connsiteX2" fmla="*/ 406601 w 496864"/>
                    <a:gd name="connsiteY2" fmla="*/ 1049255 h 1049255"/>
                    <a:gd name="connsiteX3" fmla="*/ 95257 w 496864"/>
                    <a:gd name="connsiteY3" fmla="*/ 1049255 h 1049255"/>
                    <a:gd name="connsiteX0" fmla="*/ 95257 w 497887"/>
                    <a:gd name="connsiteY0" fmla="*/ 1049255 h 1049255"/>
                    <a:gd name="connsiteX1" fmla="*/ 250929 w 497887"/>
                    <a:gd name="connsiteY1" fmla="*/ 0 h 1049255"/>
                    <a:gd name="connsiteX2" fmla="*/ 406601 w 497887"/>
                    <a:gd name="connsiteY2" fmla="*/ 1049255 h 1049255"/>
                    <a:gd name="connsiteX3" fmla="*/ 95257 w 497887"/>
                    <a:gd name="connsiteY3" fmla="*/ 1049255 h 1049255"/>
                    <a:gd name="connsiteX0" fmla="*/ 95257 w 495969"/>
                    <a:gd name="connsiteY0" fmla="*/ 1049255 h 1049255"/>
                    <a:gd name="connsiteX1" fmla="*/ 250929 w 495969"/>
                    <a:gd name="connsiteY1" fmla="*/ 0 h 1049255"/>
                    <a:gd name="connsiteX2" fmla="*/ 406601 w 495969"/>
                    <a:gd name="connsiteY2" fmla="*/ 1049255 h 1049255"/>
                    <a:gd name="connsiteX3" fmla="*/ 95257 w 495969"/>
                    <a:gd name="connsiteY3" fmla="*/ 1049255 h 1049255"/>
                  </a:gdLst>
                  <a:ahLst/>
                  <a:cxnLst>
                    <a:cxn ang="0">
                      <a:pos x="connsiteX0" y="connsiteY0"/>
                    </a:cxn>
                    <a:cxn ang="0">
                      <a:pos x="connsiteX1" y="connsiteY1"/>
                    </a:cxn>
                    <a:cxn ang="0">
                      <a:pos x="connsiteX2" y="connsiteY2"/>
                    </a:cxn>
                    <a:cxn ang="0">
                      <a:pos x="connsiteX3" y="connsiteY3"/>
                    </a:cxn>
                  </a:cxnLst>
                  <a:rect l="l" t="t" r="r" b="b"/>
                  <a:pathLst>
                    <a:path w="495969" h="1049255">
                      <a:moveTo>
                        <a:pt x="95257" y="1049255"/>
                      </a:moveTo>
                      <a:cubicBezTo>
                        <a:pt x="6676" y="723357"/>
                        <a:pt x="-121664" y="317947"/>
                        <a:pt x="250929" y="0"/>
                      </a:cubicBezTo>
                      <a:cubicBezTo>
                        <a:pt x="612920" y="328549"/>
                        <a:pt x="489882" y="781667"/>
                        <a:pt x="406601" y="1049255"/>
                      </a:cubicBezTo>
                      <a:lnTo>
                        <a:pt x="95257" y="1049255"/>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 name="자유형: 도형 16">
                  <a:extLst>
                    <a:ext uri="{FF2B5EF4-FFF2-40B4-BE49-F238E27FC236}">
                      <a16:creationId xmlns:a16="http://schemas.microsoft.com/office/drawing/2014/main" xmlns="" id="{155478D4-44EA-48AE-860F-E368AD673D03}"/>
                    </a:ext>
                  </a:extLst>
                </p:cNvPr>
                <p:cNvSpPr/>
                <p:nvPr userDrawn="1"/>
              </p:nvSpPr>
              <p:spPr>
                <a:xfrm>
                  <a:off x="5939427" y="102551"/>
                  <a:ext cx="364003" cy="92935"/>
                </a:xfrm>
                <a:custGeom>
                  <a:avLst/>
                  <a:gdLst>
                    <a:gd name="connsiteX0" fmla="*/ 0 w 364003"/>
                    <a:gd name="connsiteY0" fmla="*/ 0 h 92935"/>
                    <a:gd name="connsiteX1" fmla="*/ 364003 w 364003"/>
                    <a:gd name="connsiteY1" fmla="*/ 0 h 92935"/>
                    <a:gd name="connsiteX2" fmla="*/ 336518 w 364003"/>
                    <a:gd name="connsiteY2" fmla="*/ 92935 h 92935"/>
                    <a:gd name="connsiteX3" fmla="*/ 25174 w 364003"/>
                    <a:gd name="connsiteY3" fmla="*/ 92935 h 92935"/>
                  </a:gdLst>
                  <a:ahLst/>
                  <a:cxnLst>
                    <a:cxn ang="0">
                      <a:pos x="connsiteX0" y="connsiteY0"/>
                    </a:cxn>
                    <a:cxn ang="0">
                      <a:pos x="connsiteX1" y="connsiteY1"/>
                    </a:cxn>
                    <a:cxn ang="0">
                      <a:pos x="connsiteX2" y="connsiteY2"/>
                    </a:cxn>
                    <a:cxn ang="0">
                      <a:pos x="connsiteX3" y="connsiteY3"/>
                    </a:cxn>
                  </a:cxnLst>
                  <a:rect l="l" t="t" r="r" b="b"/>
                  <a:pathLst>
                    <a:path w="364003" h="92935">
                      <a:moveTo>
                        <a:pt x="0" y="0"/>
                      </a:moveTo>
                      <a:lnTo>
                        <a:pt x="364003" y="0"/>
                      </a:lnTo>
                      <a:lnTo>
                        <a:pt x="336518" y="92935"/>
                      </a:lnTo>
                      <a:lnTo>
                        <a:pt x="25174" y="92935"/>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자유형: 도형 17">
                  <a:extLst>
                    <a:ext uri="{FF2B5EF4-FFF2-40B4-BE49-F238E27FC236}">
                      <a16:creationId xmlns:a16="http://schemas.microsoft.com/office/drawing/2014/main" xmlns="" id="{1861CCC0-CB32-42D2-947D-1907817DDDAE}"/>
                    </a:ext>
                  </a:extLst>
                </p:cNvPr>
                <p:cNvSpPr/>
                <p:nvPr userDrawn="1"/>
              </p:nvSpPr>
              <p:spPr>
                <a:xfrm>
                  <a:off x="5893989" y="-857099"/>
                  <a:ext cx="444279" cy="350537"/>
                </a:xfrm>
                <a:custGeom>
                  <a:avLst/>
                  <a:gdLst>
                    <a:gd name="connsiteX0" fmla="*/ 227272 w 444279"/>
                    <a:gd name="connsiteY0" fmla="*/ 0 h 350537"/>
                    <a:gd name="connsiteX1" fmla="*/ 440556 w 444279"/>
                    <a:gd name="connsiteY1" fmla="*/ 335046 h 350537"/>
                    <a:gd name="connsiteX2" fmla="*/ 444279 w 444279"/>
                    <a:gd name="connsiteY2" fmla="*/ 350537 h 350537"/>
                    <a:gd name="connsiteX3" fmla="*/ 0 w 444279"/>
                    <a:gd name="connsiteY3" fmla="*/ 350537 h 350537"/>
                    <a:gd name="connsiteX4" fmla="*/ 8223 w 444279"/>
                    <a:gd name="connsiteY4" fmla="*/ 318604 h 350537"/>
                    <a:gd name="connsiteX5" fmla="*/ 227272 w 444279"/>
                    <a:gd name="connsiteY5" fmla="*/ 0 h 350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4279" h="350537">
                      <a:moveTo>
                        <a:pt x="227272" y="0"/>
                      </a:moveTo>
                      <a:cubicBezTo>
                        <a:pt x="340394" y="102672"/>
                        <a:pt x="406151" y="217508"/>
                        <a:pt x="440556" y="335046"/>
                      </a:cubicBezTo>
                      <a:lnTo>
                        <a:pt x="444279" y="350537"/>
                      </a:lnTo>
                      <a:lnTo>
                        <a:pt x="0" y="350537"/>
                      </a:lnTo>
                      <a:lnTo>
                        <a:pt x="8223" y="318604"/>
                      </a:lnTo>
                      <a:cubicBezTo>
                        <a:pt x="43321" y="207258"/>
                        <a:pt x="110837" y="99358"/>
                        <a:pt x="227272"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2" name="타원 11">
                <a:extLst>
                  <a:ext uri="{FF2B5EF4-FFF2-40B4-BE49-F238E27FC236}">
                    <a16:creationId xmlns:a16="http://schemas.microsoft.com/office/drawing/2014/main" xmlns="" id="{E3ED5D5D-DC92-4BF6-B431-CE8E43382FD0}"/>
                  </a:ext>
                </a:extLst>
              </p:cNvPr>
              <p:cNvSpPr/>
              <p:nvPr userDrawn="1"/>
            </p:nvSpPr>
            <p:spPr>
              <a:xfrm>
                <a:off x="5535216" y="-351600"/>
                <a:ext cx="180000" cy="180000"/>
              </a:xfrm>
              <a:prstGeom prst="ellipse">
                <a:avLst/>
              </a:prstGeom>
              <a:solidFill>
                <a:schemeClr val="bg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xmlns="" id="{57F372C6-9816-462E-83F5-DFD56E8AF164}"/>
                  </a:ext>
                </a:extLst>
              </p:cNvPr>
              <p:cNvSpPr/>
              <p:nvPr userDrawn="1"/>
            </p:nvSpPr>
            <p:spPr>
              <a:xfrm flipH="1">
                <a:off x="5614416" y="6445"/>
                <a:ext cx="21600" cy="432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자유형: 도형 13">
                <a:extLst>
                  <a:ext uri="{FF2B5EF4-FFF2-40B4-BE49-F238E27FC236}">
                    <a16:creationId xmlns:a16="http://schemas.microsoft.com/office/drawing/2014/main" xmlns="" id="{F07321F0-763D-431A-87E5-1BD5F333CAE1}"/>
                  </a:ext>
                </a:extLst>
              </p:cNvPr>
              <p:cNvSpPr/>
              <p:nvPr userDrawn="1"/>
            </p:nvSpPr>
            <p:spPr>
              <a:xfrm>
                <a:off x="5304862" y="-1556"/>
                <a:ext cx="143653" cy="453224"/>
              </a:xfrm>
              <a:custGeom>
                <a:avLst/>
                <a:gdLst>
                  <a:gd name="connsiteX0" fmla="*/ 71561 w 116619"/>
                  <a:gd name="connsiteY0" fmla="*/ 0 h 453224"/>
                  <a:gd name="connsiteX1" fmla="*/ 116619 w 116619"/>
                  <a:gd name="connsiteY1" fmla="*/ 145774 h 453224"/>
                  <a:gd name="connsiteX2" fmla="*/ 0 w 116619"/>
                  <a:gd name="connsiteY2" fmla="*/ 453224 h 453224"/>
                  <a:gd name="connsiteX3" fmla="*/ 71561 w 116619"/>
                  <a:gd name="connsiteY3" fmla="*/ 0 h 453224"/>
                  <a:gd name="connsiteX0" fmla="*/ 78782 w 123840"/>
                  <a:gd name="connsiteY0" fmla="*/ 0 h 453224"/>
                  <a:gd name="connsiteX1" fmla="*/ 123840 w 123840"/>
                  <a:gd name="connsiteY1" fmla="*/ 145774 h 453224"/>
                  <a:gd name="connsiteX2" fmla="*/ 7221 w 123840"/>
                  <a:gd name="connsiteY2" fmla="*/ 453224 h 453224"/>
                  <a:gd name="connsiteX3" fmla="*/ 78782 w 123840"/>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5845 w 140903"/>
                  <a:gd name="connsiteY0" fmla="*/ 0 h 453224"/>
                  <a:gd name="connsiteX1" fmla="*/ 140903 w 140903"/>
                  <a:gd name="connsiteY1" fmla="*/ 145774 h 453224"/>
                  <a:gd name="connsiteX2" fmla="*/ 24284 w 140903"/>
                  <a:gd name="connsiteY2" fmla="*/ 453224 h 453224"/>
                  <a:gd name="connsiteX3" fmla="*/ 95845 w 140903"/>
                  <a:gd name="connsiteY3" fmla="*/ 0 h 453224"/>
                  <a:gd name="connsiteX0" fmla="*/ 98595 w 143653"/>
                  <a:gd name="connsiteY0" fmla="*/ 0 h 453224"/>
                  <a:gd name="connsiteX1" fmla="*/ 143653 w 143653"/>
                  <a:gd name="connsiteY1" fmla="*/ 145774 h 453224"/>
                  <a:gd name="connsiteX2" fmla="*/ 27034 w 143653"/>
                  <a:gd name="connsiteY2" fmla="*/ 453224 h 453224"/>
                  <a:gd name="connsiteX3" fmla="*/ 98595 w 143653"/>
                  <a:gd name="connsiteY3" fmla="*/ 0 h 453224"/>
                </a:gdLst>
                <a:ahLst/>
                <a:cxnLst>
                  <a:cxn ang="0">
                    <a:pos x="connsiteX0" y="connsiteY0"/>
                  </a:cxn>
                  <a:cxn ang="0">
                    <a:pos x="connsiteX1" y="connsiteY1"/>
                  </a:cxn>
                  <a:cxn ang="0">
                    <a:pos x="connsiteX2" y="connsiteY2"/>
                  </a:cxn>
                  <a:cxn ang="0">
                    <a:pos x="connsiteX3" y="connsiteY3"/>
                  </a:cxn>
                </a:cxnLst>
                <a:rect l="l" t="t" r="r" b="b"/>
                <a:pathLst>
                  <a:path w="143653" h="453224">
                    <a:moveTo>
                      <a:pt x="98595" y="0"/>
                    </a:moveTo>
                    <a:lnTo>
                      <a:pt x="143653" y="145774"/>
                    </a:lnTo>
                    <a:cubicBezTo>
                      <a:pt x="38518" y="232356"/>
                      <a:pt x="50005" y="387847"/>
                      <a:pt x="27034" y="453224"/>
                    </a:cubicBezTo>
                    <a:cubicBezTo>
                      <a:pt x="5831" y="365759"/>
                      <a:pt x="-47179" y="100716"/>
                      <a:pt x="98595"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자유형: 도형 14">
                <a:extLst>
                  <a:ext uri="{FF2B5EF4-FFF2-40B4-BE49-F238E27FC236}">
                    <a16:creationId xmlns:a16="http://schemas.microsoft.com/office/drawing/2014/main" xmlns="" id="{D39A1E25-A8B6-4EE4-8AC8-D262A0C0D580}"/>
                  </a:ext>
                </a:extLst>
              </p:cNvPr>
              <p:cNvSpPr/>
              <p:nvPr userDrawn="1"/>
            </p:nvSpPr>
            <p:spPr>
              <a:xfrm flipH="1">
                <a:off x="5807099" y="-1556"/>
                <a:ext cx="143653" cy="453224"/>
              </a:xfrm>
              <a:custGeom>
                <a:avLst/>
                <a:gdLst>
                  <a:gd name="connsiteX0" fmla="*/ 71561 w 116619"/>
                  <a:gd name="connsiteY0" fmla="*/ 0 h 453224"/>
                  <a:gd name="connsiteX1" fmla="*/ 116619 w 116619"/>
                  <a:gd name="connsiteY1" fmla="*/ 145774 h 453224"/>
                  <a:gd name="connsiteX2" fmla="*/ 0 w 116619"/>
                  <a:gd name="connsiteY2" fmla="*/ 453224 h 453224"/>
                  <a:gd name="connsiteX3" fmla="*/ 71561 w 116619"/>
                  <a:gd name="connsiteY3" fmla="*/ 0 h 453224"/>
                  <a:gd name="connsiteX0" fmla="*/ 78782 w 123840"/>
                  <a:gd name="connsiteY0" fmla="*/ 0 h 453224"/>
                  <a:gd name="connsiteX1" fmla="*/ 123840 w 123840"/>
                  <a:gd name="connsiteY1" fmla="*/ 145774 h 453224"/>
                  <a:gd name="connsiteX2" fmla="*/ 7221 w 123840"/>
                  <a:gd name="connsiteY2" fmla="*/ 453224 h 453224"/>
                  <a:gd name="connsiteX3" fmla="*/ 78782 w 123840"/>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5845 w 140903"/>
                  <a:gd name="connsiteY0" fmla="*/ 0 h 453224"/>
                  <a:gd name="connsiteX1" fmla="*/ 140903 w 140903"/>
                  <a:gd name="connsiteY1" fmla="*/ 145774 h 453224"/>
                  <a:gd name="connsiteX2" fmla="*/ 24284 w 140903"/>
                  <a:gd name="connsiteY2" fmla="*/ 453224 h 453224"/>
                  <a:gd name="connsiteX3" fmla="*/ 95845 w 140903"/>
                  <a:gd name="connsiteY3" fmla="*/ 0 h 453224"/>
                  <a:gd name="connsiteX0" fmla="*/ 98595 w 143653"/>
                  <a:gd name="connsiteY0" fmla="*/ 0 h 453224"/>
                  <a:gd name="connsiteX1" fmla="*/ 143653 w 143653"/>
                  <a:gd name="connsiteY1" fmla="*/ 145774 h 453224"/>
                  <a:gd name="connsiteX2" fmla="*/ 27034 w 143653"/>
                  <a:gd name="connsiteY2" fmla="*/ 453224 h 453224"/>
                  <a:gd name="connsiteX3" fmla="*/ 98595 w 143653"/>
                  <a:gd name="connsiteY3" fmla="*/ 0 h 453224"/>
                </a:gdLst>
                <a:ahLst/>
                <a:cxnLst>
                  <a:cxn ang="0">
                    <a:pos x="connsiteX0" y="connsiteY0"/>
                  </a:cxn>
                  <a:cxn ang="0">
                    <a:pos x="connsiteX1" y="connsiteY1"/>
                  </a:cxn>
                  <a:cxn ang="0">
                    <a:pos x="connsiteX2" y="connsiteY2"/>
                  </a:cxn>
                  <a:cxn ang="0">
                    <a:pos x="connsiteX3" y="connsiteY3"/>
                  </a:cxn>
                </a:cxnLst>
                <a:rect l="l" t="t" r="r" b="b"/>
                <a:pathLst>
                  <a:path w="143653" h="453224">
                    <a:moveTo>
                      <a:pt x="98595" y="0"/>
                    </a:moveTo>
                    <a:lnTo>
                      <a:pt x="143653" y="145774"/>
                    </a:lnTo>
                    <a:cubicBezTo>
                      <a:pt x="38518" y="232356"/>
                      <a:pt x="50005" y="387847"/>
                      <a:pt x="27034" y="453224"/>
                    </a:cubicBezTo>
                    <a:cubicBezTo>
                      <a:pt x="5831" y="365759"/>
                      <a:pt x="-47179" y="100716"/>
                      <a:pt x="98595"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Tree>
    <p:extLst>
      <p:ext uri="{BB962C8B-B14F-4D97-AF65-F5344CB8AC3E}">
        <p14:creationId xmlns:p14="http://schemas.microsoft.com/office/powerpoint/2010/main" val="312904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asic Layout">
    <p:spTree>
      <p:nvGrpSpPr>
        <p:cNvPr id="1" name=""/>
        <p:cNvGrpSpPr/>
        <p:nvPr/>
      </p:nvGrpSpPr>
      <p:grpSpPr>
        <a:xfrm>
          <a:off x="0" y="0"/>
          <a:ext cx="0" cy="0"/>
          <a:chOff x="0" y="0"/>
          <a:chExt cx="0" cy="0"/>
        </a:xfrm>
      </p:grpSpPr>
      <p:sp>
        <p:nvSpPr>
          <p:cNvPr id="4" name="Rectangle 3"/>
          <p:cNvSpPr/>
          <p:nvPr userDrawn="1"/>
        </p:nvSpPr>
        <p:spPr>
          <a:xfrm>
            <a:off x="0" y="0"/>
            <a:ext cx="2987824"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ko-KR" altLang="en-US"/>
          </a:p>
        </p:txBody>
      </p:sp>
      <p:sp>
        <p:nvSpPr>
          <p:cNvPr id="10" name="Text Placeholder 9"/>
          <p:cNvSpPr>
            <a:spLocks noGrp="1"/>
          </p:cNvSpPr>
          <p:nvPr>
            <p:ph type="body" sz="quarter" idx="10" hasCustomPrompt="1"/>
          </p:nvPr>
        </p:nvSpPr>
        <p:spPr>
          <a:xfrm>
            <a:off x="467544" y="411510"/>
            <a:ext cx="2303282" cy="1368152"/>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467544" y="1779662"/>
            <a:ext cx="2303282" cy="504056"/>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grpSp>
        <p:nvGrpSpPr>
          <p:cNvPr id="27" name="그룹 26">
            <a:extLst>
              <a:ext uri="{FF2B5EF4-FFF2-40B4-BE49-F238E27FC236}">
                <a16:creationId xmlns:a16="http://schemas.microsoft.com/office/drawing/2014/main" xmlns="" id="{C5AC382A-C3B5-4BE0-B805-8F9094AFD7DC}"/>
              </a:ext>
            </a:extLst>
          </p:cNvPr>
          <p:cNvGrpSpPr/>
          <p:nvPr userDrawn="1"/>
        </p:nvGrpSpPr>
        <p:grpSpPr>
          <a:xfrm>
            <a:off x="0" y="2571749"/>
            <a:ext cx="2984923" cy="2571751"/>
            <a:chOff x="0" y="2571749"/>
            <a:chExt cx="2984923" cy="2571751"/>
          </a:xfrm>
        </p:grpSpPr>
        <p:grpSp>
          <p:nvGrpSpPr>
            <p:cNvPr id="6" name="Group 5"/>
            <p:cNvGrpSpPr/>
            <p:nvPr userDrawn="1"/>
          </p:nvGrpSpPr>
          <p:grpSpPr>
            <a:xfrm>
              <a:off x="0" y="4032469"/>
              <a:ext cx="2984923" cy="1111031"/>
              <a:chOff x="0" y="4032469"/>
              <a:chExt cx="2984923" cy="1111031"/>
            </a:xfrm>
          </p:grpSpPr>
          <p:sp>
            <p:nvSpPr>
              <p:cNvPr id="2" name="Rectangle 1"/>
              <p:cNvSpPr/>
              <p:nvPr userDrawn="1"/>
            </p:nvSpPr>
            <p:spPr>
              <a:xfrm>
                <a:off x="2527176" y="4443958"/>
                <a:ext cx="457200" cy="6995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chemeClr val="tx1"/>
                  </a:solidFill>
                </a:endParaRPr>
              </a:p>
            </p:txBody>
          </p:sp>
          <p:sp>
            <p:nvSpPr>
              <p:cNvPr id="3" name="Oval 2"/>
              <p:cNvSpPr/>
              <p:nvPr userDrawn="1"/>
            </p:nvSpPr>
            <p:spPr>
              <a:xfrm>
                <a:off x="2128455" y="4032469"/>
                <a:ext cx="856468" cy="85646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chemeClr val="tx1"/>
                  </a:solidFill>
                </a:endParaRPr>
              </a:p>
            </p:txBody>
          </p:sp>
          <p:sp>
            <p:nvSpPr>
              <p:cNvPr id="8" name="Rectangle 7"/>
              <p:cNvSpPr/>
              <p:nvPr userDrawn="1"/>
            </p:nvSpPr>
            <p:spPr>
              <a:xfrm>
                <a:off x="0" y="4363963"/>
                <a:ext cx="449249" cy="7795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9" name="Oval 8"/>
              <p:cNvSpPr/>
              <p:nvPr userDrawn="1"/>
            </p:nvSpPr>
            <p:spPr>
              <a:xfrm>
                <a:off x="0" y="4117025"/>
                <a:ext cx="457200" cy="457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sp>
          <p:nvSpPr>
            <p:cNvPr id="26" name="자유형: 도형 25">
              <a:extLst>
                <a:ext uri="{FF2B5EF4-FFF2-40B4-BE49-F238E27FC236}">
                  <a16:creationId xmlns:a16="http://schemas.microsoft.com/office/drawing/2014/main" xmlns="" id="{A909D931-338B-4F68-B73A-DDF2CA17DD12}"/>
                </a:ext>
              </a:extLst>
            </p:cNvPr>
            <p:cNvSpPr/>
            <p:nvPr userDrawn="1"/>
          </p:nvSpPr>
          <p:spPr>
            <a:xfrm>
              <a:off x="0" y="3170955"/>
              <a:ext cx="2544134" cy="1972545"/>
            </a:xfrm>
            <a:custGeom>
              <a:avLst/>
              <a:gdLst>
                <a:gd name="connsiteX0" fmla="*/ 1395974 w 2544134"/>
                <a:gd name="connsiteY0" fmla="*/ 0 h 1972545"/>
                <a:gd name="connsiteX1" fmla="*/ 1581175 w 2544134"/>
                <a:gd name="connsiteY1" fmla="*/ 0 h 1972545"/>
                <a:gd name="connsiteX2" fmla="*/ 1629807 w 2544134"/>
                <a:gd name="connsiteY2" fmla="*/ 388693 h 1972545"/>
                <a:gd name="connsiteX3" fmla="*/ 1660266 w 2544134"/>
                <a:gd name="connsiteY3" fmla="*/ 394521 h 1972545"/>
                <a:gd name="connsiteX4" fmla="*/ 1843628 w 2544134"/>
                <a:gd name="connsiteY4" fmla="*/ 524107 h 1972545"/>
                <a:gd name="connsiteX5" fmla="*/ 1859380 w 2544134"/>
                <a:gd name="connsiteY5" fmla="*/ 553128 h 1972545"/>
                <a:gd name="connsiteX6" fmla="*/ 1884339 w 2544134"/>
                <a:gd name="connsiteY6" fmla="*/ 550612 h 1972545"/>
                <a:gd name="connsiteX7" fmla="*/ 2175988 w 2544134"/>
                <a:gd name="connsiteY7" fmla="*/ 743930 h 1972545"/>
                <a:gd name="connsiteX8" fmla="*/ 2180885 w 2544134"/>
                <a:gd name="connsiteY8" fmla="*/ 759703 h 1972545"/>
                <a:gd name="connsiteX9" fmla="*/ 2191569 w 2544134"/>
                <a:gd name="connsiteY9" fmla="*/ 756387 h 1972545"/>
                <a:gd name="connsiteX10" fmla="*/ 2234564 w 2544134"/>
                <a:gd name="connsiteY10" fmla="*/ 752052 h 1972545"/>
                <a:gd name="connsiteX11" fmla="*/ 2443572 w 2544134"/>
                <a:gd name="connsiteY11" fmla="*/ 922399 h 1972545"/>
                <a:gd name="connsiteX12" fmla="*/ 2445282 w 2544134"/>
                <a:gd name="connsiteY12" fmla="*/ 939364 h 1972545"/>
                <a:gd name="connsiteX13" fmla="*/ 2508998 w 2544134"/>
                <a:gd name="connsiteY13" fmla="*/ 945787 h 1972545"/>
                <a:gd name="connsiteX14" fmla="*/ 2544134 w 2544134"/>
                <a:gd name="connsiteY14" fmla="*/ 956223 h 1972545"/>
                <a:gd name="connsiteX15" fmla="*/ 2544134 w 2544134"/>
                <a:gd name="connsiteY15" fmla="*/ 1972545 h 1972545"/>
                <a:gd name="connsiteX16" fmla="*/ 354884 w 2544134"/>
                <a:gd name="connsiteY16" fmla="*/ 1972545 h 1972545"/>
                <a:gd name="connsiteX17" fmla="*/ 342134 w 2544134"/>
                <a:gd name="connsiteY17" fmla="*/ 1965625 h 1972545"/>
                <a:gd name="connsiteX18" fmla="*/ 244050 w 2544134"/>
                <a:gd name="connsiteY18" fmla="*/ 1838062 h 1972545"/>
                <a:gd name="connsiteX19" fmla="*/ 241474 w 2544134"/>
                <a:gd name="connsiteY19" fmla="*/ 1812505 h 1972545"/>
                <a:gd name="connsiteX20" fmla="*/ 236764 w 2544134"/>
                <a:gd name="connsiteY20" fmla="*/ 1816784 h 1972545"/>
                <a:gd name="connsiteX21" fmla="*/ 103253 w 2544134"/>
                <a:gd name="connsiteY21" fmla="*/ 1857566 h 1972545"/>
                <a:gd name="connsiteX22" fmla="*/ 10304 w 2544134"/>
                <a:gd name="connsiteY22" fmla="*/ 1838801 h 1972545"/>
                <a:gd name="connsiteX23" fmla="*/ 0 w 2544134"/>
                <a:gd name="connsiteY23" fmla="*/ 1833208 h 1972545"/>
                <a:gd name="connsiteX24" fmla="*/ 0 w 2544134"/>
                <a:gd name="connsiteY24" fmla="*/ 1404340 h 1972545"/>
                <a:gd name="connsiteX25" fmla="*/ 10304 w 2544134"/>
                <a:gd name="connsiteY25" fmla="*/ 1398747 h 1972545"/>
                <a:gd name="connsiteX26" fmla="*/ 103253 w 2544134"/>
                <a:gd name="connsiteY26" fmla="*/ 1379981 h 1972545"/>
                <a:gd name="connsiteX27" fmla="*/ 151378 w 2544134"/>
                <a:gd name="connsiteY27" fmla="*/ 1384832 h 1972545"/>
                <a:gd name="connsiteX28" fmla="*/ 162402 w 2544134"/>
                <a:gd name="connsiteY28" fmla="*/ 1388255 h 1972545"/>
                <a:gd name="connsiteX29" fmla="*/ 159919 w 2544134"/>
                <a:gd name="connsiteY29" fmla="*/ 1363619 h 1972545"/>
                <a:gd name="connsiteX30" fmla="*/ 522221 w 2544134"/>
                <a:gd name="connsiteY30" fmla="*/ 1001317 h 1972545"/>
                <a:gd name="connsiteX31" fmla="*/ 595237 w 2544134"/>
                <a:gd name="connsiteY31" fmla="*/ 1008678 h 1972545"/>
                <a:gd name="connsiteX32" fmla="*/ 617610 w 2544134"/>
                <a:gd name="connsiteY32" fmla="*/ 1015623 h 1972545"/>
                <a:gd name="connsiteX33" fmla="*/ 630288 w 2544134"/>
                <a:gd name="connsiteY33" fmla="*/ 1000258 h 1972545"/>
                <a:gd name="connsiteX34" fmla="*/ 886474 w 2544134"/>
                <a:gd name="connsiteY34" fmla="*/ 894142 h 1972545"/>
                <a:gd name="connsiteX35" fmla="*/ 896697 w 2544134"/>
                <a:gd name="connsiteY35" fmla="*/ 895173 h 1972545"/>
                <a:gd name="connsiteX36" fmla="*/ 889510 w 2544134"/>
                <a:gd name="connsiteY36" fmla="*/ 872020 h 1972545"/>
                <a:gd name="connsiteX37" fmla="*/ 886474 w 2544134"/>
                <a:gd name="connsiteY37" fmla="*/ 841898 h 1972545"/>
                <a:gd name="connsiteX38" fmla="*/ 1005814 w 2544134"/>
                <a:gd name="connsiteY38" fmla="*/ 695472 h 1972545"/>
                <a:gd name="connsiteX39" fmla="*/ 1011986 w 2544134"/>
                <a:gd name="connsiteY39" fmla="*/ 694850 h 1972545"/>
                <a:gd name="connsiteX40" fmla="*/ 1016112 w 2544134"/>
                <a:gd name="connsiteY40" fmla="*/ 653922 h 1972545"/>
                <a:gd name="connsiteX41" fmla="*/ 1301359 w 2544134"/>
                <a:gd name="connsiteY41" fmla="*/ 421440 h 1972545"/>
                <a:gd name="connsiteX42" fmla="*/ 1342724 w 2544134"/>
                <a:gd name="connsiteY42" fmla="*/ 425610 h 1972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544134" h="1972545">
                  <a:moveTo>
                    <a:pt x="1395974" y="0"/>
                  </a:moveTo>
                  <a:lnTo>
                    <a:pt x="1581175" y="0"/>
                  </a:lnTo>
                  <a:lnTo>
                    <a:pt x="1629807" y="388693"/>
                  </a:lnTo>
                  <a:lnTo>
                    <a:pt x="1660266" y="394521"/>
                  </a:lnTo>
                  <a:cubicBezTo>
                    <a:pt x="1736117" y="414036"/>
                    <a:pt x="1800967" y="460961"/>
                    <a:pt x="1843628" y="524107"/>
                  </a:cubicBezTo>
                  <a:lnTo>
                    <a:pt x="1859380" y="553128"/>
                  </a:lnTo>
                  <a:lnTo>
                    <a:pt x="1884339" y="550612"/>
                  </a:lnTo>
                  <a:cubicBezTo>
                    <a:pt x="2015447" y="550612"/>
                    <a:pt x="2127937" y="630325"/>
                    <a:pt x="2175988" y="743930"/>
                  </a:cubicBezTo>
                  <a:lnTo>
                    <a:pt x="2180885" y="759703"/>
                  </a:lnTo>
                  <a:lnTo>
                    <a:pt x="2191569" y="756387"/>
                  </a:lnTo>
                  <a:cubicBezTo>
                    <a:pt x="2205457" y="753545"/>
                    <a:pt x="2219836" y="752052"/>
                    <a:pt x="2234564" y="752052"/>
                  </a:cubicBezTo>
                  <a:cubicBezTo>
                    <a:pt x="2337661" y="752052"/>
                    <a:pt x="2423678" y="825183"/>
                    <a:pt x="2443572" y="922399"/>
                  </a:cubicBezTo>
                  <a:lnTo>
                    <a:pt x="2445282" y="939364"/>
                  </a:lnTo>
                  <a:lnTo>
                    <a:pt x="2508998" y="945787"/>
                  </a:lnTo>
                  <a:lnTo>
                    <a:pt x="2544134" y="956223"/>
                  </a:lnTo>
                  <a:lnTo>
                    <a:pt x="2544134" y="1972545"/>
                  </a:lnTo>
                  <a:lnTo>
                    <a:pt x="354884" y="1972545"/>
                  </a:lnTo>
                  <a:lnTo>
                    <a:pt x="342134" y="1965625"/>
                  </a:lnTo>
                  <a:cubicBezTo>
                    <a:pt x="295511" y="1934418"/>
                    <a:pt x="255183" y="1892469"/>
                    <a:pt x="244050" y="1838062"/>
                  </a:cubicBezTo>
                  <a:lnTo>
                    <a:pt x="241474" y="1812505"/>
                  </a:lnTo>
                  <a:lnTo>
                    <a:pt x="236764" y="1816784"/>
                  </a:lnTo>
                  <a:cubicBezTo>
                    <a:pt x="198653" y="1842531"/>
                    <a:pt x="152709" y="1857566"/>
                    <a:pt x="103253" y="1857566"/>
                  </a:cubicBezTo>
                  <a:cubicBezTo>
                    <a:pt x="70283" y="1857566"/>
                    <a:pt x="38873" y="1850884"/>
                    <a:pt x="10304" y="1838801"/>
                  </a:cubicBezTo>
                  <a:lnTo>
                    <a:pt x="0" y="1833208"/>
                  </a:lnTo>
                  <a:lnTo>
                    <a:pt x="0" y="1404340"/>
                  </a:lnTo>
                  <a:lnTo>
                    <a:pt x="10304" y="1398747"/>
                  </a:lnTo>
                  <a:cubicBezTo>
                    <a:pt x="38873" y="1386663"/>
                    <a:pt x="70283" y="1379981"/>
                    <a:pt x="103253" y="1379981"/>
                  </a:cubicBezTo>
                  <a:cubicBezTo>
                    <a:pt x="119738" y="1379981"/>
                    <a:pt x="135833" y="1381652"/>
                    <a:pt x="151378" y="1384832"/>
                  </a:cubicBezTo>
                  <a:lnTo>
                    <a:pt x="162402" y="1388255"/>
                  </a:lnTo>
                  <a:lnTo>
                    <a:pt x="159919" y="1363619"/>
                  </a:lnTo>
                  <a:cubicBezTo>
                    <a:pt x="159919" y="1163525"/>
                    <a:pt x="322127" y="1001317"/>
                    <a:pt x="522221" y="1001317"/>
                  </a:cubicBezTo>
                  <a:cubicBezTo>
                    <a:pt x="547233" y="1001317"/>
                    <a:pt x="571652" y="1003852"/>
                    <a:pt x="595237" y="1008678"/>
                  </a:cubicBezTo>
                  <a:lnTo>
                    <a:pt x="617610" y="1015623"/>
                  </a:lnTo>
                  <a:lnTo>
                    <a:pt x="630288" y="1000258"/>
                  </a:lnTo>
                  <a:cubicBezTo>
                    <a:pt x="695852" y="934694"/>
                    <a:pt x="786427" y="894142"/>
                    <a:pt x="886474" y="894142"/>
                  </a:cubicBezTo>
                  <a:lnTo>
                    <a:pt x="896697" y="895173"/>
                  </a:lnTo>
                  <a:lnTo>
                    <a:pt x="889510" y="872020"/>
                  </a:lnTo>
                  <a:cubicBezTo>
                    <a:pt x="887519" y="862290"/>
                    <a:pt x="886474" y="852216"/>
                    <a:pt x="886474" y="841898"/>
                  </a:cubicBezTo>
                  <a:cubicBezTo>
                    <a:pt x="886474" y="769671"/>
                    <a:pt x="937707" y="709409"/>
                    <a:pt x="1005814" y="695472"/>
                  </a:cubicBezTo>
                  <a:lnTo>
                    <a:pt x="1011986" y="694850"/>
                  </a:lnTo>
                  <a:lnTo>
                    <a:pt x="1016112" y="653922"/>
                  </a:lnTo>
                  <a:cubicBezTo>
                    <a:pt x="1043262" y="521245"/>
                    <a:pt x="1160655" y="421440"/>
                    <a:pt x="1301359" y="421440"/>
                  </a:cubicBezTo>
                  <a:lnTo>
                    <a:pt x="1342724" y="42561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grpSp>
          <p:nvGrpSpPr>
            <p:cNvPr id="15" name="그룹 14">
              <a:extLst>
                <a:ext uri="{FF2B5EF4-FFF2-40B4-BE49-F238E27FC236}">
                  <a16:creationId xmlns:a16="http://schemas.microsoft.com/office/drawing/2014/main" xmlns="" id="{835AEBDB-6E77-465B-802B-2411CB9307EC}"/>
                </a:ext>
              </a:extLst>
            </p:cNvPr>
            <p:cNvGrpSpPr/>
            <p:nvPr userDrawn="1"/>
          </p:nvGrpSpPr>
          <p:grpSpPr>
            <a:xfrm>
              <a:off x="1278074" y="2571749"/>
              <a:ext cx="413353" cy="794587"/>
              <a:chOff x="5304862" y="-789923"/>
              <a:chExt cx="645890" cy="1241591"/>
            </a:xfrm>
          </p:grpSpPr>
          <p:grpSp>
            <p:nvGrpSpPr>
              <p:cNvPr id="16" name="그룹 15">
                <a:extLst>
                  <a:ext uri="{FF2B5EF4-FFF2-40B4-BE49-F238E27FC236}">
                    <a16:creationId xmlns:a16="http://schemas.microsoft.com/office/drawing/2014/main" xmlns="" id="{5E76A47E-F7A7-4DA1-9B8C-D7B1A60D5D71}"/>
                  </a:ext>
                </a:extLst>
              </p:cNvPr>
              <p:cNvGrpSpPr/>
              <p:nvPr userDrawn="1"/>
            </p:nvGrpSpPr>
            <p:grpSpPr>
              <a:xfrm>
                <a:off x="5377232" y="-789923"/>
                <a:ext cx="495969" cy="1052585"/>
                <a:chOff x="5868144" y="-857099"/>
                <a:chExt cx="495969" cy="1052585"/>
              </a:xfrm>
            </p:grpSpPr>
            <p:sp>
              <p:nvSpPr>
                <p:cNvPr id="21" name="이등변 삼각형 49">
                  <a:extLst>
                    <a:ext uri="{FF2B5EF4-FFF2-40B4-BE49-F238E27FC236}">
                      <a16:creationId xmlns:a16="http://schemas.microsoft.com/office/drawing/2014/main" xmlns="" id="{67190486-51A1-4AB6-8B4F-B570F9832336}"/>
                    </a:ext>
                  </a:extLst>
                </p:cNvPr>
                <p:cNvSpPr/>
                <p:nvPr userDrawn="1"/>
              </p:nvSpPr>
              <p:spPr>
                <a:xfrm>
                  <a:off x="5868144" y="-853769"/>
                  <a:ext cx="495969" cy="1049255"/>
                </a:xfrm>
                <a:custGeom>
                  <a:avLst/>
                  <a:gdLst>
                    <a:gd name="connsiteX0" fmla="*/ 0 w 311344"/>
                    <a:gd name="connsiteY0" fmla="*/ 1049255 h 1049255"/>
                    <a:gd name="connsiteX1" fmla="*/ 155672 w 311344"/>
                    <a:gd name="connsiteY1" fmla="*/ 0 h 1049255"/>
                    <a:gd name="connsiteX2" fmla="*/ 311344 w 311344"/>
                    <a:gd name="connsiteY2" fmla="*/ 1049255 h 1049255"/>
                    <a:gd name="connsiteX3" fmla="*/ 0 w 311344"/>
                    <a:gd name="connsiteY3" fmla="*/ 1049255 h 1049255"/>
                    <a:gd name="connsiteX0" fmla="*/ 45684 w 357028"/>
                    <a:gd name="connsiteY0" fmla="*/ 1049255 h 1049255"/>
                    <a:gd name="connsiteX1" fmla="*/ 201356 w 357028"/>
                    <a:gd name="connsiteY1" fmla="*/ 0 h 1049255"/>
                    <a:gd name="connsiteX2" fmla="*/ 357028 w 357028"/>
                    <a:gd name="connsiteY2" fmla="*/ 1049255 h 1049255"/>
                    <a:gd name="connsiteX3" fmla="*/ 45684 w 357028"/>
                    <a:gd name="connsiteY3" fmla="*/ 1049255 h 1049255"/>
                    <a:gd name="connsiteX0" fmla="*/ 45684 w 416158"/>
                    <a:gd name="connsiteY0" fmla="*/ 1049255 h 1049255"/>
                    <a:gd name="connsiteX1" fmla="*/ 201356 w 416158"/>
                    <a:gd name="connsiteY1" fmla="*/ 0 h 1049255"/>
                    <a:gd name="connsiteX2" fmla="*/ 357028 w 416158"/>
                    <a:gd name="connsiteY2" fmla="*/ 1049255 h 1049255"/>
                    <a:gd name="connsiteX3" fmla="*/ 45684 w 416158"/>
                    <a:gd name="connsiteY3" fmla="*/ 1049255 h 1049255"/>
                    <a:gd name="connsiteX0" fmla="*/ 87161 w 457635"/>
                    <a:gd name="connsiteY0" fmla="*/ 1049255 h 1049255"/>
                    <a:gd name="connsiteX1" fmla="*/ 242833 w 457635"/>
                    <a:gd name="connsiteY1" fmla="*/ 0 h 1049255"/>
                    <a:gd name="connsiteX2" fmla="*/ 398505 w 457635"/>
                    <a:gd name="connsiteY2" fmla="*/ 1049255 h 1049255"/>
                    <a:gd name="connsiteX3" fmla="*/ 87161 w 457635"/>
                    <a:gd name="connsiteY3" fmla="*/ 1049255 h 1049255"/>
                    <a:gd name="connsiteX0" fmla="*/ 87161 w 500627"/>
                    <a:gd name="connsiteY0" fmla="*/ 1049255 h 1049255"/>
                    <a:gd name="connsiteX1" fmla="*/ 242833 w 500627"/>
                    <a:gd name="connsiteY1" fmla="*/ 0 h 1049255"/>
                    <a:gd name="connsiteX2" fmla="*/ 398505 w 500627"/>
                    <a:gd name="connsiteY2" fmla="*/ 1049255 h 1049255"/>
                    <a:gd name="connsiteX3" fmla="*/ 87161 w 500627"/>
                    <a:gd name="connsiteY3" fmla="*/ 1049255 h 1049255"/>
                    <a:gd name="connsiteX0" fmla="*/ 91187 w 504653"/>
                    <a:gd name="connsiteY0" fmla="*/ 1049255 h 1049255"/>
                    <a:gd name="connsiteX1" fmla="*/ 246859 w 504653"/>
                    <a:gd name="connsiteY1" fmla="*/ 0 h 1049255"/>
                    <a:gd name="connsiteX2" fmla="*/ 402531 w 504653"/>
                    <a:gd name="connsiteY2" fmla="*/ 1049255 h 1049255"/>
                    <a:gd name="connsiteX3" fmla="*/ 91187 w 504653"/>
                    <a:gd name="connsiteY3" fmla="*/ 1049255 h 1049255"/>
                    <a:gd name="connsiteX0" fmla="*/ 91187 w 500775"/>
                    <a:gd name="connsiteY0" fmla="*/ 1049255 h 1049255"/>
                    <a:gd name="connsiteX1" fmla="*/ 246859 w 500775"/>
                    <a:gd name="connsiteY1" fmla="*/ 0 h 1049255"/>
                    <a:gd name="connsiteX2" fmla="*/ 402531 w 500775"/>
                    <a:gd name="connsiteY2" fmla="*/ 1049255 h 1049255"/>
                    <a:gd name="connsiteX3" fmla="*/ 91187 w 500775"/>
                    <a:gd name="connsiteY3" fmla="*/ 1049255 h 1049255"/>
                    <a:gd name="connsiteX0" fmla="*/ 91187 w 484758"/>
                    <a:gd name="connsiteY0" fmla="*/ 1049255 h 1049255"/>
                    <a:gd name="connsiteX1" fmla="*/ 246859 w 484758"/>
                    <a:gd name="connsiteY1" fmla="*/ 0 h 1049255"/>
                    <a:gd name="connsiteX2" fmla="*/ 402531 w 484758"/>
                    <a:gd name="connsiteY2" fmla="*/ 1049255 h 1049255"/>
                    <a:gd name="connsiteX3" fmla="*/ 91187 w 484758"/>
                    <a:gd name="connsiteY3" fmla="*/ 1049255 h 1049255"/>
                    <a:gd name="connsiteX0" fmla="*/ 91187 w 488692"/>
                    <a:gd name="connsiteY0" fmla="*/ 1049255 h 1049255"/>
                    <a:gd name="connsiteX1" fmla="*/ 246859 w 488692"/>
                    <a:gd name="connsiteY1" fmla="*/ 0 h 1049255"/>
                    <a:gd name="connsiteX2" fmla="*/ 402531 w 488692"/>
                    <a:gd name="connsiteY2" fmla="*/ 1049255 h 1049255"/>
                    <a:gd name="connsiteX3" fmla="*/ 91187 w 488692"/>
                    <a:gd name="connsiteY3" fmla="*/ 1049255 h 1049255"/>
                    <a:gd name="connsiteX0" fmla="*/ 91187 w 492707"/>
                    <a:gd name="connsiteY0" fmla="*/ 1049255 h 1049255"/>
                    <a:gd name="connsiteX1" fmla="*/ 246859 w 492707"/>
                    <a:gd name="connsiteY1" fmla="*/ 0 h 1049255"/>
                    <a:gd name="connsiteX2" fmla="*/ 402531 w 492707"/>
                    <a:gd name="connsiteY2" fmla="*/ 1049255 h 1049255"/>
                    <a:gd name="connsiteX3" fmla="*/ 91187 w 492707"/>
                    <a:gd name="connsiteY3" fmla="*/ 1049255 h 1049255"/>
                    <a:gd name="connsiteX0" fmla="*/ 95257 w 496777"/>
                    <a:gd name="connsiteY0" fmla="*/ 1049255 h 1049255"/>
                    <a:gd name="connsiteX1" fmla="*/ 250929 w 496777"/>
                    <a:gd name="connsiteY1" fmla="*/ 0 h 1049255"/>
                    <a:gd name="connsiteX2" fmla="*/ 406601 w 496777"/>
                    <a:gd name="connsiteY2" fmla="*/ 1049255 h 1049255"/>
                    <a:gd name="connsiteX3" fmla="*/ 95257 w 496777"/>
                    <a:gd name="connsiteY3" fmla="*/ 1049255 h 1049255"/>
                    <a:gd name="connsiteX0" fmla="*/ 95257 w 485293"/>
                    <a:gd name="connsiteY0" fmla="*/ 1049255 h 1049255"/>
                    <a:gd name="connsiteX1" fmla="*/ 250929 w 485293"/>
                    <a:gd name="connsiteY1" fmla="*/ 0 h 1049255"/>
                    <a:gd name="connsiteX2" fmla="*/ 406601 w 485293"/>
                    <a:gd name="connsiteY2" fmla="*/ 1049255 h 1049255"/>
                    <a:gd name="connsiteX3" fmla="*/ 95257 w 485293"/>
                    <a:gd name="connsiteY3" fmla="*/ 1049255 h 1049255"/>
                    <a:gd name="connsiteX0" fmla="*/ 95257 w 494828"/>
                    <a:gd name="connsiteY0" fmla="*/ 1049255 h 1049255"/>
                    <a:gd name="connsiteX1" fmla="*/ 250929 w 494828"/>
                    <a:gd name="connsiteY1" fmla="*/ 0 h 1049255"/>
                    <a:gd name="connsiteX2" fmla="*/ 406601 w 494828"/>
                    <a:gd name="connsiteY2" fmla="*/ 1049255 h 1049255"/>
                    <a:gd name="connsiteX3" fmla="*/ 95257 w 494828"/>
                    <a:gd name="connsiteY3" fmla="*/ 1049255 h 1049255"/>
                    <a:gd name="connsiteX0" fmla="*/ 95257 w 493814"/>
                    <a:gd name="connsiteY0" fmla="*/ 1049255 h 1049255"/>
                    <a:gd name="connsiteX1" fmla="*/ 250929 w 493814"/>
                    <a:gd name="connsiteY1" fmla="*/ 0 h 1049255"/>
                    <a:gd name="connsiteX2" fmla="*/ 406601 w 493814"/>
                    <a:gd name="connsiteY2" fmla="*/ 1049255 h 1049255"/>
                    <a:gd name="connsiteX3" fmla="*/ 95257 w 493814"/>
                    <a:gd name="connsiteY3" fmla="*/ 1049255 h 1049255"/>
                    <a:gd name="connsiteX0" fmla="*/ 95257 w 496864"/>
                    <a:gd name="connsiteY0" fmla="*/ 1049255 h 1049255"/>
                    <a:gd name="connsiteX1" fmla="*/ 250929 w 496864"/>
                    <a:gd name="connsiteY1" fmla="*/ 0 h 1049255"/>
                    <a:gd name="connsiteX2" fmla="*/ 406601 w 496864"/>
                    <a:gd name="connsiteY2" fmla="*/ 1049255 h 1049255"/>
                    <a:gd name="connsiteX3" fmla="*/ 95257 w 496864"/>
                    <a:gd name="connsiteY3" fmla="*/ 1049255 h 1049255"/>
                    <a:gd name="connsiteX0" fmla="*/ 95257 w 497887"/>
                    <a:gd name="connsiteY0" fmla="*/ 1049255 h 1049255"/>
                    <a:gd name="connsiteX1" fmla="*/ 250929 w 497887"/>
                    <a:gd name="connsiteY1" fmla="*/ 0 h 1049255"/>
                    <a:gd name="connsiteX2" fmla="*/ 406601 w 497887"/>
                    <a:gd name="connsiteY2" fmla="*/ 1049255 h 1049255"/>
                    <a:gd name="connsiteX3" fmla="*/ 95257 w 497887"/>
                    <a:gd name="connsiteY3" fmla="*/ 1049255 h 1049255"/>
                    <a:gd name="connsiteX0" fmla="*/ 95257 w 495969"/>
                    <a:gd name="connsiteY0" fmla="*/ 1049255 h 1049255"/>
                    <a:gd name="connsiteX1" fmla="*/ 250929 w 495969"/>
                    <a:gd name="connsiteY1" fmla="*/ 0 h 1049255"/>
                    <a:gd name="connsiteX2" fmla="*/ 406601 w 495969"/>
                    <a:gd name="connsiteY2" fmla="*/ 1049255 h 1049255"/>
                    <a:gd name="connsiteX3" fmla="*/ 95257 w 495969"/>
                    <a:gd name="connsiteY3" fmla="*/ 1049255 h 1049255"/>
                  </a:gdLst>
                  <a:ahLst/>
                  <a:cxnLst>
                    <a:cxn ang="0">
                      <a:pos x="connsiteX0" y="connsiteY0"/>
                    </a:cxn>
                    <a:cxn ang="0">
                      <a:pos x="connsiteX1" y="connsiteY1"/>
                    </a:cxn>
                    <a:cxn ang="0">
                      <a:pos x="connsiteX2" y="connsiteY2"/>
                    </a:cxn>
                    <a:cxn ang="0">
                      <a:pos x="connsiteX3" y="connsiteY3"/>
                    </a:cxn>
                  </a:cxnLst>
                  <a:rect l="l" t="t" r="r" b="b"/>
                  <a:pathLst>
                    <a:path w="495969" h="1049255">
                      <a:moveTo>
                        <a:pt x="95257" y="1049255"/>
                      </a:moveTo>
                      <a:cubicBezTo>
                        <a:pt x="6676" y="723357"/>
                        <a:pt x="-121664" y="317947"/>
                        <a:pt x="250929" y="0"/>
                      </a:cubicBezTo>
                      <a:cubicBezTo>
                        <a:pt x="612920" y="328549"/>
                        <a:pt x="489882" y="781667"/>
                        <a:pt x="406601" y="1049255"/>
                      </a:cubicBezTo>
                      <a:lnTo>
                        <a:pt x="95257" y="1049255"/>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2" name="자유형: 도형 21">
                  <a:extLst>
                    <a:ext uri="{FF2B5EF4-FFF2-40B4-BE49-F238E27FC236}">
                      <a16:creationId xmlns:a16="http://schemas.microsoft.com/office/drawing/2014/main" xmlns="" id="{56F15390-B3DB-4D76-834D-291CE0D12AD3}"/>
                    </a:ext>
                  </a:extLst>
                </p:cNvPr>
                <p:cNvSpPr/>
                <p:nvPr userDrawn="1"/>
              </p:nvSpPr>
              <p:spPr>
                <a:xfrm>
                  <a:off x="5939427" y="102551"/>
                  <a:ext cx="364003" cy="92935"/>
                </a:xfrm>
                <a:custGeom>
                  <a:avLst/>
                  <a:gdLst>
                    <a:gd name="connsiteX0" fmla="*/ 0 w 364003"/>
                    <a:gd name="connsiteY0" fmla="*/ 0 h 92935"/>
                    <a:gd name="connsiteX1" fmla="*/ 364003 w 364003"/>
                    <a:gd name="connsiteY1" fmla="*/ 0 h 92935"/>
                    <a:gd name="connsiteX2" fmla="*/ 336518 w 364003"/>
                    <a:gd name="connsiteY2" fmla="*/ 92935 h 92935"/>
                    <a:gd name="connsiteX3" fmla="*/ 25174 w 364003"/>
                    <a:gd name="connsiteY3" fmla="*/ 92935 h 92935"/>
                  </a:gdLst>
                  <a:ahLst/>
                  <a:cxnLst>
                    <a:cxn ang="0">
                      <a:pos x="connsiteX0" y="connsiteY0"/>
                    </a:cxn>
                    <a:cxn ang="0">
                      <a:pos x="connsiteX1" y="connsiteY1"/>
                    </a:cxn>
                    <a:cxn ang="0">
                      <a:pos x="connsiteX2" y="connsiteY2"/>
                    </a:cxn>
                    <a:cxn ang="0">
                      <a:pos x="connsiteX3" y="connsiteY3"/>
                    </a:cxn>
                  </a:cxnLst>
                  <a:rect l="l" t="t" r="r" b="b"/>
                  <a:pathLst>
                    <a:path w="364003" h="92935">
                      <a:moveTo>
                        <a:pt x="0" y="0"/>
                      </a:moveTo>
                      <a:lnTo>
                        <a:pt x="364003" y="0"/>
                      </a:lnTo>
                      <a:lnTo>
                        <a:pt x="336518" y="92935"/>
                      </a:lnTo>
                      <a:lnTo>
                        <a:pt x="25174" y="92935"/>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자유형: 도형 22">
                  <a:extLst>
                    <a:ext uri="{FF2B5EF4-FFF2-40B4-BE49-F238E27FC236}">
                      <a16:creationId xmlns:a16="http://schemas.microsoft.com/office/drawing/2014/main" xmlns="" id="{3BA87288-70D8-4753-8DAA-8CA1C332EF6C}"/>
                    </a:ext>
                  </a:extLst>
                </p:cNvPr>
                <p:cNvSpPr/>
                <p:nvPr userDrawn="1"/>
              </p:nvSpPr>
              <p:spPr>
                <a:xfrm>
                  <a:off x="5893989" y="-857099"/>
                  <a:ext cx="444279" cy="350537"/>
                </a:xfrm>
                <a:custGeom>
                  <a:avLst/>
                  <a:gdLst>
                    <a:gd name="connsiteX0" fmla="*/ 227272 w 444279"/>
                    <a:gd name="connsiteY0" fmla="*/ 0 h 350537"/>
                    <a:gd name="connsiteX1" fmla="*/ 440556 w 444279"/>
                    <a:gd name="connsiteY1" fmla="*/ 335046 h 350537"/>
                    <a:gd name="connsiteX2" fmla="*/ 444279 w 444279"/>
                    <a:gd name="connsiteY2" fmla="*/ 350537 h 350537"/>
                    <a:gd name="connsiteX3" fmla="*/ 0 w 444279"/>
                    <a:gd name="connsiteY3" fmla="*/ 350537 h 350537"/>
                    <a:gd name="connsiteX4" fmla="*/ 8223 w 444279"/>
                    <a:gd name="connsiteY4" fmla="*/ 318604 h 350537"/>
                    <a:gd name="connsiteX5" fmla="*/ 227272 w 444279"/>
                    <a:gd name="connsiteY5" fmla="*/ 0 h 350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4279" h="350537">
                      <a:moveTo>
                        <a:pt x="227272" y="0"/>
                      </a:moveTo>
                      <a:cubicBezTo>
                        <a:pt x="340394" y="102672"/>
                        <a:pt x="406151" y="217508"/>
                        <a:pt x="440556" y="335046"/>
                      </a:cubicBezTo>
                      <a:lnTo>
                        <a:pt x="444279" y="350537"/>
                      </a:lnTo>
                      <a:lnTo>
                        <a:pt x="0" y="350537"/>
                      </a:lnTo>
                      <a:lnTo>
                        <a:pt x="8223" y="318604"/>
                      </a:lnTo>
                      <a:cubicBezTo>
                        <a:pt x="43321" y="207258"/>
                        <a:pt x="110837" y="99358"/>
                        <a:pt x="227272"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7" name="타원 16">
                <a:extLst>
                  <a:ext uri="{FF2B5EF4-FFF2-40B4-BE49-F238E27FC236}">
                    <a16:creationId xmlns:a16="http://schemas.microsoft.com/office/drawing/2014/main" xmlns="" id="{AD475AD4-CA04-4B61-9BB4-408BA6A11E05}"/>
                  </a:ext>
                </a:extLst>
              </p:cNvPr>
              <p:cNvSpPr/>
              <p:nvPr userDrawn="1"/>
            </p:nvSpPr>
            <p:spPr>
              <a:xfrm>
                <a:off x="5535216" y="-351600"/>
                <a:ext cx="180000" cy="180000"/>
              </a:xfrm>
              <a:prstGeom prst="ellipse">
                <a:avLst/>
              </a:prstGeom>
              <a:solidFill>
                <a:schemeClr val="bg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직사각형 17">
                <a:extLst>
                  <a:ext uri="{FF2B5EF4-FFF2-40B4-BE49-F238E27FC236}">
                    <a16:creationId xmlns:a16="http://schemas.microsoft.com/office/drawing/2014/main" xmlns="" id="{1B106404-A3F8-4193-8435-FA430BEB5473}"/>
                  </a:ext>
                </a:extLst>
              </p:cNvPr>
              <p:cNvSpPr/>
              <p:nvPr userDrawn="1"/>
            </p:nvSpPr>
            <p:spPr>
              <a:xfrm flipH="1">
                <a:off x="5614416" y="6445"/>
                <a:ext cx="21600" cy="432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자유형: 도형 18">
                <a:extLst>
                  <a:ext uri="{FF2B5EF4-FFF2-40B4-BE49-F238E27FC236}">
                    <a16:creationId xmlns:a16="http://schemas.microsoft.com/office/drawing/2014/main" xmlns="" id="{9408417A-6F35-4CB8-93DD-4FB5074FE702}"/>
                  </a:ext>
                </a:extLst>
              </p:cNvPr>
              <p:cNvSpPr/>
              <p:nvPr userDrawn="1"/>
            </p:nvSpPr>
            <p:spPr>
              <a:xfrm>
                <a:off x="5304862" y="-1556"/>
                <a:ext cx="143653" cy="453224"/>
              </a:xfrm>
              <a:custGeom>
                <a:avLst/>
                <a:gdLst>
                  <a:gd name="connsiteX0" fmla="*/ 71561 w 116619"/>
                  <a:gd name="connsiteY0" fmla="*/ 0 h 453224"/>
                  <a:gd name="connsiteX1" fmla="*/ 116619 w 116619"/>
                  <a:gd name="connsiteY1" fmla="*/ 145774 h 453224"/>
                  <a:gd name="connsiteX2" fmla="*/ 0 w 116619"/>
                  <a:gd name="connsiteY2" fmla="*/ 453224 h 453224"/>
                  <a:gd name="connsiteX3" fmla="*/ 71561 w 116619"/>
                  <a:gd name="connsiteY3" fmla="*/ 0 h 453224"/>
                  <a:gd name="connsiteX0" fmla="*/ 78782 w 123840"/>
                  <a:gd name="connsiteY0" fmla="*/ 0 h 453224"/>
                  <a:gd name="connsiteX1" fmla="*/ 123840 w 123840"/>
                  <a:gd name="connsiteY1" fmla="*/ 145774 h 453224"/>
                  <a:gd name="connsiteX2" fmla="*/ 7221 w 123840"/>
                  <a:gd name="connsiteY2" fmla="*/ 453224 h 453224"/>
                  <a:gd name="connsiteX3" fmla="*/ 78782 w 123840"/>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5845 w 140903"/>
                  <a:gd name="connsiteY0" fmla="*/ 0 h 453224"/>
                  <a:gd name="connsiteX1" fmla="*/ 140903 w 140903"/>
                  <a:gd name="connsiteY1" fmla="*/ 145774 h 453224"/>
                  <a:gd name="connsiteX2" fmla="*/ 24284 w 140903"/>
                  <a:gd name="connsiteY2" fmla="*/ 453224 h 453224"/>
                  <a:gd name="connsiteX3" fmla="*/ 95845 w 140903"/>
                  <a:gd name="connsiteY3" fmla="*/ 0 h 453224"/>
                  <a:gd name="connsiteX0" fmla="*/ 98595 w 143653"/>
                  <a:gd name="connsiteY0" fmla="*/ 0 h 453224"/>
                  <a:gd name="connsiteX1" fmla="*/ 143653 w 143653"/>
                  <a:gd name="connsiteY1" fmla="*/ 145774 h 453224"/>
                  <a:gd name="connsiteX2" fmla="*/ 27034 w 143653"/>
                  <a:gd name="connsiteY2" fmla="*/ 453224 h 453224"/>
                  <a:gd name="connsiteX3" fmla="*/ 98595 w 143653"/>
                  <a:gd name="connsiteY3" fmla="*/ 0 h 453224"/>
                </a:gdLst>
                <a:ahLst/>
                <a:cxnLst>
                  <a:cxn ang="0">
                    <a:pos x="connsiteX0" y="connsiteY0"/>
                  </a:cxn>
                  <a:cxn ang="0">
                    <a:pos x="connsiteX1" y="connsiteY1"/>
                  </a:cxn>
                  <a:cxn ang="0">
                    <a:pos x="connsiteX2" y="connsiteY2"/>
                  </a:cxn>
                  <a:cxn ang="0">
                    <a:pos x="connsiteX3" y="connsiteY3"/>
                  </a:cxn>
                </a:cxnLst>
                <a:rect l="l" t="t" r="r" b="b"/>
                <a:pathLst>
                  <a:path w="143653" h="453224">
                    <a:moveTo>
                      <a:pt x="98595" y="0"/>
                    </a:moveTo>
                    <a:lnTo>
                      <a:pt x="143653" y="145774"/>
                    </a:lnTo>
                    <a:cubicBezTo>
                      <a:pt x="38518" y="232356"/>
                      <a:pt x="50005" y="387847"/>
                      <a:pt x="27034" y="453224"/>
                    </a:cubicBezTo>
                    <a:cubicBezTo>
                      <a:pt x="5831" y="365759"/>
                      <a:pt x="-47179" y="100716"/>
                      <a:pt x="98595"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자유형: 도형 19">
                <a:extLst>
                  <a:ext uri="{FF2B5EF4-FFF2-40B4-BE49-F238E27FC236}">
                    <a16:creationId xmlns:a16="http://schemas.microsoft.com/office/drawing/2014/main" xmlns="" id="{3058858D-8ACE-40F2-B778-D2BFBF4553F3}"/>
                  </a:ext>
                </a:extLst>
              </p:cNvPr>
              <p:cNvSpPr/>
              <p:nvPr userDrawn="1"/>
            </p:nvSpPr>
            <p:spPr>
              <a:xfrm flipH="1">
                <a:off x="5807099" y="-1556"/>
                <a:ext cx="143653" cy="453224"/>
              </a:xfrm>
              <a:custGeom>
                <a:avLst/>
                <a:gdLst>
                  <a:gd name="connsiteX0" fmla="*/ 71561 w 116619"/>
                  <a:gd name="connsiteY0" fmla="*/ 0 h 453224"/>
                  <a:gd name="connsiteX1" fmla="*/ 116619 w 116619"/>
                  <a:gd name="connsiteY1" fmla="*/ 145774 h 453224"/>
                  <a:gd name="connsiteX2" fmla="*/ 0 w 116619"/>
                  <a:gd name="connsiteY2" fmla="*/ 453224 h 453224"/>
                  <a:gd name="connsiteX3" fmla="*/ 71561 w 116619"/>
                  <a:gd name="connsiteY3" fmla="*/ 0 h 453224"/>
                  <a:gd name="connsiteX0" fmla="*/ 78782 w 123840"/>
                  <a:gd name="connsiteY0" fmla="*/ 0 h 453224"/>
                  <a:gd name="connsiteX1" fmla="*/ 123840 w 123840"/>
                  <a:gd name="connsiteY1" fmla="*/ 145774 h 453224"/>
                  <a:gd name="connsiteX2" fmla="*/ 7221 w 123840"/>
                  <a:gd name="connsiteY2" fmla="*/ 453224 h 453224"/>
                  <a:gd name="connsiteX3" fmla="*/ 78782 w 123840"/>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5845 w 140903"/>
                  <a:gd name="connsiteY0" fmla="*/ 0 h 453224"/>
                  <a:gd name="connsiteX1" fmla="*/ 140903 w 140903"/>
                  <a:gd name="connsiteY1" fmla="*/ 145774 h 453224"/>
                  <a:gd name="connsiteX2" fmla="*/ 24284 w 140903"/>
                  <a:gd name="connsiteY2" fmla="*/ 453224 h 453224"/>
                  <a:gd name="connsiteX3" fmla="*/ 95845 w 140903"/>
                  <a:gd name="connsiteY3" fmla="*/ 0 h 453224"/>
                  <a:gd name="connsiteX0" fmla="*/ 98595 w 143653"/>
                  <a:gd name="connsiteY0" fmla="*/ 0 h 453224"/>
                  <a:gd name="connsiteX1" fmla="*/ 143653 w 143653"/>
                  <a:gd name="connsiteY1" fmla="*/ 145774 h 453224"/>
                  <a:gd name="connsiteX2" fmla="*/ 27034 w 143653"/>
                  <a:gd name="connsiteY2" fmla="*/ 453224 h 453224"/>
                  <a:gd name="connsiteX3" fmla="*/ 98595 w 143653"/>
                  <a:gd name="connsiteY3" fmla="*/ 0 h 453224"/>
                </a:gdLst>
                <a:ahLst/>
                <a:cxnLst>
                  <a:cxn ang="0">
                    <a:pos x="connsiteX0" y="connsiteY0"/>
                  </a:cxn>
                  <a:cxn ang="0">
                    <a:pos x="connsiteX1" y="connsiteY1"/>
                  </a:cxn>
                  <a:cxn ang="0">
                    <a:pos x="connsiteX2" y="connsiteY2"/>
                  </a:cxn>
                  <a:cxn ang="0">
                    <a:pos x="connsiteX3" y="connsiteY3"/>
                  </a:cxn>
                </a:cxnLst>
                <a:rect l="l" t="t" r="r" b="b"/>
                <a:pathLst>
                  <a:path w="143653" h="453224">
                    <a:moveTo>
                      <a:pt x="98595" y="0"/>
                    </a:moveTo>
                    <a:lnTo>
                      <a:pt x="143653" y="145774"/>
                    </a:lnTo>
                    <a:cubicBezTo>
                      <a:pt x="38518" y="232356"/>
                      <a:pt x="50005" y="387847"/>
                      <a:pt x="27034" y="453224"/>
                    </a:cubicBezTo>
                    <a:cubicBezTo>
                      <a:pt x="5831" y="365759"/>
                      <a:pt x="-47179" y="100716"/>
                      <a:pt x="98595"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12" name="Frame 11"/>
          <p:cNvSpPr/>
          <p:nvPr userDrawn="1"/>
        </p:nvSpPr>
        <p:spPr>
          <a:xfrm>
            <a:off x="251520" y="339502"/>
            <a:ext cx="8640960" cy="4464496"/>
          </a:xfrm>
          <a:prstGeom prst="frame">
            <a:avLst>
              <a:gd name="adj1" fmla="val 1236"/>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Tree>
    <p:extLst>
      <p:ext uri="{BB962C8B-B14F-4D97-AF65-F5344CB8AC3E}">
        <p14:creationId xmlns:p14="http://schemas.microsoft.com/office/powerpoint/2010/main" val="2340375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Hello Slide Layout">
    <p:spTree>
      <p:nvGrpSpPr>
        <p:cNvPr id="1" name=""/>
        <p:cNvGrpSpPr/>
        <p:nvPr/>
      </p:nvGrpSpPr>
      <p:grpSpPr>
        <a:xfrm>
          <a:off x="0" y="0"/>
          <a:ext cx="0" cy="0"/>
          <a:chOff x="0" y="0"/>
          <a:chExt cx="0" cy="0"/>
        </a:xfrm>
      </p:grpSpPr>
      <p:sp>
        <p:nvSpPr>
          <p:cNvPr id="4" name="Rectangle 3"/>
          <p:cNvSpPr/>
          <p:nvPr userDrawn="1"/>
        </p:nvSpPr>
        <p:spPr>
          <a:xfrm>
            <a:off x="0" y="0"/>
            <a:ext cx="9144000" cy="13476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그룹 1">
            <a:extLst>
              <a:ext uri="{FF2B5EF4-FFF2-40B4-BE49-F238E27FC236}">
                <a16:creationId xmlns:a16="http://schemas.microsoft.com/office/drawing/2014/main" xmlns="" id="{523EB7A4-0598-4887-ACB7-E8220F8DDFED}"/>
              </a:ext>
            </a:extLst>
          </p:cNvPr>
          <p:cNvGrpSpPr/>
          <p:nvPr userDrawn="1"/>
        </p:nvGrpSpPr>
        <p:grpSpPr>
          <a:xfrm>
            <a:off x="1902711" y="232356"/>
            <a:ext cx="5620059" cy="4638441"/>
            <a:chOff x="1902711" y="497586"/>
            <a:chExt cx="5620059" cy="4638441"/>
          </a:xfrm>
        </p:grpSpPr>
        <p:grpSp>
          <p:nvGrpSpPr>
            <p:cNvPr id="53" name="그룹 52">
              <a:extLst>
                <a:ext uri="{FF2B5EF4-FFF2-40B4-BE49-F238E27FC236}">
                  <a16:creationId xmlns:a16="http://schemas.microsoft.com/office/drawing/2014/main" xmlns="" id="{C4167999-582F-4DE1-8524-427663DA86EB}"/>
                </a:ext>
              </a:extLst>
            </p:cNvPr>
            <p:cNvGrpSpPr/>
            <p:nvPr userDrawn="1"/>
          </p:nvGrpSpPr>
          <p:grpSpPr>
            <a:xfrm>
              <a:off x="1902711" y="1537517"/>
              <a:ext cx="5620059" cy="3598510"/>
              <a:chOff x="2401342" y="248706"/>
              <a:chExt cx="5620059" cy="3598510"/>
            </a:xfrm>
            <a:solidFill>
              <a:schemeClr val="bg1"/>
            </a:solidFill>
          </p:grpSpPr>
          <p:sp>
            <p:nvSpPr>
              <p:cNvPr id="54" name="Oval 11">
                <a:extLst>
                  <a:ext uri="{FF2B5EF4-FFF2-40B4-BE49-F238E27FC236}">
                    <a16:creationId xmlns:a16="http://schemas.microsoft.com/office/drawing/2014/main" xmlns="" id="{36E509A3-52CE-4453-9564-E704D9C6F3F0}"/>
                  </a:ext>
                </a:extLst>
              </p:cNvPr>
              <p:cNvSpPr/>
              <p:nvPr userDrawn="1"/>
            </p:nvSpPr>
            <p:spPr>
              <a:xfrm>
                <a:off x="4283968" y="941198"/>
                <a:ext cx="956850" cy="956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Oval 11">
                <a:extLst>
                  <a:ext uri="{FF2B5EF4-FFF2-40B4-BE49-F238E27FC236}">
                    <a16:creationId xmlns:a16="http://schemas.microsoft.com/office/drawing/2014/main" xmlns="" id="{D8641ACF-24EC-4119-AF47-45C5E6B69718}"/>
                  </a:ext>
                </a:extLst>
              </p:cNvPr>
              <p:cNvSpPr/>
              <p:nvPr userDrawn="1"/>
            </p:nvSpPr>
            <p:spPr>
              <a:xfrm>
                <a:off x="4080672" y="1386488"/>
                <a:ext cx="491180" cy="4911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Oval 11">
                <a:extLst>
                  <a:ext uri="{FF2B5EF4-FFF2-40B4-BE49-F238E27FC236}">
                    <a16:creationId xmlns:a16="http://schemas.microsoft.com/office/drawing/2014/main" xmlns="" id="{3873CDEC-688A-4EE6-8974-D80E43FF9273}"/>
                  </a:ext>
                </a:extLst>
              </p:cNvPr>
              <p:cNvSpPr/>
              <p:nvPr userDrawn="1"/>
            </p:nvSpPr>
            <p:spPr>
              <a:xfrm>
                <a:off x="3485352" y="1717923"/>
                <a:ext cx="1190640" cy="119064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Oval 11">
                <a:extLst>
                  <a:ext uri="{FF2B5EF4-FFF2-40B4-BE49-F238E27FC236}">
                    <a16:creationId xmlns:a16="http://schemas.microsoft.com/office/drawing/2014/main" xmlns="" id="{B93DE707-F71B-42F6-A0EB-DFC85BA873B2}"/>
                  </a:ext>
                </a:extLst>
              </p:cNvPr>
              <p:cNvSpPr/>
              <p:nvPr userDrawn="1"/>
            </p:nvSpPr>
            <p:spPr>
              <a:xfrm>
                <a:off x="2886827" y="1894030"/>
                <a:ext cx="1190640" cy="119064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Oval 11">
                <a:extLst>
                  <a:ext uri="{FF2B5EF4-FFF2-40B4-BE49-F238E27FC236}">
                    <a16:creationId xmlns:a16="http://schemas.microsoft.com/office/drawing/2014/main" xmlns="" id="{3A7AC84B-9DE8-4557-8141-47C15EEBD952}"/>
                  </a:ext>
                </a:extLst>
              </p:cNvPr>
              <p:cNvSpPr/>
              <p:nvPr userDrawn="1"/>
            </p:nvSpPr>
            <p:spPr>
              <a:xfrm>
                <a:off x="2401342" y="2516235"/>
                <a:ext cx="784747" cy="78474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Oval 11">
                <a:extLst>
                  <a:ext uri="{FF2B5EF4-FFF2-40B4-BE49-F238E27FC236}">
                    <a16:creationId xmlns:a16="http://schemas.microsoft.com/office/drawing/2014/main" xmlns="" id="{F200C86F-3147-4417-909C-8AA712602B15}"/>
                  </a:ext>
                </a:extLst>
              </p:cNvPr>
              <p:cNvSpPr/>
              <p:nvPr userDrawn="1"/>
            </p:nvSpPr>
            <p:spPr>
              <a:xfrm>
                <a:off x="3017096" y="2797485"/>
                <a:ext cx="784747" cy="78474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0" name="Oval 11">
                <a:extLst>
                  <a:ext uri="{FF2B5EF4-FFF2-40B4-BE49-F238E27FC236}">
                    <a16:creationId xmlns:a16="http://schemas.microsoft.com/office/drawing/2014/main" xmlns="" id="{C19D843C-2344-43CD-A232-FDCAF8F43CA5}"/>
                  </a:ext>
                </a:extLst>
              </p:cNvPr>
              <p:cNvSpPr/>
              <p:nvPr userDrawn="1"/>
            </p:nvSpPr>
            <p:spPr>
              <a:xfrm>
                <a:off x="3562974" y="2003019"/>
                <a:ext cx="1844197" cy="184419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1" name="Oval 11">
                <a:extLst>
                  <a:ext uri="{FF2B5EF4-FFF2-40B4-BE49-F238E27FC236}">
                    <a16:creationId xmlns:a16="http://schemas.microsoft.com/office/drawing/2014/main" xmlns="" id="{1D594D95-F75F-4683-A364-E7EFD943F93B}"/>
                  </a:ext>
                </a:extLst>
              </p:cNvPr>
              <p:cNvSpPr/>
              <p:nvPr userDrawn="1"/>
            </p:nvSpPr>
            <p:spPr>
              <a:xfrm>
                <a:off x="4999309" y="3011131"/>
                <a:ext cx="784747" cy="78474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2" name="Oval 11">
                <a:extLst>
                  <a:ext uri="{FF2B5EF4-FFF2-40B4-BE49-F238E27FC236}">
                    <a16:creationId xmlns:a16="http://schemas.microsoft.com/office/drawing/2014/main" xmlns="" id="{95DD39E7-93D6-494C-A36E-247288990A90}"/>
                  </a:ext>
                </a:extLst>
              </p:cNvPr>
              <p:cNvSpPr/>
              <p:nvPr userDrawn="1"/>
            </p:nvSpPr>
            <p:spPr>
              <a:xfrm>
                <a:off x="5653222" y="2981733"/>
                <a:ext cx="784747" cy="78474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3" name="Oval 11">
                <a:extLst>
                  <a:ext uri="{FF2B5EF4-FFF2-40B4-BE49-F238E27FC236}">
                    <a16:creationId xmlns:a16="http://schemas.microsoft.com/office/drawing/2014/main" xmlns="" id="{0724B3EB-D2BA-46AD-9B24-8F61182FFCCE}"/>
                  </a:ext>
                </a:extLst>
              </p:cNvPr>
              <p:cNvSpPr/>
              <p:nvPr userDrawn="1"/>
            </p:nvSpPr>
            <p:spPr>
              <a:xfrm>
                <a:off x="6035666" y="2445747"/>
                <a:ext cx="1363186" cy="136318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4" name="Oval 11">
                <a:extLst>
                  <a:ext uri="{FF2B5EF4-FFF2-40B4-BE49-F238E27FC236}">
                    <a16:creationId xmlns:a16="http://schemas.microsoft.com/office/drawing/2014/main" xmlns="" id="{BDBBA2C7-3C34-4968-B283-7486C3E66CD2}"/>
                  </a:ext>
                </a:extLst>
              </p:cNvPr>
              <p:cNvSpPr/>
              <p:nvPr userDrawn="1"/>
            </p:nvSpPr>
            <p:spPr>
              <a:xfrm>
                <a:off x="7037784" y="2729409"/>
                <a:ext cx="784747" cy="78474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5" name="Oval 11">
                <a:extLst>
                  <a:ext uri="{FF2B5EF4-FFF2-40B4-BE49-F238E27FC236}">
                    <a16:creationId xmlns:a16="http://schemas.microsoft.com/office/drawing/2014/main" xmlns="" id="{1D3596EF-83B2-4D77-9900-8FBA5EF934B2}"/>
                  </a:ext>
                </a:extLst>
              </p:cNvPr>
              <p:cNvSpPr/>
              <p:nvPr userDrawn="1"/>
            </p:nvSpPr>
            <p:spPr>
              <a:xfrm>
                <a:off x="6658215" y="1725625"/>
                <a:ext cx="1363186" cy="136318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6" name="Oval 11">
                <a:extLst>
                  <a:ext uri="{FF2B5EF4-FFF2-40B4-BE49-F238E27FC236}">
                    <a16:creationId xmlns:a16="http://schemas.microsoft.com/office/drawing/2014/main" xmlns="" id="{478452D7-D34C-4072-B618-5EA4D20571B3}"/>
                  </a:ext>
                </a:extLst>
              </p:cNvPr>
              <p:cNvSpPr/>
              <p:nvPr userDrawn="1"/>
            </p:nvSpPr>
            <p:spPr>
              <a:xfrm>
                <a:off x="4702059" y="880592"/>
                <a:ext cx="1040194" cy="104019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7" name="Oval 11">
                <a:extLst>
                  <a:ext uri="{FF2B5EF4-FFF2-40B4-BE49-F238E27FC236}">
                    <a16:creationId xmlns:a16="http://schemas.microsoft.com/office/drawing/2014/main" xmlns="" id="{B67A8B79-3441-4CEE-82A3-001ECBD4DD6C}"/>
                  </a:ext>
                </a:extLst>
              </p:cNvPr>
              <p:cNvSpPr/>
              <p:nvPr userDrawn="1"/>
            </p:nvSpPr>
            <p:spPr>
              <a:xfrm>
                <a:off x="5200227" y="1153449"/>
                <a:ext cx="1040194" cy="104019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Oval 11">
                <a:extLst>
                  <a:ext uri="{FF2B5EF4-FFF2-40B4-BE49-F238E27FC236}">
                    <a16:creationId xmlns:a16="http://schemas.microsoft.com/office/drawing/2014/main" xmlns="" id="{39EC19EA-7198-4F0B-A95B-49D0CF19C8F2}"/>
                  </a:ext>
                </a:extLst>
              </p:cNvPr>
              <p:cNvSpPr/>
              <p:nvPr userDrawn="1"/>
            </p:nvSpPr>
            <p:spPr>
              <a:xfrm>
                <a:off x="5945245" y="1484448"/>
                <a:ext cx="701108" cy="70110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Oval 11">
                <a:extLst>
                  <a:ext uri="{FF2B5EF4-FFF2-40B4-BE49-F238E27FC236}">
                    <a16:creationId xmlns:a16="http://schemas.microsoft.com/office/drawing/2014/main" xmlns="" id="{6F4820F4-E538-4700-880A-FA8685A41A3B}"/>
                  </a:ext>
                </a:extLst>
              </p:cNvPr>
              <p:cNvSpPr/>
              <p:nvPr userDrawn="1"/>
            </p:nvSpPr>
            <p:spPr>
              <a:xfrm>
                <a:off x="6121822" y="1792219"/>
                <a:ext cx="1040194" cy="104019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Oval 11">
                <a:extLst>
                  <a:ext uri="{FF2B5EF4-FFF2-40B4-BE49-F238E27FC236}">
                    <a16:creationId xmlns:a16="http://schemas.microsoft.com/office/drawing/2014/main" xmlns="" id="{413F6B1E-425D-4873-9467-3AC4066BB2ED}"/>
                  </a:ext>
                </a:extLst>
              </p:cNvPr>
              <p:cNvSpPr/>
              <p:nvPr userDrawn="1"/>
            </p:nvSpPr>
            <p:spPr>
              <a:xfrm>
                <a:off x="4251327" y="1369850"/>
                <a:ext cx="2136016" cy="213601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1" name="사다리꼴 70">
                <a:extLst>
                  <a:ext uri="{FF2B5EF4-FFF2-40B4-BE49-F238E27FC236}">
                    <a16:creationId xmlns:a16="http://schemas.microsoft.com/office/drawing/2014/main" xmlns="" id="{B0CB0B17-591E-4DAC-A92C-EBD6A95CAE9D}"/>
                  </a:ext>
                </a:extLst>
              </p:cNvPr>
              <p:cNvSpPr/>
              <p:nvPr userDrawn="1"/>
            </p:nvSpPr>
            <p:spPr>
              <a:xfrm>
                <a:off x="4765704" y="248706"/>
                <a:ext cx="608632" cy="1216152"/>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72" name="그룹 71">
              <a:extLst>
                <a:ext uri="{FF2B5EF4-FFF2-40B4-BE49-F238E27FC236}">
                  <a16:creationId xmlns:a16="http://schemas.microsoft.com/office/drawing/2014/main" xmlns="" id="{0273FAE2-233C-451C-ABAD-157761C173D3}"/>
                </a:ext>
              </a:extLst>
            </p:cNvPr>
            <p:cNvGrpSpPr/>
            <p:nvPr userDrawn="1"/>
          </p:nvGrpSpPr>
          <p:grpSpPr>
            <a:xfrm>
              <a:off x="4249055" y="497586"/>
              <a:ext cx="645890" cy="1241591"/>
              <a:chOff x="5304862" y="-789923"/>
              <a:chExt cx="645890" cy="1241591"/>
            </a:xfrm>
          </p:grpSpPr>
          <p:grpSp>
            <p:nvGrpSpPr>
              <p:cNvPr id="73" name="그룹 72">
                <a:extLst>
                  <a:ext uri="{FF2B5EF4-FFF2-40B4-BE49-F238E27FC236}">
                    <a16:creationId xmlns:a16="http://schemas.microsoft.com/office/drawing/2014/main" xmlns="" id="{F294317C-D093-4716-BC39-F4EDB7B37133}"/>
                  </a:ext>
                </a:extLst>
              </p:cNvPr>
              <p:cNvGrpSpPr/>
              <p:nvPr userDrawn="1"/>
            </p:nvGrpSpPr>
            <p:grpSpPr>
              <a:xfrm>
                <a:off x="5377232" y="-789923"/>
                <a:ext cx="495969" cy="1052585"/>
                <a:chOff x="5868144" y="-857099"/>
                <a:chExt cx="495969" cy="1052585"/>
              </a:xfrm>
            </p:grpSpPr>
            <p:sp>
              <p:nvSpPr>
                <p:cNvPr id="78" name="이등변 삼각형 49">
                  <a:extLst>
                    <a:ext uri="{FF2B5EF4-FFF2-40B4-BE49-F238E27FC236}">
                      <a16:creationId xmlns:a16="http://schemas.microsoft.com/office/drawing/2014/main" xmlns="" id="{28122585-D90D-4D44-AC50-0A8C9106EF95}"/>
                    </a:ext>
                  </a:extLst>
                </p:cNvPr>
                <p:cNvSpPr/>
                <p:nvPr userDrawn="1"/>
              </p:nvSpPr>
              <p:spPr>
                <a:xfrm>
                  <a:off x="5868144" y="-853769"/>
                  <a:ext cx="495969" cy="1049255"/>
                </a:xfrm>
                <a:custGeom>
                  <a:avLst/>
                  <a:gdLst>
                    <a:gd name="connsiteX0" fmla="*/ 0 w 311344"/>
                    <a:gd name="connsiteY0" fmla="*/ 1049255 h 1049255"/>
                    <a:gd name="connsiteX1" fmla="*/ 155672 w 311344"/>
                    <a:gd name="connsiteY1" fmla="*/ 0 h 1049255"/>
                    <a:gd name="connsiteX2" fmla="*/ 311344 w 311344"/>
                    <a:gd name="connsiteY2" fmla="*/ 1049255 h 1049255"/>
                    <a:gd name="connsiteX3" fmla="*/ 0 w 311344"/>
                    <a:gd name="connsiteY3" fmla="*/ 1049255 h 1049255"/>
                    <a:gd name="connsiteX0" fmla="*/ 45684 w 357028"/>
                    <a:gd name="connsiteY0" fmla="*/ 1049255 h 1049255"/>
                    <a:gd name="connsiteX1" fmla="*/ 201356 w 357028"/>
                    <a:gd name="connsiteY1" fmla="*/ 0 h 1049255"/>
                    <a:gd name="connsiteX2" fmla="*/ 357028 w 357028"/>
                    <a:gd name="connsiteY2" fmla="*/ 1049255 h 1049255"/>
                    <a:gd name="connsiteX3" fmla="*/ 45684 w 357028"/>
                    <a:gd name="connsiteY3" fmla="*/ 1049255 h 1049255"/>
                    <a:gd name="connsiteX0" fmla="*/ 45684 w 416158"/>
                    <a:gd name="connsiteY0" fmla="*/ 1049255 h 1049255"/>
                    <a:gd name="connsiteX1" fmla="*/ 201356 w 416158"/>
                    <a:gd name="connsiteY1" fmla="*/ 0 h 1049255"/>
                    <a:gd name="connsiteX2" fmla="*/ 357028 w 416158"/>
                    <a:gd name="connsiteY2" fmla="*/ 1049255 h 1049255"/>
                    <a:gd name="connsiteX3" fmla="*/ 45684 w 416158"/>
                    <a:gd name="connsiteY3" fmla="*/ 1049255 h 1049255"/>
                    <a:gd name="connsiteX0" fmla="*/ 87161 w 457635"/>
                    <a:gd name="connsiteY0" fmla="*/ 1049255 h 1049255"/>
                    <a:gd name="connsiteX1" fmla="*/ 242833 w 457635"/>
                    <a:gd name="connsiteY1" fmla="*/ 0 h 1049255"/>
                    <a:gd name="connsiteX2" fmla="*/ 398505 w 457635"/>
                    <a:gd name="connsiteY2" fmla="*/ 1049255 h 1049255"/>
                    <a:gd name="connsiteX3" fmla="*/ 87161 w 457635"/>
                    <a:gd name="connsiteY3" fmla="*/ 1049255 h 1049255"/>
                    <a:gd name="connsiteX0" fmla="*/ 87161 w 500627"/>
                    <a:gd name="connsiteY0" fmla="*/ 1049255 h 1049255"/>
                    <a:gd name="connsiteX1" fmla="*/ 242833 w 500627"/>
                    <a:gd name="connsiteY1" fmla="*/ 0 h 1049255"/>
                    <a:gd name="connsiteX2" fmla="*/ 398505 w 500627"/>
                    <a:gd name="connsiteY2" fmla="*/ 1049255 h 1049255"/>
                    <a:gd name="connsiteX3" fmla="*/ 87161 w 500627"/>
                    <a:gd name="connsiteY3" fmla="*/ 1049255 h 1049255"/>
                    <a:gd name="connsiteX0" fmla="*/ 91187 w 504653"/>
                    <a:gd name="connsiteY0" fmla="*/ 1049255 h 1049255"/>
                    <a:gd name="connsiteX1" fmla="*/ 246859 w 504653"/>
                    <a:gd name="connsiteY1" fmla="*/ 0 h 1049255"/>
                    <a:gd name="connsiteX2" fmla="*/ 402531 w 504653"/>
                    <a:gd name="connsiteY2" fmla="*/ 1049255 h 1049255"/>
                    <a:gd name="connsiteX3" fmla="*/ 91187 w 504653"/>
                    <a:gd name="connsiteY3" fmla="*/ 1049255 h 1049255"/>
                    <a:gd name="connsiteX0" fmla="*/ 91187 w 500775"/>
                    <a:gd name="connsiteY0" fmla="*/ 1049255 h 1049255"/>
                    <a:gd name="connsiteX1" fmla="*/ 246859 w 500775"/>
                    <a:gd name="connsiteY1" fmla="*/ 0 h 1049255"/>
                    <a:gd name="connsiteX2" fmla="*/ 402531 w 500775"/>
                    <a:gd name="connsiteY2" fmla="*/ 1049255 h 1049255"/>
                    <a:gd name="connsiteX3" fmla="*/ 91187 w 500775"/>
                    <a:gd name="connsiteY3" fmla="*/ 1049255 h 1049255"/>
                    <a:gd name="connsiteX0" fmla="*/ 91187 w 484758"/>
                    <a:gd name="connsiteY0" fmla="*/ 1049255 h 1049255"/>
                    <a:gd name="connsiteX1" fmla="*/ 246859 w 484758"/>
                    <a:gd name="connsiteY1" fmla="*/ 0 h 1049255"/>
                    <a:gd name="connsiteX2" fmla="*/ 402531 w 484758"/>
                    <a:gd name="connsiteY2" fmla="*/ 1049255 h 1049255"/>
                    <a:gd name="connsiteX3" fmla="*/ 91187 w 484758"/>
                    <a:gd name="connsiteY3" fmla="*/ 1049255 h 1049255"/>
                    <a:gd name="connsiteX0" fmla="*/ 91187 w 488692"/>
                    <a:gd name="connsiteY0" fmla="*/ 1049255 h 1049255"/>
                    <a:gd name="connsiteX1" fmla="*/ 246859 w 488692"/>
                    <a:gd name="connsiteY1" fmla="*/ 0 h 1049255"/>
                    <a:gd name="connsiteX2" fmla="*/ 402531 w 488692"/>
                    <a:gd name="connsiteY2" fmla="*/ 1049255 h 1049255"/>
                    <a:gd name="connsiteX3" fmla="*/ 91187 w 488692"/>
                    <a:gd name="connsiteY3" fmla="*/ 1049255 h 1049255"/>
                    <a:gd name="connsiteX0" fmla="*/ 91187 w 492707"/>
                    <a:gd name="connsiteY0" fmla="*/ 1049255 h 1049255"/>
                    <a:gd name="connsiteX1" fmla="*/ 246859 w 492707"/>
                    <a:gd name="connsiteY1" fmla="*/ 0 h 1049255"/>
                    <a:gd name="connsiteX2" fmla="*/ 402531 w 492707"/>
                    <a:gd name="connsiteY2" fmla="*/ 1049255 h 1049255"/>
                    <a:gd name="connsiteX3" fmla="*/ 91187 w 492707"/>
                    <a:gd name="connsiteY3" fmla="*/ 1049255 h 1049255"/>
                    <a:gd name="connsiteX0" fmla="*/ 95257 w 496777"/>
                    <a:gd name="connsiteY0" fmla="*/ 1049255 h 1049255"/>
                    <a:gd name="connsiteX1" fmla="*/ 250929 w 496777"/>
                    <a:gd name="connsiteY1" fmla="*/ 0 h 1049255"/>
                    <a:gd name="connsiteX2" fmla="*/ 406601 w 496777"/>
                    <a:gd name="connsiteY2" fmla="*/ 1049255 h 1049255"/>
                    <a:gd name="connsiteX3" fmla="*/ 95257 w 496777"/>
                    <a:gd name="connsiteY3" fmla="*/ 1049255 h 1049255"/>
                    <a:gd name="connsiteX0" fmla="*/ 95257 w 485293"/>
                    <a:gd name="connsiteY0" fmla="*/ 1049255 h 1049255"/>
                    <a:gd name="connsiteX1" fmla="*/ 250929 w 485293"/>
                    <a:gd name="connsiteY1" fmla="*/ 0 h 1049255"/>
                    <a:gd name="connsiteX2" fmla="*/ 406601 w 485293"/>
                    <a:gd name="connsiteY2" fmla="*/ 1049255 h 1049255"/>
                    <a:gd name="connsiteX3" fmla="*/ 95257 w 485293"/>
                    <a:gd name="connsiteY3" fmla="*/ 1049255 h 1049255"/>
                    <a:gd name="connsiteX0" fmla="*/ 95257 w 494828"/>
                    <a:gd name="connsiteY0" fmla="*/ 1049255 h 1049255"/>
                    <a:gd name="connsiteX1" fmla="*/ 250929 w 494828"/>
                    <a:gd name="connsiteY1" fmla="*/ 0 h 1049255"/>
                    <a:gd name="connsiteX2" fmla="*/ 406601 w 494828"/>
                    <a:gd name="connsiteY2" fmla="*/ 1049255 h 1049255"/>
                    <a:gd name="connsiteX3" fmla="*/ 95257 w 494828"/>
                    <a:gd name="connsiteY3" fmla="*/ 1049255 h 1049255"/>
                    <a:gd name="connsiteX0" fmla="*/ 95257 w 493814"/>
                    <a:gd name="connsiteY0" fmla="*/ 1049255 h 1049255"/>
                    <a:gd name="connsiteX1" fmla="*/ 250929 w 493814"/>
                    <a:gd name="connsiteY1" fmla="*/ 0 h 1049255"/>
                    <a:gd name="connsiteX2" fmla="*/ 406601 w 493814"/>
                    <a:gd name="connsiteY2" fmla="*/ 1049255 h 1049255"/>
                    <a:gd name="connsiteX3" fmla="*/ 95257 w 493814"/>
                    <a:gd name="connsiteY3" fmla="*/ 1049255 h 1049255"/>
                    <a:gd name="connsiteX0" fmla="*/ 95257 w 496864"/>
                    <a:gd name="connsiteY0" fmla="*/ 1049255 h 1049255"/>
                    <a:gd name="connsiteX1" fmla="*/ 250929 w 496864"/>
                    <a:gd name="connsiteY1" fmla="*/ 0 h 1049255"/>
                    <a:gd name="connsiteX2" fmla="*/ 406601 w 496864"/>
                    <a:gd name="connsiteY2" fmla="*/ 1049255 h 1049255"/>
                    <a:gd name="connsiteX3" fmla="*/ 95257 w 496864"/>
                    <a:gd name="connsiteY3" fmla="*/ 1049255 h 1049255"/>
                    <a:gd name="connsiteX0" fmla="*/ 95257 w 497887"/>
                    <a:gd name="connsiteY0" fmla="*/ 1049255 h 1049255"/>
                    <a:gd name="connsiteX1" fmla="*/ 250929 w 497887"/>
                    <a:gd name="connsiteY1" fmla="*/ 0 h 1049255"/>
                    <a:gd name="connsiteX2" fmla="*/ 406601 w 497887"/>
                    <a:gd name="connsiteY2" fmla="*/ 1049255 h 1049255"/>
                    <a:gd name="connsiteX3" fmla="*/ 95257 w 497887"/>
                    <a:gd name="connsiteY3" fmla="*/ 1049255 h 1049255"/>
                    <a:gd name="connsiteX0" fmla="*/ 95257 w 495969"/>
                    <a:gd name="connsiteY0" fmla="*/ 1049255 h 1049255"/>
                    <a:gd name="connsiteX1" fmla="*/ 250929 w 495969"/>
                    <a:gd name="connsiteY1" fmla="*/ 0 h 1049255"/>
                    <a:gd name="connsiteX2" fmla="*/ 406601 w 495969"/>
                    <a:gd name="connsiteY2" fmla="*/ 1049255 h 1049255"/>
                    <a:gd name="connsiteX3" fmla="*/ 95257 w 495969"/>
                    <a:gd name="connsiteY3" fmla="*/ 1049255 h 1049255"/>
                  </a:gdLst>
                  <a:ahLst/>
                  <a:cxnLst>
                    <a:cxn ang="0">
                      <a:pos x="connsiteX0" y="connsiteY0"/>
                    </a:cxn>
                    <a:cxn ang="0">
                      <a:pos x="connsiteX1" y="connsiteY1"/>
                    </a:cxn>
                    <a:cxn ang="0">
                      <a:pos x="connsiteX2" y="connsiteY2"/>
                    </a:cxn>
                    <a:cxn ang="0">
                      <a:pos x="connsiteX3" y="connsiteY3"/>
                    </a:cxn>
                  </a:cxnLst>
                  <a:rect l="l" t="t" r="r" b="b"/>
                  <a:pathLst>
                    <a:path w="495969" h="1049255">
                      <a:moveTo>
                        <a:pt x="95257" y="1049255"/>
                      </a:moveTo>
                      <a:cubicBezTo>
                        <a:pt x="6676" y="723357"/>
                        <a:pt x="-121664" y="317947"/>
                        <a:pt x="250929" y="0"/>
                      </a:cubicBezTo>
                      <a:cubicBezTo>
                        <a:pt x="612920" y="328549"/>
                        <a:pt x="489882" y="781667"/>
                        <a:pt x="406601" y="1049255"/>
                      </a:cubicBezTo>
                      <a:lnTo>
                        <a:pt x="95257" y="1049255"/>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9" name="자유형: 도형 78">
                  <a:extLst>
                    <a:ext uri="{FF2B5EF4-FFF2-40B4-BE49-F238E27FC236}">
                      <a16:creationId xmlns:a16="http://schemas.microsoft.com/office/drawing/2014/main" xmlns="" id="{CA4A1B48-5DCF-4240-B908-5565A0B620C1}"/>
                    </a:ext>
                  </a:extLst>
                </p:cNvPr>
                <p:cNvSpPr/>
                <p:nvPr userDrawn="1"/>
              </p:nvSpPr>
              <p:spPr>
                <a:xfrm>
                  <a:off x="5939427" y="102551"/>
                  <a:ext cx="364003" cy="92935"/>
                </a:xfrm>
                <a:custGeom>
                  <a:avLst/>
                  <a:gdLst>
                    <a:gd name="connsiteX0" fmla="*/ 0 w 364003"/>
                    <a:gd name="connsiteY0" fmla="*/ 0 h 92935"/>
                    <a:gd name="connsiteX1" fmla="*/ 364003 w 364003"/>
                    <a:gd name="connsiteY1" fmla="*/ 0 h 92935"/>
                    <a:gd name="connsiteX2" fmla="*/ 336518 w 364003"/>
                    <a:gd name="connsiteY2" fmla="*/ 92935 h 92935"/>
                    <a:gd name="connsiteX3" fmla="*/ 25174 w 364003"/>
                    <a:gd name="connsiteY3" fmla="*/ 92935 h 92935"/>
                  </a:gdLst>
                  <a:ahLst/>
                  <a:cxnLst>
                    <a:cxn ang="0">
                      <a:pos x="connsiteX0" y="connsiteY0"/>
                    </a:cxn>
                    <a:cxn ang="0">
                      <a:pos x="connsiteX1" y="connsiteY1"/>
                    </a:cxn>
                    <a:cxn ang="0">
                      <a:pos x="connsiteX2" y="connsiteY2"/>
                    </a:cxn>
                    <a:cxn ang="0">
                      <a:pos x="connsiteX3" y="connsiteY3"/>
                    </a:cxn>
                  </a:cxnLst>
                  <a:rect l="l" t="t" r="r" b="b"/>
                  <a:pathLst>
                    <a:path w="364003" h="92935">
                      <a:moveTo>
                        <a:pt x="0" y="0"/>
                      </a:moveTo>
                      <a:lnTo>
                        <a:pt x="364003" y="0"/>
                      </a:lnTo>
                      <a:lnTo>
                        <a:pt x="336518" y="92935"/>
                      </a:lnTo>
                      <a:lnTo>
                        <a:pt x="25174" y="92935"/>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0" name="자유형: 도형 79">
                  <a:extLst>
                    <a:ext uri="{FF2B5EF4-FFF2-40B4-BE49-F238E27FC236}">
                      <a16:creationId xmlns:a16="http://schemas.microsoft.com/office/drawing/2014/main" xmlns="" id="{28D35705-FE6E-444A-A4F2-216FB36C2D3C}"/>
                    </a:ext>
                  </a:extLst>
                </p:cNvPr>
                <p:cNvSpPr/>
                <p:nvPr userDrawn="1"/>
              </p:nvSpPr>
              <p:spPr>
                <a:xfrm>
                  <a:off x="5893989" y="-857099"/>
                  <a:ext cx="444279" cy="350537"/>
                </a:xfrm>
                <a:custGeom>
                  <a:avLst/>
                  <a:gdLst>
                    <a:gd name="connsiteX0" fmla="*/ 227272 w 444279"/>
                    <a:gd name="connsiteY0" fmla="*/ 0 h 350537"/>
                    <a:gd name="connsiteX1" fmla="*/ 440556 w 444279"/>
                    <a:gd name="connsiteY1" fmla="*/ 335046 h 350537"/>
                    <a:gd name="connsiteX2" fmla="*/ 444279 w 444279"/>
                    <a:gd name="connsiteY2" fmla="*/ 350537 h 350537"/>
                    <a:gd name="connsiteX3" fmla="*/ 0 w 444279"/>
                    <a:gd name="connsiteY3" fmla="*/ 350537 h 350537"/>
                    <a:gd name="connsiteX4" fmla="*/ 8223 w 444279"/>
                    <a:gd name="connsiteY4" fmla="*/ 318604 h 350537"/>
                    <a:gd name="connsiteX5" fmla="*/ 227272 w 444279"/>
                    <a:gd name="connsiteY5" fmla="*/ 0 h 350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4279" h="350537">
                      <a:moveTo>
                        <a:pt x="227272" y="0"/>
                      </a:moveTo>
                      <a:cubicBezTo>
                        <a:pt x="340394" y="102672"/>
                        <a:pt x="406151" y="217508"/>
                        <a:pt x="440556" y="335046"/>
                      </a:cubicBezTo>
                      <a:lnTo>
                        <a:pt x="444279" y="350537"/>
                      </a:lnTo>
                      <a:lnTo>
                        <a:pt x="0" y="350537"/>
                      </a:lnTo>
                      <a:lnTo>
                        <a:pt x="8223" y="318604"/>
                      </a:lnTo>
                      <a:cubicBezTo>
                        <a:pt x="43321" y="207258"/>
                        <a:pt x="110837" y="99358"/>
                        <a:pt x="227272"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4" name="타원 73">
                <a:extLst>
                  <a:ext uri="{FF2B5EF4-FFF2-40B4-BE49-F238E27FC236}">
                    <a16:creationId xmlns:a16="http://schemas.microsoft.com/office/drawing/2014/main" xmlns="" id="{833271DD-6F14-4B18-BE97-D6CF7744263D}"/>
                  </a:ext>
                </a:extLst>
              </p:cNvPr>
              <p:cNvSpPr/>
              <p:nvPr userDrawn="1"/>
            </p:nvSpPr>
            <p:spPr>
              <a:xfrm>
                <a:off x="5535216" y="-351600"/>
                <a:ext cx="180000" cy="180000"/>
              </a:xfrm>
              <a:prstGeom prst="ellipse">
                <a:avLst/>
              </a:prstGeom>
              <a:solidFill>
                <a:schemeClr val="bg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5" name="직사각형 74">
                <a:extLst>
                  <a:ext uri="{FF2B5EF4-FFF2-40B4-BE49-F238E27FC236}">
                    <a16:creationId xmlns:a16="http://schemas.microsoft.com/office/drawing/2014/main" xmlns="" id="{32141932-F9EE-4187-BBBC-79F2AADC7FB5}"/>
                  </a:ext>
                </a:extLst>
              </p:cNvPr>
              <p:cNvSpPr/>
              <p:nvPr userDrawn="1"/>
            </p:nvSpPr>
            <p:spPr>
              <a:xfrm flipH="1">
                <a:off x="5614416" y="6445"/>
                <a:ext cx="21600" cy="432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6" name="자유형: 도형 75">
                <a:extLst>
                  <a:ext uri="{FF2B5EF4-FFF2-40B4-BE49-F238E27FC236}">
                    <a16:creationId xmlns:a16="http://schemas.microsoft.com/office/drawing/2014/main" xmlns="" id="{C4A28A23-9A45-480D-9AE0-AC8E03B407E4}"/>
                  </a:ext>
                </a:extLst>
              </p:cNvPr>
              <p:cNvSpPr/>
              <p:nvPr userDrawn="1"/>
            </p:nvSpPr>
            <p:spPr>
              <a:xfrm>
                <a:off x="5304862" y="-1556"/>
                <a:ext cx="143653" cy="453224"/>
              </a:xfrm>
              <a:custGeom>
                <a:avLst/>
                <a:gdLst>
                  <a:gd name="connsiteX0" fmla="*/ 71561 w 116619"/>
                  <a:gd name="connsiteY0" fmla="*/ 0 h 453224"/>
                  <a:gd name="connsiteX1" fmla="*/ 116619 w 116619"/>
                  <a:gd name="connsiteY1" fmla="*/ 145774 h 453224"/>
                  <a:gd name="connsiteX2" fmla="*/ 0 w 116619"/>
                  <a:gd name="connsiteY2" fmla="*/ 453224 h 453224"/>
                  <a:gd name="connsiteX3" fmla="*/ 71561 w 116619"/>
                  <a:gd name="connsiteY3" fmla="*/ 0 h 453224"/>
                  <a:gd name="connsiteX0" fmla="*/ 78782 w 123840"/>
                  <a:gd name="connsiteY0" fmla="*/ 0 h 453224"/>
                  <a:gd name="connsiteX1" fmla="*/ 123840 w 123840"/>
                  <a:gd name="connsiteY1" fmla="*/ 145774 h 453224"/>
                  <a:gd name="connsiteX2" fmla="*/ 7221 w 123840"/>
                  <a:gd name="connsiteY2" fmla="*/ 453224 h 453224"/>
                  <a:gd name="connsiteX3" fmla="*/ 78782 w 123840"/>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5845 w 140903"/>
                  <a:gd name="connsiteY0" fmla="*/ 0 h 453224"/>
                  <a:gd name="connsiteX1" fmla="*/ 140903 w 140903"/>
                  <a:gd name="connsiteY1" fmla="*/ 145774 h 453224"/>
                  <a:gd name="connsiteX2" fmla="*/ 24284 w 140903"/>
                  <a:gd name="connsiteY2" fmla="*/ 453224 h 453224"/>
                  <a:gd name="connsiteX3" fmla="*/ 95845 w 140903"/>
                  <a:gd name="connsiteY3" fmla="*/ 0 h 453224"/>
                  <a:gd name="connsiteX0" fmla="*/ 98595 w 143653"/>
                  <a:gd name="connsiteY0" fmla="*/ 0 h 453224"/>
                  <a:gd name="connsiteX1" fmla="*/ 143653 w 143653"/>
                  <a:gd name="connsiteY1" fmla="*/ 145774 h 453224"/>
                  <a:gd name="connsiteX2" fmla="*/ 27034 w 143653"/>
                  <a:gd name="connsiteY2" fmla="*/ 453224 h 453224"/>
                  <a:gd name="connsiteX3" fmla="*/ 98595 w 143653"/>
                  <a:gd name="connsiteY3" fmla="*/ 0 h 453224"/>
                </a:gdLst>
                <a:ahLst/>
                <a:cxnLst>
                  <a:cxn ang="0">
                    <a:pos x="connsiteX0" y="connsiteY0"/>
                  </a:cxn>
                  <a:cxn ang="0">
                    <a:pos x="connsiteX1" y="connsiteY1"/>
                  </a:cxn>
                  <a:cxn ang="0">
                    <a:pos x="connsiteX2" y="connsiteY2"/>
                  </a:cxn>
                  <a:cxn ang="0">
                    <a:pos x="connsiteX3" y="connsiteY3"/>
                  </a:cxn>
                </a:cxnLst>
                <a:rect l="l" t="t" r="r" b="b"/>
                <a:pathLst>
                  <a:path w="143653" h="453224">
                    <a:moveTo>
                      <a:pt x="98595" y="0"/>
                    </a:moveTo>
                    <a:lnTo>
                      <a:pt x="143653" y="145774"/>
                    </a:lnTo>
                    <a:cubicBezTo>
                      <a:pt x="38518" y="232356"/>
                      <a:pt x="50005" y="387847"/>
                      <a:pt x="27034" y="453224"/>
                    </a:cubicBezTo>
                    <a:cubicBezTo>
                      <a:pt x="5831" y="365759"/>
                      <a:pt x="-47179" y="100716"/>
                      <a:pt x="98595"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7" name="자유형: 도형 76">
                <a:extLst>
                  <a:ext uri="{FF2B5EF4-FFF2-40B4-BE49-F238E27FC236}">
                    <a16:creationId xmlns:a16="http://schemas.microsoft.com/office/drawing/2014/main" xmlns="" id="{E5282C72-98DB-48D8-88FE-2DFA994D4B88}"/>
                  </a:ext>
                </a:extLst>
              </p:cNvPr>
              <p:cNvSpPr/>
              <p:nvPr userDrawn="1"/>
            </p:nvSpPr>
            <p:spPr>
              <a:xfrm flipH="1">
                <a:off x="5807099" y="-1556"/>
                <a:ext cx="143653" cy="453224"/>
              </a:xfrm>
              <a:custGeom>
                <a:avLst/>
                <a:gdLst>
                  <a:gd name="connsiteX0" fmla="*/ 71561 w 116619"/>
                  <a:gd name="connsiteY0" fmla="*/ 0 h 453224"/>
                  <a:gd name="connsiteX1" fmla="*/ 116619 w 116619"/>
                  <a:gd name="connsiteY1" fmla="*/ 145774 h 453224"/>
                  <a:gd name="connsiteX2" fmla="*/ 0 w 116619"/>
                  <a:gd name="connsiteY2" fmla="*/ 453224 h 453224"/>
                  <a:gd name="connsiteX3" fmla="*/ 71561 w 116619"/>
                  <a:gd name="connsiteY3" fmla="*/ 0 h 453224"/>
                  <a:gd name="connsiteX0" fmla="*/ 78782 w 123840"/>
                  <a:gd name="connsiteY0" fmla="*/ 0 h 453224"/>
                  <a:gd name="connsiteX1" fmla="*/ 123840 w 123840"/>
                  <a:gd name="connsiteY1" fmla="*/ 145774 h 453224"/>
                  <a:gd name="connsiteX2" fmla="*/ 7221 w 123840"/>
                  <a:gd name="connsiteY2" fmla="*/ 453224 h 453224"/>
                  <a:gd name="connsiteX3" fmla="*/ 78782 w 123840"/>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5845 w 140903"/>
                  <a:gd name="connsiteY0" fmla="*/ 0 h 453224"/>
                  <a:gd name="connsiteX1" fmla="*/ 140903 w 140903"/>
                  <a:gd name="connsiteY1" fmla="*/ 145774 h 453224"/>
                  <a:gd name="connsiteX2" fmla="*/ 24284 w 140903"/>
                  <a:gd name="connsiteY2" fmla="*/ 453224 h 453224"/>
                  <a:gd name="connsiteX3" fmla="*/ 95845 w 140903"/>
                  <a:gd name="connsiteY3" fmla="*/ 0 h 453224"/>
                  <a:gd name="connsiteX0" fmla="*/ 98595 w 143653"/>
                  <a:gd name="connsiteY0" fmla="*/ 0 h 453224"/>
                  <a:gd name="connsiteX1" fmla="*/ 143653 w 143653"/>
                  <a:gd name="connsiteY1" fmla="*/ 145774 h 453224"/>
                  <a:gd name="connsiteX2" fmla="*/ 27034 w 143653"/>
                  <a:gd name="connsiteY2" fmla="*/ 453224 h 453224"/>
                  <a:gd name="connsiteX3" fmla="*/ 98595 w 143653"/>
                  <a:gd name="connsiteY3" fmla="*/ 0 h 453224"/>
                </a:gdLst>
                <a:ahLst/>
                <a:cxnLst>
                  <a:cxn ang="0">
                    <a:pos x="connsiteX0" y="connsiteY0"/>
                  </a:cxn>
                  <a:cxn ang="0">
                    <a:pos x="connsiteX1" y="connsiteY1"/>
                  </a:cxn>
                  <a:cxn ang="0">
                    <a:pos x="connsiteX2" y="connsiteY2"/>
                  </a:cxn>
                  <a:cxn ang="0">
                    <a:pos x="connsiteX3" y="connsiteY3"/>
                  </a:cxn>
                </a:cxnLst>
                <a:rect l="l" t="t" r="r" b="b"/>
                <a:pathLst>
                  <a:path w="143653" h="453224">
                    <a:moveTo>
                      <a:pt x="98595" y="0"/>
                    </a:moveTo>
                    <a:lnTo>
                      <a:pt x="143653" y="145774"/>
                    </a:lnTo>
                    <a:cubicBezTo>
                      <a:pt x="38518" y="232356"/>
                      <a:pt x="50005" y="387847"/>
                      <a:pt x="27034" y="453224"/>
                    </a:cubicBezTo>
                    <a:cubicBezTo>
                      <a:pt x="5831" y="365759"/>
                      <a:pt x="-47179" y="100716"/>
                      <a:pt x="98595"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10" name="Text Placeholder 9"/>
          <p:cNvSpPr>
            <a:spLocks noGrp="1"/>
          </p:cNvSpPr>
          <p:nvPr>
            <p:ph type="body" sz="quarter" idx="10" hasCustomPrompt="1"/>
          </p:nvPr>
        </p:nvSpPr>
        <p:spPr>
          <a:xfrm>
            <a:off x="2616057" y="2931790"/>
            <a:ext cx="3894936" cy="576063"/>
          </a:xfrm>
          <a:prstGeom prst="rect">
            <a:avLst/>
          </a:prstGeom>
        </p:spPr>
        <p:txBody>
          <a:bodyPr anchor="ctr"/>
          <a:lstStyle>
            <a:lvl1pPr marL="0" indent="0" algn="ctr">
              <a:buNone/>
              <a:defRPr sz="3600" b="1" baseline="0">
                <a:solidFill>
                  <a:schemeClr val="tx1">
                    <a:lumMod val="75000"/>
                    <a:lumOff val="25000"/>
                  </a:schemeClr>
                </a:solidFill>
                <a:latin typeface="+mj-lt"/>
                <a:cs typeface="Arial" pitchFamily="34" charset="0"/>
              </a:defRPr>
            </a:lvl1pPr>
          </a:lstStyle>
          <a:p>
            <a:pPr lvl="0"/>
            <a:r>
              <a:rPr lang="en-US" altLang="ko-KR" dirty="0"/>
              <a:t>Thank you</a:t>
            </a:r>
          </a:p>
        </p:txBody>
      </p:sp>
      <p:sp>
        <p:nvSpPr>
          <p:cNvPr id="11" name="Text Placeholder 9"/>
          <p:cNvSpPr>
            <a:spLocks noGrp="1"/>
          </p:cNvSpPr>
          <p:nvPr>
            <p:ph type="body" sz="quarter" idx="11" hasCustomPrompt="1"/>
          </p:nvPr>
        </p:nvSpPr>
        <p:spPr>
          <a:xfrm>
            <a:off x="2615909" y="3579862"/>
            <a:ext cx="3894936"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grpSp>
        <p:nvGrpSpPr>
          <p:cNvPr id="3" name="Group 2"/>
          <p:cNvGrpSpPr/>
          <p:nvPr userDrawn="1"/>
        </p:nvGrpSpPr>
        <p:grpSpPr>
          <a:xfrm>
            <a:off x="6535596" y="1104508"/>
            <a:ext cx="672848" cy="486211"/>
            <a:chOff x="6495678" y="1779663"/>
            <a:chExt cx="672848" cy="486211"/>
          </a:xfrm>
        </p:grpSpPr>
        <p:sp>
          <p:nvSpPr>
            <p:cNvPr id="17" name="Oval 16"/>
            <p:cNvSpPr/>
            <p:nvPr userDrawn="1"/>
          </p:nvSpPr>
          <p:spPr>
            <a:xfrm>
              <a:off x="6588225" y="1779663"/>
              <a:ext cx="432048" cy="4320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Oval 17"/>
            <p:cNvSpPr/>
            <p:nvPr userDrawn="1"/>
          </p:nvSpPr>
          <p:spPr>
            <a:xfrm>
              <a:off x="6872020" y="1913390"/>
              <a:ext cx="296506" cy="2965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Oval 18"/>
            <p:cNvSpPr/>
            <p:nvPr userDrawn="1"/>
          </p:nvSpPr>
          <p:spPr>
            <a:xfrm>
              <a:off x="6495678" y="1995687"/>
              <a:ext cx="270187" cy="27018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Oval 19"/>
            <p:cNvSpPr/>
            <p:nvPr userDrawn="1"/>
          </p:nvSpPr>
          <p:spPr>
            <a:xfrm>
              <a:off x="6698826" y="1995687"/>
              <a:ext cx="270187" cy="27018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1" name="Group 20"/>
          <p:cNvGrpSpPr/>
          <p:nvPr userDrawn="1"/>
        </p:nvGrpSpPr>
        <p:grpSpPr>
          <a:xfrm>
            <a:off x="2098952" y="2183144"/>
            <a:ext cx="524595" cy="379081"/>
            <a:chOff x="6495678" y="1779663"/>
            <a:chExt cx="672848" cy="486211"/>
          </a:xfrm>
        </p:grpSpPr>
        <p:sp>
          <p:nvSpPr>
            <p:cNvPr id="22" name="Oval 21"/>
            <p:cNvSpPr/>
            <p:nvPr userDrawn="1"/>
          </p:nvSpPr>
          <p:spPr>
            <a:xfrm>
              <a:off x="6588225" y="1779663"/>
              <a:ext cx="432048" cy="4320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Oval 22"/>
            <p:cNvSpPr/>
            <p:nvPr userDrawn="1"/>
          </p:nvSpPr>
          <p:spPr>
            <a:xfrm>
              <a:off x="6872020" y="1913390"/>
              <a:ext cx="296506" cy="2965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Oval 23"/>
            <p:cNvSpPr/>
            <p:nvPr userDrawn="1"/>
          </p:nvSpPr>
          <p:spPr>
            <a:xfrm>
              <a:off x="6495678" y="1995687"/>
              <a:ext cx="270187" cy="27018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Oval 24"/>
            <p:cNvSpPr/>
            <p:nvPr userDrawn="1"/>
          </p:nvSpPr>
          <p:spPr>
            <a:xfrm>
              <a:off x="6698826" y="1995687"/>
              <a:ext cx="270187" cy="27018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1136053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grpSp>
        <p:nvGrpSpPr>
          <p:cNvPr id="13" name="Group 12"/>
          <p:cNvGrpSpPr/>
          <p:nvPr userDrawn="1"/>
        </p:nvGrpSpPr>
        <p:grpSpPr>
          <a:xfrm>
            <a:off x="3707904" y="1203090"/>
            <a:ext cx="1710999" cy="3600908"/>
            <a:chOff x="3797105" y="1404992"/>
            <a:chExt cx="1548895" cy="3471014"/>
          </a:xfrm>
        </p:grpSpPr>
        <p:sp>
          <p:nvSpPr>
            <p:cNvPr id="9" name="Rectangle 8"/>
            <p:cNvSpPr/>
            <p:nvPr userDrawn="1"/>
          </p:nvSpPr>
          <p:spPr>
            <a:xfrm>
              <a:off x="3797105" y="1909048"/>
              <a:ext cx="1548000" cy="246290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2" name="Isosceles Triangle 11"/>
            <p:cNvSpPr/>
            <p:nvPr userDrawn="1"/>
          </p:nvSpPr>
          <p:spPr>
            <a:xfrm>
              <a:off x="3797105" y="1404992"/>
              <a:ext cx="1548000" cy="504056"/>
            </a:xfrm>
            <a:prstGeom prst="triangle">
              <a:avLst>
                <a:gd name="adj" fmla="val 49055"/>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4" name="Isosceles Triangle 13"/>
            <p:cNvSpPr/>
            <p:nvPr userDrawn="1"/>
          </p:nvSpPr>
          <p:spPr>
            <a:xfrm rot="10800000">
              <a:off x="3798000" y="4371950"/>
              <a:ext cx="1548000" cy="504056"/>
            </a:xfrm>
            <a:prstGeom prst="triangle">
              <a:avLst>
                <a:gd name="adj" fmla="val 49055"/>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8" name="Picture Placeholder 2"/>
          <p:cNvSpPr>
            <a:spLocks noGrp="1"/>
          </p:cNvSpPr>
          <p:nvPr>
            <p:ph type="pic" idx="1" hasCustomPrompt="1"/>
          </p:nvPr>
        </p:nvSpPr>
        <p:spPr>
          <a:xfrm>
            <a:off x="3787227" y="1312181"/>
            <a:ext cx="1548000" cy="1800000"/>
          </a:xfrm>
          <a:custGeom>
            <a:avLst/>
            <a:gdLst>
              <a:gd name="connsiteX0" fmla="*/ 0 w 1440160"/>
              <a:gd name="connsiteY0" fmla="*/ 626356 h 1252711"/>
              <a:gd name="connsiteX1" fmla="*/ 313178 w 1440160"/>
              <a:gd name="connsiteY1" fmla="*/ 0 h 1252711"/>
              <a:gd name="connsiteX2" fmla="*/ 1126982 w 1440160"/>
              <a:gd name="connsiteY2" fmla="*/ 0 h 1252711"/>
              <a:gd name="connsiteX3" fmla="*/ 1440160 w 1440160"/>
              <a:gd name="connsiteY3" fmla="*/ 626356 h 1252711"/>
              <a:gd name="connsiteX4" fmla="*/ 1126982 w 1440160"/>
              <a:gd name="connsiteY4" fmla="*/ 1252711 h 1252711"/>
              <a:gd name="connsiteX5" fmla="*/ 313178 w 1440160"/>
              <a:gd name="connsiteY5" fmla="*/ 1252711 h 1252711"/>
              <a:gd name="connsiteX6" fmla="*/ 0 w 1440160"/>
              <a:gd name="connsiteY6" fmla="*/ 626356 h 1252711"/>
              <a:gd name="connsiteX0" fmla="*/ 0 w 1440160"/>
              <a:gd name="connsiteY0" fmla="*/ 745419 h 1371774"/>
              <a:gd name="connsiteX1" fmla="*/ 679890 w 1440160"/>
              <a:gd name="connsiteY1" fmla="*/ 0 h 1371774"/>
              <a:gd name="connsiteX2" fmla="*/ 1126982 w 1440160"/>
              <a:gd name="connsiteY2" fmla="*/ 119063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440160"/>
              <a:gd name="connsiteY0" fmla="*/ 745419 h 1371774"/>
              <a:gd name="connsiteX1" fmla="*/ 679890 w 1440160"/>
              <a:gd name="connsiteY1" fmla="*/ 0 h 1371774"/>
              <a:gd name="connsiteX2" fmla="*/ 1379395 w 1440160"/>
              <a:gd name="connsiteY2" fmla="*/ 409576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379395"/>
              <a:gd name="connsiteY0" fmla="*/ 745419 h 1371774"/>
              <a:gd name="connsiteX1" fmla="*/ 679890 w 1379395"/>
              <a:gd name="connsiteY1" fmla="*/ 0 h 1371774"/>
              <a:gd name="connsiteX2" fmla="*/ 1379395 w 1379395"/>
              <a:gd name="connsiteY2" fmla="*/ 409576 h 1371774"/>
              <a:gd name="connsiteX3" fmla="*/ 1340147 w 1379395"/>
              <a:gd name="connsiteY3" fmla="*/ 1102607 h 1371774"/>
              <a:gd name="connsiteX4" fmla="*/ 1126982 w 1379395"/>
              <a:gd name="connsiteY4" fmla="*/ 1371774 h 1371774"/>
              <a:gd name="connsiteX5" fmla="*/ 313178 w 1379395"/>
              <a:gd name="connsiteY5" fmla="*/ 1371774 h 1371774"/>
              <a:gd name="connsiteX6" fmla="*/ 0 w 1379395"/>
              <a:gd name="connsiteY6" fmla="*/ 745419 h 1371774"/>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313178 w 1379395"/>
              <a:gd name="connsiteY5" fmla="*/ 1371774 h 1483692"/>
              <a:gd name="connsiteX6" fmla="*/ 0 w 1379395"/>
              <a:gd name="connsiteY6" fmla="*/ 745419 h 1483692"/>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65528 w 1379395"/>
              <a:gd name="connsiteY5" fmla="*/ 1086024 h 1483692"/>
              <a:gd name="connsiteX6" fmla="*/ 0 w 1379395"/>
              <a:gd name="connsiteY6" fmla="*/ 745419 h 1483692"/>
              <a:gd name="connsiteX0" fmla="*/ 32104 w 1313867"/>
              <a:gd name="connsiteY0" fmla="*/ 385851 h 1483692"/>
              <a:gd name="connsiteX1" fmla="*/ 614362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3692"/>
              <a:gd name="connsiteX1" fmla="*/ 647699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8454"/>
              <a:gd name="connsiteX1" fmla="*/ 647699 w 1313867"/>
              <a:gd name="connsiteY1" fmla="*/ 0 h 1488454"/>
              <a:gd name="connsiteX2" fmla="*/ 1313867 w 1313867"/>
              <a:gd name="connsiteY2" fmla="*/ 409576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13867"/>
              <a:gd name="connsiteY0" fmla="*/ 385851 h 1488454"/>
              <a:gd name="connsiteX1" fmla="*/ 647699 w 1313867"/>
              <a:gd name="connsiteY1" fmla="*/ 0 h 1488454"/>
              <a:gd name="connsiteX2" fmla="*/ 1313867 w 1313867"/>
              <a:gd name="connsiteY2" fmla="*/ 397669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29387"/>
              <a:gd name="connsiteY0" fmla="*/ 385851 h 1488454"/>
              <a:gd name="connsiteX1" fmla="*/ 647699 w 1329387"/>
              <a:gd name="connsiteY1" fmla="*/ 0 h 1488454"/>
              <a:gd name="connsiteX2" fmla="*/ 1313867 w 1329387"/>
              <a:gd name="connsiteY2" fmla="*/ 397669 h 1488454"/>
              <a:gd name="connsiteX3" fmla="*/ 1329387 w 1329387"/>
              <a:gd name="connsiteY3" fmla="*/ 1097844 h 1488454"/>
              <a:gd name="connsiteX4" fmla="*/ 656641 w 1329387"/>
              <a:gd name="connsiteY4" fmla="*/ 1488454 h 1488454"/>
              <a:gd name="connsiteX5" fmla="*/ 0 w 1329387"/>
              <a:gd name="connsiteY5" fmla="*/ 1086024 h 1488454"/>
              <a:gd name="connsiteX6" fmla="*/ 32104 w 1329387"/>
              <a:gd name="connsiteY6" fmla="*/ 385851 h 1488454"/>
              <a:gd name="connsiteX0" fmla="*/ 0 w 1297283"/>
              <a:gd name="connsiteY0" fmla="*/ 385851 h 1488454"/>
              <a:gd name="connsiteX1" fmla="*/ 615595 w 1297283"/>
              <a:gd name="connsiteY1" fmla="*/ 0 h 1488454"/>
              <a:gd name="connsiteX2" fmla="*/ 1281763 w 1297283"/>
              <a:gd name="connsiteY2" fmla="*/ 397669 h 1488454"/>
              <a:gd name="connsiteX3" fmla="*/ 1297283 w 1297283"/>
              <a:gd name="connsiteY3" fmla="*/ 1097844 h 1488454"/>
              <a:gd name="connsiteX4" fmla="*/ 624537 w 1297283"/>
              <a:gd name="connsiteY4" fmla="*/ 1488454 h 1488454"/>
              <a:gd name="connsiteX5" fmla="*/ 5996 w 1297283"/>
              <a:gd name="connsiteY5" fmla="*/ 1095549 h 1488454"/>
              <a:gd name="connsiteX6" fmla="*/ 0 w 1297283"/>
              <a:gd name="connsiteY6" fmla="*/ 385851 h 1488454"/>
              <a:gd name="connsiteX0" fmla="*/ 0 w 1281763"/>
              <a:gd name="connsiteY0" fmla="*/ 385851 h 1488454"/>
              <a:gd name="connsiteX1" fmla="*/ 615595 w 1281763"/>
              <a:gd name="connsiteY1" fmla="*/ 0 h 1488454"/>
              <a:gd name="connsiteX2" fmla="*/ 1281763 w 1281763"/>
              <a:gd name="connsiteY2" fmla="*/ 397669 h 1488454"/>
              <a:gd name="connsiteX3" fmla="*/ 1275851 w 1281763"/>
              <a:gd name="connsiteY3" fmla="*/ 1095463 h 1488454"/>
              <a:gd name="connsiteX4" fmla="*/ 624537 w 1281763"/>
              <a:gd name="connsiteY4" fmla="*/ 1488454 h 1488454"/>
              <a:gd name="connsiteX5" fmla="*/ 5996 w 1281763"/>
              <a:gd name="connsiteY5" fmla="*/ 1095549 h 1488454"/>
              <a:gd name="connsiteX6" fmla="*/ 0 w 1281763"/>
              <a:gd name="connsiteY6" fmla="*/ 385851 h 1488454"/>
              <a:gd name="connsiteX0" fmla="*/ 0 w 1281763"/>
              <a:gd name="connsiteY0" fmla="*/ 388233 h 1490836"/>
              <a:gd name="connsiteX1" fmla="*/ 622739 w 1281763"/>
              <a:gd name="connsiteY1" fmla="*/ 0 h 1490836"/>
              <a:gd name="connsiteX2" fmla="*/ 1281763 w 1281763"/>
              <a:gd name="connsiteY2" fmla="*/ 400051 h 1490836"/>
              <a:gd name="connsiteX3" fmla="*/ 1275851 w 1281763"/>
              <a:gd name="connsiteY3" fmla="*/ 1097845 h 1490836"/>
              <a:gd name="connsiteX4" fmla="*/ 624537 w 1281763"/>
              <a:gd name="connsiteY4" fmla="*/ 1490836 h 1490836"/>
              <a:gd name="connsiteX5" fmla="*/ 5996 w 1281763"/>
              <a:gd name="connsiteY5" fmla="*/ 1097931 h 1490836"/>
              <a:gd name="connsiteX6" fmla="*/ 0 w 1281763"/>
              <a:gd name="connsiteY6" fmla="*/ 388233 h 1490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1763" h="1490836">
                <a:moveTo>
                  <a:pt x="0" y="388233"/>
                </a:moveTo>
                <a:lnTo>
                  <a:pt x="622739" y="0"/>
                </a:lnTo>
                <a:lnTo>
                  <a:pt x="1281763" y="400051"/>
                </a:lnTo>
                <a:cubicBezTo>
                  <a:pt x="1279792" y="632649"/>
                  <a:pt x="1277822" y="865247"/>
                  <a:pt x="1275851" y="1097845"/>
                </a:cubicBezTo>
                <a:lnTo>
                  <a:pt x="624537" y="1490836"/>
                </a:lnTo>
                <a:lnTo>
                  <a:pt x="5996" y="1097931"/>
                </a:lnTo>
                <a:cubicBezTo>
                  <a:pt x="3997" y="861365"/>
                  <a:pt x="1999" y="624799"/>
                  <a:pt x="0" y="388233"/>
                </a:cubicBezTo>
                <a:close/>
              </a:path>
            </a:pathLst>
          </a:cu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6" name="Picture Placeholder 2"/>
          <p:cNvSpPr>
            <a:spLocks noGrp="1"/>
          </p:cNvSpPr>
          <p:nvPr>
            <p:ph type="pic" idx="12" hasCustomPrompt="1"/>
          </p:nvPr>
        </p:nvSpPr>
        <p:spPr>
          <a:xfrm>
            <a:off x="2059035" y="1276575"/>
            <a:ext cx="1548000" cy="1800000"/>
          </a:xfrm>
          <a:custGeom>
            <a:avLst/>
            <a:gdLst>
              <a:gd name="connsiteX0" fmla="*/ 0 w 1440160"/>
              <a:gd name="connsiteY0" fmla="*/ 626356 h 1252711"/>
              <a:gd name="connsiteX1" fmla="*/ 313178 w 1440160"/>
              <a:gd name="connsiteY1" fmla="*/ 0 h 1252711"/>
              <a:gd name="connsiteX2" fmla="*/ 1126982 w 1440160"/>
              <a:gd name="connsiteY2" fmla="*/ 0 h 1252711"/>
              <a:gd name="connsiteX3" fmla="*/ 1440160 w 1440160"/>
              <a:gd name="connsiteY3" fmla="*/ 626356 h 1252711"/>
              <a:gd name="connsiteX4" fmla="*/ 1126982 w 1440160"/>
              <a:gd name="connsiteY4" fmla="*/ 1252711 h 1252711"/>
              <a:gd name="connsiteX5" fmla="*/ 313178 w 1440160"/>
              <a:gd name="connsiteY5" fmla="*/ 1252711 h 1252711"/>
              <a:gd name="connsiteX6" fmla="*/ 0 w 1440160"/>
              <a:gd name="connsiteY6" fmla="*/ 626356 h 1252711"/>
              <a:gd name="connsiteX0" fmla="*/ 0 w 1440160"/>
              <a:gd name="connsiteY0" fmla="*/ 745419 h 1371774"/>
              <a:gd name="connsiteX1" fmla="*/ 679890 w 1440160"/>
              <a:gd name="connsiteY1" fmla="*/ 0 h 1371774"/>
              <a:gd name="connsiteX2" fmla="*/ 1126982 w 1440160"/>
              <a:gd name="connsiteY2" fmla="*/ 119063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440160"/>
              <a:gd name="connsiteY0" fmla="*/ 745419 h 1371774"/>
              <a:gd name="connsiteX1" fmla="*/ 679890 w 1440160"/>
              <a:gd name="connsiteY1" fmla="*/ 0 h 1371774"/>
              <a:gd name="connsiteX2" fmla="*/ 1379395 w 1440160"/>
              <a:gd name="connsiteY2" fmla="*/ 409576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379395"/>
              <a:gd name="connsiteY0" fmla="*/ 745419 h 1371774"/>
              <a:gd name="connsiteX1" fmla="*/ 679890 w 1379395"/>
              <a:gd name="connsiteY1" fmla="*/ 0 h 1371774"/>
              <a:gd name="connsiteX2" fmla="*/ 1379395 w 1379395"/>
              <a:gd name="connsiteY2" fmla="*/ 409576 h 1371774"/>
              <a:gd name="connsiteX3" fmla="*/ 1340147 w 1379395"/>
              <a:gd name="connsiteY3" fmla="*/ 1102607 h 1371774"/>
              <a:gd name="connsiteX4" fmla="*/ 1126982 w 1379395"/>
              <a:gd name="connsiteY4" fmla="*/ 1371774 h 1371774"/>
              <a:gd name="connsiteX5" fmla="*/ 313178 w 1379395"/>
              <a:gd name="connsiteY5" fmla="*/ 1371774 h 1371774"/>
              <a:gd name="connsiteX6" fmla="*/ 0 w 1379395"/>
              <a:gd name="connsiteY6" fmla="*/ 745419 h 1371774"/>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313178 w 1379395"/>
              <a:gd name="connsiteY5" fmla="*/ 1371774 h 1483692"/>
              <a:gd name="connsiteX6" fmla="*/ 0 w 1379395"/>
              <a:gd name="connsiteY6" fmla="*/ 745419 h 1483692"/>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65528 w 1379395"/>
              <a:gd name="connsiteY5" fmla="*/ 1086024 h 1483692"/>
              <a:gd name="connsiteX6" fmla="*/ 0 w 1379395"/>
              <a:gd name="connsiteY6" fmla="*/ 745419 h 1483692"/>
              <a:gd name="connsiteX0" fmla="*/ 32104 w 1313867"/>
              <a:gd name="connsiteY0" fmla="*/ 385851 h 1483692"/>
              <a:gd name="connsiteX1" fmla="*/ 614362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3692"/>
              <a:gd name="connsiteX1" fmla="*/ 647699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8454"/>
              <a:gd name="connsiteX1" fmla="*/ 647699 w 1313867"/>
              <a:gd name="connsiteY1" fmla="*/ 0 h 1488454"/>
              <a:gd name="connsiteX2" fmla="*/ 1313867 w 1313867"/>
              <a:gd name="connsiteY2" fmla="*/ 409576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13867"/>
              <a:gd name="connsiteY0" fmla="*/ 385851 h 1488454"/>
              <a:gd name="connsiteX1" fmla="*/ 647699 w 1313867"/>
              <a:gd name="connsiteY1" fmla="*/ 0 h 1488454"/>
              <a:gd name="connsiteX2" fmla="*/ 1313867 w 1313867"/>
              <a:gd name="connsiteY2" fmla="*/ 397669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29387"/>
              <a:gd name="connsiteY0" fmla="*/ 385851 h 1488454"/>
              <a:gd name="connsiteX1" fmla="*/ 647699 w 1329387"/>
              <a:gd name="connsiteY1" fmla="*/ 0 h 1488454"/>
              <a:gd name="connsiteX2" fmla="*/ 1313867 w 1329387"/>
              <a:gd name="connsiteY2" fmla="*/ 397669 h 1488454"/>
              <a:gd name="connsiteX3" fmla="*/ 1329387 w 1329387"/>
              <a:gd name="connsiteY3" fmla="*/ 1097844 h 1488454"/>
              <a:gd name="connsiteX4" fmla="*/ 656641 w 1329387"/>
              <a:gd name="connsiteY4" fmla="*/ 1488454 h 1488454"/>
              <a:gd name="connsiteX5" fmla="*/ 0 w 1329387"/>
              <a:gd name="connsiteY5" fmla="*/ 1086024 h 1488454"/>
              <a:gd name="connsiteX6" fmla="*/ 32104 w 1329387"/>
              <a:gd name="connsiteY6" fmla="*/ 385851 h 1488454"/>
              <a:gd name="connsiteX0" fmla="*/ 0 w 1297283"/>
              <a:gd name="connsiteY0" fmla="*/ 385851 h 1488454"/>
              <a:gd name="connsiteX1" fmla="*/ 615595 w 1297283"/>
              <a:gd name="connsiteY1" fmla="*/ 0 h 1488454"/>
              <a:gd name="connsiteX2" fmla="*/ 1281763 w 1297283"/>
              <a:gd name="connsiteY2" fmla="*/ 397669 h 1488454"/>
              <a:gd name="connsiteX3" fmla="*/ 1297283 w 1297283"/>
              <a:gd name="connsiteY3" fmla="*/ 1097844 h 1488454"/>
              <a:gd name="connsiteX4" fmla="*/ 624537 w 1297283"/>
              <a:gd name="connsiteY4" fmla="*/ 1488454 h 1488454"/>
              <a:gd name="connsiteX5" fmla="*/ 5996 w 1297283"/>
              <a:gd name="connsiteY5" fmla="*/ 1095549 h 1488454"/>
              <a:gd name="connsiteX6" fmla="*/ 0 w 1297283"/>
              <a:gd name="connsiteY6" fmla="*/ 385851 h 1488454"/>
              <a:gd name="connsiteX0" fmla="*/ 0 w 1281763"/>
              <a:gd name="connsiteY0" fmla="*/ 385851 h 1488454"/>
              <a:gd name="connsiteX1" fmla="*/ 615595 w 1281763"/>
              <a:gd name="connsiteY1" fmla="*/ 0 h 1488454"/>
              <a:gd name="connsiteX2" fmla="*/ 1281763 w 1281763"/>
              <a:gd name="connsiteY2" fmla="*/ 397669 h 1488454"/>
              <a:gd name="connsiteX3" fmla="*/ 1275851 w 1281763"/>
              <a:gd name="connsiteY3" fmla="*/ 1095463 h 1488454"/>
              <a:gd name="connsiteX4" fmla="*/ 624537 w 1281763"/>
              <a:gd name="connsiteY4" fmla="*/ 1488454 h 1488454"/>
              <a:gd name="connsiteX5" fmla="*/ 5996 w 1281763"/>
              <a:gd name="connsiteY5" fmla="*/ 1095549 h 1488454"/>
              <a:gd name="connsiteX6" fmla="*/ 0 w 1281763"/>
              <a:gd name="connsiteY6" fmla="*/ 385851 h 1488454"/>
              <a:gd name="connsiteX0" fmla="*/ 0 w 1281763"/>
              <a:gd name="connsiteY0" fmla="*/ 388233 h 1490836"/>
              <a:gd name="connsiteX1" fmla="*/ 622739 w 1281763"/>
              <a:gd name="connsiteY1" fmla="*/ 0 h 1490836"/>
              <a:gd name="connsiteX2" fmla="*/ 1281763 w 1281763"/>
              <a:gd name="connsiteY2" fmla="*/ 400051 h 1490836"/>
              <a:gd name="connsiteX3" fmla="*/ 1275851 w 1281763"/>
              <a:gd name="connsiteY3" fmla="*/ 1097845 h 1490836"/>
              <a:gd name="connsiteX4" fmla="*/ 624537 w 1281763"/>
              <a:gd name="connsiteY4" fmla="*/ 1490836 h 1490836"/>
              <a:gd name="connsiteX5" fmla="*/ 5996 w 1281763"/>
              <a:gd name="connsiteY5" fmla="*/ 1097931 h 1490836"/>
              <a:gd name="connsiteX6" fmla="*/ 0 w 1281763"/>
              <a:gd name="connsiteY6" fmla="*/ 388233 h 1490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1763" h="1490836">
                <a:moveTo>
                  <a:pt x="0" y="388233"/>
                </a:moveTo>
                <a:lnTo>
                  <a:pt x="622739" y="0"/>
                </a:lnTo>
                <a:lnTo>
                  <a:pt x="1281763" y="400051"/>
                </a:lnTo>
                <a:cubicBezTo>
                  <a:pt x="1279792" y="632649"/>
                  <a:pt x="1277822" y="865247"/>
                  <a:pt x="1275851" y="1097845"/>
                </a:cubicBezTo>
                <a:lnTo>
                  <a:pt x="624537" y="1490836"/>
                </a:lnTo>
                <a:lnTo>
                  <a:pt x="5996" y="1097931"/>
                </a:lnTo>
                <a:cubicBezTo>
                  <a:pt x="3997" y="861365"/>
                  <a:pt x="1999" y="624799"/>
                  <a:pt x="0" y="388233"/>
                </a:cubicBezTo>
                <a:close/>
              </a:path>
            </a:pathLst>
          </a:cu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330843" y="1276575"/>
            <a:ext cx="1548000" cy="1800000"/>
          </a:xfrm>
          <a:custGeom>
            <a:avLst/>
            <a:gdLst>
              <a:gd name="connsiteX0" fmla="*/ 0 w 1440160"/>
              <a:gd name="connsiteY0" fmla="*/ 626356 h 1252711"/>
              <a:gd name="connsiteX1" fmla="*/ 313178 w 1440160"/>
              <a:gd name="connsiteY1" fmla="*/ 0 h 1252711"/>
              <a:gd name="connsiteX2" fmla="*/ 1126982 w 1440160"/>
              <a:gd name="connsiteY2" fmla="*/ 0 h 1252711"/>
              <a:gd name="connsiteX3" fmla="*/ 1440160 w 1440160"/>
              <a:gd name="connsiteY3" fmla="*/ 626356 h 1252711"/>
              <a:gd name="connsiteX4" fmla="*/ 1126982 w 1440160"/>
              <a:gd name="connsiteY4" fmla="*/ 1252711 h 1252711"/>
              <a:gd name="connsiteX5" fmla="*/ 313178 w 1440160"/>
              <a:gd name="connsiteY5" fmla="*/ 1252711 h 1252711"/>
              <a:gd name="connsiteX6" fmla="*/ 0 w 1440160"/>
              <a:gd name="connsiteY6" fmla="*/ 626356 h 1252711"/>
              <a:gd name="connsiteX0" fmla="*/ 0 w 1440160"/>
              <a:gd name="connsiteY0" fmla="*/ 745419 h 1371774"/>
              <a:gd name="connsiteX1" fmla="*/ 679890 w 1440160"/>
              <a:gd name="connsiteY1" fmla="*/ 0 h 1371774"/>
              <a:gd name="connsiteX2" fmla="*/ 1126982 w 1440160"/>
              <a:gd name="connsiteY2" fmla="*/ 119063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440160"/>
              <a:gd name="connsiteY0" fmla="*/ 745419 h 1371774"/>
              <a:gd name="connsiteX1" fmla="*/ 679890 w 1440160"/>
              <a:gd name="connsiteY1" fmla="*/ 0 h 1371774"/>
              <a:gd name="connsiteX2" fmla="*/ 1379395 w 1440160"/>
              <a:gd name="connsiteY2" fmla="*/ 409576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379395"/>
              <a:gd name="connsiteY0" fmla="*/ 745419 h 1371774"/>
              <a:gd name="connsiteX1" fmla="*/ 679890 w 1379395"/>
              <a:gd name="connsiteY1" fmla="*/ 0 h 1371774"/>
              <a:gd name="connsiteX2" fmla="*/ 1379395 w 1379395"/>
              <a:gd name="connsiteY2" fmla="*/ 409576 h 1371774"/>
              <a:gd name="connsiteX3" fmla="*/ 1340147 w 1379395"/>
              <a:gd name="connsiteY3" fmla="*/ 1102607 h 1371774"/>
              <a:gd name="connsiteX4" fmla="*/ 1126982 w 1379395"/>
              <a:gd name="connsiteY4" fmla="*/ 1371774 h 1371774"/>
              <a:gd name="connsiteX5" fmla="*/ 313178 w 1379395"/>
              <a:gd name="connsiteY5" fmla="*/ 1371774 h 1371774"/>
              <a:gd name="connsiteX6" fmla="*/ 0 w 1379395"/>
              <a:gd name="connsiteY6" fmla="*/ 745419 h 1371774"/>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313178 w 1379395"/>
              <a:gd name="connsiteY5" fmla="*/ 1371774 h 1483692"/>
              <a:gd name="connsiteX6" fmla="*/ 0 w 1379395"/>
              <a:gd name="connsiteY6" fmla="*/ 745419 h 1483692"/>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65528 w 1379395"/>
              <a:gd name="connsiteY5" fmla="*/ 1086024 h 1483692"/>
              <a:gd name="connsiteX6" fmla="*/ 0 w 1379395"/>
              <a:gd name="connsiteY6" fmla="*/ 745419 h 1483692"/>
              <a:gd name="connsiteX0" fmla="*/ 32104 w 1313867"/>
              <a:gd name="connsiteY0" fmla="*/ 385851 h 1483692"/>
              <a:gd name="connsiteX1" fmla="*/ 614362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3692"/>
              <a:gd name="connsiteX1" fmla="*/ 647699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8454"/>
              <a:gd name="connsiteX1" fmla="*/ 647699 w 1313867"/>
              <a:gd name="connsiteY1" fmla="*/ 0 h 1488454"/>
              <a:gd name="connsiteX2" fmla="*/ 1313867 w 1313867"/>
              <a:gd name="connsiteY2" fmla="*/ 409576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13867"/>
              <a:gd name="connsiteY0" fmla="*/ 385851 h 1488454"/>
              <a:gd name="connsiteX1" fmla="*/ 647699 w 1313867"/>
              <a:gd name="connsiteY1" fmla="*/ 0 h 1488454"/>
              <a:gd name="connsiteX2" fmla="*/ 1313867 w 1313867"/>
              <a:gd name="connsiteY2" fmla="*/ 397669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29387"/>
              <a:gd name="connsiteY0" fmla="*/ 385851 h 1488454"/>
              <a:gd name="connsiteX1" fmla="*/ 647699 w 1329387"/>
              <a:gd name="connsiteY1" fmla="*/ 0 h 1488454"/>
              <a:gd name="connsiteX2" fmla="*/ 1313867 w 1329387"/>
              <a:gd name="connsiteY2" fmla="*/ 397669 h 1488454"/>
              <a:gd name="connsiteX3" fmla="*/ 1329387 w 1329387"/>
              <a:gd name="connsiteY3" fmla="*/ 1097844 h 1488454"/>
              <a:gd name="connsiteX4" fmla="*/ 656641 w 1329387"/>
              <a:gd name="connsiteY4" fmla="*/ 1488454 h 1488454"/>
              <a:gd name="connsiteX5" fmla="*/ 0 w 1329387"/>
              <a:gd name="connsiteY5" fmla="*/ 1086024 h 1488454"/>
              <a:gd name="connsiteX6" fmla="*/ 32104 w 1329387"/>
              <a:gd name="connsiteY6" fmla="*/ 385851 h 1488454"/>
              <a:gd name="connsiteX0" fmla="*/ 0 w 1297283"/>
              <a:gd name="connsiteY0" fmla="*/ 385851 h 1488454"/>
              <a:gd name="connsiteX1" fmla="*/ 615595 w 1297283"/>
              <a:gd name="connsiteY1" fmla="*/ 0 h 1488454"/>
              <a:gd name="connsiteX2" fmla="*/ 1281763 w 1297283"/>
              <a:gd name="connsiteY2" fmla="*/ 397669 h 1488454"/>
              <a:gd name="connsiteX3" fmla="*/ 1297283 w 1297283"/>
              <a:gd name="connsiteY3" fmla="*/ 1097844 h 1488454"/>
              <a:gd name="connsiteX4" fmla="*/ 624537 w 1297283"/>
              <a:gd name="connsiteY4" fmla="*/ 1488454 h 1488454"/>
              <a:gd name="connsiteX5" fmla="*/ 5996 w 1297283"/>
              <a:gd name="connsiteY5" fmla="*/ 1095549 h 1488454"/>
              <a:gd name="connsiteX6" fmla="*/ 0 w 1297283"/>
              <a:gd name="connsiteY6" fmla="*/ 385851 h 1488454"/>
              <a:gd name="connsiteX0" fmla="*/ 0 w 1281763"/>
              <a:gd name="connsiteY0" fmla="*/ 385851 h 1488454"/>
              <a:gd name="connsiteX1" fmla="*/ 615595 w 1281763"/>
              <a:gd name="connsiteY1" fmla="*/ 0 h 1488454"/>
              <a:gd name="connsiteX2" fmla="*/ 1281763 w 1281763"/>
              <a:gd name="connsiteY2" fmla="*/ 397669 h 1488454"/>
              <a:gd name="connsiteX3" fmla="*/ 1275851 w 1281763"/>
              <a:gd name="connsiteY3" fmla="*/ 1095463 h 1488454"/>
              <a:gd name="connsiteX4" fmla="*/ 624537 w 1281763"/>
              <a:gd name="connsiteY4" fmla="*/ 1488454 h 1488454"/>
              <a:gd name="connsiteX5" fmla="*/ 5996 w 1281763"/>
              <a:gd name="connsiteY5" fmla="*/ 1095549 h 1488454"/>
              <a:gd name="connsiteX6" fmla="*/ 0 w 1281763"/>
              <a:gd name="connsiteY6" fmla="*/ 385851 h 1488454"/>
              <a:gd name="connsiteX0" fmla="*/ 0 w 1281763"/>
              <a:gd name="connsiteY0" fmla="*/ 388233 h 1490836"/>
              <a:gd name="connsiteX1" fmla="*/ 622739 w 1281763"/>
              <a:gd name="connsiteY1" fmla="*/ 0 h 1490836"/>
              <a:gd name="connsiteX2" fmla="*/ 1281763 w 1281763"/>
              <a:gd name="connsiteY2" fmla="*/ 400051 h 1490836"/>
              <a:gd name="connsiteX3" fmla="*/ 1275851 w 1281763"/>
              <a:gd name="connsiteY3" fmla="*/ 1097845 h 1490836"/>
              <a:gd name="connsiteX4" fmla="*/ 624537 w 1281763"/>
              <a:gd name="connsiteY4" fmla="*/ 1490836 h 1490836"/>
              <a:gd name="connsiteX5" fmla="*/ 5996 w 1281763"/>
              <a:gd name="connsiteY5" fmla="*/ 1097931 h 1490836"/>
              <a:gd name="connsiteX6" fmla="*/ 0 w 1281763"/>
              <a:gd name="connsiteY6" fmla="*/ 388233 h 1490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1763" h="1490836">
                <a:moveTo>
                  <a:pt x="0" y="388233"/>
                </a:moveTo>
                <a:lnTo>
                  <a:pt x="622739" y="0"/>
                </a:lnTo>
                <a:lnTo>
                  <a:pt x="1281763" y="400051"/>
                </a:lnTo>
                <a:cubicBezTo>
                  <a:pt x="1279792" y="632649"/>
                  <a:pt x="1277822" y="865247"/>
                  <a:pt x="1275851" y="1097845"/>
                </a:cubicBezTo>
                <a:lnTo>
                  <a:pt x="624537" y="1490836"/>
                </a:lnTo>
                <a:lnTo>
                  <a:pt x="5996" y="1097931"/>
                </a:lnTo>
                <a:cubicBezTo>
                  <a:pt x="3997" y="861365"/>
                  <a:pt x="1999" y="624799"/>
                  <a:pt x="0" y="388233"/>
                </a:cubicBezTo>
                <a:close/>
              </a:path>
            </a:pathLst>
          </a:cu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9" name="Picture Placeholder 2"/>
          <p:cNvSpPr>
            <a:spLocks noGrp="1"/>
          </p:cNvSpPr>
          <p:nvPr>
            <p:ph type="pic" idx="14" hasCustomPrompt="1"/>
          </p:nvPr>
        </p:nvSpPr>
        <p:spPr>
          <a:xfrm>
            <a:off x="7243611" y="1276575"/>
            <a:ext cx="1548000" cy="1800000"/>
          </a:xfrm>
          <a:custGeom>
            <a:avLst/>
            <a:gdLst>
              <a:gd name="connsiteX0" fmla="*/ 0 w 1440160"/>
              <a:gd name="connsiteY0" fmla="*/ 626356 h 1252711"/>
              <a:gd name="connsiteX1" fmla="*/ 313178 w 1440160"/>
              <a:gd name="connsiteY1" fmla="*/ 0 h 1252711"/>
              <a:gd name="connsiteX2" fmla="*/ 1126982 w 1440160"/>
              <a:gd name="connsiteY2" fmla="*/ 0 h 1252711"/>
              <a:gd name="connsiteX3" fmla="*/ 1440160 w 1440160"/>
              <a:gd name="connsiteY3" fmla="*/ 626356 h 1252711"/>
              <a:gd name="connsiteX4" fmla="*/ 1126982 w 1440160"/>
              <a:gd name="connsiteY4" fmla="*/ 1252711 h 1252711"/>
              <a:gd name="connsiteX5" fmla="*/ 313178 w 1440160"/>
              <a:gd name="connsiteY5" fmla="*/ 1252711 h 1252711"/>
              <a:gd name="connsiteX6" fmla="*/ 0 w 1440160"/>
              <a:gd name="connsiteY6" fmla="*/ 626356 h 1252711"/>
              <a:gd name="connsiteX0" fmla="*/ 0 w 1440160"/>
              <a:gd name="connsiteY0" fmla="*/ 745419 h 1371774"/>
              <a:gd name="connsiteX1" fmla="*/ 679890 w 1440160"/>
              <a:gd name="connsiteY1" fmla="*/ 0 h 1371774"/>
              <a:gd name="connsiteX2" fmla="*/ 1126982 w 1440160"/>
              <a:gd name="connsiteY2" fmla="*/ 119063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440160"/>
              <a:gd name="connsiteY0" fmla="*/ 745419 h 1371774"/>
              <a:gd name="connsiteX1" fmla="*/ 679890 w 1440160"/>
              <a:gd name="connsiteY1" fmla="*/ 0 h 1371774"/>
              <a:gd name="connsiteX2" fmla="*/ 1379395 w 1440160"/>
              <a:gd name="connsiteY2" fmla="*/ 409576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379395"/>
              <a:gd name="connsiteY0" fmla="*/ 745419 h 1371774"/>
              <a:gd name="connsiteX1" fmla="*/ 679890 w 1379395"/>
              <a:gd name="connsiteY1" fmla="*/ 0 h 1371774"/>
              <a:gd name="connsiteX2" fmla="*/ 1379395 w 1379395"/>
              <a:gd name="connsiteY2" fmla="*/ 409576 h 1371774"/>
              <a:gd name="connsiteX3" fmla="*/ 1340147 w 1379395"/>
              <a:gd name="connsiteY3" fmla="*/ 1102607 h 1371774"/>
              <a:gd name="connsiteX4" fmla="*/ 1126982 w 1379395"/>
              <a:gd name="connsiteY4" fmla="*/ 1371774 h 1371774"/>
              <a:gd name="connsiteX5" fmla="*/ 313178 w 1379395"/>
              <a:gd name="connsiteY5" fmla="*/ 1371774 h 1371774"/>
              <a:gd name="connsiteX6" fmla="*/ 0 w 1379395"/>
              <a:gd name="connsiteY6" fmla="*/ 745419 h 1371774"/>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313178 w 1379395"/>
              <a:gd name="connsiteY5" fmla="*/ 1371774 h 1483692"/>
              <a:gd name="connsiteX6" fmla="*/ 0 w 1379395"/>
              <a:gd name="connsiteY6" fmla="*/ 745419 h 1483692"/>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65528 w 1379395"/>
              <a:gd name="connsiteY5" fmla="*/ 1086024 h 1483692"/>
              <a:gd name="connsiteX6" fmla="*/ 0 w 1379395"/>
              <a:gd name="connsiteY6" fmla="*/ 745419 h 1483692"/>
              <a:gd name="connsiteX0" fmla="*/ 32104 w 1313867"/>
              <a:gd name="connsiteY0" fmla="*/ 385851 h 1483692"/>
              <a:gd name="connsiteX1" fmla="*/ 614362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3692"/>
              <a:gd name="connsiteX1" fmla="*/ 647699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8454"/>
              <a:gd name="connsiteX1" fmla="*/ 647699 w 1313867"/>
              <a:gd name="connsiteY1" fmla="*/ 0 h 1488454"/>
              <a:gd name="connsiteX2" fmla="*/ 1313867 w 1313867"/>
              <a:gd name="connsiteY2" fmla="*/ 409576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13867"/>
              <a:gd name="connsiteY0" fmla="*/ 385851 h 1488454"/>
              <a:gd name="connsiteX1" fmla="*/ 647699 w 1313867"/>
              <a:gd name="connsiteY1" fmla="*/ 0 h 1488454"/>
              <a:gd name="connsiteX2" fmla="*/ 1313867 w 1313867"/>
              <a:gd name="connsiteY2" fmla="*/ 397669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29387"/>
              <a:gd name="connsiteY0" fmla="*/ 385851 h 1488454"/>
              <a:gd name="connsiteX1" fmla="*/ 647699 w 1329387"/>
              <a:gd name="connsiteY1" fmla="*/ 0 h 1488454"/>
              <a:gd name="connsiteX2" fmla="*/ 1313867 w 1329387"/>
              <a:gd name="connsiteY2" fmla="*/ 397669 h 1488454"/>
              <a:gd name="connsiteX3" fmla="*/ 1329387 w 1329387"/>
              <a:gd name="connsiteY3" fmla="*/ 1097844 h 1488454"/>
              <a:gd name="connsiteX4" fmla="*/ 656641 w 1329387"/>
              <a:gd name="connsiteY4" fmla="*/ 1488454 h 1488454"/>
              <a:gd name="connsiteX5" fmla="*/ 0 w 1329387"/>
              <a:gd name="connsiteY5" fmla="*/ 1086024 h 1488454"/>
              <a:gd name="connsiteX6" fmla="*/ 32104 w 1329387"/>
              <a:gd name="connsiteY6" fmla="*/ 385851 h 1488454"/>
              <a:gd name="connsiteX0" fmla="*/ 0 w 1297283"/>
              <a:gd name="connsiteY0" fmla="*/ 385851 h 1488454"/>
              <a:gd name="connsiteX1" fmla="*/ 615595 w 1297283"/>
              <a:gd name="connsiteY1" fmla="*/ 0 h 1488454"/>
              <a:gd name="connsiteX2" fmla="*/ 1281763 w 1297283"/>
              <a:gd name="connsiteY2" fmla="*/ 397669 h 1488454"/>
              <a:gd name="connsiteX3" fmla="*/ 1297283 w 1297283"/>
              <a:gd name="connsiteY3" fmla="*/ 1097844 h 1488454"/>
              <a:gd name="connsiteX4" fmla="*/ 624537 w 1297283"/>
              <a:gd name="connsiteY4" fmla="*/ 1488454 h 1488454"/>
              <a:gd name="connsiteX5" fmla="*/ 5996 w 1297283"/>
              <a:gd name="connsiteY5" fmla="*/ 1095549 h 1488454"/>
              <a:gd name="connsiteX6" fmla="*/ 0 w 1297283"/>
              <a:gd name="connsiteY6" fmla="*/ 385851 h 1488454"/>
              <a:gd name="connsiteX0" fmla="*/ 0 w 1281763"/>
              <a:gd name="connsiteY0" fmla="*/ 385851 h 1488454"/>
              <a:gd name="connsiteX1" fmla="*/ 615595 w 1281763"/>
              <a:gd name="connsiteY1" fmla="*/ 0 h 1488454"/>
              <a:gd name="connsiteX2" fmla="*/ 1281763 w 1281763"/>
              <a:gd name="connsiteY2" fmla="*/ 397669 h 1488454"/>
              <a:gd name="connsiteX3" fmla="*/ 1275851 w 1281763"/>
              <a:gd name="connsiteY3" fmla="*/ 1095463 h 1488454"/>
              <a:gd name="connsiteX4" fmla="*/ 624537 w 1281763"/>
              <a:gd name="connsiteY4" fmla="*/ 1488454 h 1488454"/>
              <a:gd name="connsiteX5" fmla="*/ 5996 w 1281763"/>
              <a:gd name="connsiteY5" fmla="*/ 1095549 h 1488454"/>
              <a:gd name="connsiteX6" fmla="*/ 0 w 1281763"/>
              <a:gd name="connsiteY6" fmla="*/ 385851 h 1488454"/>
              <a:gd name="connsiteX0" fmla="*/ 0 w 1281763"/>
              <a:gd name="connsiteY0" fmla="*/ 388233 h 1490836"/>
              <a:gd name="connsiteX1" fmla="*/ 622739 w 1281763"/>
              <a:gd name="connsiteY1" fmla="*/ 0 h 1490836"/>
              <a:gd name="connsiteX2" fmla="*/ 1281763 w 1281763"/>
              <a:gd name="connsiteY2" fmla="*/ 400051 h 1490836"/>
              <a:gd name="connsiteX3" fmla="*/ 1275851 w 1281763"/>
              <a:gd name="connsiteY3" fmla="*/ 1097845 h 1490836"/>
              <a:gd name="connsiteX4" fmla="*/ 624537 w 1281763"/>
              <a:gd name="connsiteY4" fmla="*/ 1490836 h 1490836"/>
              <a:gd name="connsiteX5" fmla="*/ 5996 w 1281763"/>
              <a:gd name="connsiteY5" fmla="*/ 1097931 h 1490836"/>
              <a:gd name="connsiteX6" fmla="*/ 0 w 1281763"/>
              <a:gd name="connsiteY6" fmla="*/ 388233 h 1490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1763" h="1490836">
                <a:moveTo>
                  <a:pt x="0" y="388233"/>
                </a:moveTo>
                <a:lnTo>
                  <a:pt x="622739" y="0"/>
                </a:lnTo>
                <a:lnTo>
                  <a:pt x="1281763" y="400051"/>
                </a:lnTo>
                <a:cubicBezTo>
                  <a:pt x="1279792" y="632649"/>
                  <a:pt x="1277822" y="865247"/>
                  <a:pt x="1275851" y="1097845"/>
                </a:cubicBezTo>
                <a:lnTo>
                  <a:pt x="624537" y="1490836"/>
                </a:lnTo>
                <a:lnTo>
                  <a:pt x="5996" y="1097931"/>
                </a:lnTo>
                <a:cubicBezTo>
                  <a:pt x="3997" y="861365"/>
                  <a:pt x="1999" y="624799"/>
                  <a:pt x="0" y="388233"/>
                </a:cubicBezTo>
                <a:close/>
              </a:path>
            </a:pathLst>
          </a:cu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0" name="Picture Placeholder 2"/>
          <p:cNvSpPr>
            <a:spLocks noGrp="1"/>
          </p:cNvSpPr>
          <p:nvPr>
            <p:ph type="pic" idx="15" hasCustomPrompt="1"/>
          </p:nvPr>
        </p:nvSpPr>
        <p:spPr>
          <a:xfrm>
            <a:off x="5515419" y="1276575"/>
            <a:ext cx="1548000" cy="1800000"/>
          </a:xfrm>
          <a:custGeom>
            <a:avLst/>
            <a:gdLst>
              <a:gd name="connsiteX0" fmla="*/ 0 w 1440160"/>
              <a:gd name="connsiteY0" fmla="*/ 626356 h 1252711"/>
              <a:gd name="connsiteX1" fmla="*/ 313178 w 1440160"/>
              <a:gd name="connsiteY1" fmla="*/ 0 h 1252711"/>
              <a:gd name="connsiteX2" fmla="*/ 1126982 w 1440160"/>
              <a:gd name="connsiteY2" fmla="*/ 0 h 1252711"/>
              <a:gd name="connsiteX3" fmla="*/ 1440160 w 1440160"/>
              <a:gd name="connsiteY3" fmla="*/ 626356 h 1252711"/>
              <a:gd name="connsiteX4" fmla="*/ 1126982 w 1440160"/>
              <a:gd name="connsiteY4" fmla="*/ 1252711 h 1252711"/>
              <a:gd name="connsiteX5" fmla="*/ 313178 w 1440160"/>
              <a:gd name="connsiteY5" fmla="*/ 1252711 h 1252711"/>
              <a:gd name="connsiteX6" fmla="*/ 0 w 1440160"/>
              <a:gd name="connsiteY6" fmla="*/ 626356 h 1252711"/>
              <a:gd name="connsiteX0" fmla="*/ 0 w 1440160"/>
              <a:gd name="connsiteY0" fmla="*/ 745419 h 1371774"/>
              <a:gd name="connsiteX1" fmla="*/ 679890 w 1440160"/>
              <a:gd name="connsiteY1" fmla="*/ 0 h 1371774"/>
              <a:gd name="connsiteX2" fmla="*/ 1126982 w 1440160"/>
              <a:gd name="connsiteY2" fmla="*/ 119063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440160"/>
              <a:gd name="connsiteY0" fmla="*/ 745419 h 1371774"/>
              <a:gd name="connsiteX1" fmla="*/ 679890 w 1440160"/>
              <a:gd name="connsiteY1" fmla="*/ 0 h 1371774"/>
              <a:gd name="connsiteX2" fmla="*/ 1379395 w 1440160"/>
              <a:gd name="connsiteY2" fmla="*/ 409576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379395"/>
              <a:gd name="connsiteY0" fmla="*/ 745419 h 1371774"/>
              <a:gd name="connsiteX1" fmla="*/ 679890 w 1379395"/>
              <a:gd name="connsiteY1" fmla="*/ 0 h 1371774"/>
              <a:gd name="connsiteX2" fmla="*/ 1379395 w 1379395"/>
              <a:gd name="connsiteY2" fmla="*/ 409576 h 1371774"/>
              <a:gd name="connsiteX3" fmla="*/ 1340147 w 1379395"/>
              <a:gd name="connsiteY3" fmla="*/ 1102607 h 1371774"/>
              <a:gd name="connsiteX4" fmla="*/ 1126982 w 1379395"/>
              <a:gd name="connsiteY4" fmla="*/ 1371774 h 1371774"/>
              <a:gd name="connsiteX5" fmla="*/ 313178 w 1379395"/>
              <a:gd name="connsiteY5" fmla="*/ 1371774 h 1371774"/>
              <a:gd name="connsiteX6" fmla="*/ 0 w 1379395"/>
              <a:gd name="connsiteY6" fmla="*/ 745419 h 1371774"/>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313178 w 1379395"/>
              <a:gd name="connsiteY5" fmla="*/ 1371774 h 1483692"/>
              <a:gd name="connsiteX6" fmla="*/ 0 w 1379395"/>
              <a:gd name="connsiteY6" fmla="*/ 745419 h 1483692"/>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65528 w 1379395"/>
              <a:gd name="connsiteY5" fmla="*/ 1086024 h 1483692"/>
              <a:gd name="connsiteX6" fmla="*/ 0 w 1379395"/>
              <a:gd name="connsiteY6" fmla="*/ 745419 h 1483692"/>
              <a:gd name="connsiteX0" fmla="*/ 32104 w 1313867"/>
              <a:gd name="connsiteY0" fmla="*/ 385851 h 1483692"/>
              <a:gd name="connsiteX1" fmla="*/ 614362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3692"/>
              <a:gd name="connsiteX1" fmla="*/ 647699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8454"/>
              <a:gd name="connsiteX1" fmla="*/ 647699 w 1313867"/>
              <a:gd name="connsiteY1" fmla="*/ 0 h 1488454"/>
              <a:gd name="connsiteX2" fmla="*/ 1313867 w 1313867"/>
              <a:gd name="connsiteY2" fmla="*/ 409576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13867"/>
              <a:gd name="connsiteY0" fmla="*/ 385851 h 1488454"/>
              <a:gd name="connsiteX1" fmla="*/ 647699 w 1313867"/>
              <a:gd name="connsiteY1" fmla="*/ 0 h 1488454"/>
              <a:gd name="connsiteX2" fmla="*/ 1313867 w 1313867"/>
              <a:gd name="connsiteY2" fmla="*/ 397669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29387"/>
              <a:gd name="connsiteY0" fmla="*/ 385851 h 1488454"/>
              <a:gd name="connsiteX1" fmla="*/ 647699 w 1329387"/>
              <a:gd name="connsiteY1" fmla="*/ 0 h 1488454"/>
              <a:gd name="connsiteX2" fmla="*/ 1313867 w 1329387"/>
              <a:gd name="connsiteY2" fmla="*/ 397669 h 1488454"/>
              <a:gd name="connsiteX3" fmla="*/ 1329387 w 1329387"/>
              <a:gd name="connsiteY3" fmla="*/ 1097844 h 1488454"/>
              <a:gd name="connsiteX4" fmla="*/ 656641 w 1329387"/>
              <a:gd name="connsiteY4" fmla="*/ 1488454 h 1488454"/>
              <a:gd name="connsiteX5" fmla="*/ 0 w 1329387"/>
              <a:gd name="connsiteY5" fmla="*/ 1086024 h 1488454"/>
              <a:gd name="connsiteX6" fmla="*/ 32104 w 1329387"/>
              <a:gd name="connsiteY6" fmla="*/ 385851 h 1488454"/>
              <a:gd name="connsiteX0" fmla="*/ 0 w 1297283"/>
              <a:gd name="connsiteY0" fmla="*/ 385851 h 1488454"/>
              <a:gd name="connsiteX1" fmla="*/ 615595 w 1297283"/>
              <a:gd name="connsiteY1" fmla="*/ 0 h 1488454"/>
              <a:gd name="connsiteX2" fmla="*/ 1281763 w 1297283"/>
              <a:gd name="connsiteY2" fmla="*/ 397669 h 1488454"/>
              <a:gd name="connsiteX3" fmla="*/ 1297283 w 1297283"/>
              <a:gd name="connsiteY3" fmla="*/ 1097844 h 1488454"/>
              <a:gd name="connsiteX4" fmla="*/ 624537 w 1297283"/>
              <a:gd name="connsiteY4" fmla="*/ 1488454 h 1488454"/>
              <a:gd name="connsiteX5" fmla="*/ 5996 w 1297283"/>
              <a:gd name="connsiteY5" fmla="*/ 1095549 h 1488454"/>
              <a:gd name="connsiteX6" fmla="*/ 0 w 1297283"/>
              <a:gd name="connsiteY6" fmla="*/ 385851 h 1488454"/>
              <a:gd name="connsiteX0" fmla="*/ 0 w 1281763"/>
              <a:gd name="connsiteY0" fmla="*/ 385851 h 1488454"/>
              <a:gd name="connsiteX1" fmla="*/ 615595 w 1281763"/>
              <a:gd name="connsiteY1" fmla="*/ 0 h 1488454"/>
              <a:gd name="connsiteX2" fmla="*/ 1281763 w 1281763"/>
              <a:gd name="connsiteY2" fmla="*/ 397669 h 1488454"/>
              <a:gd name="connsiteX3" fmla="*/ 1275851 w 1281763"/>
              <a:gd name="connsiteY3" fmla="*/ 1095463 h 1488454"/>
              <a:gd name="connsiteX4" fmla="*/ 624537 w 1281763"/>
              <a:gd name="connsiteY4" fmla="*/ 1488454 h 1488454"/>
              <a:gd name="connsiteX5" fmla="*/ 5996 w 1281763"/>
              <a:gd name="connsiteY5" fmla="*/ 1095549 h 1488454"/>
              <a:gd name="connsiteX6" fmla="*/ 0 w 1281763"/>
              <a:gd name="connsiteY6" fmla="*/ 385851 h 1488454"/>
              <a:gd name="connsiteX0" fmla="*/ 0 w 1281763"/>
              <a:gd name="connsiteY0" fmla="*/ 388233 h 1490836"/>
              <a:gd name="connsiteX1" fmla="*/ 622739 w 1281763"/>
              <a:gd name="connsiteY1" fmla="*/ 0 h 1490836"/>
              <a:gd name="connsiteX2" fmla="*/ 1281763 w 1281763"/>
              <a:gd name="connsiteY2" fmla="*/ 400051 h 1490836"/>
              <a:gd name="connsiteX3" fmla="*/ 1275851 w 1281763"/>
              <a:gd name="connsiteY3" fmla="*/ 1097845 h 1490836"/>
              <a:gd name="connsiteX4" fmla="*/ 624537 w 1281763"/>
              <a:gd name="connsiteY4" fmla="*/ 1490836 h 1490836"/>
              <a:gd name="connsiteX5" fmla="*/ 5996 w 1281763"/>
              <a:gd name="connsiteY5" fmla="*/ 1097931 h 1490836"/>
              <a:gd name="connsiteX6" fmla="*/ 0 w 1281763"/>
              <a:gd name="connsiteY6" fmla="*/ 388233 h 1490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1763" h="1490836">
                <a:moveTo>
                  <a:pt x="0" y="388233"/>
                </a:moveTo>
                <a:lnTo>
                  <a:pt x="622739" y="0"/>
                </a:lnTo>
                <a:lnTo>
                  <a:pt x="1281763" y="400051"/>
                </a:lnTo>
                <a:cubicBezTo>
                  <a:pt x="1279792" y="632649"/>
                  <a:pt x="1277822" y="865247"/>
                  <a:pt x="1275851" y="1097845"/>
                </a:cubicBezTo>
                <a:lnTo>
                  <a:pt x="624537" y="1490836"/>
                </a:lnTo>
                <a:lnTo>
                  <a:pt x="5996" y="1097931"/>
                </a:lnTo>
                <a:cubicBezTo>
                  <a:pt x="3997" y="861365"/>
                  <a:pt x="1999" y="624799"/>
                  <a:pt x="0" y="388233"/>
                </a:cubicBezTo>
                <a:close/>
              </a:path>
            </a:pathLst>
          </a:cu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219330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3507854"/>
            <a:ext cx="9144000" cy="163564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pic>
        <p:nvPicPr>
          <p:cNvPr id="6" name="Picture 2" descr="D:\Fullppt\PNG이미지\핸드폰2.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735225" y="1079005"/>
            <a:ext cx="3373328" cy="4085033"/>
          </a:xfrm>
          <a:prstGeom prst="rect">
            <a:avLst/>
          </a:prstGeom>
          <a:noFill/>
          <a:extLst>
            <a:ext uri="{909E8E84-426E-40DD-AFC4-6F175D3DCCD1}">
              <a14:hiddenFill xmlns:a14="http://schemas.microsoft.com/office/drawing/2010/main">
                <a:solidFill>
                  <a:srgbClr val="FFFFFF"/>
                </a:solidFill>
              </a14:hiddenFill>
            </a:ext>
          </a:extLst>
        </p:spPr>
      </p:pic>
      <p:sp>
        <p:nvSpPr>
          <p:cNvPr id="7" name="Picture Placeholder 2"/>
          <p:cNvSpPr>
            <a:spLocks noGrp="1"/>
          </p:cNvSpPr>
          <p:nvPr>
            <p:ph type="pic" idx="1" hasCustomPrompt="1"/>
          </p:nvPr>
        </p:nvSpPr>
        <p:spPr>
          <a:xfrm>
            <a:off x="3566328" y="1217153"/>
            <a:ext cx="1945465" cy="3005145"/>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252329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123" name="Picture 3" descr="D:\Fullppt\005-PNG이미지\노트북.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28600" y="987574"/>
            <a:ext cx="6438182" cy="327456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userDrawn="1"/>
        </p:nvSpPr>
        <p:spPr>
          <a:xfrm>
            <a:off x="233772" y="4262137"/>
            <a:ext cx="8676456" cy="54186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7" name="Picture Placeholder 2"/>
          <p:cNvSpPr>
            <a:spLocks noGrp="1"/>
          </p:cNvSpPr>
          <p:nvPr>
            <p:ph type="pic" idx="1" hasCustomPrompt="1"/>
          </p:nvPr>
        </p:nvSpPr>
        <p:spPr>
          <a:xfrm>
            <a:off x="910339" y="1404993"/>
            <a:ext cx="3085597" cy="228186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309192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1" name="그림 개체 틀 10">
            <a:extLst>
              <a:ext uri="{FF2B5EF4-FFF2-40B4-BE49-F238E27FC236}">
                <a16:creationId xmlns:a16="http://schemas.microsoft.com/office/drawing/2014/main" xmlns="" id="{24943D91-C407-41C1-8574-76661B571395}"/>
              </a:ext>
            </a:extLst>
          </p:cNvPr>
          <p:cNvSpPr>
            <a:spLocks noGrp="1"/>
          </p:cNvSpPr>
          <p:nvPr>
            <p:ph type="pic" idx="1" hasCustomPrompt="1"/>
          </p:nvPr>
        </p:nvSpPr>
        <p:spPr>
          <a:xfrm>
            <a:off x="5148065" y="1431235"/>
            <a:ext cx="2568434" cy="2280270"/>
          </a:xfrm>
          <a:custGeom>
            <a:avLst/>
            <a:gdLst>
              <a:gd name="connsiteX0" fmla="*/ 125450 w 2568434"/>
              <a:gd name="connsiteY0" fmla="*/ 111684 h 2280270"/>
              <a:gd name="connsiteX1" fmla="*/ 2442984 w 2568434"/>
              <a:gd name="connsiteY1" fmla="*/ 111684 h 2280270"/>
              <a:gd name="connsiteX2" fmla="*/ 2442984 w 2568434"/>
              <a:gd name="connsiteY2" fmla="*/ 2168586 h 2280270"/>
              <a:gd name="connsiteX3" fmla="*/ 125450 w 2568434"/>
              <a:gd name="connsiteY3" fmla="*/ 2168586 h 2280270"/>
              <a:gd name="connsiteX4" fmla="*/ 96085 w 2568434"/>
              <a:gd name="connsiteY4" fmla="*/ 82319 h 2280270"/>
              <a:gd name="connsiteX5" fmla="*/ 96085 w 2568434"/>
              <a:gd name="connsiteY5" fmla="*/ 2197951 h 2280270"/>
              <a:gd name="connsiteX6" fmla="*/ 2472349 w 2568434"/>
              <a:gd name="connsiteY6" fmla="*/ 2197951 h 2280270"/>
              <a:gd name="connsiteX7" fmla="*/ 2472349 w 2568434"/>
              <a:gd name="connsiteY7" fmla="*/ 82319 h 2280270"/>
              <a:gd name="connsiteX8" fmla="*/ 0 w 2568434"/>
              <a:gd name="connsiteY8" fmla="*/ 0 h 2280270"/>
              <a:gd name="connsiteX9" fmla="*/ 2568434 w 2568434"/>
              <a:gd name="connsiteY9" fmla="*/ 0 h 2280270"/>
              <a:gd name="connsiteX10" fmla="*/ 2568434 w 2568434"/>
              <a:gd name="connsiteY10" fmla="*/ 2280270 h 2280270"/>
              <a:gd name="connsiteX11" fmla="*/ 0 w 2568434"/>
              <a:gd name="connsiteY11" fmla="*/ 2280270 h 2280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68434" h="2280270">
                <a:moveTo>
                  <a:pt x="125450" y="111684"/>
                </a:moveTo>
                <a:lnTo>
                  <a:pt x="2442984" y="111684"/>
                </a:lnTo>
                <a:lnTo>
                  <a:pt x="2442984" y="2168586"/>
                </a:lnTo>
                <a:lnTo>
                  <a:pt x="125450" y="2168586"/>
                </a:lnTo>
                <a:close/>
                <a:moveTo>
                  <a:pt x="96085" y="82319"/>
                </a:moveTo>
                <a:lnTo>
                  <a:pt x="96085" y="2197951"/>
                </a:lnTo>
                <a:lnTo>
                  <a:pt x="2472349" y="2197951"/>
                </a:lnTo>
                <a:lnTo>
                  <a:pt x="2472349" y="82319"/>
                </a:lnTo>
                <a:close/>
                <a:moveTo>
                  <a:pt x="0" y="0"/>
                </a:moveTo>
                <a:lnTo>
                  <a:pt x="2568434" y="0"/>
                </a:lnTo>
                <a:lnTo>
                  <a:pt x="2568434" y="2280270"/>
                </a:lnTo>
                <a:lnTo>
                  <a:pt x="0" y="2280270"/>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3" name="그림 개체 틀 12">
            <a:extLst>
              <a:ext uri="{FF2B5EF4-FFF2-40B4-BE49-F238E27FC236}">
                <a16:creationId xmlns:a16="http://schemas.microsoft.com/office/drawing/2014/main" xmlns="" id="{D19E2BEF-0357-4B60-8F97-1B4CBD18E02A}"/>
              </a:ext>
            </a:extLst>
          </p:cNvPr>
          <p:cNvSpPr>
            <a:spLocks noGrp="1"/>
          </p:cNvSpPr>
          <p:nvPr>
            <p:ph type="pic" idx="10" hasCustomPrompt="1"/>
          </p:nvPr>
        </p:nvSpPr>
        <p:spPr>
          <a:xfrm>
            <a:off x="7704000" y="3703500"/>
            <a:ext cx="1440000" cy="1440000"/>
          </a:xfrm>
          <a:custGeom>
            <a:avLst/>
            <a:gdLst>
              <a:gd name="connsiteX0" fmla="*/ 125363 w 1440000"/>
              <a:gd name="connsiteY0" fmla="*/ 124056 h 1440000"/>
              <a:gd name="connsiteX1" fmla="*/ 1314637 w 1440000"/>
              <a:gd name="connsiteY1" fmla="*/ 124056 h 1440000"/>
              <a:gd name="connsiteX2" fmla="*/ 1314637 w 1440000"/>
              <a:gd name="connsiteY2" fmla="*/ 1315945 h 1440000"/>
              <a:gd name="connsiteX3" fmla="*/ 125363 w 1440000"/>
              <a:gd name="connsiteY3" fmla="*/ 1315945 h 1440000"/>
              <a:gd name="connsiteX4" fmla="*/ 92030 w 1440000"/>
              <a:gd name="connsiteY4" fmla="*/ 90723 h 1440000"/>
              <a:gd name="connsiteX5" fmla="*/ 92030 w 1440000"/>
              <a:gd name="connsiteY5" fmla="*/ 1349278 h 1440000"/>
              <a:gd name="connsiteX6" fmla="*/ 1347970 w 1440000"/>
              <a:gd name="connsiteY6" fmla="*/ 1349278 h 1440000"/>
              <a:gd name="connsiteX7" fmla="*/ 1347970 w 1440000"/>
              <a:gd name="connsiteY7" fmla="*/ 90723 h 1440000"/>
              <a:gd name="connsiteX8" fmla="*/ 0 w 1440000"/>
              <a:gd name="connsiteY8" fmla="*/ 0 h 1440000"/>
              <a:gd name="connsiteX9" fmla="*/ 1440000 w 1440000"/>
              <a:gd name="connsiteY9" fmla="*/ 0 h 1440000"/>
              <a:gd name="connsiteX10" fmla="*/ 1440000 w 1440000"/>
              <a:gd name="connsiteY10" fmla="*/ 1440000 h 1440000"/>
              <a:gd name="connsiteX11" fmla="*/ 0 w 1440000"/>
              <a:gd name="connsiteY11" fmla="*/ 1440000 h 14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40000" h="1440000">
                <a:moveTo>
                  <a:pt x="125363" y="124056"/>
                </a:moveTo>
                <a:lnTo>
                  <a:pt x="1314637" y="124056"/>
                </a:lnTo>
                <a:lnTo>
                  <a:pt x="1314637" y="1315945"/>
                </a:lnTo>
                <a:lnTo>
                  <a:pt x="125363" y="1315945"/>
                </a:lnTo>
                <a:close/>
                <a:moveTo>
                  <a:pt x="92030" y="90723"/>
                </a:moveTo>
                <a:lnTo>
                  <a:pt x="92030" y="1349278"/>
                </a:lnTo>
                <a:lnTo>
                  <a:pt x="1347970" y="1349278"/>
                </a:lnTo>
                <a:lnTo>
                  <a:pt x="1347970" y="90723"/>
                </a:lnTo>
                <a:close/>
                <a:moveTo>
                  <a:pt x="0" y="0"/>
                </a:moveTo>
                <a:lnTo>
                  <a:pt x="1440000" y="0"/>
                </a:lnTo>
                <a:lnTo>
                  <a:pt x="1440000" y="1440000"/>
                </a:lnTo>
                <a:lnTo>
                  <a:pt x="0" y="1440000"/>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2" name="그림 개체 틀 11">
            <a:extLst>
              <a:ext uri="{FF2B5EF4-FFF2-40B4-BE49-F238E27FC236}">
                <a16:creationId xmlns:a16="http://schemas.microsoft.com/office/drawing/2014/main" xmlns="" id="{C69723CC-367A-47C2-9C98-4E37F9539DBD}"/>
              </a:ext>
            </a:extLst>
          </p:cNvPr>
          <p:cNvSpPr>
            <a:spLocks noGrp="1"/>
          </p:cNvSpPr>
          <p:nvPr>
            <p:ph type="pic" idx="11" hasCustomPrompt="1"/>
          </p:nvPr>
        </p:nvSpPr>
        <p:spPr>
          <a:xfrm>
            <a:off x="3708064" y="0"/>
            <a:ext cx="1440000" cy="1440000"/>
          </a:xfrm>
          <a:custGeom>
            <a:avLst/>
            <a:gdLst>
              <a:gd name="connsiteX0" fmla="*/ 125363 w 1440000"/>
              <a:gd name="connsiteY0" fmla="*/ 124056 h 1440000"/>
              <a:gd name="connsiteX1" fmla="*/ 1314637 w 1440000"/>
              <a:gd name="connsiteY1" fmla="*/ 124056 h 1440000"/>
              <a:gd name="connsiteX2" fmla="*/ 1314637 w 1440000"/>
              <a:gd name="connsiteY2" fmla="*/ 1315945 h 1440000"/>
              <a:gd name="connsiteX3" fmla="*/ 125363 w 1440000"/>
              <a:gd name="connsiteY3" fmla="*/ 1315945 h 1440000"/>
              <a:gd name="connsiteX4" fmla="*/ 92030 w 1440000"/>
              <a:gd name="connsiteY4" fmla="*/ 90723 h 1440000"/>
              <a:gd name="connsiteX5" fmla="*/ 92030 w 1440000"/>
              <a:gd name="connsiteY5" fmla="*/ 1349278 h 1440000"/>
              <a:gd name="connsiteX6" fmla="*/ 1347970 w 1440000"/>
              <a:gd name="connsiteY6" fmla="*/ 1349278 h 1440000"/>
              <a:gd name="connsiteX7" fmla="*/ 1347970 w 1440000"/>
              <a:gd name="connsiteY7" fmla="*/ 90723 h 1440000"/>
              <a:gd name="connsiteX8" fmla="*/ 0 w 1440000"/>
              <a:gd name="connsiteY8" fmla="*/ 0 h 1440000"/>
              <a:gd name="connsiteX9" fmla="*/ 1440000 w 1440000"/>
              <a:gd name="connsiteY9" fmla="*/ 0 h 1440000"/>
              <a:gd name="connsiteX10" fmla="*/ 1440000 w 1440000"/>
              <a:gd name="connsiteY10" fmla="*/ 1440000 h 1440000"/>
              <a:gd name="connsiteX11" fmla="*/ 0 w 1440000"/>
              <a:gd name="connsiteY11" fmla="*/ 1440000 h 14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40000" h="1440000">
                <a:moveTo>
                  <a:pt x="125363" y="124056"/>
                </a:moveTo>
                <a:lnTo>
                  <a:pt x="1314637" y="124056"/>
                </a:lnTo>
                <a:lnTo>
                  <a:pt x="1314637" y="1315945"/>
                </a:lnTo>
                <a:lnTo>
                  <a:pt x="125363" y="1315945"/>
                </a:lnTo>
                <a:close/>
                <a:moveTo>
                  <a:pt x="92030" y="90723"/>
                </a:moveTo>
                <a:lnTo>
                  <a:pt x="92030" y="1349278"/>
                </a:lnTo>
                <a:lnTo>
                  <a:pt x="1347970" y="1349278"/>
                </a:lnTo>
                <a:lnTo>
                  <a:pt x="1347970" y="90723"/>
                </a:lnTo>
                <a:close/>
                <a:moveTo>
                  <a:pt x="0" y="0"/>
                </a:moveTo>
                <a:lnTo>
                  <a:pt x="1440000" y="0"/>
                </a:lnTo>
                <a:lnTo>
                  <a:pt x="1440000" y="1440000"/>
                </a:lnTo>
                <a:lnTo>
                  <a:pt x="0" y="1440000"/>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545435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1"/>
            <a:ext cx="9144000" cy="3076575"/>
          </a:xfrm>
          <a:prstGeom prst="rect">
            <a:avLst/>
          </a:prstGeom>
          <a:solidFill>
            <a:schemeClr val="bg1">
              <a:lumMod val="8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578861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Images and Contents Layout">
    <p:spTree>
      <p:nvGrpSpPr>
        <p:cNvPr id="1" name=""/>
        <p:cNvGrpSpPr/>
        <p:nvPr/>
      </p:nvGrpSpPr>
      <p:grpSpPr>
        <a:xfrm>
          <a:off x="0" y="0"/>
          <a:ext cx="0" cy="0"/>
          <a:chOff x="0" y="0"/>
          <a:chExt cx="0" cy="0"/>
        </a:xfrm>
      </p:grpSpPr>
      <p:sp>
        <p:nvSpPr>
          <p:cNvPr id="5" name="Picture Placeholder 2"/>
          <p:cNvSpPr>
            <a:spLocks noGrp="1"/>
          </p:cNvSpPr>
          <p:nvPr>
            <p:ph type="pic" idx="1" hasCustomPrompt="1"/>
          </p:nvPr>
        </p:nvSpPr>
        <p:spPr>
          <a:xfrm>
            <a:off x="0" y="-1"/>
            <a:ext cx="9144000" cy="5143501"/>
          </a:xfrm>
          <a:prstGeom prst="rect">
            <a:avLst/>
          </a:prstGeom>
          <a:solidFill>
            <a:schemeClr val="bg1">
              <a:lumMod val="8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2639597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5" name="Picture Placeholder 2"/>
          <p:cNvSpPr>
            <a:spLocks noGrp="1"/>
          </p:cNvSpPr>
          <p:nvPr>
            <p:ph type="pic" idx="1" hasCustomPrompt="1"/>
          </p:nvPr>
        </p:nvSpPr>
        <p:spPr>
          <a:xfrm>
            <a:off x="0" y="-1"/>
            <a:ext cx="4572000" cy="514350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5790489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2" name="그림 개체 틀 11">
            <a:extLst>
              <a:ext uri="{FF2B5EF4-FFF2-40B4-BE49-F238E27FC236}">
                <a16:creationId xmlns:a16="http://schemas.microsoft.com/office/drawing/2014/main" xmlns="" id="{BC15B180-CBF0-499C-A764-95FA7614ACA6}"/>
              </a:ext>
            </a:extLst>
          </p:cNvPr>
          <p:cNvSpPr>
            <a:spLocks noGrp="1"/>
          </p:cNvSpPr>
          <p:nvPr>
            <p:ph type="pic" idx="1" hasCustomPrompt="1"/>
          </p:nvPr>
        </p:nvSpPr>
        <p:spPr>
          <a:xfrm>
            <a:off x="6984000" y="-1"/>
            <a:ext cx="2160000" cy="5143501"/>
          </a:xfrm>
          <a:custGeom>
            <a:avLst/>
            <a:gdLst>
              <a:gd name="connsiteX0" fmla="*/ 0 w 2160000"/>
              <a:gd name="connsiteY0" fmla="*/ 1425596 h 5143501"/>
              <a:gd name="connsiteX1" fmla="*/ 651889 w 2160000"/>
              <a:gd name="connsiteY1" fmla="*/ 2077485 h 5143501"/>
              <a:gd name="connsiteX2" fmla="*/ 0 w 2160000"/>
              <a:gd name="connsiteY2" fmla="*/ 2729373 h 5143501"/>
              <a:gd name="connsiteX3" fmla="*/ 0 w 2160000"/>
              <a:gd name="connsiteY3" fmla="*/ 0 h 5143501"/>
              <a:gd name="connsiteX4" fmla="*/ 2160000 w 2160000"/>
              <a:gd name="connsiteY4" fmla="*/ 0 h 5143501"/>
              <a:gd name="connsiteX5" fmla="*/ 2160000 w 2160000"/>
              <a:gd name="connsiteY5" fmla="*/ 5143501 h 5143501"/>
              <a:gd name="connsiteX6" fmla="*/ 0 w 2160000"/>
              <a:gd name="connsiteY6" fmla="*/ 5143501 h 5143501"/>
              <a:gd name="connsiteX7" fmla="*/ 0 w 2160000"/>
              <a:gd name="connsiteY7" fmla="*/ 2856759 h 5143501"/>
              <a:gd name="connsiteX8" fmla="*/ 779274 w 2160000"/>
              <a:gd name="connsiteY8" fmla="*/ 2077485 h 5143501"/>
              <a:gd name="connsiteX9" fmla="*/ 0 w 2160000"/>
              <a:gd name="connsiteY9" fmla="*/ 1298211 h 514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60000" h="5143501">
                <a:moveTo>
                  <a:pt x="0" y="1425596"/>
                </a:moveTo>
                <a:lnTo>
                  <a:pt x="651889" y="2077485"/>
                </a:lnTo>
                <a:lnTo>
                  <a:pt x="0" y="2729373"/>
                </a:lnTo>
                <a:close/>
                <a:moveTo>
                  <a:pt x="0" y="0"/>
                </a:moveTo>
                <a:lnTo>
                  <a:pt x="2160000" y="0"/>
                </a:lnTo>
                <a:lnTo>
                  <a:pt x="2160000" y="5143501"/>
                </a:lnTo>
                <a:lnTo>
                  <a:pt x="0" y="5143501"/>
                </a:lnTo>
                <a:lnTo>
                  <a:pt x="0" y="2856759"/>
                </a:lnTo>
                <a:lnTo>
                  <a:pt x="779274" y="2077485"/>
                </a:lnTo>
                <a:lnTo>
                  <a:pt x="0" y="1298211"/>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4" name="그림 개체 틀 13">
            <a:extLst>
              <a:ext uri="{FF2B5EF4-FFF2-40B4-BE49-F238E27FC236}">
                <a16:creationId xmlns:a16="http://schemas.microsoft.com/office/drawing/2014/main" xmlns="" id="{1FA03D3A-E0EA-4B8F-B538-58CE5D4DB322}"/>
              </a:ext>
            </a:extLst>
          </p:cNvPr>
          <p:cNvSpPr>
            <a:spLocks noGrp="1"/>
          </p:cNvSpPr>
          <p:nvPr>
            <p:ph type="pic" idx="12" hasCustomPrompt="1"/>
          </p:nvPr>
        </p:nvSpPr>
        <p:spPr>
          <a:xfrm>
            <a:off x="4734004" y="2131318"/>
            <a:ext cx="2160000" cy="3012182"/>
          </a:xfrm>
          <a:custGeom>
            <a:avLst/>
            <a:gdLst>
              <a:gd name="connsiteX0" fmla="*/ 1563187 w 2160000"/>
              <a:gd name="connsiteY0" fmla="*/ 0 h 3012182"/>
              <a:gd name="connsiteX1" fmla="*/ 2160000 w 2160000"/>
              <a:gd name="connsiteY1" fmla="*/ 0 h 3012182"/>
              <a:gd name="connsiteX2" fmla="*/ 2160000 w 2160000"/>
              <a:gd name="connsiteY2" fmla="*/ 596813 h 3012182"/>
              <a:gd name="connsiteX3" fmla="*/ 0 w 2160000"/>
              <a:gd name="connsiteY3" fmla="*/ 0 h 3012182"/>
              <a:gd name="connsiteX4" fmla="*/ 1435802 w 2160000"/>
              <a:gd name="connsiteY4" fmla="*/ 0 h 3012182"/>
              <a:gd name="connsiteX5" fmla="*/ 2160000 w 2160000"/>
              <a:gd name="connsiteY5" fmla="*/ 724199 h 3012182"/>
              <a:gd name="connsiteX6" fmla="*/ 2160000 w 2160000"/>
              <a:gd name="connsiteY6" fmla="*/ 3012182 h 3012182"/>
              <a:gd name="connsiteX7" fmla="*/ 0 w 2160000"/>
              <a:gd name="connsiteY7" fmla="*/ 3012182 h 3012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0000" h="3012182">
                <a:moveTo>
                  <a:pt x="1563187" y="0"/>
                </a:moveTo>
                <a:lnTo>
                  <a:pt x="2160000" y="0"/>
                </a:lnTo>
                <a:lnTo>
                  <a:pt x="2160000" y="596813"/>
                </a:lnTo>
                <a:close/>
                <a:moveTo>
                  <a:pt x="0" y="0"/>
                </a:moveTo>
                <a:lnTo>
                  <a:pt x="1435802" y="0"/>
                </a:lnTo>
                <a:lnTo>
                  <a:pt x="2160000" y="724199"/>
                </a:lnTo>
                <a:lnTo>
                  <a:pt x="2160000" y="3012182"/>
                </a:lnTo>
                <a:lnTo>
                  <a:pt x="0" y="3012182"/>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3" hasCustomPrompt="1"/>
          </p:nvPr>
        </p:nvSpPr>
        <p:spPr>
          <a:xfrm>
            <a:off x="3492000" y="2131318"/>
            <a:ext cx="1152008" cy="3012182"/>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3" name="그림 개체 틀 12">
            <a:extLst>
              <a:ext uri="{FF2B5EF4-FFF2-40B4-BE49-F238E27FC236}">
                <a16:creationId xmlns:a16="http://schemas.microsoft.com/office/drawing/2014/main" xmlns="" id="{1EBCCB12-3AC7-4A57-8E11-5324E7CB7D04}"/>
              </a:ext>
            </a:extLst>
          </p:cNvPr>
          <p:cNvSpPr>
            <a:spLocks noGrp="1"/>
          </p:cNvSpPr>
          <p:nvPr>
            <p:ph type="pic" idx="14" hasCustomPrompt="1"/>
          </p:nvPr>
        </p:nvSpPr>
        <p:spPr>
          <a:xfrm>
            <a:off x="3492000" y="-1"/>
            <a:ext cx="3393830" cy="2043485"/>
          </a:xfrm>
          <a:custGeom>
            <a:avLst/>
            <a:gdLst>
              <a:gd name="connsiteX0" fmla="*/ 3393830 w 3393830"/>
              <a:gd name="connsiteY0" fmla="*/ 1435011 h 2043485"/>
              <a:gd name="connsiteX1" fmla="*/ 3393830 w 3393830"/>
              <a:gd name="connsiteY1" fmla="*/ 2043485 h 2043485"/>
              <a:gd name="connsiteX2" fmla="*/ 2785356 w 3393830"/>
              <a:gd name="connsiteY2" fmla="*/ 2043485 h 2043485"/>
              <a:gd name="connsiteX3" fmla="*/ 0 w 3393830"/>
              <a:gd name="connsiteY3" fmla="*/ 0 h 2043485"/>
              <a:gd name="connsiteX4" fmla="*/ 3393830 w 3393830"/>
              <a:gd name="connsiteY4" fmla="*/ 0 h 2043485"/>
              <a:gd name="connsiteX5" fmla="*/ 3393830 w 3393830"/>
              <a:gd name="connsiteY5" fmla="*/ 1307626 h 2043485"/>
              <a:gd name="connsiteX6" fmla="*/ 2657971 w 3393830"/>
              <a:gd name="connsiteY6" fmla="*/ 2043485 h 2043485"/>
              <a:gd name="connsiteX7" fmla="*/ 0 w 3393830"/>
              <a:gd name="connsiteY7" fmla="*/ 2043485 h 2043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93830" h="2043485">
                <a:moveTo>
                  <a:pt x="3393830" y="1435011"/>
                </a:moveTo>
                <a:lnTo>
                  <a:pt x="3393830" y="2043485"/>
                </a:lnTo>
                <a:lnTo>
                  <a:pt x="2785356" y="2043485"/>
                </a:lnTo>
                <a:close/>
                <a:moveTo>
                  <a:pt x="0" y="0"/>
                </a:moveTo>
                <a:lnTo>
                  <a:pt x="3393830" y="0"/>
                </a:lnTo>
                <a:lnTo>
                  <a:pt x="3393830" y="1307626"/>
                </a:lnTo>
                <a:lnTo>
                  <a:pt x="2657971" y="2043485"/>
                </a:lnTo>
                <a:lnTo>
                  <a:pt x="0" y="2043485"/>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5587796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24" name="그림 개체 틀 23">
            <a:extLst>
              <a:ext uri="{FF2B5EF4-FFF2-40B4-BE49-F238E27FC236}">
                <a16:creationId xmlns:a16="http://schemas.microsoft.com/office/drawing/2014/main" xmlns="" id="{6F099B2E-9C61-4C91-AB24-AB7B70E2D2E0}"/>
              </a:ext>
            </a:extLst>
          </p:cNvPr>
          <p:cNvSpPr>
            <a:spLocks noGrp="1"/>
          </p:cNvSpPr>
          <p:nvPr>
            <p:ph type="pic" idx="18" hasCustomPrompt="1"/>
          </p:nvPr>
        </p:nvSpPr>
        <p:spPr>
          <a:xfrm>
            <a:off x="7301328" y="1495130"/>
            <a:ext cx="1840931" cy="3649326"/>
          </a:xfrm>
          <a:custGeom>
            <a:avLst/>
            <a:gdLst>
              <a:gd name="connsiteX0" fmla="*/ 540722 w 1840931"/>
              <a:gd name="connsiteY0" fmla="*/ 1288720 h 3649326"/>
              <a:gd name="connsiteX1" fmla="*/ 1084110 w 1840931"/>
              <a:gd name="connsiteY1" fmla="*/ 1832108 h 3649326"/>
              <a:gd name="connsiteX2" fmla="*/ 548200 w 1840931"/>
              <a:gd name="connsiteY2" fmla="*/ 2368018 h 3649326"/>
              <a:gd name="connsiteX3" fmla="*/ 0 w 1840931"/>
              <a:gd name="connsiteY3" fmla="*/ 1824663 h 3649326"/>
              <a:gd name="connsiteX4" fmla="*/ 1840931 w 1840931"/>
              <a:gd name="connsiteY4" fmla="*/ 0 h 3649326"/>
              <a:gd name="connsiteX5" fmla="*/ 1840931 w 1840931"/>
              <a:gd name="connsiteY5" fmla="*/ 3649326 h 3649326"/>
              <a:gd name="connsiteX6" fmla="*/ 609809 w 1840931"/>
              <a:gd name="connsiteY6" fmla="*/ 2429083 h 3649326"/>
              <a:gd name="connsiteX7" fmla="*/ 1206783 w 1840931"/>
              <a:gd name="connsiteY7" fmla="*/ 1832108 h 3649326"/>
              <a:gd name="connsiteX8" fmla="*/ 602331 w 1840931"/>
              <a:gd name="connsiteY8" fmla="*/ 1227655 h 3649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0931" h="3649326">
                <a:moveTo>
                  <a:pt x="540722" y="1288720"/>
                </a:moveTo>
                <a:lnTo>
                  <a:pt x="1084110" y="1832108"/>
                </a:lnTo>
                <a:lnTo>
                  <a:pt x="548200" y="2368018"/>
                </a:lnTo>
                <a:lnTo>
                  <a:pt x="0" y="1824663"/>
                </a:lnTo>
                <a:close/>
                <a:moveTo>
                  <a:pt x="1840931" y="0"/>
                </a:moveTo>
                <a:lnTo>
                  <a:pt x="1840931" y="3649326"/>
                </a:lnTo>
                <a:lnTo>
                  <a:pt x="609809" y="2429083"/>
                </a:lnTo>
                <a:lnTo>
                  <a:pt x="1206783" y="1832108"/>
                </a:lnTo>
                <a:lnTo>
                  <a:pt x="602331" y="1227655"/>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3" name="그림 개체 틀 22">
            <a:extLst>
              <a:ext uri="{FF2B5EF4-FFF2-40B4-BE49-F238E27FC236}">
                <a16:creationId xmlns:a16="http://schemas.microsoft.com/office/drawing/2014/main" xmlns="" id="{02450FB2-6A00-42CF-B869-69B7A802C2C5}"/>
              </a:ext>
            </a:extLst>
          </p:cNvPr>
          <p:cNvSpPr>
            <a:spLocks noGrp="1"/>
          </p:cNvSpPr>
          <p:nvPr>
            <p:ph type="pic" idx="19" hasCustomPrompt="1"/>
          </p:nvPr>
        </p:nvSpPr>
        <p:spPr>
          <a:xfrm>
            <a:off x="5476381" y="3386021"/>
            <a:ext cx="3530788" cy="1769004"/>
          </a:xfrm>
          <a:custGeom>
            <a:avLst/>
            <a:gdLst>
              <a:gd name="connsiteX0" fmla="*/ 2368610 w 3530788"/>
              <a:gd name="connsiteY0" fmla="*/ 604337 h 1769004"/>
              <a:gd name="connsiteX1" fmla="*/ 3530788 w 3530788"/>
              <a:gd name="connsiteY1" fmla="*/ 1761052 h 1769004"/>
              <a:gd name="connsiteX2" fmla="*/ 0 w 3530788"/>
              <a:gd name="connsiteY2" fmla="*/ 1769004 h 1769004"/>
              <a:gd name="connsiteX3" fmla="*/ 1159186 w 3530788"/>
              <a:gd name="connsiteY3" fmla="*/ 604826 h 1769004"/>
              <a:gd name="connsiteX4" fmla="*/ 1763653 w 3530788"/>
              <a:gd name="connsiteY4" fmla="*/ 1209294 h 1769004"/>
              <a:gd name="connsiteX5" fmla="*/ 1761418 w 3530788"/>
              <a:gd name="connsiteY5" fmla="*/ 0 h 1769004"/>
              <a:gd name="connsiteX6" fmla="*/ 2307129 w 3530788"/>
              <a:gd name="connsiteY6" fmla="*/ 543145 h 1769004"/>
              <a:gd name="connsiteX7" fmla="*/ 1763653 w 3530788"/>
              <a:gd name="connsiteY7" fmla="*/ 1086621 h 1769004"/>
              <a:gd name="connsiteX8" fmla="*/ 1220390 w 3530788"/>
              <a:gd name="connsiteY8" fmla="*/ 543358 h 1769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30788" h="1769004">
                <a:moveTo>
                  <a:pt x="2368610" y="604337"/>
                </a:moveTo>
                <a:lnTo>
                  <a:pt x="3530788" y="1761052"/>
                </a:lnTo>
                <a:lnTo>
                  <a:pt x="0" y="1769004"/>
                </a:lnTo>
                <a:lnTo>
                  <a:pt x="1159186" y="604826"/>
                </a:lnTo>
                <a:lnTo>
                  <a:pt x="1763653" y="1209294"/>
                </a:lnTo>
                <a:close/>
                <a:moveTo>
                  <a:pt x="1761418" y="0"/>
                </a:moveTo>
                <a:lnTo>
                  <a:pt x="2307129" y="543145"/>
                </a:lnTo>
                <a:lnTo>
                  <a:pt x="1763653" y="1086621"/>
                </a:lnTo>
                <a:lnTo>
                  <a:pt x="1220390" y="543358"/>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2" name="그림 개체 틀 21">
            <a:extLst>
              <a:ext uri="{FF2B5EF4-FFF2-40B4-BE49-F238E27FC236}">
                <a16:creationId xmlns:a16="http://schemas.microsoft.com/office/drawing/2014/main" xmlns="" id="{818F7804-9A99-482C-9BFA-8B2E895ADDDC}"/>
              </a:ext>
            </a:extLst>
          </p:cNvPr>
          <p:cNvSpPr>
            <a:spLocks noGrp="1"/>
          </p:cNvSpPr>
          <p:nvPr>
            <p:ph type="pic" idx="20" hasCustomPrompt="1"/>
          </p:nvPr>
        </p:nvSpPr>
        <p:spPr>
          <a:xfrm>
            <a:off x="3491431" y="1495130"/>
            <a:ext cx="3681862" cy="3649326"/>
          </a:xfrm>
          <a:custGeom>
            <a:avLst/>
            <a:gdLst>
              <a:gd name="connsiteX0" fmla="*/ 3143876 w 3681862"/>
              <a:gd name="connsiteY0" fmla="*/ 1291431 h 3649326"/>
              <a:gd name="connsiteX1" fmla="*/ 3681862 w 3681862"/>
              <a:gd name="connsiteY1" fmla="*/ 1824663 h 3649326"/>
              <a:gd name="connsiteX2" fmla="*/ 3136398 w 3681862"/>
              <a:gd name="connsiteY2" fmla="*/ 2365307 h 3649326"/>
              <a:gd name="connsiteX3" fmla="*/ 2603199 w 3681862"/>
              <a:gd name="connsiteY3" fmla="*/ 1832108 h 3649326"/>
              <a:gd name="connsiteX4" fmla="*/ 1840931 w 3681862"/>
              <a:gd name="connsiteY4" fmla="*/ 0 h 3649326"/>
              <a:gd name="connsiteX5" fmla="*/ 3082267 w 3681862"/>
              <a:gd name="connsiteY5" fmla="*/ 1230367 h 3649326"/>
              <a:gd name="connsiteX6" fmla="*/ 2480526 w 3681862"/>
              <a:gd name="connsiteY6" fmla="*/ 1832108 h 3649326"/>
              <a:gd name="connsiteX7" fmla="*/ 3074789 w 3681862"/>
              <a:gd name="connsiteY7" fmla="*/ 2426371 h 3649326"/>
              <a:gd name="connsiteX8" fmla="*/ 1840931 w 3681862"/>
              <a:gd name="connsiteY8" fmla="*/ 3649326 h 3649326"/>
              <a:gd name="connsiteX9" fmla="*/ 0 w 3681862"/>
              <a:gd name="connsiteY9" fmla="*/ 1824663 h 3649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81862" h="3649326">
                <a:moveTo>
                  <a:pt x="3143876" y="1291431"/>
                </a:moveTo>
                <a:lnTo>
                  <a:pt x="3681862" y="1824663"/>
                </a:lnTo>
                <a:lnTo>
                  <a:pt x="3136398" y="2365307"/>
                </a:lnTo>
                <a:lnTo>
                  <a:pt x="2603199" y="1832108"/>
                </a:lnTo>
                <a:close/>
                <a:moveTo>
                  <a:pt x="1840931" y="0"/>
                </a:moveTo>
                <a:lnTo>
                  <a:pt x="3082267" y="1230367"/>
                </a:lnTo>
                <a:lnTo>
                  <a:pt x="2480526" y="1832108"/>
                </a:lnTo>
                <a:lnTo>
                  <a:pt x="3074789" y="2426371"/>
                </a:lnTo>
                <a:lnTo>
                  <a:pt x="1840931" y="3649326"/>
                </a:lnTo>
                <a:lnTo>
                  <a:pt x="0" y="1824663"/>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1" name="그림 개체 틀 20">
            <a:extLst>
              <a:ext uri="{FF2B5EF4-FFF2-40B4-BE49-F238E27FC236}">
                <a16:creationId xmlns:a16="http://schemas.microsoft.com/office/drawing/2014/main" xmlns="" id="{59353D25-D7C0-4FC1-88CF-A55DAFC5690D}"/>
              </a:ext>
            </a:extLst>
          </p:cNvPr>
          <p:cNvSpPr>
            <a:spLocks noGrp="1"/>
          </p:cNvSpPr>
          <p:nvPr>
            <p:ph type="pic" idx="21" hasCustomPrompt="1"/>
          </p:nvPr>
        </p:nvSpPr>
        <p:spPr>
          <a:xfrm>
            <a:off x="5396868" y="-11318"/>
            <a:ext cx="3681862" cy="3267664"/>
          </a:xfrm>
          <a:custGeom>
            <a:avLst/>
            <a:gdLst>
              <a:gd name="connsiteX0" fmla="*/ 1843166 w 3681862"/>
              <a:gd name="connsiteY0" fmla="*/ 2193152 h 3267664"/>
              <a:gd name="connsiteX1" fmla="*/ 2381694 w 3681862"/>
              <a:gd name="connsiteY1" fmla="*/ 2731680 h 3267664"/>
              <a:gd name="connsiteX2" fmla="*/ 1840931 w 3681862"/>
              <a:gd name="connsiteY2" fmla="*/ 3267664 h 3267664"/>
              <a:gd name="connsiteX3" fmla="*/ 1302413 w 3681862"/>
              <a:gd name="connsiteY3" fmla="*/ 2733905 h 3267664"/>
              <a:gd name="connsiteX4" fmla="*/ 1467221 w 3681862"/>
              <a:gd name="connsiteY4" fmla="*/ 0 h 3267664"/>
              <a:gd name="connsiteX5" fmla="*/ 2284092 w 3681862"/>
              <a:gd name="connsiteY5" fmla="*/ 19269 h 3267664"/>
              <a:gd name="connsiteX6" fmla="*/ 3681862 w 3681862"/>
              <a:gd name="connsiteY6" fmla="*/ 1443001 h 3267664"/>
              <a:gd name="connsiteX7" fmla="*/ 2443303 w 3681862"/>
              <a:gd name="connsiteY7" fmla="*/ 2670616 h 3267664"/>
              <a:gd name="connsiteX8" fmla="*/ 1843166 w 3681862"/>
              <a:gd name="connsiteY8" fmla="*/ 2070479 h 3267664"/>
              <a:gd name="connsiteX9" fmla="*/ 1240805 w 3681862"/>
              <a:gd name="connsiteY9" fmla="*/ 2672841 h 3267664"/>
              <a:gd name="connsiteX10" fmla="*/ 0 w 3681862"/>
              <a:gd name="connsiteY10" fmla="*/ 1443001 h 3267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81862" h="3267664">
                <a:moveTo>
                  <a:pt x="1843166" y="2193152"/>
                </a:moveTo>
                <a:lnTo>
                  <a:pt x="2381694" y="2731680"/>
                </a:lnTo>
                <a:lnTo>
                  <a:pt x="1840931" y="3267664"/>
                </a:lnTo>
                <a:lnTo>
                  <a:pt x="1302413" y="2733905"/>
                </a:lnTo>
                <a:close/>
                <a:moveTo>
                  <a:pt x="1467221" y="0"/>
                </a:moveTo>
                <a:cubicBezTo>
                  <a:pt x="1832276" y="3773"/>
                  <a:pt x="1919036" y="-406"/>
                  <a:pt x="2284092" y="19269"/>
                </a:cubicBezTo>
                <a:lnTo>
                  <a:pt x="3681862" y="1443001"/>
                </a:lnTo>
                <a:lnTo>
                  <a:pt x="2443303" y="2670616"/>
                </a:lnTo>
                <a:lnTo>
                  <a:pt x="1843166" y="2070479"/>
                </a:lnTo>
                <a:lnTo>
                  <a:pt x="1240805" y="2672841"/>
                </a:lnTo>
                <a:lnTo>
                  <a:pt x="0" y="1443001"/>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3137111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Picture Placeholder 2"/>
          <p:cNvSpPr>
            <a:spLocks noGrp="1"/>
          </p:cNvSpPr>
          <p:nvPr>
            <p:ph type="pic" idx="14" hasCustomPrompt="1"/>
          </p:nvPr>
        </p:nvSpPr>
        <p:spPr>
          <a:xfrm>
            <a:off x="395536" y="1267206"/>
            <a:ext cx="1440160" cy="172819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5" hasCustomPrompt="1"/>
          </p:nvPr>
        </p:nvSpPr>
        <p:spPr>
          <a:xfrm>
            <a:off x="395536" y="3075806"/>
            <a:ext cx="1440160" cy="172819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6" hasCustomPrompt="1"/>
          </p:nvPr>
        </p:nvSpPr>
        <p:spPr>
          <a:xfrm>
            <a:off x="1911680" y="1267206"/>
            <a:ext cx="1440160" cy="172819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7" hasCustomPrompt="1"/>
          </p:nvPr>
        </p:nvSpPr>
        <p:spPr>
          <a:xfrm>
            <a:off x="1911680" y="3075806"/>
            <a:ext cx="1440160" cy="172819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5" name="Picture Placeholder 2"/>
          <p:cNvSpPr>
            <a:spLocks noGrp="1"/>
          </p:cNvSpPr>
          <p:nvPr>
            <p:ph type="pic" idx="18" hasCustomPrompt="1"/>
          </p:nvPr>
        </p:nvSpPr>
        <p:spPr>
          <a:xfrm>
            <a:off x="5736054" y="1267206"/>
            <a:ext cx="1440160" cy="172819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6" name="Picture Placeholder 2"/>
          <p:cNvSpPr>
            <a:spLocks noGrp="1"/>
          </p:cNvSpPr>
          <p:nvPr>
            <p:ph type="pic" idx="19" hasCustomPrompt="1"/>
          </p:nvPr>
        </p:nvSpPr>
        <p:spPr>
          <a:xfrm>
            <a:off x="5736055" y="3075806"/>
            <a:ext cx="1440160" cy="172819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7" name="Picture Placeholder 2"/>
          <p:cNvSpPr>
            <a:spLocks noGrp="1"/>
          </p:cNvSpPr>
          <p:nvPr>
            <p:ph type="pic" idx="20" hasCustomPrompt="1"/>
          </p:nvPr>
        </p:nvSpPr>
        <p:spPr>
          <a:xfrm>
            <a:off x="7252198" y="1267206"/>
            <a:ext cx="1440160" cy="172819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8" name="Picture Placeholder 2"/>
          <p:cNvSpPr>
            <a:spLocks noGrp="1"/>
          </p:cNvSpPr>
          <p:nvPr>
            <p:ph type="pic" idx="21" hasCustomPrompt="1"/>
          </p:nvPr>
        </p:nvSpPr>
        <p:spPr>
          <a:xfrm>
            <a:off x="7252198" y="3075806"/>
            <a:ext cx="1440160" cy="172819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 name="Rectangle 1"/>
          <p:cNvSpPr/>
          <p:nvPr userDrawn="1"/>
        </p:nvSpPr>
        <p:spPr>
          <a:xfrm>
            <a:off x="3427823" y="1275605"/>
            <a:ext cx="2232248" cy="35283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Tree>
    <p:extLst>
      <p:ext uri="{BB962C8B-B14F-4D97-AF65-F5344CB8AC3E}">
        <p14:creationId xmlns:p14="http://schemas.microsoft.com/office/powerpoint/2010/main" val="38336861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hapes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242646" y="92609"/>
            <a:ext cx="8679898" cy="543185"/>
          </a:xfrm>
          <a:prstGeom prst="rect">
            <a:avLst/>
          </a:prstGeom>
        </p:spPr>
        <p:txBody>
          <a:bodyPr anchor="ctr"/>
          <a:lstStyle>
            <a:lvl1pPr marL="0" indent="0" algn="ctr">
              <a:buNone/>
              <a:defRPr sz="4050" b="0" baseline="0">
                <a:solidFill>
                  <a:schemeClr val="tx1">
                    <a:lumMod val="85000"/>
                    <a:lumOff val="15000"/>
                  </a:schemeClr>
                </a:solidFill>
                <a:latin typeface="+mj-lt"/>
                <a:cs typeface="Arial" pitchFamily="34" charset="0"/>
              </a:defRPr>
            </a:lvl1pPr>
          </a:lstStyle>
          <a:p>
            <a:r>
              <a:rPr lang="en-US" altLang="ko-KR" dirty="0"/>
              <a:t>Fully Editable Shapes</a:t>
            </a:r>
          </a:p>
        </p:txBody>
      </p:sp>
    </p:spTree>
    <p:extLst>
      <p:ext uri="{BB962C8B-B14F-4D97-AF65-F5344CB8AC3E}">
        <p14:creationId xmlns:p14="http://schemas.microsoft.com/office/powerpoint/2010/main" val="12646762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n-lt"/>
                <a:cs typeface="Arial" pitchFamily="34" charset="0"/>
              </a:defRPr>
            </a:lvl1pPr>
          </a:lstStyle>
          <a:p>
            <a:pPr lvl="0"/>
            <a:r>
              <a:rPr lang="en-US" altLang="ko-KR" dirty="0"/>
              <a:t>ICON SETS LAYOUT</a:t>
            </a:r>
          </a:p>
        </p:txBody>
      </p:sp>
      <p:sp>
        <p:nvSpPr>
          <p:cNvPr id="11" name="Rounded Rectangle 10"/>
          <p:cNvSpPr/>
          <p:nvPr userDrawn="1"/>
        </p:nvSpPr>
        <p:spPr>
          <a:xfrm>
            <a:off x="354008" y="1131589"/>
            <a:ext cx="2849840" cy="3649171"/>
          </a:xfrm>
          <a:prstGeom prst="roundRect">
            <a:avLst>
              <a:gd name="adj" fmla="val 39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Rounded Rectangle 16"/>
          <p:cNvSpPr/>
          <p:nvPr userDrawn="1"/>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sp>
        <p:nvSpPr>
          <p:cNvPr id="18" name="Half Frame 17"/>
          <p:cNvSpPr/>
          <p:nvPr userDrawn="1"/>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7381822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 Layout">
    <p:spTree>
      <p:nvGrpSpPr>
        <p:cNvPr id="1" name=""/>
        <p:cNvGrpSpPr/>
        <p:nvPr/>
      </p:nvGrpSpPr>
      <p:grpSpPr>
        <a:xfrm>
          <a:off x="0" y="0"/>
          <a:ext cx="0" cy="0"/>
          <a:chOff x="0" y="0"/>
          <a:chExt cx="0" cy="0"/>
        </a:xfrm>
      </p:grpSpPr>
      <p:grpSp>
        <p:nvGrpSpPr>
          <p:cNvPr id="4" name="그룹 3">
            <a:extLst>
              <a:ext uri="{FF2B5EF4-FFF2-40B4-BE49-F238E27FC236}">
                <a16:creationId xmlns:a16="http://schemas.microsoft.com/office/drawing/2014/main" xmlns="" id="{46628553-F51C-4CE7-A3A6-AB374655DC97}"/>
              </a:ext>
            </a:extLst>
          </p:cNvPr>
          <p:cNvGrpSpPr/>
          <p:nvPr userDrawn="1"/>
        </p:nvGrpSpPr>
        <p:grpSpPr>
          <a:xfrm>
            <a:off x="786525" y="1114965"/>
            <a:ext cx="2320819" cy="2728174"/>
            <a:chOff x="5364088" y="1450891"/>
            <a:chExt cx="2320819" cy="2728174"/>
          </a:xfrm>
        </p:grpSpPr>
        <p:sp>
          <p:nvSpPr>
            <p:cNvPr id="22" name="자유형: 도형 21">
              <a:extLst>
                <a:ext uri="{FF2B5EF4-FFF2-40B4-BE49-F238E27FC236}">
                  <a16:creationId xmlns:a16="http://schemas.microsoft.com/office/drawing/2014/main" xmlns="" id="{B5880087-04C4-411C-AEAA-74B23548761F}"/>
                </a:ext>
              </a:extLst>
            </p:cNvPr>
            <p:cNvSpPr/>
            <p:nvPr userDrawn="1"/>
          </p:nvSpPr>
          <p:spPr>
            <a:xfrm>
              <a:off x="5399290" y="2150906"/>
              <a:ext cx="2261257" cy="2028159"/>
            </a:xfrm>
            <a:custGeom>
              <a:avLst/>
              <a:gdLst>
                <a:gd name="connsiteX0" fmla="*/ 1012851 w 2261257"/>
                <a:gd name="connsiteY0" fmla="*/ 0 h 2028159"/>
                <a:gd name="connsiteX1" fmla="*/ 1226850 w 2261257"/>
                <a:gd name="connsiteY1" fmla="*/ 0 h 2028159"/>
                <a:gd name="connsiteX2" fmla="*/ 1283043 w 2261257"/>
                <a:gd name="connsiteY2" fmla="*/ 449131 h 2028159"/>
                <a:gd name="connsiteX3" fmla="*/ 1318239 w 2261257"/>
                <a:gd name="connsiteY3" fmla="*/ 455866 h 2028159"/>
                <a:gd name="connsiteX4" fmla="*/ 1530113 w 2261257"/>
                <a:gd name="connsiteY4" fmla="*/ 605602 h 2028159"/>
                <a:gd name="connsiteX5" fmla="*/ 1548314 w 2261257"/>
                <a:gd name="connsiteY5" fmla="*/ 639136 h 2028159"/>
                <a:gd name="connsiteX6" fmla="*/ 1577154 w 2261257"/>
                <a:gd name="connsiteY6" fmla="*/ 636229 h 2028159"/>
                <a:gd name="connsiteX7" fmla="*/ 1914152 w 2261257"/>
                <a:gd name="connsiteY7" fmla="*/ 859606 h 2028159"/>
                <a:gd name="connsiteX8" fmla="*/ 1919810 w 2261257"/>
                <a:gd name="connsiteY8" fmla="*/ 877832 h 2028159"/>
                <a:gd name="connsiteX9" fmla="*/ 1932155 w 2261257"/>
                <a:gd name="connsiteY9" fmla="*/ 874000 h 2028159"/>
                <a:gd name="connsiteX10" fmla="*/ 1981836 w 2261257"/>
                <a:gd name="connsiteY10" fmla="*/ 868991 h 2028159"/>
                <a:gd name="connsiteX11" fmla="*/ 2223343 w 2261257"/>
                <a:gd name="connsiteY11" fmla="*/ 1065825 h 2028159"/>
                <a:gd name="connsiteX12" fmla="*/ 2225319 w 2261257"/>
                <a:gd name="connsiteY12" fmla="*/ 1085429 h 2028159"/>
                <a:gd name="connsiteX13" fmla="*/ 2261257 w 2261257"/>
                <a:gd name="connsiteY13" fmla="*/ 1089052 h 2028159"/>
                <a:gd name="connsiteX14" fmla="*/ 2259340 w 2261257"/>
                <a:gd name="connsiteY14" fmla="*/ 1101612 h 2028159"/>
                <a:gd name="connsiteX15" fmla="*/ 1122505 w 2261257"/>
                <a:gd name="connsiteY15" fmla="*/ 2028159 h 2028159"/>
                <a:gd name="connsiteX16" fmla="*/ 14265 w 2261257"/>
                <a:gd name="connsiteY16" fmla="*/ 1212820 h 2028159"/>
                <a:gd name="connsiteX17" fmla="*/ 0 w 2261257"/>
                <a:gd name="connsiteY17" fmla="*/ 1157341 h 2028159"/>
                <a:gd name="connsiteX18" fmla="*/ 3235 w 2261257"/>
                <a:gd name="connsiteY18" fmla="*/ 1157015 h 2028159"/>
                <a:gd name="connsiteX19" fmla="*/ 87605 w 2261257"/>
                <a:gd name="connsiteY19" fmla="*/ 1165520 h 2028159"/>
                <a:gd name="connsiteX20" fmla="*/ 113456 w 2261257"/>
                <a:gd name="connsiteY20" fmla="*/ 1173545 h 2028159"/>
                <a:gd name="connsiteX21" fmla="*/ 128106 w 2261257"/>
                <a:gd name="connsiteY21" fmla="*/ 1155791 h 2028159"/>
                <a:gd name="connsiteX22" fmla="*/ 424127 w 2261257"/>
                <a:gd name="connsiteY22" fmla="*/ 1033175 h 2028159"/>
                <a:gd name="connsiteX23" fmla="*/ 435940 w 2261257"/>
                <a:gd name="connsiteY23" fmla="*/ 1034366 h 2028159"/>
                <a:gd name="connsiteX24" fmla="*/ 427636 w 2261257"/>
                <a:gd name="connsiteY24" fmla="*/ 1007613 h 2028159"/>
                <a:gd name="connsiteX25" fmla="*/ 424127 w 2261257"/>
                <a:gd name="connsiteY25" fmla="*/ 972807 h 2028159"/>
                <a:gd name="connsiteX26" fmla="*/ 562024 w 2261257"/>
                <a:gd name="connsiteY26" fmla="*/ 803613 h 2028159"/>
                <a:gd name="connsiteX27" fmla="*/ 569156 w 2261257"/>
                <a:gd name="connsiteY27" fmla="*/ 802894 h 2028159"/>
                <a:gd name="connsiteX28" fmla="*/ 573923 w 2261257"/>
                <a:gd name="connsiteY28" fmla="*/ 755602 h 2028159"/>
                <a:gd name="connsiteX29" fmla="*/ 903523 w 2261257"/>
                <a:gd name="connsiteY29" fmla="*/ 486970 h 2028159"/>
                <a:gd name="connsiteX30" fmla="*/ 951321 w 2261257"/>
                <a:gd name="connsiteY30" fmla="*/ 491789 h 202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61257" h="2028159">
                  <a:moveTo>
                    <a:pt x="1012851" y="0"/>
                  </a:moveTo>
                  <a:lnTo>
                    <a:pt x="1226850" y="0"/>
                  </a:lnTo>
                  <a:lnTo>
                    <a:pt x="1283043" y="449131"/>
                  </a:lnTo>
                  <a:lnTo>
                    <a:pt x="1318239" y="455866"/>
                  </a:lnTo>
                  <a:cubicBezTo>
                    <a:pt x="1405884" y="478416"/>
                    <a:pt x="1480818" y="532637"/>
                    <a:pt x="1530113" y="605602"/>
                  </a:cubicBezTo>
                  <a:lnTo>
                    <a:pt x="1548314" y="639136"/>
                  </a:lnTo>
                  <a:lnTo>
                    <a:pt x="1577154" y="636229"/>
                  </a:lnTo>
                  <a:cubicBezTo>
                    <a:pt x="1728648" y="636229"/>
                    <a:pt x="1858629" y="728337"/>
                    <a:pt x="1914152" y="859606"/>
                  </a:cubicBezTo>
                  <a:lnTo>
                    <a:pt x="1919810" y="877832"/>
                  </a:lnTo>
                  <a:lnTo>
                    <a:pt x="1932155" y="874000"/>
                  </a:lnTo>
                  <a:cubicBezTo>
                    <a:pt x="1948202" y="870716"/>
                    <a:pt x="1964818" y="868991"/>
                    <a:pt x="1981836" y="868991"/>
                  </a:cubicBezTo>
                  <a:cubicBezTo>
                    <a:pt x="2100964" y="868991"/>
                    <a:pt x="2200356" y="953493"/>
                    <a:pt x="2223343" y="1065825"/>
                  </a:cubicBezTo>
                  <a:lnTo>
                    <a:pt x="2225319" y="1085429"/>
                  </a:lnTo>
                  <a:lnTo>
                    <a:pt x="2261257" y="1089052"/>
                  </a:lnTo>
                  <a:lnTo>
                    <a:pt x="2259340" y="1101612"/>
                  </a:lnTo>
                  <a:cubicBezTo>
                    <a:pt x="2151136" y="1630392"/>
                    <a:pt x="1683273" y="2028159"/>
                    <a:pt x="1122505" y="2028159"/>
                  </a:cubicBezTo>
                  <a:cubicBezTo>
                    <a:pt x="601793" y="2028159"/>
                    <a:pt x="161186" y="1685186"/>
                    <a:pt x="14265" y="1212820"/>
                  </a:cubicBezTo>
                  <a:lnTo>
                    <a:pt x="0" y="1157341"/>
                  </a:lnTo>
                  <a:lnTo>
                    <a:pt x="3235" y="1157015"/>
                  </a:lnTo>
                  <a:cubicBezTo>
                    <a:pt x="32136" y="1157015"/>
                    <a:pt x="60353" y="1159944"/>
                    <a:pt x="87605" y="1165520"/>
                  </a:cubicBezTo>
                  <a:lnTo>
                    <a:pt x="113456" y="1173545"/>
                  </a:lnTo>
                  <a:lnTo>
                    <a:pt x="128106" y="1155791"/>
                  </a:lnTo>
                  <a:cubicBezTo>
                    <a:pt x="203864" y="1080032"/>
                    <a:pt x="308523" y="1033175"/>
                    <a:pt x="424127" y="1033175"/>
                  </a:cubicBezTo>
                  <a:lnTo>
                    <a:pt x="435940" y="1034366"/>
                  </a:lnTo>
                  <a:lnTo>
                    <a:pt x="427636" y="1007613"/>
                  </a:lnTo>
                  <a:cubicBezTo>
                    <a:pt x="425335" y="996370"/>
                    <a:pt x="424127" y="984730"/>
                    <a:pt x="424127" y="972807"/>
                  </a:cubicBezTo>
                  <a:cubicBezTo>
                    <a:pt x="424127" y="889349"/>
                    <a:pt x="483326" y="819717"/>
                    <a:pt x="562024" y="803613"/>
                  </a:cubicBezTo>
                  <a:lnTo>
                    <a:pt x="569156" y="802894"/>
                  </a:lnTo>
                  <a:lnTo>
                    <a:pt x="573923" y="755602"/>
                  </a:lnTo>
                  <a:cubicBezTo>
                    <a:pt x="605295" y="602294"/>
                    <a:pt x="740941" y="486970"/>
                    <a:pt x="903523" y="486970"/>
                  </a:cubicBezTo>
                  <a:lnTo>
                    <a:pt x="951321" y="49178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3" name="타원 2">
              <a:extLst>
                <a:ext uri="{FF2B5EF4-FFF2-40B4-BE49-F238E27FC236}">
                  <a16:creationId xmlns:a16="http://schemas.microsoft.com/office/drawing/2014/main" xmlns="" id="{7EF498E6-9850-42A0-8643-E6250BB46DE0}"/>
                </a:ext>
              </a:extLst>
            </p:cNvPr>
            <p:cNvSpPr/>
            <p:nvPr userDrawn="1"/>
          </p:nvSpPr>
          <p:spPr>
            <a:xfrm>
              <a:off x="5364088" y="1858246"/>
              <a:ext cx="2320819" cy="2320819"/>
            </a:xfrm>
            <a:prstGeom prst="ellipse">
              <a:avLst/>
            </a:prstGeom>
            <a:noFill/>
            <a:ln w="254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8" name="그룹 7">
              <a:extLst>
                <a:ext uri="{FF2B5EF4-FFF2-40B4-BE49-F238E27FC236}">
                  <a16:creationId xmlns:a16="http://schemas.microsoft.com/office/drawing/2014/main" xmlns="" id="{AF789A84-B899-484F-ADA6-1B784064DB8A}"/>
                </a:ext>
              </a:extLst>
            </p:cNvPr>
            <p:cNvGrpSpPr/>
            <p:nvPr userDrawn="1"/>
          </p:nvGrpSpPr>
          <p:grpSpPr>
            <a:xfrm>
              <a:off x="6280305" y="1450891"/>
              <a:ext cx="477626" cy="918140"/>
              <a:chOff x="5304862" y="-789923"/>
              <a:chExt cx="645890" cy="1241591"/>
            </a:xfrm>
          </p:grpSpPr>
          <p:grpSp>
            <p:nvGrpSpPr>
              <p:cNvPr id="9" name="그룹 8">
                <a:extLst>
                  <a:ext uri="{FF2B5EF4-FFF2-40B4-BE49-F238E27FC236}">
                    <a16:creationId xmlns:a16="http://schemas.microsoft.com/office/drawing/2014/main" xmlns="" id="{6DDA03B1-B885-4EB8-9AC5-617A33E28AA0}"/>
                  </a:ext>
                </a:extLst>
              </p:cNvPr>
              <p:cNvGrpSpPr/>
              <p:nvPr userDrawn="1"/>
            </p:nvGrpSpPr>
            <p:grpSpPr>
              <a:xfrm>
                <a:off x="5377232" y="-789923"/>
                <a:ext cx="495969" cy="1052585"/>
                <a:chOff x="5868144" y="-857099"/>
                <a:chExt cx="495969" cy="1052585"/>
              </a:xfrm>
            </p:grpSpPr>
            <p:sp>
              <p:nvSpPr>
                <p:cNvPr id="16" name="이등변 삼각형 49">
                  <a:extLst>
                    <a:ext uri="{FF2B5EF4-FFF2-40B4-BE49-F238E27FC236}">
                      <a16:creationId xmlns:a16="http://schemas.microsoft.com/office/drawing/2014/main" xmlns="" id="{50824863-8B90-4264-9AEB-19AE04C9A70D}"/>
                    </a:ext>
                  </a:extLst>
                </p:cNvPr>
                <p:cNvSpPr/>
                <p:nvPr userDrawn="1"/>
              </p:nvSpPr>
              <p:spPr>
                <a:xfrm>
                  <a:off x="5868144" y="-853769"/>
                  <a:ext cx="495969" cy="1049255"/>
                </a:xfrm>
                <a:custGeom>
                  <a:avLst/>
                  <a:gdLst>
                    <a:gd name="connsiteX0" fmla="*/ 0 w 311344"/>
                    <a:gd name="connsiteY0" fmla="*/ 1049255 h 1049255"/>
                    <a:gd name="connsiteX1" fmla="*/ 155672 w 311344"/>
                    <a:gd name="connsiteY1" fmla="*/ 0 h 1049255"/>
                    <a:gd name="connsiteX2" fmla="*/ 311344 w 311344"/>
                    <a:gd name="connsiteY2" fmla="*/ 1049255 h 1049255"/>
                    <a:gd name="connsiteX3" fmla="*/ 0 w 311344"/>
                    <a:gd name="connsiteY3" fmla="*/ 1049255 h 1049255"/>
                    <a:gd name="connsiteX0" fmla="*/ 45684 w 357028"/>
                    <a:gd name="connsiteY0" fmla="*/ 1049255 h 1049255"/>
                    <a:gd name="connsiteX1" fmla="*/ 201356 w 357028"/>
                    <a:gd name="connsiteY1" fmla="*/ 0 h 1049255"/>
                    <a:gd name="connsiteX2" fmla="*/ 357028 w 357028"/>
                    <a:gd name="connsiteY2" fmla="*/ 1049255 h 1049255"/>
                    <a:gd name="connsiteX3" fmla="*/ 45684 w 357028"/>
                    <a:gd name="connsiteY3" fmla="*/ 1049255 h 1049255"/>
                    <a:gd name="connsiteX0" fmla="*/ 45684 w 416158"/>
                    <a:gd name="connsiteY0" fmla="*/ 1049255 h 1049255"/>
                    <a:gd name="connsiteX1" fmla="*/ 201356 w 416158"/>
                    <a:gd name="connsiteY1" fmla="*/ 0 h 1049255"/>
                    <a:gd name="connsiteX2" fmla="*/ 357028 w 416158"/>
                    <a:gd name="connsiteY2" fmla="*/ 1049255 h 1049255"/>
                    <a:gd name="connsiteX3" fmla="*/ 45684 w 416158"/>
                    <a:gd name="connsiteY3" fmla="*/ 1049255 h 1049255"/>
                    <a:gd name="connsiteX0" fmla="*/ 87161 w 457635"/>
                    <a:gd name="connsiteY0" fmla="*/ 1049255 h 1049255"/>
                    <a:gd name="connsiteX1" fmla="*/ 242833 w 457635"/>
                    <a:gd name="connsiteY1" fmla="*/ 0 h 1049255"/>
                    <a:gd name="connsiteX2" fmla="*/ 398505 w 457635"/>
                    <a:gd name="connsiteY2" fmla="*/ 1049255 h 1049255"/>
                    <a:gd name="connsiteX3" fmla="*/ 87161 w 457635"/>
                    <a:gd name="connsiteY3" fmla="*/ 1049255 h 1049255"/>
                    <a:gd name="connsiteX0" fmla="*/ 87161 w 500627"/>
                    <a:gd name="connsiteY0" fmla="*/ 1049255 h 1049255"/>
                    <a:gd name="connsiteX1" fmla="*/ 242833 w 500627"/>
                    <a:gd name="connsiteY1" fmla="*/ 0 h 1049255"/>
                    <a:gd name="connsiteX2" fmla="*/ 398505 w 500627"/>
                    <a:gd name="connsiteY2" fmla="*/ 1049255 h 1049255"/>
                    <a:gd name="connsiteX3" fmla="*/ 87161 w 500627"/>
                    <a:gd name="connsiteY3" fmla="*/ 1049255 h 1049255"/>
                    <a:gd name="connsiteX0" fmla="*/ 91187 w 504653"/>
                    <a:gd name="connsiteY0" fmla="*/ 1049255 h 1049255"/>
                    <a:gd name="connsiteX1" fmla="*/ 246859 w 504653"/>
                    <a:gd name="connsiteY1" fmla="*/ 0 h 1049255"/>
                    <a:gd name="connsiteX2" fmla="*/ 402531 w 504653"/>
                    <a:gd name="connsiteY2" fmla="*/ 1049255 h 1049255"/>
                    <a:gd name="connsiteX3" fmla="*/ 91187 w 504653"/>
                    <a:gd name="connsiteY3" fmla="*/ 1049255 h 1049255"/>
                    <a:gd name="connsiteX0" fmla="*/ 91187 w 500775"/>
                    <a:gd name="connsiteY0" fmla="*/ 1049255 h 1049255"/>
                    <a:gd name="connsiteX1" fmla="*/ 246859 w 500775"/>
                    <a:gd name="connsiteY1" fmla="*/ 0 h 1049255"/>
                    <a:gd name="connsiteX2" fmla="*/ 402531 w 500775"/>
                    <a:gd name="connsiteY2" fmla="*/ 1049255 h 1049255"/>
                    <a:gd name="connsiteX3" fmla="*/ 91187 w 500775"/>
                    <a:gd name="connsiteY3" fmla="*/ 1049255 h 1049255"/>
                    <a:gd name="connsiteX0" fmla="*/ 91187 w 484758"/>
                    <a:gd name="connsiteY0" fmla="*/ 1049255 h 1049255"/>
                    <a:gd name="connsiteX1" fmla="*/ 246859 w 484758"/>
                    <a:gd name="connsiteY1" fmla="*/ 0 h 1049255"/>
                    <a:gd name="connsiteX2" fmla="*/ 402531 w 484758"/>
                    <a:gd name="connsiteY2" fmla="*/ 1049255 h 1049255"/>
                    <a:gd name="connsiteX3" fmla="*/ 91187 w 484758"/>
                    <a:gd name="connsiteY3" fmla="*/ 1049255 h 1049255"/>
                    <a:gd name="connsiteX0" fmla="*/ 91187 w 488692"/>
                    <a:gd name="connsiteY0" fmla="*/ 1049255 h 1049255"/>
                    <a:gd name="connsiteX1" fmla="*/ 246859 w 488692"/>
                    <a:gd name="connsiteY1" fmla="*/ 0 h 1049255"/>
                    <a:gd name="connsiteX2" fmla="*/ 402531 w 488692"/>
                    <a:gd name="connsiteY2" fmla="*/ 1049255 h 1049255"/>
                    <a:gd name="connsiteX3" fmla="*/ 91187 w 488692"/>
                    <a:gd name="connsiteY3" fmla="*/ 1049255 h 1049255"/>
                    <a:gd name="connsiteX0" fmla="*/ 91187 w 492707"/>
                    <a:gd name="connsiteY0" fmla="*/ 1049255 h 1049255"/>
                    <a:gd name="connsiteX1" fmla="*/ 246859 w 492707"/>
                    <a:gd name="connsiteY1" fmla="*/ 0 h 1049255"/>
                    <a:gd name="connsiteX2" fmla="*/ 402531 w 492707"/>
                    <a:gd name="connsiteY2" fmla="*/ 1049255 h 1049255"/>
                    <a:gd name="connsiteX3" fmla="*/ 91187 w 492707"/>
                    <a:gd name="connsiteY3" fmla="*/ 1049255 h 1049255"/>
                    <a:gd name="connsiteX0" fmla="*/ 95257 w 496777"/>
                    <a:gd name="connsiteY0" fmla="*/ 1049255 h 1049255"/>
                    <a:gd name="connsiteX1" fmla="*/ 250929 w 496777"/>
                    <a:gd name="connsiteY1" fmla="*/ 0 h 1049255"/>
                    <a:gd name="connsiteX2" fmla="*/ 406601 w 496777"/>
                    <a:gd name="connsiteY2" fmla="*/ 1049255 h 1049255"/>
                    <a:gd name="connsiteX3" fmla="*/ 95257 w 496777"/>
                    <a:gd name="connsiteY3" fmla="*/ 1049255 h 1049255"/>
                    <a:gd name="connsiteX0" fmla="*/ 95257 w 485293"/>
                    <a:gd name="connsiteY0" fmla="*/ 1049255 h 1049255"/>
                    <a:gd name="connsiteX1" fmla="*/ 250929 w 485293"/>
                    <a:gd name="connsiteY1" fmla="*/ 0 h 1049255"/>
                    <a:gd name="connsiteX2" fmla="*/ 406601 w 485293"/>
                    <a:gd name="connsiteY2" fmla="*/ 1049255 h 1049255"/>
                    <a:gd name="connsiteX3" fmla="*/ 95257 w 485293"/>
                    <a:gd name="connsiteY3" fmla="*/ 1049255 h 1049255"/>
                    <a:gd name="connsiteX0" fmla="*/ 95257 w 494828"/>
                    <a:gd name="connsiteY0" fmla="*/ 1049255 h 1049255"/>
                    <a:gd name="connsiteX1" fmla="*/ 250929 w 494828"/>
                    <a:gd name="connsiteY1" fmla="*/ 0 h 1049255"/>
                    <a:gd name="connsiteX2" fmla="*/ 406601 w 494828"/>
                    <a:gd name="connsiteY2" fmla="*/ 1049255 h 1049255"/>
                    <a:gd name="connsiteX3" fmla="*/ 95257 w 494828"/>
                    <a:gd name="connsiteY3" fmla="*/ 1049255 h 1049255"/>
                    <a:gd name="connsiteX0" fmla="*/ 95257 w 493814"/>
                    <a:gd name="connsiteY0" fmla="*/ 1049255 h 1049255"/>
                    <a:gd name="connsiteX1" fmla="*/ 250929 w 493814"/>
                    <a:gd name="connsiteY1" fmla="*/ 0 h 1049255"/>
                    <a:gd name="connsiteX2" fmla="*/ 406601 w 493814"/>
                    <a:gd name="connsiteY2" fmla="*/ 1049255 h 1049255"/>
                    <a:gd name="connsiteX3" fmla="*/ 95257 w 493814"/>
                    <a:gd name="connsiteY3" fmla="*/ 1049255 h 1049255"/>
                    <a:gd name="connsiteX0" fmla="*/ 95257 w 496864"/>
                    <a:gd name="connsiteY0" fmla="*/ 1049255 h 1049255"/>
                    <a:gd name="connsiteX1" fmla="*/ 250929 w 496864"/>
                    <a:gd name="connsiteY1" fmla="*/ 0 h 1049255"/>
                    <a:gd name="connsiteX2" fmla="*/ 406601 w 496864"/>
                    <a:gd name="connsiteY2" fmla="*/ 1049255 h 1049255"/>
                    <a:gd name="connsiteX3" fmla="*/ 95257 w 496864"/>
                    <a:gd name="connsiteY3" fmla="*/ 1049255 h 1049255"/>
                    <a:gd name="connsiteX0" fmla="*/ 95257 w 497887"/>
                    <a:gd name="connsiteY0" fmla="*/ 1049255 h 1049255"/>
                    <a:gd name="connsiteX1" fmla="*/ 250929 w 497887"/>
                    <a:gd name="connsiteY1" fmla="*/ 0 h 1049255"/>
                    <a:gd name="connsiteX2" fmla="*/ 406601 w 497887"/>
                    <a:gd name="connsiteY2" fmla="*/ 1049255 h 1049255"/>
                    <a:gd name="connsiteX3" fmla="*/ 95257 w 497887"/>
                    <a:gd name="connsiteY3" fmla="*/ 1049255 h 1049255"/>
                    <a:gd name="connsiteX0" fmla="*/ 95257 w 495969"/>
                    <a:gd name="connsiteY0" fmla="*/ 1049255 h 1049255"/>
                    <a:gd name="connsiteX1" fmla="*/ 250929 w 495969"/>
                    <a:gd name="connsiteY1" fmla="*/ 0 h 1049255"/>
                    <a:gd name="connsiteX2" fmla="*/ 406601 w 495969"/>
                    <a:gd name="connsiteY2" fmla="*/ 1049255 h 1049255"/>
                    <a:gd name="connsiteX3" fmla="*/ 95257 w 495969"/>
                    <a:gd name="connsiteY3" fmla="*/ 1049255 h 1049255"/>
                  </a:gdLst>
                  <a:ahLst/>
                  <a:cxnLst>
                    <a:cxn ang="0">
                      <a:pos x="connsiteX0" y="connsiteY0"/>
                    </a:cxn>
                    <a:cxn ang="0">
                      <a:pos x="connsiteX1" y="connsiteY1"/>
                    </a:cxn>
                    <a:cxn ang="0">
                      <a:pos x="connsiteX2" y="connsiteY2"/>
                    </a:cxn>
                    <a:cxn ang="0">
                      <a:pos x="connsiteX3" y="connsiteY3"/>
                    </a:cxn>
                  </a:cxnLst>
                  <a:rect l="l" t="t" r="r" b="b"/>
                  <a:pathLst>
                    <a:path w="495969" h="1049255">
                      <a:moveTo>
                        <a:pt x="95257" y="1049255"/>
                      </a:moveTo>
                      <a:cubicBezTo>
                        <a:pt x="6676" y="723357"/>
                        <a:pt x="-121664" y="317947"/>
                        <a:pt x="250929" y="0"/>
                      </a:cubicBezTo>
                      <a:cubicBezTo>
                        <a:pt x="612920" y="328549"/>
                        <a:pt x="489882" y="781667"/>
                        <a:pt x="406601" y="1049255"/>
                      </a:cubicBezTo>
                      <a:lnTo>
                        <a:pt x="95257" y="1049255"/>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 name="자유형: 도형 16">
                  <a:extLst>
                    <a:ext uri="{FF2B5EF4-FFF2-40B4-BE49-F238E27FC236}">
                      <a16:creationId xmlns:a16="http://schemas.microsoft.com/office/drawing/2014/main" xmlns="" id="{3B003EFC-13D2-4BB4-8625-D6DD1D26689C}"/>
                    </a:ext>
                  </a:extLst>
                </p:cNvPr>
                <p:cNvSpPr/>
                <p:nvPr userDrawn="1"/>
              </p:nvSpPr>
              <p:spPr>
                <a:xfrm>
                  <a:off x="5939427" y="102551"/>
                  <a:ext cx="364003" cy="92935"/>
                </a:xfrm>
                <a:custGeom>
                  <a:avLst/>
                  <a:gdLst>
                    <a:gd name="connsiteX0" fmla="*/ 0 w 364003"/>
                    <a:gd name="connsiteY0" fmla="*/ 0 h 92935"/>
                    <a:gd name="connsiteX1" fmla="*/ 364003 w 364003"/>
                    <a:gd name="connsiteY1" fmla="*/ 0 h 92935"/>
                    <a:gd name="connsiteX2" fmla="*/ 336518 w 364003"/>
                    <a:gd name="connsiteY2" fmla="*/ 92935 h 92935"/>
                    <a:gd name="connsiteX3" fmla="*/ 25174 w 364003"/>
                    <a:gd name="connsiteY3" fmla="*/ 92935 h 92935"/>
                  </a:gdLst>
                  <a:ahLst/>
                  <a:cxnLst>
                    <a:cxn ang="0">
                      <a:pos x="connsiteX0" y="connsiteY0"/>
                    </a:cxn>
                    <a:cxn ang="0">
                      <a:pos x="connsiteX1" y="connsiteY1"/>
                    </a:cxn>
                    <a:cxn ang="0">
                      <a:pos x="connsiteX2" y="connsiteY2"/>
                    </a:cxn>
                    <a:cxn ang="0">
                      <a:pos x="connsiteX3" y="connsiteY3"/>
                    </a:cxn>
                  </a:cxnLst>
                  <a:rect l="l" t="t" r="r" b="b"/>
                  <a:pathLst>
                    <a:path w="364003" h="92935">
                      <a:moveTo>
                        <a:pt x="0" y="0"/>
                      </a:moveTo>
                      <a:lnTo>
                        <a:pt x="364003" y="0"/>
                      </a:lnTo>
                      <a:lnTo>
                        <a:pt x="336518" y="92935"/>
                      </a:lnTo>
                      <a:lnTo>
                        <a:pt x="25174" y="92935"/>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자유형: 도형 17">
                  <a:extLst>
                    <a:ext uri="{FF2B5EF4-FFF2-40B4-BE49-F238E27FC236}">
                      <a16:creationId xmlns:a16="http://schemas.microsoft.com/office/drawing/2014/main" xmlns="" id="{639551A5-A416-4935-A4CA-A8FCF74BAE6A}"/>
                    </a:ext>
                  </a:extLst>
                </p:cNvPr>
                <p:cNvSpPr/>
                <p:nvPr userDrawn="1"/>
              </p:nvSpPr>
              <p:spPr>
                <a:xfrm>
                  <a:off x="5893989" y="-857099"/>
                  <a:ext cx="444279" cy="350537"/>
                </a:xfrm>
                <a:custGeom>
                  <a:avLst/>
                  <a:gdLst>
                    <a:gd name="connsiteX0" fmla="*/ 227272 w 444279"/>
                    <a:gd name="connsiteY0" fmla="*/ 0 h 350537"/>
                    <a:gd name="connsiteX1" fmla="*/ 440556 w 444279"/>
                    <a:gd name="connsiteY1" fmla="*/ 335046 h 350537"/>
                    <a:gd name="connsiteX2" fmla="*/ 444279 w 444279"/>
                    <a:gd name="connsiteY2" fmla="*/ 350537 h 350537"/>
                    <a:gd name="connsiteX3" fmla="*/ 0 w 444279"/>
                    <a:gd name="connsiteY3" fmla="*/ 350537 h 350537"/>
                    <a:gd name="connsiteX4" fmla="*/ 8223 w 444279"/>
                    <a:gd name="connsiteY4" fmla="*/ 318604 h 350537"/>
                    <a:gd name="connsiteX5" fmla="*/ 227272 w 444279"/>
                    <a:gd name="connsiteY5" fmla="*/ 0 h 350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4279" h="350537">
                      <a:moveTo>
                        <a:pt x="227272" y="0"/>
                      </a:moveTo>
                      <a:cubicBezTo>
                        <a:pt x="340394" y="102672"/>
                        <a:pt x="406151" y="217508"/>
                        <a:pt x="440556" y="335046"/>
                      </a:cubicBezTo>
                      <a:lnTo>
                        <a:pt x="444279" y="350537"/>
                      </a:lnTo>
                      <a:lnTo>
                        <a:pt x="0" y="350537"/>
                      </a:lnTo>
                      <a:lnTo>
                        <a:pt x="8223" y="318604"/>
                      </a:lnTo>
                      <a:cubicBezTo>
                        <a:pt x="43321" y="207258"/>
                        <a:pt x="110837" y="99358"/>
                        <a:pt x="227272"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2" name="타원 11">
                <a:extLst>
                  <a:ext uri="{FF2B5EF4-FFF2-40B4-BE49-F238E27FC236}">
                    <a16:creationId xmlns:a16="http://schemas.microsoft.com/office/drawing/2014/main" xmlns="" id="{A0F64586-2454-49D0-905D-B01E2B155554}"/>
                  </a:ext>
                </a:extLst>
              </p:cNvPr>
              <p:cNvSpPr/>
              <p:nvPr userDrawn="1"/>
            </p:nvSpPr>
            <p:spPr>
              <a:xfrm>
                <a:off x="5535216" y="-351600"/>
                <a:ext cx="180000" cy="180000"/>
              </a:xfrm>
              <a:prstGeom prst="ellipse">
                <a:avLst/>
              </a:prstGeom>
              <a:solidFill>
                <a:schemeClr val="bg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xmlns="" id="{90010C14-1AD7-40EC-9EFB-091EB548BC40}"/>
                  </a:ext>
                </a:extLst>
              </p:cNvPr>
              <p:cNvSpPr/>
              <p:nvPr userDrawn="1"/>
            </p:nvSpPr>
            <p:spPr>
              <a:xfrm flipH="1">
                <a:off x="5614416" y="6445"/>
                <a:ext cx="21600" cy="432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자유형: 도형 13">
                <a:extLst>
                  <a:ext uri="{FF2B5EF4-FFF2-40B4-BE49-F238E27FC236}">
                    <a16:creationId xmlns:a16="http://schemas.microsoft.com/office/drawing/2014/main" xmlns="" id="{54B0A336-7C2F-4F98-ABF5-299D91E12C13}"/>
                  </a:ext>
                </a:extLst>
              </p:cNvPr>
              <p:cNvSpPr/>
              <p:nvPr userDrawn="1"/>
            </p:nvSpPr>
            <p:spPr>
              <a:xfrm>
                <a:off x="5304862" y="-1556"/>
                <a:ext cx="143653" cy="453224"/>
              </a:xfrm>
              <a:custGeom>
                <a:avLst/>
                <a:gdLst>
                  <a:gd name="connsiteX0" fmla="*/ 71561 w 116619"/>
                  <a:gd name="connsiteY0" fmla="*/ 0 h 453224"/>
                  <a:gd name="connsiteX1" fmla="*/ 116619 w 116619"/>
                  <a:gd name="connsiteY1" fmla="*/ 145774 h 453224"/>
                  <a:gd name="connsiteX2" fmla="*/ 0 w 116619"/>
                  <a:gd name="connsiteY2" fmla="*/ 453224 h 453224"/>
                  <a:gd name="connsiteX3" fmla="*/ 71561 w 116619"/>
                  <a:gd name="connsiteY3" fmla="*/ 0 h 453224"/>
                  <a:gd name="connsiteX0" fmla="*/ 78782 w 123840"/>
                  <a:gd name="connsiteY0" fmla="*/ 0 h 453224"/>
                  <a:gd name="connsiteX1" fmla="*/ 123840 w 123840"/>
                  <a:gd name="connsiteY1" fmla="*/ 145774 h 453224"/>
                  <a:gd name="connsiteX2" fmla="*/ 7221 w 123840"/>
                  <a:gd name="connsiteY2" fmla="*/ 453224 h 453224"/>
                  <a:gd name="connsiteX3" fmla="*/ 78782 w 123840"/>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5845 w 140903"/>
                  <a:gd name="connsiteY0" fmla="*/ 0 h 453224"/>
                  <a:gd name="connsiteX1" fmla="*/ 140903 w 140903"/>
                  <a:gd name="connsiteY1" fmla="*/ 145774 h 453224"/>
                  <a:gd name="connsiteX2" fmla="*/ 24284 w 140903"/>
                  <a:gd name="connsiteY2" fmla="*/ 453224 h 453224"/>
                  <a:gd name="connsiteX3" fmla="*/ 95845 w 140903"/>
                  <a:gd name="connsiteY3" fmla="*/ 0 h 453224"/>
                  <a:gd name="connsiteX0" fmla="*/ 98595 w 143653"/>
                  <a:gd name="connsiteY0" fmla="*/ 0 h 453224"/>
                  <a:gd name="connsiteX1" fmla="*/ 143653 w 143653"/>
                  <a:gd name="connsiteY1" fmla="*/ 145774 h 453224"/>
                  <a:gd name="connsiteX2" fmla="*/ 27034 w 143653"/>
                  <a:gd name="connsiteY2" fmla="*/ 453224 h 453224"/>
                  <a:gd name="connsiteX3" fmla="*/ 98595 w 143653"/>
                  <a:gd name="connsiteY3" fmla="*/ 0 h 453224"/>
                </a:gdLst>
                <a:ahLst/>
                <a:cxnLst>
                  <a:cxn ang="0">
                    <a:pos x="connsiteX0" y="connsiteY0"/>
                  </a:cxn>
                  <a:cxn ang="0">
                    <a:pos x="connsiteX1" y="connsiteY1"/>
                  </a:cxn>
                  <a:cxn ang="0">
                    <a:pos x="connsiteX2" y="connsiteY2"/>
                  </a:cxn>
                  <a:cxn ang="0">
                    <a:pos x="connsiteX3" y="connsiteY3"/>
                  </a:cxn>
                </a:cxnLst>
                <a:rect l="l" t="t" r="r" b="b"/>
                <a:pathLst>
                  <a:path w="143653" h="453224">
                    <a:moveTo>
                      <a:pt x="98595" y="0"/>
                    </a:moveTo>
                    <a:lnTo>
                      <a:pt x="143653" y="145774"/>
                    </a:lnTo>
                    <a:cubicBezTo>
                      <a:pt x="38518" y="232356"/>
                      <a:pt x="50005" y="387847"/>
                      <a:pt x="27034" y="453224"/>
                    </a:cubicBezTo>
                    <a:cubicBezTo>
                      <a:pt x="5831" y="365759"/>
                      <a:pt x="-47179" y="100716"/>
                      <a:pt x="98595"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자유형: 도형 14">
                <a:extLst>
                  <a:ext uri="{FF2B5EF4-FFF2-40B4-BE49-F238E27FC236}">
                    <a16:creationId xmlns:a16="http://schemas.microsoft.com/office/drawing/2014/main" xmlns="" id="{2528A48D-D724-4DF8-B31C-D26E111E5960}"/>
                  </a:ext>
                </a:extLst>
              </p:cNvPr>
              <p:cNvSpPr/>
              <p:nvPr userDrawn="1"/>
            </p:nvSpPr>
            <p:spPr>
              <a:xfrm flipH="1">
                <a:off x="5807099" y="-1556"/>
                <a:ext cx="143653" cy="453224"/>
              </a:xfrm>
              <a:custGeom>
                <a:avLst/>
                <a:gdLst>
                  <a:gd name="connsiteX0" fmla="*/ 71561 w 116619"/>
                  <a:gd name="connsiteY0" fmla="*/ 0 h 453224"/>
                  <a:gd name="connsiteX1" fmla="*/ 116619 w 116619"/>
                  <a:gd name="connsiteY1" fmla="*/ 145774 h 453224"/>
                  <a:gd name="connsiteX2" fmla="*/ 0 w 116619"/>
                  <a:gd name="connsiteY2" fmla="*/ 453224 h 453224"/>
                  <a:gd name="connsiteX3" fmla="*/ 71561 w 116619"/>
                  <a:gd name="connsiteY3" fmla="*/ 0 h 453224"/>
                  <a:gd name="connsiteX0" fmla="*/ 78782 w 123840"/>
                  <a:gd name="connsiteY0" fmla="*/ 0 h 453224"/>
                  <a:gd name="connsiteX1" fmla="*/ 123840 w 123840"/>
                  <a:gd name="connsiteY1" fmla="*/ 145774 h 453224"/>
                  <a:gd name="connsiteX2" fmla="*/ 7221 w 123840"/>
                  <a:gd name="connsiteY2" fmla="*/ 453224 h 453224"/>
                  <a:gd name="connsiteX3" fmla="*/ 78782 w 123840"/>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5845 w 140903"/>
                  <a:gd name="connsiteY0" fmla="*/ 0 h 453224"/>
                  <a:gd name="connsiteX1" fmla="*/ 140903 w 140903"/>
                  <a:gd name="connsiteY1" fmla="*/ 145774 h 453224"/>
                  <a:gd name="connsiteX2" fmla="*/ 24284 w 140903"/>
                  <a:gd name="connsiteY2" fmla="*/ 453224 h 453224"/>
                  <a:gd name="connsiteX3" fmla="*/ 95845 w 140903"/>
                  <a:gd name="connsiteY3" fmla="*/ 0 h 453224"/>
                  <a:gd name="connsiteX0" fmla="*/ 98595 w 143653"/>
                  <a:gd name="connsiteY0" fmla="*/ 0 h 453224"/>
                  <a:gd name="connsiteX1" fmla="*/ 143653 w 143653"/>
                  <a:gd name="connsiteY1" fmla="*/ 145774 h 453224"/>
                  <a:gd name="connsiteX2" fmla="*/ 27034 w 143653"/>
                  <a:gd name="connsiteY2" fmla="*/ 453224 h 453224"/>
                  <a:gd name="connsiteX3" fmla="*/ 98595 w 143653"/>
                  <a:gd name="connsiteY3" fmla="*/ 0 h 453224"/>
                </a:gdLst>
                <a:ahLst/>
                <a:cxnLst>
                  <a:cxn ang="0">
                    <a:pos x="connsiteX0" y="connsiteY0"/>
                  </a:cxn>
                  <a:cxn ang="0">
                    <a:pos x="connsiteX1" y="connsiteY1"/>
                  </a:cxn>
                  <a:cxn ang="0">
                    <a:pos x="connsiteX2" y="connsiteY2"/>
                  </a:cxn>
                  <a:cxn ang="0">
                    <a:pos x="connsiteX3" y="connsiteY3"/>
                  </a:cxn>
                </a:cxnLst>
                <a:rect l="l" t="t" r="r" b="b"/>
                <a:pathLst>
                  <a:path w="143653" h="453224">
                    <a:moveTo>
                      <a:pt x="98595" y="0"/>
                    </a:moveTo>
                    <a:lnTo>
                      <a:pt x="143653" y="145774"/>
                    </a:lnTo>
                    <a:cubicBezTo>
                      <a:pt x="38518" y="232356"/>
                      <a:pt x="50005" y="387847"/>
                      <a:pt x="27034" y="453224"/>
                    </a:cubicBezTo>
                    <a:cubicBezTo>
                      <a:pt x="5831" y="365759"/>
                      <a:pt x="-47179" y="100716"/>
                      <a:pt x="98595"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2" name="Rectangle 1"/>
          <p:cNvSpPr/>
          <p:nvPr userDrawn="1"/>
        </p:nvSpPr>
        <p:spPr>
          <a:xfrm>
            <a:off x="3851920" y="1895103"/>
            <a:ext cx="5292080" cy="13681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 Placeholder 9"/>
          <p:cNvSpPr>
            <a:spLocks noGrp="1"/>
          </p:cNvSpPr>
          <p:nvPr>
            <p:ph type="body" sz="quarter" idx="10" hasCustomPrompt="1"/>
          </p:nvPr>
        </p:nvSpPr>
        <p:spPr>
          <a:xfrm>
            <a:off x="4125084" y="2154560"/>
            <a:ext cx="5018916"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SECTION BREAK</a:t>
            </a:r>
          </a:p>
        </p:txBody>
      </p:sp>
      <p:sp>
        <p:nvSpPr>
          <p:cNvPr id="11" name="Text Placeholder 9"/>
          <p:cNvSpPr>
            <a:spLocks noGrp="1"/>
          </p:cNvSpPr>
          <p:nvPr>
            <p:ph type="body" sz="quarter" idx="11" hasCustomPrompt="1"/>
          </p:nvPr>
        </p:nvSpPr>
        <p:spPr>
          <a:xfrm>
            <a:off x="4125084" y="2730624"/>
            <a:ext cx="5018916"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1738235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3B3B"/>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555548"/>
      </p:ext>
    </p:extLst>
  </p:cSld>
  <p:clrMap bg1="lt1" tx1="dk1" bg2="lt2" tx2="dk2" accent1="accent1" accent2="accent2" accent3="accent3" accent4="accent4" accent5="accent5" accent6="accent6" hlink="hlink" folHlink="folHlink"/>
  <p:sldLayoutIdLst>
    <p:sldLayoutId id="2147483659" r:id="rId1"/>
    <p:sldLayoutId id="2147483652" r:id="rId2"/>
    <p:sldLayoutId id="2147483660" r:id="rId3"/>
    <p:sldLayoutId id="2147483661" r:id="rId4"/>
    <p:sldLayoutId id="2147483662" r:id="rId5"/>
    <p:sldLayoutId id="2147483663" r:id="rId6"/>
    <p:sldLayoutId id="2147483664" r:id="rId7"/>
    <p:sldLayoutId id="2147483666" r:id="rId8"/>
    <p:sldLayoutId id="2147483667" r:id="rId9"/>
    <p:sldLayoutId id="2147483668" r:id="rId10"/>
    <p:sldLayoutId id="2147483669" r:id="rId11"/>
    <p:sldLayoutId id="2147483670" r:id="rId12"/>
    <p:sldLayoutId id="2147483671" r:id="rId13"/>
    <p:sldLayoutId id="2147483665" r:id="rId14"/>
    <p:sldLayoutId id="2147483672" r:id="rId15"/>
    <p:sldLayoutId id="2147483656" r:id="rId16"/>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3B3B"/>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4710703"/>
      </p:ext>
    </p:extLst>
  </p:cSld>
  <p:clrMap bg1="lt1" tx1="dk1" bg2="lt2" tx2="dk2" accent1="accent1" accent2="accent2" accent3="accent3" accent4="accent4" accent5="accent5" accent6="accent6" hlink="hlink" folHlink="folHlink"/>
  <p:sldLayoutIdLst>
    <p:sldLayoutId id="2147483654" r:id="rId1"/>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7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99231" y="267494"/>
            <a:ext cx="7543275" cy="1015663"/>
          </a:xfrm>
          <a:prstGeom prst="rect">
            <a:avLst/>
          </a:prstGeom>
          <a:noFill/>
        </p:spPr>
        <p:txBody>
          <a:bodyPr wrap="square" rtlCol="0">
            <a:spAutoFit/>
          </a:bodyPr>
          <a:lstStyle/>
          <a:p>
            <a:r>
              <a:rPr lang="en-US" sz="6000" b="1" dirty="0">
                <a:solidFill>
                  <a:schemeClr val="bg1"/>
                </a:solidFill>
              </a:rPr>
              <a:t>Starting a Business</a:t>
            </a:r>
          </a:p>
        </p:txBody>
      </p:sp>
      <p:sp>
        <p:nvSpPr>
          <p:cNvPr id="15" name="Rectangle 14"/>
          <p:cNvSpPr/>
          <p:nvPr/>
        </p:nvSpPr>
        <p:spPr>
          <a:xfrm>
            <a:off x="0" y="4371950"/>
            <a:ext cx="9144000" cy="7715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pic>
        <p:nvPicPr>
          <p:cNvPr id="17" name="Picture 16"/>
          <p:cNvPicPr>
            <a:picLocks noChangeAspect="1"/>
          </p:cNvPicPr>
          <p:nvPr/>
        </p:nvPicPr>
        <p:blipFill>
          <a:blip r:embed="rId2"/>
          <a:stretch>
            <a:fillRect/>
          </a:stretch>
        </p:blipFill>
        <p:spPr>
          <a:xfrm>
            <a:off x="179512" y="4596416"/>
            <a:ext cx="2088232" cy="394626"/>
          </a:xfrm>
          <a:prstGeom prst="rect">
            <a:avLst/>
          </a:prstGeom>
        </p:spPr>
      </p:pic>
      <p:sp>
        <p:nvSpPr>
          <p:cNvPr id="22" name="Rectangle 21"/>
          <p:cNvSpPr/>
          <p:nvPr/>
        </p:nvSpPr>
        <p:spPr>
          <a:xfrm>
            <a:off x="329454" y="1308764"/>
            <a:ext cx="7471546"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aseline="-25000" dirty="0">
              <a:solidFill>
                <a:schemeClr val="tx1">
                  <a:lumMod val="50000"/>
                  <a:lumOff val="50000"/>
                </a:schemeClr>
              </a:solidFill>
            </a:endParaRPr>
          </a:p>
        </p:txBody>
      </p:sp>
      <p:sp>
        <p:nvSpPr>
          <p:cNvPr id="23" name="TextBox 22"/>
          <p:cNvSpPr txBox="1"/>
          <p:nvPr/>
        </p:nvSpPr>
        <p:spPr>
          <a:xfrm>
            <a:off x="251520" y="1418940"/>
            <a:ext cx="3378450" cy="369332"/>
          </a:xfrm>
          <a:prstGeom prst="rect">
            <a:avLst/>
          </a:prstGeom>
          <a:noFill/>
        </p:spPr>
        <p:txBody>
          <a:bodyPr wrap="square" rtlCol="0">
            <a:spAutoFit/>
          </a:bodyPr>
          <a:lstStyle/>
          <a:p>
            <a:r>
              <a:rPr lang="en-US" dirty="0" smtClean="0"/>
              <a:t>Module -3</a:t>
            </a:r>
            <a:endParaRPr lang="en-US" dirty="0"/>
          </a:p>
        </p:txBody>
      </p:sp>
      <p:sp>
        <p:nvSpPr>
          <p:cNvPr id="24" name="Rectangle 23"/>
          <p:cNvSpPr/>
          <p:nvPr/>
        </p:nvSpPr>
        <p:spPr>
          <a:xfrm>
            <a:off x="8183312" y="-638"/>
            <a:ext cx="733381" cy="4948652"/>
          </a:xfrm>
          <a:prstGeom prst="rect">
            <a:avLst/>
          </a:prstGeom>
          <a:solidFill>
            <a:srgbClr val="53D2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59212" y="1292244"/>
            <a:ext cx="5784285" cy="3860343"/>
          </a:xfrm>
          <a:prstGeom prst="rect">
            <a:avLst/>
          </a:prstGeom>
        </p:spPr>
      </p:pic>
    </p:spTree>
    <p:extLst>
      <p:ext uri="{BB962C8B-B14F-4D97-AF65-F5344CB8AC3E}">
        <p14:creationId xmlns:p14="http://schemas.microsoft.com/office/powerpoint/2010/main" val="29718413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print">
            <a:extLst>
              <a:ext uri="{28A0092B-C50C-407E-A947-70E740481C1C}">
                <a14:useLocalDpi xmlns:a14="http://schemas.microsoft.com/office/drawing/2010/main" val="0"/>
              </a:ext>
            </a:extLst>
          </a:blip>
          <a:srcRect t="17371"/>
          <a:stretch/>
        </p:blipFill>
        <p:spPr>
          <a:xfrm>
            <a:off x="-3724" y="-20538"/>
            <a:ext cx="9144000" cy="5164038"/>
          </a:xfrm>
          <a:prstGeom prst="rect">
            <a:avLst/>
          </a:prstGeom>
        </p:spPr>
      </p:pic>
      <p:sp>
        <p:nvSpPr>
          <p:cNvPr id="2" name="Text Placeholder 1"/>
          <p:cNvSpPr>
            <a:spLocks noGrp="1"/>
          </p:cNvSpPr>
          <p:nvPr>
            <p:ph type="body" sz="quarter" idx="4294967295"/>
          </p:nvPr>
        </p:nvSpPr>
        <p:spPr>
          <a:xfrm>
            <a:off x="1907704" y="2211710"/>
            <a:ext cx="4680520" cy="936104"/>
          </a:xfrm>
          <a:prstGeom prst="rect">
            <a:avLst/>
          </a:prstGeom>
        </p:spPr>
        <p:txBody>
          <a:bodyPr/>
          <a:lstStyle/>
          <a:p>
            <a:pPr marL="0" indent="0" algn="ctr">
              <a:buNone/>
            </a:pPr>
            <a:r>
              <a:rPr lang="en-US" altLang="ko-KR" sz="4800" b="1" dirty="0">
                <a:solidFill>
                  <a:srgbClr val="53D2FF"/>
                </a:solidFill>
              </a:rPr>
              <a:t>Welcome!!</a:t>
            </a:r>
            <a:endParaRPr lang="ko-KR" altLang="en-US" sz="4800" b="1" dirty="0">
              <a:solidFill>
                <a:srgbClr val="53D2FF"/>
              </a:solidFill>
            </a:endParaRPr>
          </a:p>
        </p:txBody>
      </p:sp>
    </p:spTree>
    <p:extLst>
      <p:ext uri="{BB962C8B-B14F-4D97-AF65-F5344CB8AC3E}">
        <p14:creationId xmlns:p14="http://schemas.microsoft.com/office/powerpoint/2010/main" val="32394066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Block Arc 14"/>
          <p:cNvSpPr/>
          <p:nvPr/>
        </p:nvSpPr>
        <p:spPr>
          <a:xfrm>
            <a:off x="179511" y="2143048"/>
            <a:ext cx="1217198" cy="1217254"/>
          </a:xfrm>
          <a:custGeom>
            <a:avLst/>
            <a:gdLst/>
            <a:ahLst/>
            <a:cxnLst/>
            <a:rect l="l" t="t" r="r" b="b"/>
            <a:pathLst>
              <a:path w="1217198" h="1217254">
                <a:moveTo>
                  <a:pt x="1172073" y="616019"/>
                </a:moveTo>
                <a:lnTo>
                  <a:pt x="1217198" y="616610"/>
                </a:lnTo>
                <a:cubicBezTo>
                  <a:pt x="1216181" y="694136"/>
                  <a:pt x="1200702" y="768120"/>
                  <a:pt x="1172073" y="835497"/>
                </a:cubicBezTo>
                <a:close/>
                <a:moveTo>
                  <a:pt x="592301" y="223"/>
                </a:moveTo>
                <a:cubicBezTo>
                  <a:pt x="925156" y="-8708"/>
                  <a:pt x="1203399" y="251500"/>
                  <a:pt x="1216760" y="584207"/>
                </a:cubicBezTo>
                <a:lnTo>
                  <a:pt x="1025903" y="591872"/>
                </a:lnTo>
                <a:cubicBezTo>
                  <a:pt x="1016735" y="363582"/>
                  <a:pt x="825816" y="185038"/>
                  <a:pt x="597424" y="191166"/>
                </a:cubicBezTo>
                <a:cubicBezTo>
                  <a:pt x="369033" y="197294"/>
                  <a:pt x="187962" y="385820"/>
                  <a:pt x="191049" y="614273"/>
                </a:cubicBezTo>
                <a:cubicBezTo>
                  <a:pt x="194136" y="842726"/>
                  <a:pt x="380235" y="1026290"/>
                  <a:pt x="608708" y="1026244"/>
                </a:cubicBezTo>
                <a:cubicBezTo>
                  <a:pt x="773320" y="1026211"/>
                  <a:pt x="915896" y="930876"/>
                  <a:pt x="982606" y="791527"/>
                </a:cubicBezTo>
                <a:lnTo>
                  <a:pt x="982606" y="1085471"/>
                </a:lnTo>
                <a:cubicBezTo>
                  <a:pt x="880769" y="1168806"/>
                  <a:pt x="750352" y="1217226"/>
                  <a:pt x="608747" y="1217254"/>
                </a:cubicBezTo>
                <a:cubicBezTo>
                  <a:pt x="275773" y="1217320"/>
                  <a:pt x="4555" y="949797"/>
                  <a:pt x="56" y="616853"/>
                </a:cubicBezTo>
                <a:cubicBezTo>
                  <a:pt x="-4443" y="283909"/>
                  <a:pt x="259446" y="9154"/>
                  <a:pt x="592301" y="223"/>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9" name="Rectangle 18"/>
          <p:cNvSpPr/>
          <p:nvPr/>
        </p:nvSpPr>
        <p:spPr>
          <a:xfrm>
            <a:off x="1207294" y="1561169"/>
            <a:ext cx="189467" cy="1040153"/>
          </a:xfrm>
          <a:custGeom>
            <a:avLst/>
            <a:gdLst>
              <a:gd name="connsiteX0" fmla="*/ 0 w 189467"/>
              <a:gd name="connsiteY0" fmla="*/ 0 h 1080346"/>
              <a:gd name="connsiteX1" fmla="*/ 189467 w 189467"/>
              <a:gd name="connsiteY1" fmla="*/ 0 h 1080346"/>
              <a:gd name="connsiteX2" fmla="*/ 189467 w 189467"/>
              <a:gd name="connsiteY2" fmla="*/ 1080346 h 1080346"/>
              <a:gd name="connsiteX3" fmla="*/ 187528 w 189467"/>
              <a:gd name="connsiteY3" fmla="*/ 1040153 h 1080346"/>
              <a:gd name="connsiteX4" fmla="*/ 0 w 189467"/>
              <a:gd name="connsiteY4" fmla="*/ 674512 h 1080346"/>
              <a:gd name="connsiteX5" fmla="*/ 0 w 189467"/>
              <a:gd name="connsiteY5" fmla="*/ 0 h 1080346"/>
              <a:gd name="connsiteX0" fmla="*/ 0 w 189467"/>
              <a:gd name="connsiteY0" fmla="*/ 0 h 1040153"/>
              <a:gd name="connsiteX1" fmla="*/ 189467 w 189467"/>
              <a:gd name="connsiteY1" fmla="*/ 0 h 1040153"/>
              <a:gd name="connsiteX2" fmla="*/ 187528 w 189467"/>
              <a:gd name="connsiteY2" fmla="*/ 1040153 h 1040153"/>
              <a:gd name="connsiteX3" fmla="*/ 0 w 189467"/>
              <a:gd name="connsiteY3" fmla="*/ 674512 h 1040153"/>
              <a:gd name="connsiteX4" fmla="*/ 0 w 189467"/>
              <a:gd name="connsiteY4" fmla="*/ 0 h 1040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467" h="1040153">
                <a:moveTo>
                  <a:pt x="0" y="0"/>
                </a:moveTo>
                <a:lnTo>
                  <a:pt x="189467" y="0"/>
                </a:lnTo>
                <a:cubicBezTo>
                  <a:pt x="188821" y="346718"/>
                  <a:pt x="188174" y="693435"/>
                  <a:pt x="187528" y="1040153"/>
                </a:cubicBezTo>
                <a:cubicBezTo>
                  <a:pt x="179329" y="879836"/>
                  <a:pt x="108663" y="777233"/>
                  <a:pt x="0" y="674512"/>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3" name="Title 2"/>
          <p:cNvSpPr txBox="1">
            <a:spLocks/>
          </p:cNvSpPr>
          <p:nvPr/>
        </p:nvSpPr>
        <p:spPr>
          <a:xfrm rot="16200000">
            <a:off x="-177068" y="920458"/>
            <a:ext cx="2232249" cy="576064"/>
          </a:xfrm>
          <a:prstGeom prst="rect">
            <a:avLst/>
          </a:prstGeom>
        </p:spPr>
        <p:txBody>
          <a:bodyPr anchor="ctr"/>
          <a:lstStyle>
            <a:lvl1pPr algn="ctr" defTabSz="914400" rtl="0" eaLnBrk="1" latinLnBrk="1" hangingPunct="1">
              <a:spcBef>
                <a:spcPct val="0"/>
              </a:spcBef>
              <a:buNone/>
              <a:defRPr sz="4400" kern="1200">
                <a:solidFill>
                  <a:schemeClr val="tx1"/>
                </a:solidFill>
                <a:latin typeface="+mj-lt"/>
                <a:ea typeface="+mj-ea"/>
                <a:cs typeface="+mj-cs"/>
              </a:defRPr>
            </a:lvl1pPr>
          </a:lstStyle>
          <a:p>
            <a:r>
              <a:rPr lang="en-US" sz="3600" dirty="0" smtClean="0"/>
              <a:t>Outlines</a:t>
            </a:r>
            <a:endParaRPr lang="en-US" sz="3600" dirty="0">
              <a:cs typeface="Arial" pitchFamily="34" charset="0"/>
            </a:endParaRPr>
          </a:p>
        </p:txBody>
      </p:sp>
      <p:sp>
        <p:nvSpPr>
          <p:cNvPr id="7" name="Rectangle 6"/>
          <p:cNvSpPr/>
          <p:nvPr/>
        </p:nvSpPr>
        <p:spPr>
          <a:xfrm>
            <a:off x="1783358" y="240297"/>
            <a:ext cx="6461049"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20" name="Rectangle 19"/>
          <p:cNvSpPr/>
          <p:nvPr/>
        </p:nvSpPr>
        <p:spPr>
          <a:xfrm>
            <a:off x="1207294" y="2703006"/>
            <a:ext cx="189467" cy="24404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34" name="TextBox 33"/>
          <p:cNvSpPr txBox="1"/>
          <p:nvPr/>
        </p:nvSpPr>
        <p:spPr bwMode="auto">
          <a:xfrm>
            <a:off x="1817060" y="208534"/>
            <a:ext cx="5764574" cy="677585"/>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t>The Value of a Business Plan for the Entrepreneur</a:t>
            </a:r>
          </a:p>
          <a:p>
            <a:endParaRPr lang="en-US" dirty="0"/>
          </a:p>
        </p:txBody>
      </p:sp>
      <p:sp>
        <p:nvSpPr>
          <p:cNvPr id="35" name="Rectangle 34"/>
          <p:cNvSpPr/>
          <p:nvPr/>
        </p:nvSpPr>
        <p:spPr>
          <a:xfrm>
            <a:off x="1774435" y="704108"/>
            <a:ext cx="6469972"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42" name="TextBox 41"/>
          <p:cNvSpPr txBox="1"/>
          <p:nvPr/>
        </p:nvSpPr>
        <p:spPr bwMode="auto">
          <a:xfrm>
            <a:off x="1808136" y="672345"/>
            <a:ext cx="5040560" cy="677585"/>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t>How to Write a Business Plan for Your Startup</a:t>
            </a:r>
          </a:p>
          <a:p>
            <a:endParaRPr lang="en-US" dirty="0"/>
          </a:p>
        </p:txBody>
      </p:sp>
      <p:sp>
        <p:nvSpPr>
          <p:cNvPr id="49" name="Rectangle 48"/>
          <p:cNvSpPr/>
          <p:nvPr/>
        </p:nvSpPr>
        <p:spPr>
          <a:xfrm>
            <a:off x="1783358" y="1164458"/>
            <a:ext cx="6461049"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50" name="TextBox 49"/>
          <p:cNvSpPr txBox="1"/>
          <p:nvPr/>
        </p:nvSpPr>
        <p:spPr bwMode="auto">
          <a:xfrm>
            <a:off x="1817060" y="1132695"/>
            <a:ext cx="6931404" cy="387191"/>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t>How to choose your best legal structure to operate in Egypt?</a:t>
            </a:r>
          </a:p>
        </p:txBody>
      </p:sp>
      <p:sp>
        <p:nvSpPr>
          <p:cNvPr id="51" name="Rectangle 50"/>
          <p:cNvSpPr/>
          <p:nvPr/>
        </p:nvSpPr>
        <p:spPr>
          <a:xfrm>
            <a:off x="1774435" y="1656571"/>
            <a:ext cx="6469972"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52" name="TextBox 51"/>
          <p:cNvSpPr txBox="1"/>
          <p:nvPr/>
        </p:nvSpPr>
        <p:spPr bwMode="auto">
          <a:xfrm>
            <a:off x="1808136" y="1624808"/>
            <a:ext cx="5040560" cy="677585"/>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t>Forms of Business Structures in Egypt</a:t>
            </a:r>
          </a:p>
          <a:p>
            <a:endParaRPr lang="en-US" dirty="0"/>
          </a:p>
        </p:txBody>
      </p:sp>
      <p:sp>
        <p:nvSpPr>
          <p:cNvPr id="53" name="Rectangle 52"/>
          <p:cNvSpPr/>
          <p:nvPr/>
        </p:nvSpPr>
        <p:spPr>
          <a:xfrm>
            <a:off x="1774435" y="2156442"/>
            <a:ext cx="6469972"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54" name="TextBox 53"/>
          <p:cNvSpPr txBox="1"/>
          <p:nvPr/>
        </p:nvSpPr>
        <p:spPr bwMode="auto">
          <a:xfrm>
            <a:off x="1808136" y="2124679"/>
            <a:ext cx="5040560" cy="677585"/>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t>Sources of start-up funding</a:t>
            </a:r>
          </a:p>
          <a:p>
            <a:endParaRPr lang="en-US" dirty="0"/>
          </a:p>
        </p:txBody>
      </p:sp>
      <p:sp>
        <p:nvSpPr>
          <p:cNvPr id="55" name="Rectangle 54"/>
          <p:cNvSpPr/>
          <p:nvPr/>
        </p:nvSpPr>
        <p:spPr>
          <a:xfrm>
            <a:off x="1774435" y="2656313"/>
            <a:ext cx="6469972"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56" name="TextBox 55"/>
          <p:cNvSpPr txBox="1"/>
          <p:nvPr/>
        </p:nvSpPr>
        <p:spPr bwMode="auto">
          <a:xfrm>
            <a:off x="1808136" y="2624550"/>
            <a:ext cx="5040560" cy="677585"/>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t>Small Business Grant and Support in Egypt</a:t>
            </a:r>
          </a:p>
          <a:p>
            <a:endParaRPr lang="en-US" dirty="0"/>
          </a:p>
        </p:txBody>
      </p:sp>
      <p:sp>
        <p:nvSpPr>
          <p:cNvPr id="57" name="Rectangle 56"/>
          <p:cNvSpPr/>
          <p:nvPr/>
        </p:nvSpPr>
        <p:spPr>
          <a:xfrm>
            <a:off x="1774435" y="3180761"/>
            <a:ext cx="6469972"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58" name="TextBox 57"/>
          <p:cNvSpPr txBox="1"/>
          <p:nvPr/>
        </p:nvSpPr>
        <p:spPr bwMode="auto">
          <a:xfrm>
            <a:off x="1808084" y="3151877"/>
            <a:ext cx="6292256" cy="677585"/>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t>Ethical practices and social Responsibilities of a business</a:t>
            </a:r>
          </a:p>
          <a:p>
            <a:endParaRPr lang="en-US" dirty="0"/>
          </a:p>
        </p:txBody>
      </p:sp>
      <p:sp>
        <p:nvSpPr>
          <p:cNvPr id="59" name="Rectangle 58"/>
          <p:cNvSpPr/>
          <p:nvPr/>
        </p:nvSpPr>
        <p:spPr>
          <a:xfrm>
            <a:off x="1774435" y="3656055"/>
            <a:ext cx="6469972"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60" name="TextBox 59"/>
          <p:cNvSpPr txBox="1"/>
          <p:nvPr/>
        </p:nvSpPr>
        <p:spPr bwMode="auto">
          <a:xfrm>
            <a:off x="1774435" y="3617025"/>
            <a:ext cx="4741781" cy="677585"/>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t>Exit Strategies for Small Business</a:t>
            </a:r>
          </a:p>
          <a:p>
            <a:endParaRPr lang="en-US" dirty="0"/>
          </a:p>
        </p:txBody>
      </p:sp>
      <p:sp>
        <p:nvSpPr>
          <p:cNvPr id="61" name="Rectangle 60"/>
          <p:cNvSpPr/>
          <p:nvPr/>
        </p:nvSpPr>
        <p:spPr>
          <a:xfrm>
            <a:off x="1783359" y="4155926"/>
            <a:ext cx="6461048"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62" name="TextBox 61"/>
          <p:cNvSpPr txBox="1"/>
          <p:nvPr/>
        </p:nvSpPr>
        <p:spPr bwMode="auto">
          <a:xfrm>
            <a:off x="1783360" y="4108282"/>
            <a:ext cx="5831974" cy="677585"/>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t>How to write an exit strategy for a business plan</a:t>
            </a:r>
          </a:p>
          <a:p>
            <a:endParaRPr lang="en-US" dirty="0"/>
          </a:p>
        </p:txBody>
      </p:sp>
      <p:sp>
        <p:nvSpPr>
          <p:cNvPr id="63" name="Rectangle 62"/>
          <p:cNvSpPr/>
          <p:nvPr/>
        </p:nvSpPr>
        <p:spPr>
          <a:xfrm>
            <a:off x="1783358" y="4608153"/>
            <a:ext cx="6461049"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64" name="TextBox 63"/>
          <p:cNvSpPr txBox="1"/>
          <p:nvPr/>
        </p:nvSpPr>
        <p:spPr bwMode="auto">
          <a:xfrm>
            <a:off x="1763688" y="4558998"/>
            <a:ext cx="5040560" cy="677585"/>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smtClean="0"/>
              <a:t> Assessment - Activity</a:t>
            </a:r>
            <a:endParaRPr lang="en-US" dirty="0"/>
          </a:p>
          <a:p>
            <a:endParaRPr lang="en-US" dirty="0"/>
          </a:p>
        </p:txBody>
      </p:sp>
    </p:spTree>
    <p:extLst>
      <p:ext uri="{BB962C8B-B14F-4D97-AF65-F5344CB8AC3E}">
        <p14:creationId xmlns:p14="http://schemas.microsoft.com/office/powerpoint/2010/main" val="10950559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252536" y="2067694"/>
            <a:ext cx="7416824"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2" name="Text Placeholder 1"/>
          <p:cNvSpPr>
            <a:spLocks noGrp="1"/>
          </p:cNvSpPr>
          <p:nvPr>
            <p:ph type="body" sz="quarter" idx="4294967295"/>
          </p:nvPr>
        </p:nvSpPr>
        <p:spPr>
          <a:xfrm>
            <a:off x="179512" y="843558"/>
            <a:ext cx="9144000" cy="1085053"/>
          </a:xfrm>
          <a:prstGeom prst="rect">
            <a:avLst/>
          </a:prstGeom>
        </p:spPr>
        <p:txBody>
          <a:bodyPr/>
          <a:lstStyle/>
          <a:p>
            <a:pPr marL="0" indent="0">
              <a:spcBef>
                <a:spcPts val="0"/>
              </a:spcBef>
              <a:buNone/>
            </a:pPr>
            <a:r>
              <a:rPr lang="en-US" b="1" dirty="0">
                <a:solidFill>
                  <a:srgbClr val="8FE2FF"/>
                </a:solidFill>
              </a:rPr>
              <a:t>The Value of a Business </a:t>
            </a:r>
            <a:endParaRPr lang="en-US" b="1" dirty="0" smtClean="0">
              <a:solidFill>
                <a:srgbClr val="8FE2FF"/>
              </a:solidFill>
            </a:endParaRPr>
          </a:p>
          <a:p>
            <a:pPr marL="0" indent="0">
              <a:spcBef>
                <a:spcPts val="0"/>
              </a:spcBef>
              <a:buNone/>
            </a:pPr>
            <a:r>
              <a:rPr lang="en-US" b="1" dirty="0" smtClean="0">
                <a:solidFill>
                  <a:srgbClr val="8FE2FF"/>
                </a:solidFill>
              </a:rPr>
              <a:t>Plan </a:t>
            </a:r>
            <a:r>
              <a:rPr lang="en-US" b="1" dirty="0">
                <a:solidFill>
                  <a:srgbClr val="8FE2FF"/>
                </a:solidFill>
              </a:rPr>
              <a:t>for the Entrepreneur</a:t>
            </a:r>
            <a:endParaRPr lang="ko-KR" altLang="en-US" dirty="0">
              <a:solidFill>
                <a:srgbClr val="8FE2FF"/>
              </a:solidFill>
            </a:endParaRPr>
          </a:p>
        </p:txBody>
      </p:sp>
      <p:sp>
        <p:nvSpPr>
          <p:cNvPr id="27" name="TextBox 26"/>
          <p:cNvSpPr txBox="1"/>
          <p:nvPr/>
        </p:nvSpPr>
        <p:spPr>
          <a:xfrm>
            <a:off x="179512" y="2355726"/>
            <a:ext cx="5472608" cy="1631216"/>
          </a:xfrm>
          <a:prstGeom prst="rect">
            <a:avLst/>
          </a:prstGeom>
          <a:noFill/>
        </p:spPr>
        <p:txBody>
          <a:bodyPr wrap="square" rtlCol="0">
            <a:spAutoFit/>
          </a:bodyPr>
          <a:lstStyle/>
          <a:p>
            <a:pPr algn="justLow"/>
            <a:r>
              <a:rPr lang="en-US" sz="2000" b="1" dirty="0">
                <a:solidFill>
                  <a:schemeClr val="bg1"/>
                </a:solidFill>
              </a:rPr>
              <a:t>Studies have suggested that entrepreneurs who create business plans have almost double the chances of growing their businesses and securing financing…</a:t>
            </a:r>
          </a:p>
          <a:p>
            <a:pPr algn="justLow"/>
            <a:endParaRPr lang="en-US" sz="2000" b="1" dirty="0">
              <a:solidFill>
                <a:schemeClr val="bg1"/>
              </a:solidFill>
            </a:endParaRP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4354960" y="123478"/>
            <a:ext cx="4968552" cy="5143500"/>
          </a:xfrm>
          <a:prstGeom prst="rect">
            <a:avLst/>
          </a:prstGeom>
        </p:spPr>
      </p:pic>
    </p:spTree>
    <p:extLst>
      <p:ext uri="{BB962C8B-B14F-4D97-AF65-F5344CB8AC3E}">
        <p14:creationId xmlns:p14="http://schemas.microsoft.com/office/powerpoint/2010/main" val="15088148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14839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 name="Text Placeholder 1"/>
          <p:cNvSpPr>
            <a:spLocks noGrp="1"/>
          </p:cNvSpPr>
          <p:nvPr>
            <p:ph type="body" sz="quarter" idx="10"/>
          </p:nvPr>
        </p:nvSpPr>
        <p:spPr>
          <a:xfrm>
            <a:off x="188640" y="455826"/>
            <a:ext cx="9144000" cy="576064"/>
          </a:xfrm>
        </p:spPr>
        <p:txBody>
          <a:bodyPr/>
          <a:lstStyle/>
          <a:p>
            <a:pPr algn="l">
              <a:spcBef>
                <a:spcPts val="0"/>
              </a:spcBef>
            </a:pPr>
            <a:r>
              <a:rPr lang="en-US" b="1" dirty="0">
                <a:solidFill>
                  <a:srgbClr val="53D2FF"/>
                </a:solidFill>
              </a:rPr>
              <a:t>The Value of a Business </a:t>
            </a:r>
            <a:endParaRPr lang="en-US" b="1" dirty="0" smtClean="0">
              <a:solidFill>
                <a:srgbClr val="53D2FF"/>
              </a:solidFill>
            </a:endParaRPr>
          </a:p>
          <a:p>
            <a:pPr algn="l">
              <a:spcBef>
                <a:spcPts val="0"/>
              </a:spcBef>
            </a:pPr>
            <a:r>
              <a:rPr lang="en-US" b="1" dirty="0" smtClean="0">
                <a:solidFill>
                  <a:srgbClr val="53D2FF"/>
                </a:solidFill>
              </a:rPr>
              <a:t>Plan </a:t>
            </a:r>
            <a:r>
              <a:rPr lang="en-US" b="1" dirty="0">
                <a:solidFill>
                  <a:srgbClr val="53D2FF"/>
                </a:solidFill>
              </a:rPr>
              <a:t>for the Entrepreneur</a:t>
            </a:r>
            <a:endParaRPr lang="en-US" altLang="ko-KR" b="1" dirty="0">
              <a:solidFill>
                <a:srgbClr val="53D2FF"/>
              </a:solidFill>
            </a:endParaRPr>
          </a:p>
        </p:txBody>
      </p:sp>
      <p:sp>
        <p:nvSpPr>
          <p:cNvPr id="12" name="Isosceles Triangle 11"/>
          <p:cNvSpPr/>
          <p:nvPr/>
        </p:nvSpPr>
        <p:spPr>
          <a:xfrm rot="10800000">
            <a:off x="3779912" y="1347614"/>
            <a:ext cx="1285659" cy="897602"/>
          </a:xfrm>
          <a:prstGeom prst="triangle">
            <a:avLst/>
          </a:prstGeom>
          <a:solidFill>
            <a:srgbClr val="8FE2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3" name="Rectangle 12"/>
          <p:cNvSpPr/>
          <p:nvPr/>
        </p:nvSpPr>
        <p:spPr>
          <a:xfrm>
            <a:off x="188641" y="3291830"/>
            <a:ext cx="7983760" cy="1656184"/>
          </a:xfrm>
          <a:prstGeom prst="rect">
            <a:avLst/>
          </a:prstGeom>
          <a:solidFill>
            <a:srgbClr val="8FE2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4" name="TextBox 13"/>
          <p:cNvSpPr txBox="1"/>
          <p:nvPr/>
        </p:nvSpPr>
        <p:spPr>
          <a:xfrm>
            <a:off x="323528" y="3620494"/>
            <a:ext cx="6442501" cy="1200329"/>
          </a:xfrm>
          <a:prstGeom prst="rect">
            <a:avLst/>
          </a:prstGeom>
          <a:noFill/>
        </p:spPr>
        <p:txBody>
          <a:bodyPr wrap="square" rtlCol="0">
            <a:spAutoFit/>
          </a:bodyPr>
          <a:lstStyle/>
          <a:p>
            <a:pPr algn="ctr"/>
            <a:r>
              <a:rPr lang="en-US" b="1" dirty="0">
                <a:solidFill>
                  <a:schemeClr val="accent6"/>
                </a:solidFill>
              </a:rPr>
              <a:t>Studies have suggested that entrepreneurs who </a:t>
            </a:r>
            <a:endParaRPr lang="en-US" b="1" dirty="0" smtClean="0">
              <a:solidFill>
                <a:schemeClr val="accent6"/>
              </a:solidFill>
            </a:endParaRPr>
          </a:p>
          <a:p>
            <a:pPr algn="ctr"/>
            <a:r>
              <a:rPr lang="en-US" b="1" dirty="0" smtClean="0">
                <a:solidFill>
                  <a:schemeClr val="accent6"/>
                </a:solidFill>
              </a:rPr>
              <a:t>create </a:t>
            </a:r>
            <a:r>
              <a:rPr lang="en-US" b="1" dirty="0">
                <a:solidFill>
                  <a:schemeClr val="accent6"/>
                </a:solidFill>
              </a:rPr>
              <a:t>business plans have almost double the chances of growing their businesses and securing financing…</a:t>
            </a:r>
          </a:p>
          <a:p>
            <a:endParaRPr lang="en-US" b="1" dirty="0">
              <a:solidFill>
                <a:schemeClr val="accent6"/>
              </a:solidFill>
            </a:endParaRPr>
          </a:p>
        </p:txBody>
      </p:sp>
      <p:sp>
        <p:nvSpPr>
          <p:cNvPr id="15" name="Frame 14"/>
          <p:cNvSpPr/>
          <p:nvPr/>
        </p:nvSpPr>
        <p:spPr>
          <a:xfrm>
            <a:off x="188640" y="159482"/>
            <a:ext cx="8766720" cy="4824536"/>
          </a:xfrm>
          <a:prstGeom prst="frame">
            <a:avLst>
              <a:gd name="adj1" fmla="val 100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14350" y="51470"/>
            <a:ext cx="2586127" cy="5143500"/>
          </a:xfrm>
          <a:prstGeom prst="rect">
            <a:avLst/>
          </a:prstGeom>
        </p:spPr>
      </p:pic>
    </p:spTree>
    <p:extLst>
      <p:ext uri="{BB962C8B-B14F-4D97-AF65-F5344CB8AC3E}">
        <p14:creationId xmlns:p14="http://schemas.microsoft.com/office/powerpoint/2010/main" val="368526137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5" name="Group 84"/>
          <p:cNvGrpSpPr/>
          <p:nvPr/>
        </p:nvGrpSpPr>
        <p:grpSpPr>
          <a:xfrm>
            <a:off x="3854258" y="1770622"/>
            <a:ext cx="3332582" cy="2999495"/>
            <a:chOff x="3203848" y="1779662"/>
            <a:chExt cx="3332582" cy="2999495"/>
          </a:xfrm>
          <a:solidFill>
            <a:schemeClr val="tx1">
              <a:lumMod val="75000"/>
              <a:lumOff val="25000"/>
            </a:schemeClr>
          </a:solidFill>
        </p:grpSpPr>
        <p:sp>
          <p:nvSpPr>
            <p:cNvPr id="86" name="Rectangle 85"/>
            <p:cNvSpPr/>
            <p:nvPr/>
          </p:nvSpPr>
          <p:spPr>
            <a:xfrm>
              <a:off x="3203848" y="1779662"/>
              <a:ext cx="108000" cy="2773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87" name="Block Arc 86"/>
            <p:cNvSpPr/>
            <p:nvPr/>
          </p:nvSpPr>
          <p:spPr>
            <a:xfrm>
              <a:off x="3203848" y="4326895"/>
              <a:ext cx="452262" cy="452262"/>
            </a:xfrm>
            <a:prstGeom prst="blockArc">
              <a:avLst>
                <a:gd name="adj1" fmla="val 5431834"/>
                <a:gd name="adj2" fmla="val 10817112"/>
                <a:gd name="adj3" fmla="val 2428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88" name="Rectangle 87"/>
            <p:cNvSpPr/>
            <p:nvPr/>
          </p:nvSpPr>
          <p:spPr>
            <a:xfrm>
              <a:off x="3425216" y="4671157"/>
              <a:ext cx="2916000" cy="10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89" name="Block Arc 88"/>
            <p:cNvSpPr/>
            <p:nvPr/>
          </p:nvSpPr>
          <p:spPr>
            <a:xfrm rot="16200000">
              <a:off x="6084168" y="4326895"/>
              <a:ext cx="452262" cy="452262"/>
            </a:xfrm>
            <a:prstGeom prst="blockArc">
              <a:avLst>
                <a:gd name="adj1" fmla="val 5431834"/>
                <a:gd name="adj2" fmla="val 10817112"/>
                <a:gd name="adj3" fmla="val 2428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90" name="Rectangle 89"/>
            <p:cNvSpPr/>
            <p:nvPr/>
          </p:nvSpPr>
          <p:spPr>
            <a:xfrm>
              <a:off x="6428430" y="3989950"/>
              <a:ext cx="108000" cy="576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109" name="Group 108"/>
          <p:cNvGrpSpPr/>
          <p:nvPr/>
        </p:nvGrpSpPr>
        <p:grpSpPr>
          <a:xfrm>
            <a:off x="5767918" y="1056963"/>
            <a:ext cx="2758049" cy="2928608"/>
            <a:chOff x="4848046" y="3681671"/>
            <a:chExt cx="2758049" cy="2928608"/>
          </a:xfrm>
        </p:grpSpPr>
        <p:sp>
          <p:nvSpPr>
            <p:cNvPr id="110" name="Teardrop 30"/>
            <p:cNvSpPr/>
            <p:nvPr/>
          </p:nvSpPr>
          <p:spPr>
            <a:xfrm rot="8100000">
              <a:off x="5417737" y="4225696"/>
              <a:ext cx="1602534" cy="1602536"/>
            </a:xfrm>
            <a:custGeom>
              <a:avLst/>
              <a:gdLst>
                <a:gd name="connsiteX0" fmla="*/ 293361 w 2192670"/>
                <a:gd name="connsiteY0" fmla="*/ 1899310 h 2192671"/>
                <a:gd name="connsiteX1" fmla="*/ 0 w 2192670"/>
                <a:gd name="connsiteY1" fmla="*/ 1191074 h 2192671"/>
                <a:gd name="connsiteX2" fmla="*/ 1001597 w 2192670"/>
                <a:gd name="connsiteY2" fmla="*/ 189477 h 2192671"/>
                <a:gd name="connsiteX3" fmla="*/ 1341342 w 2192670"/>
                <a:gd name="connsiteY3" fmla="*/ 189477 h 2192671"/>
                <a:gd name="connsiteX4" fmla="*/ 1530818 w 2192670"/>
                <a:gd name="connsiteY4" fmla="*/ 0 h 2192671"/>
                <a:gd name="connsiteX5" fmla="*/ 1806586 w 2192670"/>
                <a:gd name="connsiteY5" fmla="*/ 0 h 2192671"/>
                <a:gd name="connsiteX6" fmla="*/ 1996062 w 2192670"/>
                <a:gd name="connsiteY6" fmla="*/ 189477 h 2192671"/>
                <a:gd name="connsiteX7" fmla="*/ 2003194 w 2192670"/>
                <a:gd name="connsiteY7" fmla="*/ 189477 h 2192671"/>
                <a:gd name="connsiteX8" fmla="*/ 2003194 w 2192670"/>
                <a:gd name="connsiteY8" fmla="*/ 196609 h 2192671"/>
                <a:gd name="connsiteX9" fmla="*/ 2192670 w 2192670"/>
                <a:gd name="connsiteY9" fmla="*/ 386085 h 2192671"/>
                <a:gd name="connsiteX10" fmla="*/ 2192670 w 2192670"/>
                <a:gd name="connsiteY10" fmla="*/ 661852 h 2192671"/>
                <a:gd name="connsiteX11" fmla="*/ 2003193 w 2192670"/>
                <a:gd name="connsiteY11" fmla="*/ 851329 h 2192671"/>
                <a:gd name="connsiteX12" fmla="*/ 2003194 w 2192670"/>
                <a:gd name="connsiteY12" fmla="*/ 1191074 h 2192671"/>
                <a:gd name="connsiteX13" fmla="*/ 1001597 w 2192670"/>
                <a:gd name="connsiteY13" fmla="*/ 2192671 h 2192671"/>
                <a:gd name="connsiteX14" fmla="*/ 293361 w 2192670"/>
                <a:gd name="connsiteY14" fmla="*/ 1899310 h 2192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92670" h="2192671">
                  <a:moveTo>
                    <a:pt x="293361" y="1899310"/>
                  </a:moveTo>
                  <a:cubicBezTo>
                    <a:pt x="112107" y="1718057"/>
                    <a:pt x="0" y="1467657"/>
                    <a:pt x="0" y="1191074"/>
                  </a:cubicBezTo>
                  <a:cubicBezTo>
                    <a:pt x="0" y="637907"/>
                    <a:pt x="448430" y="189477"/>
                    <a:pt x="1001597" y="189477"/>
                  </a:cubicBezTo>
                  <a:lnTo>
                    <a:pt x="1341342" y="189477"/>
                  </a:lnTo>
                  <a:lnTo>
                    <a:pt x="1530818" y="0"/>
                  </a:lnTo>
                  <a:cubicBezTo>
                    <a:pt x="1606970" y="-76151"/>
                    <a:pt x="1730435" y="-76151"/>
                    <a:pt x="1806586" y="0"/>
                  </a:cubicBezTo>
                  <a:lnTo>
                    <a:pt x="1996062" y="189477"/>
                  </a:lnTo>
                  <a:lnTo>
                    <a:pt x="2003194" y="189477"/>
                  </a:lnTo>
                  <a:lnTo>
                    <a:pt x="2003194" y="196609"/>
                  </a:lnTo>
                  <a:lnTo>
                    <a:pt x="2192670" y="386085"/>
                  </a:lnTo>
                  <a:cubicBezTo>
                    <a:pt x="2268822" y="462236"/>
                    <a:pt x="2268822" y="585701"/>
                    <a:pt x="2192670" y="661852"/>
                  </a:cubicBezTo>
                  <a:lnTo>
                    <a:pt x="2003193" y="851329"/>
                  </a:lnTo>
                  <a:cubicBezTo>
                    <a:pt x="2003193" y="964577"/>
                    <a:pt x="2003194" y="1077826"/>
                    <a:pt x="2003194" y="1191074"/>
                  </a:cubicBezTo>
                  <a:cubicBezTo>
                    <a:pt x="2003194" y="1744241"/>
                    <a:pt x="1554764" y="2192671"/>
                    <a:pt x="1001597" y="2192671"/>
                  </a:cubicBezTo>
                  <a:cubicBezTo>
                    <a:pt x="725014" y="2192671"/>
                    <a:pt x="474614" y="2080563"/>
                    <a:pt x="293361" y="1899310"/>
                  </a:cubicBezTo>
                  <a:close/>
                </a:path>
              </a:pathLst>
            </a:custGeom>
            <a:solidFill>
              <a:schemeClr val="bg1"/>
            </a:solidFill>
            <a:ln w="698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1" name="Rounded Rectangle 110"/>
            <p:cNvSpPr/>
            <p:nvPr/>
          </p:nvSpPr>
          <p:spPr>
            <a:xfrm>
              <a:off x="5903273" y="6071006"/>
              <a:ext cx="631463" cy="131555"/>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2" name="Rounded Rectangle 111"/>
            <p:cNvSpPr/>
            <p:nvPr/>
          </p:nvSpPr>
          <p:spPr>
            <a:xfrm>
              <a:off x="5929584" y="6274865"/>
              <a:ext cx="578841" cy="131555"/>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3" name="Rounded Rectangle 112"/>
            <p:cNvSpPr/>
            <p:nvPr/>
          </p:nvSpPr>
          <p:spPr>
            <a:xfrm>
              <a:off x="5982205" y="6478724"/>
              <a:ext cx="473597" cy="131555"/>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4" name="Rounded Rectangle 113"/>
            <p:cNvSpPr/>
            <p:nvPr/>
          </p:nvSpPr>
          <p:spPr>
            <a:xfrm rot="2700000">
              <a:off x="7086448" y="4038815"/>
              <a:ext cx="144000" cy="360000"/>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15" name="Rounded Rectangle 114"/>
            <p:cNvSpPr/>
            <p:nvPr/>
          </p:nvSpPr>
          <p:spPr>
            <a:xfrm rot="18900000" flipH="1">
              <a:off x="5218102" y="4038815"/>
              <a:ext cx="144000" cy="360000"/>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16" name="Rounded Rectangle 115"/>
            <p:cNvSpPr/>
            <p:nvPr/>
          </p:nvSpPr>
          <p:spPr>
            <a:xfrm>
              <a:off x="6155070" y="3681671"/>
              <a:ext cx="144000" cy="360000"/>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17" name="Rounded Rectangle 116"/>
            <p:cNvSpPr/>
            <p:nvPr/>
          </p:nvSpPr>
          <p:spPr>
            <a:xfrm rot="5400000">
              <a:off x="7354095" y="4745637"/>
              <a:ext cx="144000" cy="360000"/>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18" name="Rounded Rectangle 117"/>
            <p:cNvSpPr/>
            <p:nvPr/>
          </p:nvSpPr>
          <p:spPr>
            <a:xfrm rot="16200000" flipH="1">
              <a:off x="4956046" y="4745638"/>
              <a:ext cx="144000" cy="360000"/>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sp>
        <p:nvSpPr>
          <p:cNvPr id="6" name="TextBox 5"/>
          <p:cNvSpPr txBox="1"/>
          <p:nvPr/>
        </p:nvSpPr>
        <p:spPr>
          <a:xfrm>
            <a:off x="282337" y="288217"/>
            <a:ext cx="6089143" cy="954107"/>
          </a:xfrm>
          <a:prstGeom prst="rect">
            <a:avLst/>
          </a:prstGeom>
          <a:noFill/>
        </p:spPr>
        <p:txBody>
          <a:bodyPr wrap="square" rtlCol="0">
            <a:spAutoFit/>
          </a:bodyPr>
          <a:lstStyle/>
          <a:p>
            <a:r>
              <a:rPr lang="en-US" sz="2800" b="1" dirty="0" smtClean="0">
                <a:solidFill>
                  <a:schemeClr val="bg1"/>
                </a:solidFill>
              </a:rPr>
              <a:t>Many Reasons </a:t>
            </a:r>
            <a:r>
              <a:rPr lang="en-US" sz="2800" b="1" dirty="0">
                <a:solidFill>
                  <a:schemeClr val="bg1"/>
                </a:solidFill>
              </a:rPr>
              <a:t>to write a </a:t>
            </a:r>
            <a:r>
              <a:rPr lang="en-US" sz="2800" b="1" dirty="0" smtClean="0">
                <a:solidFill>
                  <a:srgbClr val="8FE2FF"/>
                </a:solidFill>
              </a:rPr>
              <a:t>Business Plan</a:t>
            </a:r>
            <a:r>
              <a:rPr lang="en-US" sz="2800" b="1" dirty="0">
                <a:solidFill>
                  <a:schemeClr val="bg1"/>
                </a:solidFill>
              </a:rPr>
              <a:t>, including the following five:</a:t>
            </a:r>
          </a:p>
        </p:txBody>
      </p:sp>
    </p:spTree>
    <p:extLst>
      <p:ext uri="{BB962C8B-B14F-4D97-AF65-F5344CB8AC3E}">
        <p14:creationId xmlns:p14="http://schemas.microsoft.com/office/powerpoint/2010/main" val="24551108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4299942"/>
            <a:ext cx="9144000" cy="843558"/>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7" name="TextBox 6"/>
          <p:cNvSpPr txBox="1"/>
          <p:nvPr/>
        </p:nvSpPr>
        <p:spPr>
          <a:xfrm>
            <a:off x="179512" y="915566"/>
            <a:ext cx="8784976" cy="1754326"/>
          </a:xfrm>
          <a:prstGeom prst="rect">
            <a:avLst/>
          </a:prstGeom>
          <a:noFill/>
        </p:spPr>
        <p:txBody>
          <a:bodyPr wrap="square" rtlCol="0">
            <a:spAutoFit/>
          </a:bodyPr>
          <a:lstStyle/>
          <a:p>
            <a:pPr marL="342900" indent="-342900" algn="just">
              <a:buAutoNum type="arabicPeriod"/>
            </a:pPr>
            <a:r>
              <a:rPr lang="en-US" b="1" dirty="0" smtClean="0">
                <a:solidFill>
                  <a:schemeClr val="bg1"/>
                </a:solidFill>
              </a:rPr>
              <a:t>You </a:t>
            </a:r>
            <a:r>
              <a:rPr lang="en-US" b="1" dirty="0">
                <a:solidFill>
                  <a:schemeClr val="bg1"/>
                </a:solidFill>
              </a:rPr>
              <a:t>want to start a business</a:t>
            </a:r>
            <a:r>
              <a:rPr lang="en-US" b="1" dirty="0" smtClean="0">
                <a:solidFill>
                  <a:schemeClr val="bg1"/>
                </a:solidFill>
              </a:rPr>
              <a:t>.</a:t>
            </a:r>
          </a:p>
          <a:p>
            <a:pPr marL="342900" indent="-342900" algn="just">
              <a:buAutoNum type="arabicPeriod"/>
            </a:pPr>
            <a:endParaRPr lang="en-US" b="1" dirty="0">
              <a:solidFill>
                <a:schemeClr val="bg1"/>
              </a:solidFill>
            </a:endParaRPr>
          </a:p>
          <a:p>
            <a:pPr algn="just"/>
            <a:r>
              <a:rPr lang="en-US" dirty="0">
                <a:solidFill>
                  <a:schemeClr val="bg1"/>
                </a:solidFill>
              </a:rPr>
              <a:t>The classic business plan writer is an entrepreneur seeking funds to help start a new venture. Many great companies had their starts in the form of a plan that was used to convince investors to put up the capital necessary to get them under way.</a:t>
            </a:r>
          </a:p>
          <a:p>
            <a:pPr algn="just"/>
            <a:endParaRPr lang="en-US" dirty="0">
              <a:solidFill>
                <a:schemeClr val="bg1"/>
              </a:solidFill>
            </a:endParaRPr>
          </a:p>
        </p:txBody>
      </p:sp>
    </p:spTree>
    <p:extLst>
      <p:ext uri="{BB962C8B-B14F-4D97-AF65-F5344CB8AC3E}">
        <p14:creationId xmlns:p14="http://schemas.microsoft.com/office/powerpoint/2010/main" val="343915489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4299942"/>
            <a:ext cx="9144000" cy="843558"/>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7" name="TextBox 6"/>
          <p:cNvSpPr txBox="1"/>
          <p:nvPr/>
        </p:nvSpPr>
        <p:spPr>
          <a:xfrm>
            <a:off x="179512" y="915566"/>
            <a:ext cx="8784976" cy="2585323"/>
          </a:xfrm>
          <a:prstGeom prst="rect">
            <a:avLst/>
          </a:prstGeom>
          <a:noFill/>
        </p:spPr>
        <p:txBody>
          <a:bodyPr wrap="square" rtlCol="0">
            <a:spAutoFit/>
          </a:bodyPr>
          <a:lstStyle/>
          <a:p>
            <a:pPr algn="justLow"/>
            <a:r>
              <a:rPr lang="en-US" b="1" dirty="0">
                <a:solidFill>
                  <a:schemeClr val="bg1"/>
                </a:solidFill>
              </a:rPr>
              <a:t>2. You own an established firm and are seeking help</a:t>
            </a:r>
            <a:r>
              <a:rPr lang="en-US" b="1" dirty="0" smtClean="0">
                <a:solidFill>
                  <a:schemeClr val="bg1"/>
                </a:solidFill>
              </a:rPr>
              <a:t>.</a:t>
            </a:r>
          </a:p>
          <a:p>
            <a:pPr algn="justLow"/>
            <a:endParaRPr lang="en-US" b="1" dirty="0">
              <a:solidFill>
                <a:schemeClr val="bg1"/>
              </a:solidFill>
            </a:endParaRPr>
          </a:p>
          <a:p>
            <a:pPr algn="justLow"/>
            <a:r>
              <a:rPr lang="en-US" dirty="0">
                <a:solidFill>
                  <a:schemeClr val="bg1"/>
                </a:solidFill>
              </a:rPr>
              <a:t>Many business plans are written by and for companies that are long past the startup stage but also well short of large-corporation status. These middle-stage enterprises may draft plans to help them find funding for growth. They may feel the need for a written plan to help manage an already rapidly growing business and to convey the mission and prospects of the business to customers, suppliers or other interested parties. A business plan can address the next stage in the life process of a business.</a:t>
            </a:r>
          </a:p>
          <a:p>
            <a:pPr algn="justLow"/>
            <a:endParaRPr lang="en-US" dirty="0">
              <a:solidFill>
                <a:schemeClr val="bg1"/>
              </a:solidFill>
            </a:endParaRPr>
          </a:p>
        </p:txBody>
      </p:sp>
    </p:spTree>
    <p:extLst>
      <p:ext uri="{BB962C8B-B14F-4D97-AF65-F5344CB8AC3E}">
        <p14:creationId xmlns:p14="http://schemas.microsoft.com/office/powerpoint/2010/main" val="359547893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4299942"/>
            <a:ext cx="9144000" cy="843558"/>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7" name="TextBox 6"/>
          <p:cNvSpPr txBox="1"/>
          <p:nvPr/>
        </p:nvSpPr>
        <p:spPr>
          <a:xfrm>
            <a:off x="179512" y="915566"/>
            <a:ext cx="8784976" cy="2862322"/>
          </a:xfrm>
          <a:prstGeom prst="rect">
            <a:avLst/>
          </a:prstGeom>
          <a:noFill/>
        </p:spPr>
        <p:txBody>
          <a:bodyPr wrap="square" rtlCol="0">
            <a:spAutoFit/>
          </a:bodyPr>
          <a:lstStyle/>
          <a:p>
            <a:pPr algn="just"/>
            <a:r>
              <a:rPr lang="en-US" b="1" dirty="0">
                <a:solidFill>
                  <a:schemeClr val="bg1"/>
                </a:solidFill>
              </a:rPr>
              <a:t>3. You need to determine your objectives</a:t>
            </a:r>
            <a:r>
              <a:rPr lang="en-US" b="1" dirty="0" smtClean="0">
                <a:solidFill>
                  <a:schemeClr val="bg1"/>
                </a:solidFill>
              </a:rPr>
              <a:t>.</a:t>
            </a:r>
          </a:p>
          <a:p>
            <a:pPr algn="just"/>
            <a:endParaRPr lang="en-US" b="1" dirty="0">
              <a:solidFill>
                <a:schemeClr val="bg1"/>
              </a:solidFill>
            </a:endParaRPr>
          </a:p>
          <a:p>
            <a:pPr algn="just"/>
            <a:r>
              <a:rPr lang="en-US" dirty="0">
                <a:solidFill>
                  <a:schemeClr val="bg1"/>
                </a:solidFill>
              </a:rPr>
              <a:t>There are so many options when it comes to starting a business, including the size, location, and, of course, the reason for existence. You'll be able to determine all of these and so many more aspects of business with the help of your business plan. It forces you to think through all of the areas that form the main concept to the smallest details. This way, you don’t find yourself remembering at the last minute that your website still isn't developed or that you still have most of your inventory in a warehouse and no way to ship it.</a:t>
            </a:r>
          </a:p>
          <a:p>
            <a:pPr algn="just"/>
            <a:endParaRPr lang="en-US" dirty="0">
              <a:solidFill>
                <a:schemeClr val="bg1"/>
              </a:solidFill>
            </a:endParaRPr>
          </a:p>
        </p:txBody>
      </p:sp>
    </p:spTree>
    <p:extLst>
      <p:ext uri="{BB962C8B-B14F-4D97-AF65-F5344CB8AC3E}">
        <p14:creationId xmlns:p14="http://schemas.microsoft.com/office/powerpoint/2010/main" val="41623517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4299942"/>
            <a:ext cx="9144000" cy="843558"/>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7" name="TextBox 6"/>
          <p:cNvSpPr txBox="1"/>
          <p:nvPr/>
        </p:nvSpPr>
        <p:spPr>
          <a:xfrm>
            <a:off x="179512" y="411510"/>
            <a:ext cx="8784976" cy="3970318"/>
          </a:xfrm>
          <a:prstGeom prst="rect">
            <a:avLst/>
          </a:prstGeom>
          <a:noFill/>
        </p:spPr>
        <p:txBody>
          <a:bodyPr wrap="square" rtlCol="0">
            <a:spAutoFit/>
          </a:bodyPr>
          <a:lstStyle/>
          <a:p>
            <a:pPr algn="just"/>
            <a:r>
              <a:rPr lang="en-US" b="1" dirty="0">
                <a:solidFill>
                  <a:schemeClr val="bg1"/>
                </a:solidFill>
              </a:rPr>
              <a:t>4. You're trying to predict the future</a:t>
            </a:r>
            <a:r>
              <a:rPr lang="en-US" b="1" dirty="0" smtClean="0">
                <a:solidFill>
                  <a:schemeClr val="bg1"/>
                </a:solidFill>
              </a:rPr>
              <a:t>.</a:t>
            </a:r>
          </a:p>
          <a:p>
            <a:pPr algn="just"/>
            <a:endParaRPr lang="en-US" b="1" dirty="0">
              <a:solidFill>
                <a:schemeClr val="bg1"/>
              </a:solidFill>
            </a:endParaRPr>
          </a:p>
          <a:p>
            <a:pPr algn="just"/>
            <a:r>
              <a:rPr lang="en-US" dirty="0">
                <a:solidFill>
                  <a:schemeClr val="bg1"/>
                </a:solidFill>
              </a:rPr>
              <a:t>It may seem dishonest to say that a business plan can’t predict the future. What are all those projections and forecasts for if they're not attempts to predict the future? The fact is, however, no projection or forecast is really a hard-and-fast prediction of the future. The best you can do is have a plan in which you logically and systematically attempt to show what will happen if a particular scenario occurs. You'll use your research, sales forecasts, market trends and competitive analysis to make well thought-out predictions of how you see your business developing if you're able to follow a specified course. To some extent, you can create your future rather than simply trying to predict it by the decisions you make. For example, you may not have a multimillion-dollar business in ten years if you're trying to start and run a small family business. Your decision on growth would therefore factor into your predictions and the outcome.</a:t>
            </a:r>
          </a:p>
          <a:p>
            <a:pPr algn="just"/>
            <a:endParaRPr lang="en-US" dirty="0">
              <a:solidFill>
                <a:schemeClr val="bg1"/>
              </a:solidFill>
            </a:endParaRPr>
          </a:p>
        </p:txBody>
      </p:sp>
    </p:spTree>
    <p:extLst>
      <p:ext uri="{BB962C8B-B14F-4D97-AF65-F5344CB8AC3E}">
        <p14:creationId xmlns:p14="http://schemas.microsoft.com/office/powerpoint/2010/main" val="37895042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4299942"/>
            <a:ext cx="9144000" cy="843558"/>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7" name="TextBox 6"/>
          <p:cNvSpPr txBox="1"/>
          <p:nvPr/>
        </p:nvSpPr>
        <p:spPr>
          <a:xfrm>
            <a:off x="179512" y="411510"/>
            <a:ext cx="8784976" cy="2585323"/>
          </a:xfrm>
          <a:prstGeom prst="rect">
            <a:avLst/>
          </a:prstGeom>
          <a:noFill/>
        </p:spPr>
        <p:txBody>
          <a:bodyPr wrap="square" rtlCol="0">
            <a:spAutoFit/>
          </a:bodyPr>
          <a:lstStyle/>
          <a:p>
            <a:pPr algn="just"/>
            <a:r>
              <a:rPr lang="en-US" b="1" dirty="0">
                <a:solidFill>
                  <a:schemeClr val="bg1"/>
                </a:solidFill>
              </a:rPr>
              <a:t>5. You want to use it to raise all the money you’ll need</a:t>
            </a:r>
            <a:r>
              <a:rPr lang="en-US" b="1" dirty="0" smtClean="0">
                <a:solidFill>
                  <a:schemeClr val="bg1"/>
                </a:solidFill>
              </a:rPr>
              <a:t>.</a:t>
            </a:r>
          </a:p>
          <a:p>
            <a:pPr algn="just"/>
            <a:endParaRPr lang="en-US" b="1" dirty="0">
              <a:solidFill>
                <a:schemeClr val="bg1"/>
              </a:solidFill>
            </a:endParaRPr>
          </a:p>
          <a:p>
            <a:pPr algn="just"/>
            <a:r>
              <a:rPr lang="en-US" dirty="0">
                <a:solidFill>
                  <a:schemeClr val="bg1"/>
                </a:solidFill>
              </a:rPr>
              <a:t>A business plan can't guarantee that you'll raise all the money you need at any given time, especially during the startup phase. Even if you're successful in finding an investor, odds are good you won’t get quite what you asked for. There may be a big difference in what you have to give up, such as majority ownership or control, to get the funds. Or you may be able to make minor adjustments if you cannot snare as large a chunk of cash as you want.</a:t>
            </a:r>
          </a:p>
          <a:p>
            <a:pPr algn="just"/>
            <a:endParaRPr lang="en-US" dirty="0">
              <a:solidFill>
                <a:schemeClr val="bg1"/>
              </a:solidFill>
            </a:endParaRPr>
          </a:p>
        </p:txBody>
      </p:sp>
    </p:spTree>
    <p:extLst>
      <p:ext uri="{BB962C8B-B14F-4D97-AF65-F5344CB8AC3E}">
        <p14:creationId xmlns:p14="http://schemas.microsoft.com/office/powerpoint/2010/main" val="1698106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 Placeholder 1"/>
          <p:cNvSpPr txBox="1">
            <a:spLocks/>
          </p:cNvSpPr>
          <p:nvPr/>
        </p:nvSpPr>
        <p:spPr>
          <a:xfrm>
            <a:off x="177999" y="3603601"/>
            <a:ext cx="3399830" cy="1367182"/>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2800" b="1" dirty="0">
                <a:solidFill>
                  <a:schemeClr val="bg1"/>
                </a:solidFill>
              </a:rPr>
              <a:t>How to Write a </a:t>
            </a:r>
            <a:endParaRPr lang="en-US" sz="2800" b="1" dirty="0" smtClean="0">
              <a:solidFill>
                <a:schemeClr val="bg1"/>
              </a:solidFill>
            </a:endParaRPr>
          </a:p>
          <a:p>
            <a:pPr marL="0" indent="0">
              <a:spcBef>
                <a:spcPts val="0"/>
              </a:spcBef>
              <a:buNone/>
            </a:pPr>
            <a:r>
              <a:rPr lang="en-US" sz="2800" b="1" dirty="0" smtClean="0">
                <a:solidFill>
                  <a:schemeClr val="bg1"/>
                </a:solidFill>
              </a:rPr>
              <a:t>Business </a:t>
            </a:r>
            <a:r>
              <a:rPr lang="en-US" sz="2800" b="1" dirty="0">
                <a:solidFill>
                  <a:schemeClr val="bg1"/>
                </a:solidFill>
              </a:rPr>
              <a:t>Plan for </a:t>
            </a:r>
            <a:endParaRPr lang="en-US" sz="2800" b="1" dirty="0" smtClean="0">
              <a:solidFill>
                <a:schemeClr val="bg1"/>
              </a:solidFill>
            </a:endParaRPr>
          </a:p>
          <a:p>
            <a:pPr marL="0" indent="0">
              <a:spcBef>
                <a:spcPts val="0"/>
              </a:spcBef>
              <a:buNone/>
            </a:pPr>
            <a:r>
              <a:rPr lang="en-US" sz="2800" b="1" dirty="0" smtClean="0">
                <a:solidFill>
                  <a:schemeClr val="bg1"/>
                </a:solidFill>
              </a:rPr>
              <a:t>Your </a:t>
            </a:r>
            <a:r>
              <a:rPr lang="en-US" sz="2800" b="1" dirty="0">
                <a:solidFill>
                  <a:schemeClr val="bg1"/>
                </a:solidFill>
              </a:rPr>
              <a:t>Startup</a:t>
            </a:r>
            <a:endParaRPr lang="ko-KR" altLang="en-US" sz="2800" b="1" dirty="0">
              <a:solidFill>
                <a:schemeClr val="bg1"/>
              </a:solidFill>
              <a:cs typeface="Arial" pitchFamily="34" charset="0"/>
            </a:endParaRPr>
          </a:p>
        </p:txBody>
      </p:sp>
      <p:sp>
        <p:nvSpPr>
          <p:cNvPr id="8" name="TextBox 7"/>
          <p:cNvSpPr txBox="1"/>
          <p:nvPr/>
        </p:nvSpPr>
        <p:spPr>
          <a:xfrm>
            <a:off x="147084" y="1707049"/>
            <a:ext cx="3168353" cy="1384995"/>
          </a:xfrm>
          <a:prstGeom prst="rect">
            <a:avLst/>
          </a:prstGeom>
          <a:noFill/>
        </p:spPr>
        <p:txBody>
          <a:bodyPr wrap="square" rtlCol="0">
            <a:spAutoFit/>
          </a:bodyPr>
          <a:lstStyle/>
          <a:p>
            <a:pPr algn="justLow" fontAlgn="base"/>
            <a:r>
              <a:rPr lang="en-US" sz="1400" b="1" dirty="0" smtClean="0">
                <a:solidFill>
                  <a:schemeClr val="bg1"/>
                </a:solidFill>
              </a:rPr>
              <a:t>Before you start seeking legal advice, renting office space, or forming an LLC, you need to put your thoughts on paper. This will help you stay organized and focused.</a:t>
            </a:r>
          </a:p>
          <a:p>
            <a:pPr algn="justLow" fontAlgn="base"/>
            <a:endParaRPr lang="en-US" sz="1400" b="1" dirty="0">
              <a:solidFill>
                <a:schemeClr val="bg1"/>
              </a:solidFill>
            </a:endParaRPr>
          </a:p>
        </p:txBody>
      </p:sp>
      <p:pic>
        <p:nvPicPr>
          <p:cNvPr id="6" name="Picture Placeholder 5"/>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l="19902" r="19902"/>
          <a:stretch>
            <a:fillRect/>
          </a:stretch>
        </p:blipFill>
        <p:spPr/>
      </p:pic>
    </p:spTree>
    <p:extLst>
      <p:ext uri="{BB962C8B-B14F-4D97-AF65-F5344CB8AC3E}">
        <p14:creationId xmlns:p14="http://schemas.microsoft.com/office/powerpoint/2010/main" val="57961307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95536" y="339502"/>
            <a:ext cx="8568952" cy="4832092"/>
          </a:xfrm>
          <a:prstGeom prst="rect">
            <a:avLst/>
          </a:prstGeom>
          <a:noFill/>
        </p:spPr>
        <p:txBody>
          <a:bodyPr wrap="square" rtlCol="0">
            <a:spAutoFit/>
          </a:bodyPr>
          <a:lstStyle/>
          <a:p>
            <a:pPr fontAlgn="base"/>
            <a:r>
              <a:rPr lang="en-US" sz="2000" b="1" dirty="0">
                <a:solidFill>
                  <a:srgbClr val="8FE2FF"/>
                </a:solidFill>
              </a:rPr>
              <a:t>A typical business plan consists of the following elements:</a:t>
            </a:r>
          </a:p>
          <a:p>
            <a:pPr fontAlgn="base"/>
            <a:endParaRPr lang="en-US" dirty="0"/>
          </a:p>
          <a:p>
            <a:pPr marL="285750" indent="-285750" fontAlgn="base">
              <a:lnSpc>
                <a:spcPct val="200000"/>
              </a:lnSpc>
              <a:buFont typeface="Arial" panose="020B0604020202020204" pitchFamily="34" charset="0"/>
              <a:buChar char="•"/>
            </a:pPr>
            <a:r>
              <a:rPr lang="en-US" b="1" dirty="0">
                <a:solidFill>
                  <a:schemeClr val="bg1"/>
                </a:solidFill>
              </a:rPr>
              <a:t>executive summary</a:t>
            </a:r>
          </a:p>
          <a:p>
            <a:pPr marL="285750" indent="-285750" fontAlgn="base">
              <a:lnSpc>
                <a:spcPct val="200000"/>
              </a:lnSpc>
              <a:buFont typeface="Arial" panose="020B0604020202020204" pitchFamily="34" charset="0"/>
              <a:buChar char="•"/>
            </a:pPr>
            <a:r>
              <a:rPr lang="en-US" b="1" dirty="0">
                <a:solidFill>
                  <a:schemeClr val="bg1"/>
                </a:solidFill>
              </a:rPr>
              <a:t>company description</a:t>
            </a:r>
          </a:p>
          <a:p>
            <a:pPr marL="285750" indent="-285750" fontAlgn="base">
              <a:lnSpc>
                <a:spcPct val="200000"/>
              </a:lnSpc>
              <a:buFont typeface="Arial" panose="020B0604020202020204" pitchFamily="34" charset="0"/>
              <a:buChar char="•"/>
            </a:pPr>
            <a:r>
              <a:rPr lang="en-US" b="1" dirty="0">
                <a:solidFill>
                  <a:schemeClr val="bg1"/>
                </a:solidFill>
              </a:rPr>
              <a:t>market research</a:t>
            </a:r>
          </a:p>
          <a:p>
            <a:pPr marL="285750" indent="-285750" fontAlgn="base">
              <a:lnSpc>
                <a:spcPct val="200000"/>
              </a:lnSpc>
              <a:buFont typeface="Arial" panose="020B0604020202020204" pitchFamily="34" charset="0"/>
              <a:buChar char="•"/>
            </a:pPr>
            <a:r>
              <a:rPr lang="en-US" b="1" dirty="0">
                <a:solidFill>
                  <a:schemeClr val="bg1"/>
                </a:solidFill>
              </a:rPr>
              <a:t>description of products and/or services</a:t>
            </a:r>
          </a:p>
          <a:p>
            <a:pPr marL="285750" indent="-285750" fontAlgn="base">
              <a:lnSpc>
                <a:spcPct val="200000"/>
              </a:lnSpc>
              <a:buFont typeface="Arial" panose="020B0604020202020204" pitchFamily="34" charset="0"/>
              <a:buChar char="•"/>
            </a:pPr>
            <a:r>
              <a:rPr lang="en-US" b="1" dirty="0">
                <a:solidFill>
                  <a:schemeClr val="bg1"/>
                </a:solidFill>
              </a:rPr>
              <a:t>management and operational structure</a:t>
            </a:r>
          </a:p>
          <a:p>
            <a:pPr marL="285750" indent="-285750" fontAlgn="base">
              <a:lnSpc>
                <a:spcPct val="200000"/>
              </a:lnSpc>
              <a:buFont typeface="Arial" panose="020B0604020202020204" pitchFamily="34" charset="0"/>
              <a:buChar char="•"/>
            </a:pPr>
            <a:r>
              <a:rPr lang="en-US" b="1" dirty="0">
                <a:solidFill>
                  <a:schemeClr val="bg1"/>
                </a:solidFill>
              </a:rPr>
              <a:t>marketing and sales strategy</a:t>
            </a:r>
          </a:p>
          <a:p>
            <a:pPr marL="285750" indent="-285750" fontAlgn="base">
              <a:lnSpc>
                <a:spcPct val="200000"/>
              </a:lnSpc>
              <a:buFont typeface="Arial" panose="020B0604020202020204" pitchFamily="34" charset="0"/>
              <a:buChar char="•"/>
            </a:pPr>
            <a:r>
              <a:rPr lang="en-US" b="1" dirty="0">
                <a:solidFill>
                  <a:schemeClr val="bg1"/>
                </a:solidFill>
              </a:rPr>
              <a:t>financials</a:t>
            </a:r>
          </a:p>
          <a:p>
            <a:endParaRPr lang="en-US" dirty="0"/>
          </a:p>
        </p:txBody>
      </p:sp>
    </p:spTree>
    <p:extLst>
      <p:ext uri="{BB962C8B-B14F-4D97-AF65-F5344CB8AC3E}">
        <p14:creationId xmlns:p14="http://schemas.microsoft.com/office/powerpoint/2010/main" val="99711227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314781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0" name="TextBox 9"/>
          <p:cNvSpPr txBox="1"/>
          <p:nvPr/>
        </p:nvSpPr>
        <p:spPr>
          <a:xfrm>
            <a:off x="224644" y="3454717"/>
            <a:ext cx="8739844" cy="1631216"/>
          </a:xfrm>
          <a:prstGeom prst="rect">
            <a:avLst/>
          </a:prstGeom>
          <a:noFill/>
        </p:spPr>
        <p:txBody>
          <a:bodyPr wrap="square" rtlCol="0">
            <a:spAutoFit/>
          </a:bodyPr>
          <a:lstStyle/>
          <a:p>
            <a:r>
              <a:rPr lang="en-US" sz="2000" b="1" dirty="0"/>
              <a:t>When writing a company description, make sure it’s not ambiguous</a:t>
            </a:r>
            <a:r>
              <a:rPr lang="en-US" sz="2000" b="1" dirty="0" smtClean="0"/>
              <a:t>.</a:t>
            </a:r>
          </a:p>
          <a:p>
            <a:endParaRPr lang="en-US" sz="2000" dirty="0"/>
          </a:p>
          <a:p>
            <a:r>
              <a:rPr lang="en-US" sz="2000" i="1" dirty="0">
                <a:solidFill>
                  <a:schemeClr val="bg1"/>
                </a:solidFill>
              </a:rPr>
              <a:t>“We’re going to sell stuff</a:t>
            </a:r>
            <a:r>
              <a:rPr lang="en-US" sz="2000" i="1" dirty="0" smtClean="0">
                <a:solidFill>
                  <a:schemeClr val="bg1"/>
                </a:solidFill>
              </a:rPr>
              <a:t>”  -  </a:t>
            </a:r>
            <a:r>
              <a:rPr lang="en-US" sz="2000" dirty="0" smtClean="0"/>
              <a:t>isn’t </a:t>
            </a:r>
            <a:r>
              <a:rPr lang="en-US" sz="2000" dirty="0"/>
              <a:t>going to cut it.</a:t>
            </a:r>
          </a:p>
          <a:p>
            <a:r>
              <a:rPr lang="en-US" sz="2000" i="1" dirty="0" smtClean="0">
                <a:solidFill>
                  <a:schemeClr val="bg1"/>
                </a:solidFill>
              </a:rPr>
              <a:t> </a:t>
            </a:r>
          </a:p>
          <a:p>
            <a:endParaRPr lang="en-US" sz="2000" dirty="0"/>
          </a:p>
        </p:txBody>
      </p:sp>
      <p:sp>
        <p:nvSpPr>
          <p:cNvPr id="11" name="Frame 10"/>
          <p:cNvSpPr/>
          <p:nvPr/>
        </p:nvSpPr>
        <p:spPr>
          <a:xfrm>
            <a:off x="224644" y="188136"/>
            <a:ext cx="8694712" cy="2700301"/>
          </a:xfrm>
          <a:prstGeom prst="frame">
            <a:avLst>
              <a:gd name="adj1" fmla="val 1002"/>
            </a:avLst>
          </a:prstGeom>
          <a:solidFill>
            <a:srgbClr val="8FE2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4" name="TextBox 3"/>
          <p:cNvSpPr txBox="1"/>
          <p:nvPr/>
        </p:nvSpPr>
        <p:spPr>
          <a:xfrm>
            <a:off x="719572" y="789077"/>
            <a:ext cx="7704856" cy="1569660"/>
          </a:xfrm>
          <a:prstGeom prst="rect">
            <a:avLst/>
          </a:prstGeom>
          <a:noFill/>
        </p:spPr>
        <p:txBody>
          <a:bodyPr wrap="square" rtlCol="0">
            <a:spAutoFit/>
          </a:bodyPr>
          <a:lstStyle/>
          <a:p>
            <a:pPr algn="ctr"/>
            <a:r>
              <a:rPr lang="en-US" sz="4800" b="1" dirty="0">
                <a:solidFill>
                  <a:schemeClr val="bg1"/>
                </a:solidFill>
              </a:rPr>
              <a:t>Make </a:t>
            </a:r>
            <a:r>
              <a:rPr lang="en-US" sz="4800" b="1" dirty="0" smtClean="0">
                <a:solidFill>
                  <a:schemeClr val="bg1"/>
                </a:solidFill>
              </a:rPr>
              <a:t>Sure Your Company </a:t>
            </a:r>
            <a:r>
              <a:rPr lang="en-US" sz="4800" b="1" dirty="0">
                <a:solidFill>
                  <a:schemeClr val="bg1"/>
                </a:solidFill>
              </a:rPr>
              <a:t>has a </a:t>
            </a:r>
            <a:r>
              <a:rPr lang="en-US" sz="4800" b="1" dirty="0" smtClean="0">
                <a:solidFill>
                  <a:schemeClr val="bg1"/>
                </a:solidFill>
              </a:rPr>
              <a:t>Clear Objective</a:t>
            </a:r>
            <a:endParaRPr lang="en-US" sz="4800" dirty="0">
              <a:solidFill>
                <a:schemeClr val="bg1"/>
              </a:solidFill>
            </a:endParaRPr>
          </a:p>
        </p:txBody>
      </p:sp>
    </p:spTree>
    <p:extLst>
      <p:ext uri="{BB962C8B-B14F-4D97-AF65-F5344CB8AC3E}">
        <p14:creationId xmlns:p14="http://schemas.microsoft.com/office/powerpoint/2010/main" val="253482025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224644" y="3454717"/>
            <a:ext cx="8739844" cy="400110"/>
          </a:xfrm>
          <a:prstGeom prst="rect">
            <a:avLst/>
          </a:prstGeom>
          <a:noFill/>
        </p:spPr>
        <p:txBody>
          <a:bodyPr wrap="square" rtlCol="0">
            <a:spAutoFit/>
          </a:bodyPr>
          <a:lstStyle/>
          <a:p>
            <a:endParaRPr lang="en-US" sz="2000" dirty="0"/>
          </a:p>
        </p:txBody>
      </p:sp>
      <p:sp>
        <p:nvSpPr>
          <p:cNvPr id="3" name="Rectangle 2"/>
          <p:cNvSpPr/>
          <p:nvPr/>
        </p:nvSpPr>
        <p:spPr>
          <a:xfrm>
            <a:off x="224644" y="411510"/>
            <a:ext cx="8595828" cy="3539430"/>
          </a:xfrm>
          <a:prstGeom prst="rect">
            <a:avLst/>
          </a:prstGeom>
        </p:spPr>
        <p:txBody>
          <a:bodyPr wrap="square">
            <a:spAutoFit/>
          </a:bodyPr>
          <a:lstStyle/>
          <a:p>
            <a:pPr algn="just" fontAlgn="base"/>
            <a:r>
              <a:rPr lang="en-US" sz="2800" dirty="0">
                <a:solidFill>
                  <a:schemeClr val="bg1"/>
                </a:solidFill>
              </a:rPr>
              <a:t>Instead, identify who you are and when you plan on going into business. State what kinds of products or services you’ll be offering and in what industry</a:t>
            </a:r>
            <a:r>
              <a:rPr lang="en-US" sz="2800" dirty="0" smtClean="0">
                <a:solidFill>
                  <a:schemeClr val="bg1"/>
                </a:solidFill>
              </a:rPr>
              <a:t>.</a:t>
            </a:r>
          </a:p>
          <a:p>
            <a:pPr algn="just" fontAlgn="base"/>
            <a:endParaRPr lang="en-US" sz="2800" dirty="0">
              <a:solidFill>
                <a:schemeClr val="bg1"/>
              </a:solidFill>
            </a:endParaRPr>
          </a:p>
          <a:p>
            <a:pPr algn="just" fontAlgn="base"/>
            <a:r>
              <a:rPr lang="en-US" sz="2800" dirty="0">
                <a:solidFill>
                  <a:schemeClr val="bg1"/>
                </a:solidFill>
              </a:rPr>
              <a:t>Keep in mind, this description is a summary, so there’s no reason for you to write a ton. This section should be pretty concise and no more than three or four paragraphs.</a:t>
            </a:r>
          </a:p>
        </p:txBody>
      </p:sp>
      <p:sp>
        <p:nvSpPr>
          <p:cNvPr id="5" name="Rectangle 4"/>
          <p:cNvSpPr/>
          <p:nvPr/>
        </p:nvSpPr>
        <p:spPr>
          <a:xfrm>
            <a:off x="0" y="4155926"/>
            <a:ext cx="9144000" cy="98757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12785567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Box 29"/>
          <p:cNvSpPr txBox="1"/>
          <p:nvPr/>
        </p:nvSpPr>
        <p:spPr>
          <a:xfrm>
            <a:off x="4355976" y="1822652"/>
            <a:ext cx="4680520" cy="1446550"/>
          </a:xfrm>
          <a:prstGeom prst="rect">
            <a:avLst/>
          </a:prstGeom>
          <a:noFill/>
        </p:spPr>
        <p:txBody>
          <a:bodyPr wrap="square" rtlCol="0">
            <a:spAutoFit/>
          </a:bodyPr>
          <a:lstStyle/>
          <a:p>
            <a:r>
              <a:rPr lang="en-US" sz="4400" b="1" dirty="0">
                <a:solidFill>
                  <a:srgbClr val="8FE2FF"/>
                </a:solidFill>
              </a:rPr>
              <a:t>Identify your </a:t>
            </a:r>
            <a:endParaRPr lang="en-US" sz="4400" b="1" dirty="0" smtClean="0">
              <a:solidFill>
                <a:srgbClr val="8FE2FF"/>
              </a:solidFill>
            </a:endParaRPr>
          </a:p>
          <a:p>
            <a:r>
              <a:rPr lang="en-US" sz="4400" b="1" dirty="0" smtClean="0">
                <a:solidFill>
                  <a:schemeClr val="bg1"/>
                </a:solidFill>
              </a:rPr>
              <a:t>Target Market</a:t>
            </a:r>
            <a:endParaRPr lang="en-US" sz="5400" b="1" dirty="0">
              <a:solidFill>
                <a:schemeClr val="bg1"/>
              </a:solidFill>
            </a:endParaRPr>
          </a:p>
        </p:txBody>
      </p:sp>
      <p:pic>
        <p:nvPicPr>
          <p:cNvPr id="3" name="Picture Placeholder 2"/>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t="7272" b="7272"/>
          <a:stretch>
            <a:fillRect/>
          </a:stretch>
        </p:blipFill>
        <p:spPr/>
      </p:pic>
    </p:spTree>
    <p:extLst>
      <p:ext uri="{BB962C8B-B14F-4D97-AF65-F5344CB8AC3E}">
        <p14:creationId xmlns:p14="http://schemas.microsoft.com/office/powerpoint/2010/main" val="321097052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4499992" y="699542"/>
            <a:ext cx="4176464" cy="38884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 name="TextBox 4"/>
          <p:cNvSpPr txBox="1"/>
          <p:nvPr/>
        </p:nvSpPr>
        <p:spPr>
          <a:xfrm>
            <a:off x="251520" y="699542"/>
            <a:ext cx="3960440" cy="3970318"/>
          </a:xfrm>
          <a:prstGeom prst="rect">
            <a:avLst/>
          </a:prstGeom>
          <a:noFill/>
        </p:spPr>
        <p:txBody>
          <a:bodyPr wrap="square" rtlCol="0">
            <a:spAutoFit/>
          </a:bodyPr>
          <a:lstStyle/>
          <a:p>
            <a:pPr algn="justLow" fontAlgn="base"/>
            <a:r>
              <a:rPr lang="en-US" b="1" dirty="0">
                <a:solidFill>
                  <a:schemeClr val="bg1"/>
                </a:solidFill>
              </a:rPr>
              <a:t>Your business isn’t for everyone. Although you may think everyone will love your idea, that’s not a viable business strategy</a:t>
            </a:r>
            <a:r>
              <a:rPr lang="en-US" b="1" dirty="0" smtClean="0">
                <a:solidFill>
                  <a:schemeClr val="bg1"/>
                </a:solidFill>
              </a:rPr>
              <a:t>.</a:t>
            </a:r>
          </a:p>
          <a:p>
            <a:pPr algn="justLow" fontAlgn="base"/>
            <a:endParaRPr lang="en-US" b="1" dirty="0">
              <a:solidFill>
                <a:schemeClr val="bg1"/>
              </a:solidFill>
            </a:endParaRPr>
          </a:p>
          <a:p>
            <a:pPr algn="justLow" fontAlgn="base"/>
            <a:r>
              <a:rPr lang="en-US" b="1" dirty="0">
                <a:solidFill>
                  <a:schemeClr val="bg1"/>
                </a:solidFill>
              </a:rPr>
              <a:t>One of the first steps to launching a successful business is clearly identifying the target market of your startup</a:t>
            </a:r>
            <a:r>
              <a:rPr lang="en-US" b="1" dirty="0" smtClean="0">
                <a:solidFill>
                  <a:schemeClr val="bg1"/>
                </a:solidFill>
              </a:rPr>
              <a:t>.</a:t>
            </a:r>
          </a:p>
          <a:p>
            <a:pPr algn="justLow" fontAlgn="base"/>
            <a:endParaRPr lang="en-US" b="1" dirty="0">
              <a:solidFill>
                <a:schemeClr val="bg1"/>
              </a:solidFill>
            </a:endParaRPr>
          </a:p>
          <a:p>
            <a:pPr algn="justLow" fontAlgn="base"/>
            <a:r>
              <a:rPr lang="en-US" b="1" dirty="0">
                <a:solidFill>
                  <a:schemeClr val="bg1"/>
                </a:solidFill>
              </a:rPr>
              <a:t>But to find out whom you’ll target, you need to conduct market research.</a:t>
            </a:r>
          </a:p>
          <a:p>
            <a:pPr algn="justLow"/>
            <a:endParaRPr lang="en-US" b="1" dirty="0">
              <a:solidFill>
                <a:schemeClr val="bg1"/>
              </a:solidFill>
            </a:endParaRPr>
          </a:p>
        </p:txBody>
      </p:sp>
      <p:pic>
        <p:nvPicPr>
          <p:cNvPr id="6" name="Content Placeholder 3" descr="image8 3">
            <a:extLst>
              <a:ext uri="{FF2B5EF4-FFF2-40B4-BE49-F238E27FC236}">
                <a16:creationId xmlns="" xmlns:a16="http://schemas.microsoft.com/office/drawing/2014/main" id="{C115A5D9-9A62-40FD-B3C0-BE8B62867B01}"/>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4518123" y="777077"/>
            <a:ext cx="4021501" cy="3733361"/>
          </a:xfrm>
          <a:prstGeom prst="rect">
            <a:avLst/>
          </a:prstGeom>
          <a:noFill/>
          <a:ln>
            <a:noFill/>
          </a:ln>
        </p:spPr>
      </p:pic>
    </p:spTree>
    <p:extLst>
      <p:ext uri="{BB962C8B-B14F-4D97-AF65-F5344CB8AC3E}">
        <p14:creationId xmlns:p14="http://schemas.microsoft.com/office/powerpoint/2010/main" val="335902004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p:cNvSpPr txBox="1"/>
          <p:nvPr/>
        </p:nvSpPr>
        <p:spPr>
          <a:xfrm>
            <a:off x="179512" y="771550"/>
            <a:ext cx="6447365" cy="3416320"/>
          </a:xfrm>
          <a:prstGeom prst="rect">
            <a:avLst/>
          </a:prstGeom>
          <a:noFill/>
        </p:spPr>
        <p:txBody>
          <a:bodyPr wrap="square" rtlCol="0">
            <a:spAutoFit/>
          </a:bodyPr>
          <a:lstStyle/>
          <a:p>
            <a:pPr fontAlgn="base"/>
            <a:r>
              <a:rPr lang="en-US" sz="2400" dirty="0">
                <a:solidFill>
                  <a:srgbClr val="8FE2FF"/>
                </a:solidFill>
              </a:rPr>
              <a:t>To figure out your target market, start with broad assumptions and slowly narrow it down. Typically, the best way to segment your audience is using these four categories</a:t>
            </a:r>
            <a:r>
              <a:rPr lang="en-US" sz="2400" dirty="0" smtClean="0">
                <a:solidFill>
                  <a:srgbClr val="8FE2FF"/>
                </a:solidFill>
              </a:rPr>
              <a:t>:</a:t>
            </a:r>
          </a:p>
          <a:p>
            <a:pPr fontAlgn="base"/>
            <a:endParaRPr lang="en-US" sz="2400" dirty="0"/>
          </a:p>
          <a:p>
            <a:pPr marL="342900" indent="-342900" fontAlgn="base">
              <a:buFont typeface="Arial" panose="020B0604020202020204" pitchFamily="34" charset="0"/>
              <a:buChar char="•"/>
            </a:pPr>
            <a:r>
              <a:rPr lang="en-US" sz="2400" b="1" dirty="0">
                <a:solidFill>
                  <a:schemeClr val="bg1"/>
                </a:solidFill>
              </a:rPr>
              <a:t>geographic</a:t>
            </a:r>
          </a:p>
          <a:p>
            <a:pPr marL="342900" indent="-342900" fontAlgn="base">
              <a:buFont typeface="Arial" panose="020B0604020202020204" pitchFamily="34" charset="0"/>
              <a:buChar char="•"/>
            </a:pPr>
            <a:r>
              <a:rPr lang="en-US" sz="2400" b="1" dirty="0">
                <a:solidFill>
                  <a:schemeClr val="bg1"/>
                </a:solidFill>
              </a:rPr>
              <a:t>demographic</a:t>
            </a:r>
          </a:p>
          <a:p>
            <a:pPr marL="342900" indent="-342900" fontAlgn="base">
              <a:buFont typeface="Arial" panose="020B0604020202020204" pitchFamily="34" charset="0"/>
              <a:buChar char="•"/>
            </a:pPr>
            <a:r>
              <a:rPr lang="en-US" sz="2400" b="1" dirty="0">
                <a:solidFill>
                  <a:schemeClr val="bg1"/>
                </a:solidFill>
              </a:rPr>
              <a:t>psychographic</a:t>
            </a:r>
          </a:p>
          <a:p>
            <a:pPr marL="342900" indent="-342900" fontAlgn="base">
              <a:buFont typeface="Arial" panose="020B0604020202020204" pitchFamily="34" charset="0"/>
              <a:buChar char="•"/>
            </a:pPr>
            <a:r>
              <a:rPr lang="en-US" sz="2400" b="1" dirty="0">
                <a:solidFill>
                  <a:schemeClr val="bg1"/>
                </a:solidFill>
              </a:rPr>
              <a:t>behavioral</a:t>
            </a:r>
          </a:p>
        </p:txBody>
      </p:sp>
      <p:pic>
        <p:nvPicPr>
          <p:cNvPr id="7" name="Picture Placeholder 6"/>
          <p:cNvPicPr>
            <a:picLocks noGrp="1" noChangeAspect="1"/>
          </p:cNvPicPr>
          <p:nvPr>
            <p:ph type="pic" idx="1"/>
          </p:nvPr>
        </p:nvPicPr>
        <p:blipFill>
          <a:blip r:embed="rId2">
            <a:extLst>
              <a:ext uri="{28A0092B-C50C-407E-A947-70E740481C1C}">
                <a14:useLocalDpi xmlns:a14="http://schemas.microsoft.com/office/drawing/2010/main" val="0"/>
              </a:ext>
            </a:extLst>
          </a:blip>
          <a:srcRect l="20177" r="20177"/>
          <a:stretch>
            <a:fillRect/>
          </a:stretch>
        </p:blipFill>
        <p:spPr>
          <a:solidFill>
            <a:schemeClr val="bg1"/>
          </a:solidFill>
        </p:spPr>
      </p:pic>
    </p:spTree>
    <p:extLst>
      <p:ext uri="{BB962C8B-B14F-4D97-AF65-F5344CB8AC3E}">
        <p14:creationId xmlns:p14="http://schemas.microsoft.com/office/powerpoint/2010/main" val="383696151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3608" y="3284959"/>
            <a:ext cx="2274882" cy="6995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grpSp>
        <p:nvGrpSpPr>
          <p:cNvPr id="20481" name="Group 20480"/>
          <p:cNvGrpSpPr/>
          <p:nvPr/>
        </p:nvGrpSpPr>
        <p:grpSpPr>
          <a:xfrm>
            <a:off x="1619672" y="1541512"/>
            <a:ext cx="6765723" cy="1816297"/>
            <a:chOff x="1291353" y="1755670"/>
            <a:chExt cx="7025063" cy="1816297"/>
          </a:xfrm>
        </p:grpSpPr>
        <p:sp>
          <p:nvSpPr>
            <p:cNvPr id="22" name="Block Arc 21"/>
            <p:cNvSpPr/>
            <p:nvPr/>
          </p:nvSpPr>
          <p:spPr>
            <a:xfrm>
              <a:off x="6500119" y="1755670"/>
              <a:ext cx="1816297" cy="1816297"/>
            </a:xfrm>
            <a:prstGeom prst="blockArc">
              <a:avLst>
                <a:gd name="adj1" fmla="val 16127381"/>
                <a:gd name="adj2" fmla="val 5490194"/>
                <a:gd name="adj3" fmla="val 4041"/>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chemeClr val="tx1"/>
                </a:solidFill>
              </a:endParaRPr>
            </a:p>
          </p:txBody>
        </p:sp>
        <p:sp>
          <p:nvSpPr>
            <p:cNvPr id="20480" name="Rectangle 20479"/>
            <p:cNvSpPr/>
            <p:nvPr/>
          </p:nvSpPr>
          <p:spPr>
            <a:xfrm>
              <a:off x="1291353" y="1755670"/>
              <a:ext cx="6156000" cy="72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34" name="Rectangle 33"/>
            <p:cNvSpPr/>
            <p:nvPr/>
          </p:nvSpPr>
          <p:spPr>
            <a:xfrm>
              <a:off x="2340248" y="3499967"/>
              <a:ext cx="5112000" cy="72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sp>
        <p:nvSpPr>
          <p:cNvPr id="3" name="Text Placeholder 2"/>
          <p:cNvSpPr>
            <a:spLocks noGrp="1"/>
          </p:cNvSpPr>
          <p:nvPr>
            <p:ph type="body" sz="quarter" idx="4294967295"/>
          </p:nvPr>
        </p:nvSpPr>
        <p:spPr>
          <a:xfrm>
            <a:off x="251520" y="349606"/>
            <a:ext cx="9144000" cy="287337"/>
          </a:xfrm>
          <a:prstGeom prst="rect">
            <a:avLst/>
          </a:prstGeom>
        </p:spPr>
        <p:txBody>
          <a:bodyPr/>
          <a:lstStyle/>
          <a:p>
            <a:pPr marL="0" lvl="0" indent="0">
              <a:buNone/>
            </a:pPr>
            <a:r>
              <a:rPr lang="en-US" b="1" dirty="0">
                <a:solidFill>
                  <a:schemeClr val="bg1"/>
                </a:solidFill>
              </a:rPr>
              <a:t>Start with things like:</a:t>
            </a:r>
          </a:p>
        </p:txBody>
      </p:sp>
      <p:grpSp>
        <p:nvGrpSpPr>
          <p:cNvPr id="8" name="Group 7"/>
          <p:cNvGrpSpPr/>
          <p:nvPr/>
        </p:nvGrpSpPr>
        <p:grpSpPr>
          <a:xfrm>
            <a:off x="3609680" y="1130448"/>
            <a:ext cx="914400" cy="914400"/>
            <a:chOff x="5364088" y="2787774"/>
            <a:chExt cx="914400" cy="914400"/>
          </a:xfrm>
        </p:grpSpPr>
        <p:sp>
          <p:nvSpPr>
            <p:cNvPr id="9" name="Oval 8"/>
            <p:cNvSpPr/>
            <p:nvPr/>
          </p:nvSpPr>
          <p:spPr>
            <a:xfrm>
              <a:off x="5364088" y="2787774"/>
              <a:ext cx="914400" cy="914400"/>
            </a:xfrm>
            <a:prstGeom prst="ellipse">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chemeClr val="tx1"/>
                </a:solidFill>
              </a:endParaRPr>
            </a:p>
          </p:txBody>
        </p:sp>
        <p:sp>
          <p:nvSpPr>
            <p:cNvPr id="10" name="Oval 9"/>
            <p:cNvSpPr/>
            <p:nvPr/>
          </p:nvSpPr>
          <p:spPr>
            <a:xfrm>
              <a:off x="5443246" y="2866932"/>
              <a:ext cx="756084" cy="75608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grpSp>
        <p:nvGrpSpPr>
          <p:cNvPr id="11" name="Group 10"/>
          <p:cNvGrpSpPr/>
          <p:nvPr/>
        </p:nvGrpSpPr>
        <p:grpSpPr>
          <a:xfrm>
            <a:off x="6297163" y="1130448"/>
            <a:ext cx="914400" cy="914400"/>
            <a:chOff x="5364088" y="2787774"/>
            <a:chExt cx="914400" cy="914400"/>
          </a:xfrm>
        </p:grpSpPr>
        <p:sp>
          <p:nvSpPr>
            <p:cNvPr id="12" name="Oval 11"/>
            <p:cNvSpPr/>
            <p:nvPr/>
          </p:nvSpPr>
          <p:spPr>
            <a:xfrm>
              <a:off x="5364088" y="2787774"/>
              <a:ext cx="914400" cy="914400"/>
            </a:xfrm>
            <a:prstGeom prst="ellipse">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chemeClr val="tx1"/>
                </a:solidFill>
              </a:endParaRPr>
            </a:p>
          </p:txBody>
        </p:sp>
        <p:sp>
          <p:nvSpPr>
            <p:cNvPr id="13" name="Oval 12"/>
            <p:cNvSpPr/>
            <p:nvPr/>
          </p:nvSpPr>
          <p:spPr>
            <a:xfrm>
              <a:off x="5443246" y="2866932"/>
              <a:ext cx="756084" cy="75608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grpSp>
        <p:nvGrpSpPr>
          <p:cNvPr id="14" name="Group 13"/>
          <p:cNvGrpSpPr/>
          <p:nvPr/>
        </p:nvGrpSpPr>
        <p:grpSpPr>
          <a:xfrm>
            <a:off x="2265939" y="2863724"/>
            <a:ext cx="914400" cy="914400"/>
            <a:chOff x="5364088" y="2787774"/>
            <a:chExt cx="914400" cy="914400"/>
          </a:xfrm>
        </p:grpSpPr>
        <p:sp>
          <p:nvSpPr>
            <p:cNvPr id="15" name="Oval 14"/>
            <p:cNvSpPr/>
            <p:nvPr/>
          </p:nvSpPr>
          <p:spPr>
            <a:xfrm>
              <a:off x="5364088" y="2787774"/>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6" name="Oval 15"/>
            <p:cNvSpPr/>
            <p:nvPr/>
          </p:nvSpPr>
          <p:spPr>
            <a:xfrm>
              <a:off x="5443246" y="2866932"/>
              <a:ext cx="756084" cy="75608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grpSp>
        <p:nvGrpSpPr>
          <p:cNvPr id="17" name="Group 16"/>
          <p:cNvGrpSpPr/>
          <p:nvPr/>
        </p:nvGrpSpPr>
        <p:grpSpPr>
          <a:xfrm>
            <a:off x="4953422" y="2863724"/>
            <a:ext cx="914400" cy="914400"/>
            <a:chOff x="5364088" y="2787774"/>
            <a:chExt cx="914400" cy="914400"/>
          </a:xfrm>
        </p:grpSpPr>
        <p:sp>
          <p:nvSpPr>
            <p:cNvPr id="18" name="Oval 17"/>
            <p:cNvSpPr/>
            <p:nvPr/>
          </p:nvSpPr>
          <p:spPr>
            <a:xfrm>
              <a:off x="5364088" y="2787774"/>
              <a:ext cx="914400" cy="914400"/>
            </a:xfrm>
            <a:prstGeom prst="ellipse">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chemeClr val="tx1"/>
                </a:solidFill>
              </a:endParaRPr>
            </a:p>
          </p:txBody>
        </p:sp>
        <p:sp>
          <p:nvSpPr>
            <p:cNvPr id="19" name="Oval 18"/>
            <p:cNvSpPr/>
            <p:nvPr/>
          </p:nvSpPr>
          <p:spPr>
            <a:xfrm>
              <a:off x="5443246" y="2866932"/>
              <a:ext cx="756084" cy="75608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grpSp>
        <p:nvGrpSpPr>
          <p:cNvPr id="23" name="Group 22"/>
          <p:cNvGrpSpPr/>
          <p:nvPr/>
        </p:nvGrpSpPr>
        <p:grpSpPr>
          <a:xfrm>
            <a:off x="5257220" y="1434246"/>
            <a:ext cx="306803" cy="306803"/>
            <a:chOff x="1547664" y="3147814"/>
            <a:chExt cx="720080" cy="720080"/>
          </a:xfrm>
        </p:grpSpPr>
        <p:sp>
          <p:nvSpPr>
            <p:cNvPr id="24" name="Oval 23"/>
            <p:cNvSpPr/>
            <p:nvPr/>
          </p:nvSpPr>
          <p:spPr>
            <a:xfrm>
              <a:off x="1547664" y="3147814"/>
              <a:ext cx="720080" cy="720080"/>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25" name="Chevron 24"/>
            <p:cNvSpPr/>
            <p:nvPr/>
          </p:nvSpPr>
          <p:spPr>
            <a:xfrm>
              <a:off x="1741237" y="3312127"/>
              <a:ext cx="391455" cy="391455"/>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bg1"/>
                </a:solidFill>
              </a:endParaRPr>
            </a:p>
          </p:txBody>
        </p:sp>
      </p:grpSp>
      <p:grpSp>
        <p:nvGrpSpPr>
          <p:cNvPr id="26" name="Group 25"/>
          <p:cNvGrpSpPr/>
          <p:nvPr/>
        </p:nvGrpSpPr>
        <p:grpSpPr>
          <a:xfrm rot="10800000">
            <a:off x="3913479" y="3167523"/>
            <a:ext cx="306803" cy="306803"/>
            <a:chOff x="1547664" y="3147814"/>
            <a:chExt cx="720080" cy="720080"/>
          </a:xfrm>
        </p:grpSpPr>
        <p:sp>
          <p:nvSpPr>
            <p:cNvPr id="27" name="Oval 26"/>
            <p:cNvSpPr/>
            <p:nvPr/>
          </p:nvSpPr>
          <p:spPr>
            <a:xfrm>
              <a:off x="1547664" y="3147814"/>
              <a:ext cx="720080" cy="720080"/>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28" name="Chevron 27"/>
            <p:cNvSpPr/>
            <p:nvPr/>
          </p:nvSpPr>
          <p:spPr>
            <a:xfrm>
              <a:off x="1741237" y="3312127"/>
              <a:ext cx="391455" cy="391455"/>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bg1"/>
                </a:solidFill>
              </a:endParaRPr>
            </a:p>
          </p:txBody>
        </p:sp>
      </p:grpSp>
      <p:grpSp>
        <p:nvGrpSpPr>
          <p:cNvPr id="29" name="Group 28"/>
          <p:cNvGrpSpPr/>
          <p:nvPr/>
        </p:nvGrpSpPr>
        <p:grpSpPr>
          <a:xfrm rot="5400000">
            <a:off x="8169371" y="2300884"/>
            <a:ext cx="306803" cy="306803"/>
            <a:chOff x="1547664" y="3147814"/>
            <a:chExt cx="720080" cy="720080"/>
          </a:xfrm>
        </p:grpSpPr>
        <p:sp>
          <p:nvSpPr>
            <p:cNvPr id="30" name="Oval 29"/>
            <p:cNvSpPr/>
            <p:nvPr/>
          </p:nvSpPr>
          <p:spPr>
            <a:xfrm>
              <a:off x="1547664" y="3147814"/>
              <a:ext cx="720080" cy="720080"/>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31" name="Chevron 30"/>
            <p:cNvSpPr/>
            <p:nvPr/>
          </p:nvSpPr>
          <p:spPr>
            <a:xfrm>
              <a:off x="1741237" y="3312127"/>
              <a:ext cx="391455" cy="391455"/>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bg1"/>
                </a:solidFill>
              </a:endParaRPr>
            </a:p>
          </p:txBody>
        </p:sp>
      </p:grpSp>
      <p:sp>
        <p:nvSpPr>
          <p:cNvPr id="45" name="TextBox 44"/>
          <p:cNvSpPr txBox="1"/>
          <p:nvPr/>
        </p:nvSpPr>
        <p:spPr>
          <a:xfrm>
            <a:off x="2063929" y="1872375"/>
            <a:ext cx="2509123" cy="420628"/>
          </a:xfrm>
          <a:prstGeom prst="rect">
            <a:avLst/>
          </a:prstGeom>
          <a:noFill/>
        </p:spPr>
        <p:txBody>
          <a:bodyPr wrap="square" rtlCol="0">
            <a:spAutoFit/>
          </a:bodyPr>
          <a:lstStyle/>
          <a:p>
            <a:pPr lvl="0" algn="ctr"/>
            <a:r>
              <a:rPr lang="en-US" sz="3200" b="1" baseline="-25000" dirty="0" smtClean="0">
                <a:solidFill>
                  <a:schemeClr val="bg1"/>
                </a:solidFill>
              </a:rPr>
              <a:t>Age</a:t>
            </a:r>
            <a:endParaRPr lang="en-US" sz="3200" b="1" baseline="-25000" dirty="0">
              <a:solidFill>
                <a:schemeClr val="bg1"/>
              </a:solidFill>
            </a:endParaRPr>
          </a:p>
        </p:txBody>
      </p:sp>
      <p:grpSp>
        <p:nvGrpSpPr>
          <p:cNvPr id="57" name="Group 56"/>
          <p:cNvGrpSpPr/>
          <p:nvPr/>
        </p:nvGrpSpPr>
        <p:grpSpPr>
          <a:xfrm>
            <a:off x="1531220" y="1420666"/>
            <a:ext cx="306803" cy="306803"/>
            <a:chOff x="1547664" y="3147814"/>
            <a:chExt cx="720080" cy="720080"/>
          </a:xfrm>
        </p:grpSpPr>
        <p:sp>
          <p:nvSpPr>
            <p:cNvPr id="58" name="Oval 57"/>
            <p:cNvSpPr/>
            <p:nvPr/>
          </p:nvSpPr>
          <p:spPr>
            <a:xfrm>
              <a:off x="1547664" y="3147814"/>
              <a:ext cx="720080" cy="720080"/>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59" name="Chevron 58"/>
            <p:cNvSpPr/>
            <p:nvPr/>
          </p:nvSpPr>
          <p:spPr>
            <a:xfrm>
              <a:off x="1741237" y="3312127"/>
              <a:ext cx="391455" cy="391455"/>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bg1"/>
                </a:solidFill>
              </a:endParaRPr>
            </a:p>
          </p:txBody>
        </p:sp>
      </p:grpSp>
      <p:sp>
        <p:nvSpPr>
          <p:cNvPr id="35" name="TextBox 34"/>
          <p:cNvSpPr txBox="1"/>
          <p:nvPr/>
        </p:nvSpPr>
        <p:spPr>
          <a:xfrm>
            <a:off x="3820756" y="1254085"/>
            <a:ext cx="442497" cy="707886"/>
          </a:xfrm>
          <a:prstGeom prst="rect">
            <a:avLst/>
          </a:prstGeom>
          <a:noFill/>
        </p:spPr>
        <p:txBody>
          <a:bodyPr wrap="square" rtlCol="0">
            <a:spAutoFit/>
          </a:bodyPr>
          <a:lstStyle/>
          <a:p>
            <a:r>
              <a:rPr lang="ar-EG" sz="4000" dirty="0" smtClean="0">
                <a:solidFill>
                  <a:srgbClr val="8FE2FF"/>
                </a:solidFill>
              </a:rPr>
              <a:t>1</a:t>
            </a:r>
            <a:endParaRPr lang="en-US" sz="4000" dirty="0">
              <a:solidFill>
                <a:srgbClr val="8FE2FF"/>
              </a:solidFill>
            </a:endParaRPr>
          </a:p>
        </p:txBody>
      </p:sp>
      <p:sp>
        <p:nvSpPr>
          <p:cNvPr id="61" name="TextBox 60"/>
          <p:cNvSpPr txBox="1"/>
          <p:nvPr/>
        </p:nvSpPr>
        <p:spPr>
          <a:xfrm>
            <a:off x="6505767" y="1213513"/>
            <a:ext cx="442497" cy="707886"/>
          </a:xfrm>
          <a:prstGeom prst="rect">
            <a:avLst/>
          </a:prstGeom>
          <a:noFill/>
        </p:spPr>
        <p:txBody>
          <a:bodyPr wrap="square" rtlCol="0">
            <a:spAutoFit/>
          </a:bodyPr>
          <a:lstStyle/>
          <a:p>
            <a:r>
              <a:rPr lang="ar-EG" sz="4000" dirty="0" smtClean="0">
                <a:solidFill>
                  <a:srgbClr val="8FE2FF"/>
                </a:solidFill>
              </a:rPr>
              <a:t>2</a:t>
            </a:r>
            <a:endParaRPr lang="en-US" sz="4000" dirty="0">
              <a:solidFill>
                <a:srgbClr val="8FE2FF"/>
              </a:solidFill>
            </a:endParaRPr>
          </a:p>
        </p:txBody>
      </p:sp>
      <p:sp>
        <p:nvSpPr>
          <p:cNvPr id="62" name="TextBox 61"/>
          <p:cNvSpPr txBox="1"/>
          <p:nvPr/>
        </p:nvSpPr>
        <p:spPr>
          <a:xfrm>
            <a:off x="2471088" y="2961296"/>
            <a:ext cx="442497" cy="707886"/>
          </a:xfrm>
          <a:prstGeom prst="rect">
            <a:avLst/>
          </a:prstGeom>
          <a:noFill/>
        </p:spPr>
        <p:txBody>
          <a:bodyPr wrap="square" rtlCol="0">
            <a:spAutoFit/>
          </a:bodyPr>
          <a:lstStyle/>
          <a:p>
            <a:r>
              <a:rPr lang="ar-EG" sz="4000" dirty="0" smtClean="0">
                <a:solidFill>
                  <a:srgbClr val="8FE2FF"/>
                </a:solidFill>
              </a:rPr>
              <a:t>4</a:t>
            </a:r>
            <a:endParaRPr lang="en-US" sz="4000" dirty="0">
              <a:solidFill>
                <a:srgbClr val="8FE2FF"/>
              </a:solidFill>
            </a:endParaRPr>
          </a:p>
        </p:txBody>
      </p:sp>
      <p:sp>
        <p:nvSpPr>
          <p:cNvPr id="63" name="TextBox 62"/>
          <p:cNvSpPr txBox="1"/>
          <p:nvPr/>
        </p:nvSpPr>
        <p:spPr>
          <a:xfrm>
            <a:off x="5164498" y="2967866"/>
            <a:ext cx="442497" cy="707886"/>
          </a:xfrm>
          <a:prstGeom prst="rect">
            <a:avLst/>
          </a:prstGeom>
          <a:noFill/>
        </p:spPr>
        <p:txBody>
          <a:bodyPr wrap="square" rtlCol="0">
            <a:spAutoFit/>
          </a:bodyPr>
          <a:lstStyle/>
          <a:p>
            <a:r>
              <a:rPr lang="ar-EG" sz="4000" dirty="0" smtClean="0">
                <a:solidFill>
                  <a:srgbClr val="8FE2FF"/>
                </a:solidFill>
              </a:rPr>
              <a:t>3</a:t>
            </a:r>
            <a:endParaRPr lang="en-US" sz="4000" dirty="0">
              <a:solidFill>
                <a:srgbClr val="8FE2FF"/>
              </a:solidFill>
            </a:endParaRPr>
          </a:p>
        </p:txBody>
      </p:sp>
      <p:sp>
        <p:nvSpPr>
          <p:cNvPr id="56" name="Rectangle 55"/>
          <p:cNvSpPr/>
          <p:nvPr/>
        </p:nvSpPr>
        <p:spPr>
          <a:xfrm>
            <a:off x="0" y="4587974"/>
            <a:ext cx="9144000" cy="555526"/>
          </a:xfrm>
          <a:prstGeom prst="rect">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42" name="TextBox 41"/>
          <p:cNvSpPr txBox="1"/>
          <p:nvPr/>
        </p:nvSpPr>
        <p:spPr>
          <a:xfrm>
            <a:off x="4667100" y="1966069"/>
            <a:ext cx="2509123" cy="461665"/>
          </a:xfrm>
          <a:prstGeom prst="rect">
            <a:avLst/>
          </a:prstGeom>
          <a:noFill/>
        </p:spPr>
        <p:txBody>
          <a:bodyPr wrap="square" rtlCol="0">
            <a:spAutoFit/>
          </a:bodyPr>
          <a:lstStyle/>
          <a:p>
            <a:pPr lvl="0" algn="ctr"/>
            <a:r>
              <a:rPr lang="en-US" sz="2400" b="1" dirty="0" smtClean="0">
                <a:solidFill>
                  <a:schemeClr val="bg1"/>
                </a:solidFill>
              </a:rPr>
              <a:t>Gender</a:t>
            </a:r>
            <a:endParaRPr lang="en-US" sz="2400" b="1" dirty="0">
              <a:solidFill>
                <a:schemeClr val="bg1"/>
              </a:solidFill>
            </a:endParaRPr>
          </a:p>
        </p:txBody>
      </p:sp>
      <p:grpSp>
        <p:nvGrpSpPr>
          <p:cNvPr id="44" name="Group 43"/>
          <p:cNvGrpSpPr/>
          <p:nvPr/>
        </p:nvGrpSpPr>
        <p:grpSpPr>
          <a:xfrm>
            <a:off x="328581" y="2811449"/>
            <a:ext cx="914400" cy="914400"/>
            <a:chOff x="5364088" y="2787774"/>
            <a:chExt cx="914400" cy="914400"/>
          </a:xfrm>
        </p:grpSpPr>
        <p:sp>
          <p:nvSpPr>
            <p:cNvPr id="46" name="Oval 45"/>
            <p:cNvSpPr/>
            <p:nvPr/>
          </p:nvSpPr>
          <p:spPr>
            <a:xfrm>
              <a:off x="5364088" y="2787774"/>
              <a:ext cx="914400" cy="914400"/>
            </a:xfrm>
            <a:prstGeom prst="ellipse">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47" name="Oval 46"/>
            <p:cNvSpPr/>
            <p:nvPr/>
          </p:nvSpPr>
          <p:spPr>
            <a:xfrm>
              <a:off x="5443246" y="2866932"/>
              <a:ext cx="756084" cy="75608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sp>
        <p:nvSpPr>
          <p:cNvPr id="48" name="TextBox 47"/>
          <p:cNvSpPr txBox="1"/>
          <p:nvPr/>
        </p:nvSpPr>
        <p:spPr>
          <a:xfrm>
            <a:off x="525064" y="2883588"/>
            <a:ext cx="442497" cy="707886"/>
          </a:xfrm>
          <a:prstGeom prst="rect">
            <a:avLst/>
          </a:prstGeom>
          <a:noFill/>
        </p:spPr>
        <p:txBody>
          <a:bodyPr wrap="square" rtlCol="0">
            <a:spAutoFit/>
          </a:bodyPr>
          <a:lstStyle/>
          <a:p>
            <a:r>
              <a:rPr lang="en-US" sz="4000" dirty="0" smtClean="0">
                <a:solidFill>
                  <a:srgbClr val="8FE2FF"/>
                </a:solidFill>
              </a:rPr>
              <a:t>5</a:t>
            </a:r>
            <a:endParaRPr lang="en-US" sz="4000" dirty="0">
              <a:solidFill>
                <a:srgbClr val="8FE2FF"/>
              </a:solidFill>
            </a:endParaRPr>
          </a:p>
        </p:txBody>
      </p:sp>
      <p:sp>
        <p:nvSpPr>
          <p:cNvPr id="51" name="TextBox 50"/>
          <p:cNvSpPr txBox="1"/>
          <p:nvPr/>
        </p:nvSpPr>
        <p:spPr>
          <a:xfrm>
            <a:off x="4217892" y="3888950"/>
            <a:ext cx="2509123" cy="461665"/>
          </a:xfrm>
          <a:prstGeom prst="rect">
            <a:avLst/>
          </a:prstGeom>
          <a:noFill/>
        </p:spPr>
        <p:txBody>
          <a:bodyPr wrap="square" rtlCol="0">
            <a:spAutoFit/>
          </a:bodyPr>
          <a:lstStyle/>
          <a:p>
            <a:pPr lvl="0" algn="ctr"/>
            <a:r>
              <a:rPr lang="en-US" sz="2400" b="1" dirty="0">
                <a:solidFill>
                  <a:schemeClr val="bg1"/>
                </a:solidFill>
              </a:rPr>
              <a:t>income level</a:t>
            </a:r>
          </a:p>
        </p:txBody>
      </p:sp>
      <p:sp>
        <p:nvSpPr>
          <p:cNvPr id="52" name="TextBox 51"/>
          <p:cNvSpPr txBox="1"/>
          <p:nvPr/>
        </p:nvSpPr>
        <p:spPr>
          <a:xfrm>
            <a:off x="1461896" y="3882303"/>
            <a:ext cx="2509123" cy="461665"/>
          </a:xfrm>
          <a:prstGeom prst="rect">
            <a:avLst/>
          </a:prstGeom>
          <a:noFill/>
        </p:spPr>
        <p:txBody>
          <a:bodyPr wrap="square" rtlCol="0">
            <a:spAutoFit/>
          </a:bodyPr>
          <a:lstStyle/>
          <a:p>
            <a:pPr lvl="0" algn="ctr"/>
            <a:r>
              <a:rPr lang="en-US" sz="2400" b="1" dirty="0">
                <a:solidFill>
                  <a:schemeClr val="bg1"/>
                </a:solidFill>
              </a:rPr>
              <a:t>ethnicity</a:t>
            </a:r>
          </a:p>
        </p:txBody>
      </p:sp>
      <p:sp>
        <p:nvSpPr>
          <p:cNvPr id="53" name="TextBox 52"/>
          <p:cNvSpPr txBox="1"/>
          <p:nvPr/>
        </p:nvSpPr>
        <p:spPr>
          <a:xfrm>
            <a:off x="-468781" y="3843812"/>
            <a:ext cx="2509123" cy="461665"/>
          </a:xfrm>
          <a:prstGeom prst="rect">
            <a:avLst/>
          </a:prstGeom>
          <a:noFill/>
        </p:spPr>
        <p:txBody>
          <a:bodyPr wrap="square" rtlCol="0">
            <a:spAutoFit/>
          </a:bodyPr>
          <a:lstStyle/>
          <a:p>
            <a:pPr lvl="0" algn="ctr"/>
            <a:r>
              <a:rPr lang="en-US" sz="2400" b="1" dirty="0">
                <a:solidFill>
                  <a:schemeClr val="bg1"/>
                </a:solidFill>
              </a:rPr>
              <a:t>location</a:t>
            </a:r>
          </a:p>
        </p:txBody>
      </p:sp>
    </p:spTree>
    <p:extLst>
      <p:ext uri="{BB962C8B-B14F-4D97-AF65-F5344CB8AC3E}">
        <p14:creationId xmlns:p14="http://schemas.microsoft.com/office/powerpoint/2010/main" val="184446291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267494"/>
            <a:ext cx="8640960" cy="4662815"/>
          </a:xfrm>
          <a:prstGeom prst="rect">
            <a:avLst/>
          </a:prstGeom>
          <a:noFill/>
        </p:spPr>
        <p:txBody>
          <a:bodyPr wrap="square" rtlCol="0">
            <a:spAutoFit/>
          </a:bodyPr>
          <a:lstStyle/>
          <a:p>
            <a:pPr fontAlgn="base"/>
            <a:r>
              <a:rPr lang="en-US" dirty="0">
                <a:solidFill>
                  <a:schemeClr val="bg1"/>
                </a:solidFill>
              </a:rPr>
              <a:t>But as you continue going through your market research, you can get even more specific. You can target customers living in New England, for example</a:t>
            </a:r>
            <a:r>
              <a:rPr lang="en-US" dirty="0" smtClean="0">
                <a:solidFill>
                  <a:schemeClr val="bg1"/>
                </a:solidFill>
              </a:rPr>
              <a:t>.</a:t>
            </a:r>
          </a:p>
          <a:p>
            <a:pPr fontAlgn="base"/>
            <a:endParaRPr lang="en-US" dirty="0">
              <a:solidFill>
                <a:schemeClr val="bg1"/>
              </a:solidFill>
            </a:endParaRPr>
          </a:p>
          <a:p>
            <a:pPr fontAlgn="base"/>
            <a:endParaRPr lang="en-US" dirty="0" smtClean="0">
              <a:solidFill>
                <a:schemeClr val="bg1"/>
              </a:solidFill>
            </a:endParaRPr>
          </a:p>
          <a:p>
            <a:pPr fontAlgn="base"/>
            <a:endParaRPr lang="en-US" dirty="0">
              <a:solidFill>
                <a:schemeClr val="bg1"/>
              </a:solidFill>
            </a:endParaRPr>
          </a:p>
          <a:p>
            <a:pPr fontAlgn="base"/>
            <a:r>
              <a:rPr lang="en-US" b="1" i="1" dirty="0">
                <a:solidFill>
                  <a:schemeClr val="bg1"/>
                </a:solidFill>
              </a:rPr>
              <a:t>By the time you’re finished, the target market could look something like this</a:t>
            </a:r>
            <a:r>
              <a:rPr lang="en-US" b="1" i="1" dirty="0" smtClean="0">
                <a:solidFill>
                  <a:schemeClr val="bg1"/>
                </a:solidFill>
              </a:rPr>
              <a:t>:</a:t>
            </a:r>
          </a:p>
          <a:p>
            <a:pPr fontAlgn="base"/>
            <a:endParaRPr lang="en-US" b="1" i="1" dirty="0" smtClean="0">
              <a:solidFill>
                <a:schemeClr val="bg1"/>
              </a:solidFill>
            </a:endParaRPr>
          </a:p>
          <a:p>
            <a:pPr fontAlgn="base"/>
            <a:endParaRPr lang="en-US" dirty="0">
              <a:solidFill>
                <a:schemeClr val="bg1"/>
              </a:solidFill>
            </a:endParaRPr>
          </a:p>
          <a:p>
            <a:pPr marL="285750" indent="-285750" fontAlgn="base">
              <a:lnSpc>
                <a:spcPct val="150000"/>
              </a:lnSpc>
              <a:buFont typeface="Arial" panose="020B0604020202020204" pitchFamily="34" charset="0"/>
              <a:buChar char="•"/>
            </a:pPr>
            <a:r>
              <a:rPr lang="en-US" b="1" dirty="0">
                <a:solidFill>
                  <a:srgbClr val="8FE2FF"/>
                </a:solidFill>
              </a:rPr>
              <a:t>males</a:t>
            </a:r>
          </a:p>
          <a:p>
            <a:pPr marL="285750" indent="-285750" fontAlgn="base">
              <a:lnSpc>
                <a:spcPct val="150000"/>
              </a:lnSpc>
              <a:buFont typeface="Arial" panose="020B0604020202020204" pitchFamily="34" charset="0"/>
              <a:buChar char="•"/>
            </a:pPr>
            <a:r>
              <a:rPr lang="en-US" b="1" dirty="0">
                <a:solidFill>
                  <a:srgbClr val="8FE2FF"/>
                </a:solidFill>
              </a:rPr>
              <a:t>ages 26 to 40</a:t>
            </a:r>
          </a:p>
          <a:p>
            <a:pPr marL="285750" indent="-285750" fontAlgn="base">
              <a:lnSpc>
                <a:spcPct val="150000"/>
              </a:lnSpc>
              <a:buFont typeface="Arial" panose="020B0604020202020204" pitchFamily="34" charset="0"/>
              <a:buChar char="•"/>
            </a:pPr>
            <a:r>
              <a:rPr lang="en-US" b="1" dirty="0">
                <a:solidFill>
                  <a:srgbClr val="8FE2FF"/>
                </a:solidFill>
              </a:rPr>
              <a:t>living in the Boston area</a:t>
            </a:r>
          </a:p>
          <a:p>
            <a:pPr marL="285750" indent="-285750" fontAlgn="base">
              <a:lnSpc>
                <a:spcPct val="150000"/>
              </a:lnSpc>
              <a:buFont typeface="Arial" panose="020B0604020202020204" pitchFamily="34" charset="0"/>
              <a:buChar char="•"/>
            </a:pPr>
            <a:r>
              <a:rPr lang="en-US" b="1" dirty="0">
                <a:solidFill>
                  <a:srgbClr val="8FE2FF"/>
                </a:solidFill>
              </a:rPr>
              <a:t>with an annual income of 55,000-70,000</a:t>
            </a:r>
          </a:p>
          <a:p>
            <a:pPr marL="285750" indent="-285750" fontAlgn="base">
              <a:lnSpc>
                <a:spcPct val="150000"/>
              </a:lnSpc>
              <a:buFont typeface="Arial" panose="020B0604020202020204" pitchFamily="34" charset="0"/>
              <a:buChar char="•"/>
            </a:pPr>
            <a:r>
              <a:rPr lang="en-US" b="1" dirty="0">
                <a:solidFill>
                  <a:srgbClr val="8FE2FF"/>
                </a:solidFill>
              </a:rPr>
              <a:t>who are into recycling</a:t>
            </a:r>
          </a:p>
          <a:p>
            <a:endParaRPr lang="en-US" dirty="0">
              <a:solidFill>
                <a:schemeClr val="bg1"/>
              </a:solidFill>
            </a:endParaRPr>
          </a:p>
        </p:txBody>
      </p:sp>
    </p:spTree>
    <p:extLst>
      <p:ext uri="{BB962C8B-B14F-4D97-AF65-F5344CB8AC3E}">
        <p14:creationId xmlns:p14="http://schemas.microsoft.com/office/powerpoint/2010/main" val="304408875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4283968"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pic>
        <p:nvPicPr>
          <p:cNvPr id="5" name="Picture 4" descr="image3 5">
            <a:extLst>
              <a:ext uri="{FF2B5EF4-FFF2-40B4-BE49-F238E27FC236}">
                <a16:creationId xmlns="" xmlns:a16="http://schemas.microsoft.com/office/drawing/2014/main" id="{BE71DA68-1C93-4B00-920D-26CAFD5135D5}"/>
              </a:ext>
            </a:extLst>
          </p:cNvPr>
          <p:cNvPicPr/>
          <p:nvPr/>
        </p:nvPicPr>
        <p:blipFill rotWithShape="1">
          <a:blip r:embed="rId2">
            <a:extLst>
              <a:ext uri="{28A0092B-C50C-407E-A947-70E740481C1C}">
                <a14:useLocalDpi xmlns:a14="http://schemas.microsoft.com/office/drawing/2010/main" val="0"/>
              </a:ext>
            </a:extLst>
          </a:blip>
          <a:srcRect l="7740" r="8673"/>
          <a:stretch/>
        </p:blipFill>
        <p:spPr bwMode="auto">
          <a:xfrm>
            <a:off x="179512" y="477937"/>
            <a:ext cx="3888432" cy="4110037"/>
          </a:xfrm>
          <a:prstGeom prst="rect">
            <a:avLst/>
          </a:prstGeom>
          <a:noFill/>
          <a:ln>
            <a:noFill/>
          </a:ln>
        </p:spPr>
      </p:pic>
      <p:sp>
        <p:nvSpPr>
          <p:cNvPr id="6" name="TextBox 5"/>
          <p:cNvSpPr txBox="1"/>
          <p:nvPr/>
        </p:nvSpPr>
        <p:spPr>
          <a:xfrm>
            <a:off x="4572000" y="2931790"/>
            <a:ext cx="4392488" cy="1754326"/>
          </a:xfrm>
          <a:prstGeom prst="rect">
            <a:avLst/>
          </a:prstGeom>
          <a:noFill/>
        </p:spPr>
        <p:txBody>
          <a:bodyPr wrap="square" rtlCol="0">
            <a:spAutoFit/>
          </a:bodyPr>
          <a:lstStyle/>
          <a:p>
            <a:r>
              <a:rPr lang="en-US" b="1" dirty="0">
                <a:solidFill>
                  <a:schemeClr val="bg1"/>
                </a:solidFill>
              </a:rPr>
              <a:t>In addition to researching your target market, you need to conduct a competitive analysis as well. You’ll use this information to create your brand differentiation strategy.</a:t>
            </a:r>
          </a:p>
          <a:p>
            <a:endParaRPr lang="en-US" b="1" dirty="0">
              <a:solidFill>
                <a:schemeClr val="bg1"/>
              </a:solidFill>
            </a:endParaRPr>
          </a:p>
        </p:txBody>
      </p:sp>
      <p:sp>
        <p:nvSpPr>
          <p:cNvPr id="7" name="TextBox 6"/>
          <p:cNvSpPr txBox="1"/>
          <p:nvPr/>
        </p:nvSpPr>
        <p:spPr>
          <a:xfrm>
            <a:off x="4550421" y="2283718"/>
            <a:ext cx="4392488" cy="461665"/>
          </a:xfrm>
          <a:prstGeom prst="rect">
            <a:avLst/>
          </a:prstGeom>
          <a:noFill/>
        </p:spPr>
        <p:txBody>
          <a:bodyPr wrap="square" rtlCol="0">
            <a:spAutoFit/>
          </a:bodyPr>
          <a:lstStyle/>
          <a:p>
            <a:r>
              <a:rPr lang="en-US" sz="2400" b="1" dirty="0">
                <a:solidFill>
                  <a:srgbClr val="8FE2FF"/>
                </a:solidFill>
              </a:rPr>
              <a:t>Analyze your competition</a:t>
            </a:r>
            <a:endParaRPr lang="en-US" sz="2400" dirty="0">
              <a:solidFill>
                <a:srgbClr val="8FE2FF"/>
              </a:solidFill>
            </a:endParaRPr>
          </a:p>
        </p:txBody>
      </p:sp>
    </p:spTree>
    <p:extLst>
      <p:ext uri="{BB962C8B-B14F-4D97-AF65-F5344CB8AC3E}">
        <p14:creationId xmlns:p14="http://schemas.microsoft.com/office/powerpoint/2010/main" val="261903271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467544" y="483518"/>
            <a:ext cx="8352928" cy="43204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1" name="Rectangle 10">
            <a:extLst>
              <a:ext uri="{FF2B5EF4-FFF2-40B4-BE49-F238E27FC236}">
                <a16:creationId xmlns:a16="http://schemas.microsoft.com/office/drawing/2014/main" xmlns="" id="{D3E5E83E-B048-4088-A5D1-F328DADD82CE}"/>
              </a:ext>
            </a:extLst>
          </p:cNvPr>
          <p:cNvSpPr/>
          <p:nvPr/>
        </p:nvSpPr>
        <p:spPr>
          <a:xfrm>
            <a:off x="179512" y="195486"/>
            <a:ext cx="2594505" cy="2819742"/>
          </a:xfrm>
          <a:prstGeom prst="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Placeholder 13"/>
          <p:cNvPicPr>
            <a:picLocks noGrp="1" noChangeAspect="1"/>
          </p:cNvPicPr>
          <p:nvPr>
            <p:ph type="pic" sz="quarter" idx="4294967295"/>
          </p:nvPr>
        </p:nvPicPr>
        <p:blipFill rotWithShape="1">
          <a:blip r:embed="rId2">
            <a:extLst>
              <a:ext uri="{28A0092B-C50C-407E-A947-70E740481C1C}">
                <a14:useLocalDpi xmlns:a14="http://schemas.microsoft.com/office/drawing/2010/main" val="0"/>
              </a:ext>
            </a:extLst>
          </a:blip>
          <a:srcRect l="31829" t="-12" r="711" b="12"/>
          <a:stretch/>
        </p:blipFill>
        <p:spPr>
          <a:xfrm>
            <a:off x="251520" y="267494"/>
            <a:ext cx="2593975" cy="2819400"/>
          </a:xfrm>
          <a:prstGeom prst="rect">
            <a:avLst/>
          </a:prstGeom>
          <a:ln>
            <a:solidFill>
              <a:schemeClr val="bg1"/>
            </a:solidFill>
          </a:ln>
        </p:spPr>
      </p:pic>
      <p:sp>
        <p:nvSpPr>
          <p:cNvPr id="16" name="TextBox 15"/>
          <p:cNvSpPr txBox="1"/>
          <p:nvPr/>
        </p:nvSpPr>
        <p:spPr>
          <a:xfrm>
            <a:off x="2915816" y="2339376"/>
            <a:ext cx="5616624" cy="707886"/>
          </a:xfrm>
          <a:prstGeom prst="rect">
            <a:avLst/>
          </a:prstGeom>
          <a:noFill/>
        </p:spPr>
        <p:txBody>
          <a:bodyPr wrap="square" rtlCol="0">
            <a:spAutoFit/>
          </a:bodyPr>
          <a:lstStyle/>
          <a:p>
            <a:r>
              <a:rPr lang="en-US" sz="4000" b="1" dirty="0">
                <a:solidFill>
                  <a:srgbClr val="8FE2FF"/>
                </a:solidFill>
              </a:rPr>
              <a:t>Budget </a:t>
            </a:r>
            <a:r>
              <a:rPr lang="en-US" sz="4000" b="1" dirty="0" smtClean="0">
                <a:solidFill>
                  <a:srgbClr val="8FE2FF"/>
                </a:solidFill>
              </a:rPr>
              <a:t>Accordingly</a:t>
            </a:r>
            <a:endParaRPr lang="en-US" sz="4000" dirty="0">
              <a:solidFill>
                <a:srgbClr val="8FE2FF"/>
              </a:solidFill>
            </a:endParaRPr>
          </a:p>
        </p:txBody>
      </p:sp>
      <p:sp>
        <p:nvSpPr>
          <p:cNvPr id="17" name="TextBox 16"/>
          <p:cNvSpPr txBox="1"/>
          <p:nvPr/>
        </p:nvSpPr>
        <p:spPr>
          <a:xfrm>
            <a:off x="683568" y="3186966"/>
            <a:ext cx="7920880" cy="1477328"/>
          </a:xfrm>
          <a:prstGeom prst="rect">
            <a:avLst/>
          </a:prstGeom>
          <a:noFill/>
        </p:spPr>
        <p:txBody>
          <a:bodyPr wrap="square" rtlCol="0">
            <a:spAutoFit/>
          </a:bodyPr>
          <a:lstStyle/>
          <a:p>
            <a:pPr algn="just" fontAlgn="base"/>
            <a:r>
              <a:rPr lang="en-US" dirty="0"/>
              <a:t>You need to have all your numbers in order when you’re writing a business plan, especially if you’re planning on securing investment funding</a:t>
            </a:r>
            <a:r>
              <a:rPr lang="en-US" dirty="0" smtClean="0"/>
              <a:t>.</a:t>
            </a:r>
          </a:p>
          <a:p>
            <a:pPr algn="just" fontAlgn="base"/>
            <a:endParaRPr lang="en-US" dirty="0"/>
          </a:p>
          <a:p>
            <a:pPr algn="just"/>
            <a:r>
              <a:rPr lang="en-US" dirty="0"/>
              <a:t>Figure out exactly how much money you need to start the business and stay operational; otherwise, you’ll run out of money</a:t>
            </a:r>
          </a:p>
        </p:txBody>
      </p:sp>
    </p:spTree>
    <p:extLst>
      <p:ext uri="{BB962C8B-B14F-4D97-AF65-F5344CB8AC3E}">
        <p14:creationId xmlns:p14="http://schemas.microsoft.com/office/powerpoint/2010/main" val="276598128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20538"/>
            <a:ext cx="9144000" cy="864096"/>
          </a:xfrm>
          <a:prstGeom prst="rect">
            <a:avLst/>
          </a:prstGeom>
          <a:solidFill>
            <a:srgbClr val="8FE2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 name="TextBox 4"/>
          <p:cNvSpPr txBox="1"/>
          <p:nvPr/>
        </p:nvSpPr>
        <p:spPr>
          <a:xfrm>
            <a:off x="179512" y="123478"/>
            <a:ext cx="8784976" cy="584775"/>
          </a:xfrm>
          <a:prstGeom prst="rect">
            <a:avLst/>
          </a:prstGeom>
          <a:noFill/>
        </p:spPr>
        <p:txBody>
          <a:bodyPr wrap="square" rtlCol="0">
            <a:spAutoFit/>
          </a:bodyPr>
          <a:lstStyle/>
          <a:p>
            <a:r>
              <a:rPr lang="en-US" sz="3200" b="1" dirty="0">
                <a:solidFill>
                  <a:schemeClr val="bg1"/>
                </a:solidFill>
              </a:rPr>
              <a:t>Identify your goals and financial projections</a:t>
            </a:r>
            <a:endParaRPr lang="en-US" sz="3200" dirty="0">
              <a:solidFill>
                <a:schemeClr val="bg1"/>
              </a:solidFill>
            </a:endParaRPr>
          </a:p>
        </p:txBody>
      </p:sp>
      <p:sp>
        <p:nvSpPr>
          <p:cNvPr id="6" name="TextBox 5"/>
          <p:cNvSpPr txBox="1"/>
          <p:nvPr/>
        </p:nvSpPr>
        <p:spPr>
          <a:xfrm>
            <a:off x="251520" y="987574"/>
            <a:ext cx="8640960" cy="4431983"/>
          </a:xfrm>
          <a:prstGeom prst="rect">
            <a:avLst/>
          </a:prstGeom>
          <a:noFill/>
        </p:spPr>
        <p:txBody>
          <a:bodyPr wrap="square" rtlCol="0">
            <a:spAutoFit/>
          </a:bodyPr>
          <a:lstStyle/>
          <a:p>
            <a:pPr algn="just" fontAlgn="base"/>
            <a:r>
              <a:rPr lang="en-US" sz="1600" dirty="0">
                <a:solidFill>
                  <a:schemeClr val="bg1"/>
                </a:solidFill>
              </a:rPr>
              <a:t>As long as you’re being honest with yourself and potential investors, your financial plan will cover your break-even analysis</a:t>
            </a:r>
            <a:r>
              <a:rPr lang="en-US" sz="1600" dirty="0" smtClean="0">
                <a:solidFill>
                  <a:schemeClr val="bg1"/>
                </a:solidFill>
              </a:rPr>
              <a:t>.</a:t>
            </a:r>
          </a:p>
          <a:p>
            <a:pPr algn="just" fontAlgn="base"/>
            <a:endParaRPr lang="en-US" sz="1600" dirty="0">
              <a:solidFill>
                <a:schemeClr val="bg1"/>
              </a:solidFill>
            </a:endParaRPr>
          </a:p>
          <a:p>
            <a:pPr algn="just" fontAlgn="base"/>
            <a:r>
              <a:rPr lang="en-US" sz="1600" dirty="0">
                <a:solidFill>
                  <a:schemeClr val="bg1"/>
                </a:solidFill>
              </a:rPr>
              <a:t>While it’s reasonable to expect your sales revenue to increase each year, you still need to take all factors into consideration</a:t>
            </a:r>
            <a:r>
              <a:rPr lang="en-US" sz="1600" dirty="0" smtClean="0">
                <a:solidFill>
                  <a:schemeClr val="bg1"/>
                </a:solidFill>
              </a:rPr>
              <a:t>.</a:t>
            </a:r>
          </a:p>
          <a:p>
            <a:pPr algn="just" fontAlgn="base"/>
            <a:endParaRPr lang="en-US" sz="1600" dirty="0">
              <a:solidFill>
                <a:schemeClr val="bg1"/>
              </a:solidFill>
            </a:endParaRPr>
          </a:p>
          <a:p>
            <a:pPr algn="just" fontAlgn="base"/>
            <a:r>
              <a:rPr lang="en-US" sz="1600" dirty="0">
                <a:solidFill>
                  <a:schemeClr val="bg1"/>
                </a:solidFill>
              </a:rPr>
              <a:t>For example, if you’re planning to expand to a new location in year four, your financial projections need to be adjusted accordingly</a:t>
            </a:r>
            <a:r>
              <a:rPr lang="en-US" sz="1600" dirty="0" smtClean="0">
                <a:solidFill>
                  <a:schemeClr val="bg1"/>
                </a:solidFill>
              </a:rPr>
              <a:t>.</a:t>
            </a:r>
          </a:p>
          <a:p>
            <a:pPr algn="just" fontAlgn="base"/>
            <a:endParaRPr lang="en-US" sz="1600" dirty="0">
              <a:solidFill>
                <a:schemeClr val="bg1"/>
              </a:solidFill>
            </a:endParaRPr>
          </a:p>
          <a:p>
            <a:pPr algn="just" fontAlgn="base"/>
            <a:r>
              <a:rPr lang="en-US" sz="1600" dirty="0">
                <a:solidFill>
                  <a:schemeClr val="bg1"/>
                </a:solidFill>
              </a:rPr>
              <a:t>You may not be profitable until your third year of operation, but if you’re opening a new facility in year four, that year may have a net loss as well. Again, this is completely fine as long as you’re planning and budgeting accordingly</a:t>
            </a:r>
            <a:r>
              <a:rPr lang="en-US" sz="1600" dirty="0" smtClean="0">
                <a:solidFill>
                  <a:schemeClr val="bg1"/>
                </a:solidFill>
              </a:rPr>
              <a:t>.</a:t>
            </a:r>
          </a:p>
          <a:p>
            <a:pPr algn="just" fontAlgn="base"/>
            <a:endParaRPr lang="en-US" sz="1600" dirty="0">
              <a:solidFill>
                <a:schemeClr val="bg1"/>
              </a:solidFill>
            </a:endParaRPr>
          </a:p>
          <a:p>
            <a:pPr algn="just" fontAlgn="base"/>
            <a:r>
              <a:rPr lang="en-US" sz="1600" dirty="0">
                <a:solidFill>
                  <a:schemeClr val="bg1"/>
                </a:solidFill>
              </a:rPr>
              <a:t>Another example of a goal could be launching an ecommerce store in addition to your brick-and-mortar locations. Just don’t try to bite off more than you can chew. Keep everything within reason.</a:t>
            </a:r>
          </a:p>
          <a:p>
            <a:endParaRPr lang="en-US" sz="1600" dirty="0">
              <a:solidFill>
                <a:schemeClr val="bg1"/>
              </a:solidFill>
            </a:endParaRPr>
          </a:p>
        </p:txBody>
      </p:sp>
    </p:spTree>
    <p:extLst>
      <p:ext uri="{BB962C8B-B14F-4D97-AF65-F5344CB8AC3E}">
        <p14:creationId xmlns:p14="http://schemas.microsoft.com/office/powerpoint/2010/main" val="335348951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5220072"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6" name="TextBox 5"/>
          <p:cNvSpPr txBox="1"/>
          <p:nvPr/>
        </p:nvSpPr>
        <p:spPr>
          <a:xfrm>
            <a:off x="5399584" y="1275606"/>
            <a:ext cx="3456384" cy="3693319"/>
          </a:xfrm>
          <a:prstGeom prst="rect">
            <a:avLst/>
          </a:prstGeom>
          <a:noFill/>
        </p:spPr>
        <p:txBody>
          <a:bodyPr wrap="square" rtlCol="0">
            <a:spAutoFit/>
          </a:bodyPr>
          <a:lstStyle/>
          <a:p>
            <a:pPr algn="just" fontAlgn="base"/>
            <a:r>
              <a:rPr lang="en-US"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Your business plan should also cover the organizational structure of your startup. If it’s a small company with just you and maybe one or two business partners, this should be easy</a:t>
            </a:r>
            <a:r>
              <a:rPr lang="en-US" dirty="0" smtClean="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t>
            </a:r>
          </a:p>
          <a:p>
            <a:pPr algn="just" fontAlgn="base"/>
            <a:endParaRPr lang="en-US" dirty="0">
              <a:solidFill>
                <a:schemeClr val="bg1"/>
              </a:solidFill>
              <a:latin typeface="Times New Roman" panose="02020603050405020304" pitchFamily="18" charset="0"/>
              <a:ea typeface="Times New Roman" panose="02020603050405020304" pitchFamily="18" charset="0"/>
            </a:endParaRPr>
          </a:p>
          <a:p>
            <a:pPr algn="just" fontAlgn="base"/>
            <a:r>
              <a:rPr lang="en-US"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But depending on how you’re planning to scale the company, it’s best to get this sorted out sooner rather than later. Here’s an example of what your organizational chart may look like:</a:t>
            </a:r>
            <a:endParaRPr lang="en-US" dirty="0">
              <a:solidFill>
                <a:schemeClr val="bg1"/>
              </a:solidFill>
              <a:latin typeface="Times New Roman" panose="02020603050405020304" pitchFamily="18" charset="0"/>
              <a:ea typeface="Times New Roman" panose="02020603050405020304" pitchFamily="18" charset="0"/>
            </a:endParaRPr>
          </a:p>
        </p:txBody>
      </p:sp>
      <p:sp>
        <p:nvSpPr>
          <p:cNvPr id="7" name="TextBox 6"/>
          <p:cNvSpPr txBox="1"/>
          <p:nvPr/>
        </p:nvSpPr>
        <p:spPr>
          <a:xfrm>
            <a:off x="5413874" y="356051"/>
            <a:ext cx="4392488" cy="830997"/>
          </a:xfrm>
          <a:prstGeom prst="rect">
            <a:avLst/>
          </a:prstGeom>
          <a:noFill/>
        </p:spPr>
        <p:txBody>
          <a:bodyPr wrap="square" rtlCol="0">
            <a:spAutoFit/>
          </a:bodyPr>
          <a:lstStyle/>
          <a:p>
            <a:r>
              <a:rPr lang="en-US" sz="2400" b="1" dirty="0">
                <a:solidFill>
                  <a:srgbClr val="8FE2FF"/>
                </a:solidFill>
              </a:rPr>
              <a:t>Clearly define </a:t>
            </a:r>
            <a:endParaRPr lang="en-US" sz="2400" b="1" dirty="0" smtClean="0">
              <a:solidFill>
                <a:srgbClr val="8FE2FF"/>
              </a:solidFill>
            </a:endParaRPr>
          </a:p>
          <a:p>
            <a:r>
              <a:rPr lang="en-US" sz="2400" b="1" dirty="0" smtClean="0">
                <a:solidFill>
                  <a:srgbClr val="8FE2FF"/>
                </a:solidFill>
              </a:rPr>
              <a:t>the power </a:t>
            </a:r>
            <a:r>
              <a:rPr lang="en-US" sz="2400" b="1" dirty="0">
                <a:solidFill>
                  <a:srgbClr val="8FE2FF"/>
                </a:solidFill>
              </a:rPr>
              <a:t>structure</a:t>
            </a:r>
            <a:endParaRPr lang="en-US" sz="2400" dirty="0">
              <a:solidFill>
                <a:srgbClr val="8FE2FF"/>
              </a:solidFill>
            </a:endParaRPr>
          </a:p>
        </p:txBody>
      </p:sp>
      <p:pic>
        <p:nvPicPr>
          <p:cNvPr id="8" name="Content Placeholder 3" descr="image2 5">
            <a:extLst>
              <a:ext uri="{FF2B5EF4-FFF2-40B4-BE49-F238E27FC236}">
                <a16:creationId xmlns="" xmlns:a16="http://schemas.microsoft.com/office/drawing/2014/main" id="{016EF204-B7AD-4FB5-BCEE-3268BB87B6A1}"/>
              </a:ext>
            </a:extLst>
          </p:cNvPr>
          <p:cNvPicPr>
            <a:picLocks/>
          </p:cNvPicPr>
          <p:nvPr/>
        </p:nvPicPr>
        <p:blipFill rotWithShape="1">
          <a:blip r:embed="rId2">
            <a:extLst>
              <a:ext uri="{28A0092B-C50C-407E-A947-70E740481C1C}">
                <a14:useLocalDpi xmlns:a14="http://schemas.microsoft.com/office/drawing/2010/main" val="0"/>
              </a:ext>
            </a:extLst>
          </a:blip>
          <a:srcRect l="7835" r="9699"/>
          <a:stretch/>
        </p:blipFill>
        <p:spPr bwMode="auto">
          <a:xfrm>
            <a:off x="179512" y="771550"/>
            <a:ext cx="4752529" cy="3286125"/>
          </a:xfrm>
          <a:prstGeom prst="rect">
            <a:avLst/>
          </a:prstGeom>
          <a:noFill/>
          <a:ln>
            <a:noFill/>
          </a:ln>
        </p:spPr>
      </p:pic>
    </p:spTree>
    <p:extLst>
      <p:ext uri="{BB962C8B-B14F-4D97-AF65-F5344CB8AC3E}">
        <p14:creationId xmlns:p14="http://schemas.microsoft.com/office/powerpoint/2010/main" val="72484536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2"/>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l="13452" r="13452"/>
          <a:stretch>
            <a:fillRect/>
          </a:stretch>
        </p:blipFill>
        <p:spPr/>
      </p:pic>
      <p:sp>
        <p:nvSpPr>
          <p:cNvPr id="6" name="Frame 5"/>
          <p:cNvSpPr/>
          <p:nvPr/>
        </p:nvSpPr>
        <p:spPr>
          <a:xfrm>
            <a:off x="197768" y="159481"/>
            <a:ext cx="4176464" cy="4824536"/>
          </a:xfrm>
          <a:prstGeom prst="frame">
            <a:avLst>
              <a:gd name="adj1" fmla="val 100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9" name="Text Placeholder 1"/>
          <p:cNvSpPr txBox="1">
            <a:spLocks/>
          </p:cNvSpPr>
          <p:nvPr/>
        </p:nvSpPr>
        <p:spPr>
          <a:xfrm>
            <a:off x="4860032" y="1059582"/>
            <a:ext cx="4104456" cy="1239908"/>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chemeClr val="bg1"/>
                </a:solidFill>
              </a:rPr>
              <a:t>Discuss your marketing plan</a:t>
            </a:r>
            <a:endParaRPr lang="ko-KR" altLang="en-US" b="1" dirty="0">
              <a:solidFill>
                <a:schemeClr val="bg1"/>
              </a:solidFill>
              <a:latin typeface="+mj-lt"/>
              <a:cs typeface="Arial" pitchFamily="34" charset="0"/>
            </a:endParaRPr>
          </a:p>
        </p:txBody>
      </p:sp>
      <p:sp>
        <p:nvSpPr>
          <p:cNvPr id="10" name="TextBox 9"/>
          <p:cNvSpPr txBox="1"/>
          <p:nvPr/>
        </p:nvSpPr>
        <p:spPr>
          <a:xfrm>
            <a:off x="4860032" y="2172801"/>
            <a:ext cx="4104456" cy="1569660"/>
          </a:xfrm>
          <a:prstGeom prst="rect">
            <a:avLst/>
          </a:prstGeom>
          <a:noFill/>
        </p:spPr>
        <p:txBody>
          <a:bodyPr wrap="square" rtlCol="0">
            <a:spAutoFit/>
          </a:bodyPr>
          <a:lstStyle/>
          <a:p>
            <a:pPr algn="justLow" fontAlgn="base"/>
            <a:r>
              <a:rPr lang="en-US" sz="1600" dirty="0"/>
              <a:t>How will you acquire customers based on the market research of your target audience and competitive analysis</a:t>
            </a:r>
            <a:r>
              <a:rPr lang="en-US" sz="1600" dirty="0" smtClean="0"/>
              <a:t>?</a:t>
            </a:r>
          </a:p>
          <a:p>
            <a:pPr algn="justLow" fontAlgn="base"/>
            <a:endParaRPr lang="en-US" sz="1600" dirty="0"/>
          </a:p>
          <a:p>
            <a:pPr algn="justLow" fontAlgn="base"/>
            <a:r>
              <a:rPr lang="en-US" sz="1600" dirty="0"/>
              <a:t>This strategy needs to be aligned with your budget and financial projections as well.</a:t>
            </a:r>
          </a:p>
        </p:txBody>
      </p:sp>
    </p:spTree>
    <p:extLst>
      <p:ext uri="{BB962C8B-B14F-4D97-AF65-F5344CB8AC3E}">
        <p14:creationId xmlns:p14="http://schemas.microsoft.com/office/powerpoint/2010/main" val="39126439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2067694"/>
            <a:ext cx="9144000" cy="3075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pic>
        <p:nvPicPr>
          <p:cNvPr id="5" name="Picture 4" descr="image5 5">
            <a:extLst>
              <a:ext uri="{FF2B5EF4-FFF2-40B4-BE49-F238E27FC236}">
                <a16:creationId xmlns="" xmlns:a16="http://schemas.microsoft.com/office/drawing/2014/main" id="{711B75B9-96B4-4EFF-8329-2BB38DB1A84E}"/>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358941" y="2380621"/>
            <a:ext cx="6426118" cy="2449951"/>
          </a:xfrm>
          <a:prstGeom prst="rect">
            <a:avLst/>
          </a:prstGeom>
          <a:noFill/>
          <a:ln>
            <a:noFill/>
          </a:ln>
        </p:spPr>
      </p:pic>
      <p:sp>
        <p:nvSpPr>
          <p:cNvPr id="6" name="TextBox 5"/>
          <p:cNvSpPr txBox="1"/>
          <p:nvPr/>
        </p:nvSpPr>
        <p:spPr>
          <a:xfrm>
            <a:off x="287524" y="411510"/>
            <a:ext cx="8568952" cy="1569660"/>
          </a:xfrm>
          <a:prstGeom prst="rect">
            <a:avLst/>
          </a:prstGeom>
          <a:noFill/>
        </p:spPr>
        <p:txBody>
          <a:bodyPr wrap="square" rtlCol="0">
            <a:spAutoFit/>
          </a:bodyPr>
          <a:lstStyle/>
          <a:p>
            <a:r>
              <a:rPr lang="en-US" sz="3200" dirty="0">
                <a:solidFill>
                  <a:schemeClr val="bg1"/>
                </a:solidFill>
              </a:rPr>
              <a:t>Take these categories into consideration when you’re coming up with a marketing plan:</a:t>
            </a:r>
          </a:p>
          <a:p>
            <a:endParaRPr lang="en-US" sz="3200" dirty="0">
              <a:solidFill>
                <a:schemeClr val="bg1"/>
              </a:solidFill>
            </a:endParaRPr>
          </a:p>
        </p:txBody>
      </p:sp>
    </p:spTree>
    <p:extLst>
      <p:ext uri="{BB962C8B-B14F-4D97-AF65-F5344CB8AC3E}">
        <p14:creationId xmlns:p14="http://schemas.microsoft.com/office/powerpoint/2010/main" val="190738616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6372200" y="987574"/>
            <a:ext cx="2664296" cy="374441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4" name="Text Placeholder 1"/>
          <p:cNvSpPr txBox="1">
            <a:spLocks/>
          </p:cNvSpPr>
          <p:nvPr/>
        </p:nvSpPr>
        <p:spPr>
          <a:xfrm>
            <a:off x="251520" y="3629186"/>
            <a:ext cx="5571118" cy="1944464"/>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ko-KR" altLang="en-US" b="1" dirty="0">
              <a:solidFill>
                <a:schemeClr val="tx1">
                  <a:lumMod val="75000"/>
                  <a:lumOff val="25000"/>
                </a:schemeClr>
              </a:solidFill>
              <a:latin typeface="+mj-lt"/>
              <a:cs typeface="Arial" pitchFamily="34" charset="0"/>
            </a:endParaRPr>
          </a:p>
        </p:txBody>
      </p:sp>
      <p:sp>
        <p:nvSpPr>
          <p:cNvPr id="26" name="Frame 25"/>
          <p:cNvSpPr/>
          <p:nvPr/>
        </p:nvSpPr>
        <p:spPr>
          <a:xfrm>
            <a:off x="5244150" y="1513554"/>
            <a:ext cx="2376264" cy="2115632"/>
          </a:xfrm>
          <a:prstGeom prst="frame">
            <a:avLst>
              <a:gd name="adj1" fmla="val 138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pic>
        <p:nvPicPr>
          <p:cNvPr id="7" name="Picture Placeholder 6"/>
          <p:cNvPicPr>
            <a:picLocks noGrp="1" noChangeAspect="1"/>
          </p:cNvPicPr>
          <p:nvPr>
            <p:ph type="pic" idx="1"/>
          </p:nvPr>
        </p:nvPicPr>
        <p:blipFill>
          <a:blip r:embed="rId2">
            <a:extLst>
              <a:ext uri="{28A0092B-C50C-407E-A947-70E740481C1C}">
                <a14:useLocalDpi xmlns:a14="http://schemas.microsoft.com/office/drawing/2010/main" val="0"/>
              </a:ext>
            </a:extLst>
          </a:blip>
          <a:srcRect t="15397" b="15397"/>
          <a:stretch>
            <a:fillRect/>
          </a:stretch>
        </p:blipFill>
        <p:spPr>
          <a:xfrm>
            <a:off x="5133583" y="1513554"/>
            <a:ext cx="2568434" cy="2280270"/>
          </a:xfrm>
        </p:spPr>
      </p:pic>
      <p:sp>
        <p:nvSpPr>
          <p:cNvPr id="8" name="TextBox 7"/>
          <p:cNvSpPr txBox="1"/>
          <p:nvPr/>
        </p:nvSpPr>
        <p:spPr>
          <a:xfrm>
            <a:off x="222474" y="843558"/>
            <a:ext cx="6048672" cy="584775"/>
          </a:xfrm>
          <a:prstGeom prst="rect">
            <a:avLst/>
          </a:prstGeom>
          <a:noFill/>
        </p:spPr>
        <p:txBody>
          <a:bodyPr wrap="square" rtlCol="0">
            <a:spAutoFit/>
          </a:bodyPr>
          <a:lstStyle/>
          <a:p>
            <a:r>
              <a:rPr lang="en-US" sz="3200" b="1" dirty="0">
                <a:solidFill>
                  <a:srgbClr val="8FE2FF"/>
                </a:solidFill>
              </a:rPr>
              <a:t>Keep it short and professional</a:t>
            </a:r>
            <a:endParaRPr lang="en-US" sz="3200" dirty="0">
              <a:solidFill>
                <a:srgbClr val="8FE2FF"/>
              </a:solidFill>
            </a:endParaRPr>
          </a:p>
        </p:txBody>
      </p:sp>
      <p:sp>
        <p:nvSpPr>
          <p:cNvPr id="11" name="TextBox 10"/>
          <p:cNvSpPr txBox="1"/>
          <p:nvPr/>
        </p:nvSpPr>
        <p:spPr>
          <a:xfrm>
            <a:off x="-4212976" y="-596602"/>
            <a:ext cx="9217024" cy="369332"/>
          </a:xfrm>
          <a:prstGeom prst="rect">
            <a:avLst/>
          </a:prstGeom>
          <a:noFill/>
        </p:spPr>
        <p:txBody>
          <a:bodyPr wrap="square" rtlCol="0">
            <a:spAutoFit/>
          </a:bodyPr>
          <a:lstStyle/>
          <a:p>
            <a:r>
              <a:rPr lang="en-US" dirty="0" smtClean="0"/>
              <a:t> </a:t>
            </a:r>
            <a:endParaRPr lang="en-US" dirty="0"/>
          </a:p>
        </p:txBody>
      </p:sp>
      <p:sp>
        <p:nvSpPr>
          <p:cNvPr id="12" name="TextBox 11"/>
          <p:cNvSpPr txBox="1"/>
          <p:nvPr/>
        </p:nvSpPr>
        <p:spPr>
          <a:xfrm>
            <a:off x="251520" y="1769874"/>
            <a:ext cx="4608512" cy="2831544"/>
          </a:xfrm>
          <a:prstGeom prst="rect">
            <a:avLst/>
          </a:prstGeom>
          <a:noFill/>
        </p:spPr>
        <p:txBody>
          <a:bodyPr wrap="square" rtlCol="0">
            <a:spAutoFit/>
          </a:bodyPr>
          <a:lstStyle/>
          <a:p>
            <a:pPr algn="justLow" fontAlgn="base"/>
            <a:r>
              <a:rPr lang="en-US" sz="1600" dirty="0">
                <a:solidFill>
                  <a:schemeClr val="bg1"/>
                </a:solidFill>
              </a:rPr>
              <a:t>This shouldn’t be a 100-page dissertation</a:t>
            </a:r>
            <a:r>
              <a:rPr lang="en-US" sz="1600" dirty="0" smtClean="0">
                <a:solidFill>
                  <a:schemeClr val="bg1"/>
                </a:solidFill>
              </a:rPr>
              <a:t>.</a:t>
            </a:r>
          </a:p>
          <a:p>
            <a:pPr algn="justLow" fontAlgn="base"/>
            <a:endParaRPr lang="en-US" sz="1600" dirty="0">
              <a:solidFill>
                <a:schemeClr val="bg1"/>
              </a:solidFill>
            </a:endParaRPr>
          </a:p>
          <a:p>
            <a:pPr algn="justLow" fontAlgn="base"/>
            <a:r>
              <a:rPr lang="en-US" sz="1600" dirty="0">
                <a:solidFill>
                  <a:schemeClr val="bg1"/>
                </a:solidFill>
              </a:rPr>
              <a:t>You definitely want it to be detailed and thorough, but don’t go overboard. There’s no exact number of pages it should be, but have at least one page per section</a:t>
            </a:r>
            <a:r>
              <a:rPr lang="en-US" sz="1600" dirty="0" smtClean="0">
                <a:solidFill>
                  <a:schemeClr val="bg1"/>
                </a:solidFill>
              </a:rPr>
              <a:t>.</a:t>
            </a:r>
          </a:p>
          <a:p>
            <a:pPr algn="justLow" fontAlgn="base"/>
            <a:endParaRPr lang="en-US" sz="1600" dirty="0">
              <a:solidFill>
                <a:schemeClr val="bg1"/>
              </a:solidFill>
            </a:endParaRPr>
          </a:p>
          <a:p>
            <a:pPr algn="justLow" fontAlgn="base"/>
            <a:r>
              <a:rPr lang="en-US" sz="1600" dirty="0">
                <a:solidFill>
                  <a:schemeClr val="bg1"/>
                </a:solidFill>
              </a:rPr>
              <a:t>It should also be written cleanly and professionally. Don’t use slang terminology.</a:t>
            </a:r>
          </a:p>
          <a:p>
            <a:pPr algn="justLow" fontAlgn="base"/>
            <a:r>
              <a:rPr lang="en-US" sz="1600" dirty="0">
                <a:solidFill>
                  <a:schemeClr val="bg1"/>
                </a:solidFill>
              </a:rPr>
              <a:t>Proofread it for grammatical and spelling errors.</a:t>
            </a:r>
          </a:p>
          <a:p>
            <a:pPr algn="justLow"/>
            <a:endParaRPr lang="en-US" dirty="0"/>
          </a:p>
        </p:txBody>
      </p:sp>
    </p:spTree>
    <p:extLst>
      <p:ext uri="{BB962C8B-B14F-4D97-AF65-F5344CB8AC3E}">
        <p14:creationId xmlns:p14="http://schemas.microsoft.com/office/powerpoint/2010/main" val="397194165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195736" y="0"/>
            <a:ext cx="4320480" cy="7715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7" name="TextBox 6"/>
          <p:cNvSpPr txBox="1"/>
          <p:nvPr/>
        </p:nvSpPr>
        <p:spPr>
          <a:xfrm>
            <a:off x="2627784" y="2109"/>
            <a:ext cx="3312368" cy="769441"/>
          </a:xfrm>
          <a:prstGeom prst="rect">
            <a:avLst/>
          </a:prstGeom>
          <a:noFill/>
        </p:spPr>
        <p:txBody>
          <a:bodyPr wrap="square" rtlCol="0">
            <a:spAutoFit/>
          </a:bodyPr>
          <a:lstStyle/>
          <a:p>
            <a:pPr algn="ctr"/>
            <a:r>
              <a:rPr lang="en-US" sz="4400" b="1" dirty="0">
                <a:solidFill>
                  <a:srgbClr val="8FE2FF"/>
                </a:solidFill>
              </a:rPr>
              <a:t>Conclusion</a:t>
            </a:r>
            <a:endParaRPr lang="en-US" sz="4400" dirty="0">
              <a:solidFill>
                <a:srgbClr val="8FE2FF"/>
              </a:solidFill>
            </a:endParaRPr>
          </a:p>
        </p:txBody>
      </p:sp>
      <p:sp>
        <p:nvSpPr>
          <p:cNvPr id="8" name="TextBox 7"/>
          <p:cNvSpPr txBox="1"/>
          <p:nvPr/>
        </p:nvSpPr>
        <p:spPr>
          <a:xfrm>
            <a:off x="323528" y="1131590"/>
            <a:ext cx="8424936" cy="3970318"/>
          </a:xfrm>
          <a:prstGeom prst="rect">
            <a:avLst/>
          </a:prstGeom>
          <a:noFill/>
        </p:spPr>
        <p:txBody>
          <a:bodyPr wrap="square" rtlCol="0">
            <a:spAutoFit/>
          </a:bodyPr>
          <a:lstStyle/>
          <a:p>
            <a:pPr algn="just" fontAlgn="base"/>
            <a:r>
              <a:rPr lang="en-US" b="1" dirty="0">
                <a:solidFill>
                  <a:schemeClr val="bg1"/>
                </a:solidFill>
              </a:rPr>
              <a:t>Launching a startup company is exciting. It’s easy to get so caught up in the moment that you rush into things</a:t>
            </a:r>
            <a:r>
              <a:rPr lang="en-US" b="1" dirty="0" smtClean="0">
                <a:solidFill>
                  <a:schemeClr val="bg1"/>
                </a:solidFill>
              </a:rPr>
              <a:t>.</a:t>
            </a:r>
          </a:p>
          <a:p>
            <a:pPr algn="just" fontAlgn="base"/>
            <a:endParaRPr lang="en-US" b="1" dirty="0">
              <a:solidFill>
                <a:schemeClr val="bg1"/>
              </a:solidFill>
            </a:endParaRPr>
          </a:p>
          <a:p>
            <a:pPr algn="just" fontAlgn="base"/>
            <a:r>
              <a:rPr lang="en-US" b="1" dirty="0">
                <a:solidFill>
                  <a:schemeClr val="bg1"/>
                </a:solidFill>
              </a:rPr>
              <a:t>If you want to set yourself up for success, you need to take a step back and plan things out</a:t>
            </a:r>
            <a:r>
              <a:rPr lang="en-US" b="1" dirty="0" smtClean="0">
                <a:solidFill>
                  <a:schemeClr val="bg1"/>
                </a:solidFill>
              </a:rPr>
              <a:t>.</a:t>
            </a:r>
          </a:p>
          <a:p>
            <a:pPr algn="just" fontAlgn="base"/>
            <a:endParaRPr lang="en-US" b="1" dirty="0">
              <a:solidFill>
                <a:schemeClr val="bg1"/>
              </a:solidFill>
            </a:endParaRPr>
          </a:p>
          <a:p>
            <a:pPr algn="just" fontAlgn="base"/>
            <a:r>
              <a:rPr lang="en-US" b="1" dirty="0">
                <a:solidFill>
                  <a:schemeClr val="bg1"/>
                </a:solidFill>
              </a:rPr>
              <a:t>Going through the process of writing a formal business plan will increase your chances of securing an investment and also improve your potential growth rate.</a:t>
            </a:r>
          </a:p>
          <a:p>
            <a:pPr algn="just" fontAlgn="base"/>
            <a:r>
              <a:rPr lang="en-US" b="1" dirty="0">
                <a:solidFill>
                  <a:schemeClr val="bg1"/>
                </a:solidFill>
              </a:rPr>
              <a:t>The market research you’ll need to conduct in order to write this plan will also help you determine whether this is a viable business venture to proceed with.</a:t>
            </a:r>
          </a:p>
          <a:p>
            <a:pPr algn="just"/>
            <a:endParaRPr lang="en-US" b="1" dirty="0">
              <a:solidFill>
                <a:schemeClr val="bg1"/>
              </a:solidFill>
            </a:endParaRPr>
          </a:p>
          <a:p>
            <a:endParaRPr lang="en-US" b="1" dirty="0">
              <a:solidFill>
                <a:schemeClr val="bg1"/>
              </a:solidFill>
            </a:endParaRPr>
          </a:p>
        </p:txBody>
      </p:sp>
    </p:spTree>
    <p:extLst>
      <p:ext uri="{BB962C8B-B14F-4D97-AF65-F5344CB8AC3E}">
        <p14:creationId xmlns:p14="http://schemas.microsoft.com/office/powerpoint/2010/main" val="297380718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nip Diagonal Corner Rectangle 3"/>
          <p:cNvSpPr/>
          <p:nvPr/>
        </p:nvSpPr>
        <p:spPr>
          <a:xfrm>
            <a:off x="251520" y="267494"/>
            <a:ext cx="8640960" cy="4608512"/>
          </a:xfrm>
          <a:prstGeom prst="snip2Diag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smtClean="0">
                <a:solidFill>
                  <a:schemeClr val="tx1"/>
                </a:solidFill>
              </a:rPr>
              <a:t> </a:t>
            </a:r>
            <a:endParaRPr lang="en-US" dirty="0">
              <a:solidFill>
                <a:schemeClr val="tx1"/>
              </a:solidFill>
            </a:endParaRPr>
          </a:p>
        </p:txBody>
      </p:sp>
      <p:sp>
        <p:nvSpPr>
          <p:cNvPr id="5" name="TextBox 4"/>
          <p:cNvSpPr txBox="1"/>
          <p:nvPr/>
        </p:nvSpPr>
        <p:spPr>
          <a:xfrm>
            <a:off x="467544" y="555526"/>
            <a:ext cx="8064896" cy="400110"/>
          </a:xfrm>
          <a:prstGeom prst="rect">
            <a:avLst/>
          </a:prstGeom>
          <a:noFill/>
        </p:spPr>
        <p:txBody>
          <a:bodyPr wrap="square" rtlCol="0">
            <a:spAutoFit/>
          </a:bodyPr>
          <a:lstStyle/>
          <a:p>
            <a:r>
              <a:rPr lang="en-US" sz="2000" b="1" dirty="0">
                <a:solidFill>
                  <a:schemeClr val="bg1"/>
                </a:solidFill>
              </a:rPr>
              <a:t>How to choose your best legal structure to operate in Egypt?</a:t>
            </a:r>
          </a:p>
        </p:txBody>
      </p:sp>
      <p:sp>
        <p:nvSpPr>
          <p:cNvPr id="6" name="TextBox 5"/>
          <p:cNvSpPr txBox="1"/>
          <p:nvPr/>
        </p:nvSpPr>
        <p:spPr>
          <a:xfrm>
            <a:off x="-8461448" y="-2252786"/>
            <a:ext cx="15985776" cy="369332"/>
          </a:xfrm>
          <a:prstGeom prst="rect">
            <a:avLst/>
          </a:prstGeom>
          <a:noFill/>
        </p:spPr>
        <p:txBody>
          <a:bodyPr wrap="square" rtlCol="0">
            <a:spAutoFit/>
          </a:bodyPr>
          <a:lstStyle/>
          <a:p>
            <a:r>
              <a:rPr lang="en-US" dirty="0" smtClean="0"/>
              <a:t>  </a:t>
            </a:r>
            <a:endParaRPr lang="en-US" dirty="0"/>
          </a:p>
        </p:txBody>
      </p:sp>
      <p:sp>
        <p:nvSpPr>
          <p:cNvPr id="7" name="TextBox 6"/>
          <p:cNvSpPr txBox="1"/>
          <p:nvPr/>
        </p:nvSpPr>
        <p:spPr>
          <a:xfrm>
            <a:off x="611560" y="1203598"/>
            <a:ext cx="7920880" cy="3046988"/>
          </a:xfrm>
          <a:prstGeom prst="rect">
            <a:avLst/>
          </a:prstGeom>
          <a:noFill/>
        </p:spPr>
        <p:txBody>
          <a:bodyPr wrap="square" rtlCol="0">
            <a:spAutoFit/>
          </a:bodyPr>
          <a:lstStyle/>
          <a:p>
            <a:pPr algn="justLow"/>
            <a:r>
              <a:rPr lang="en-US" sz="2400" dirty="0">
                <a:solidFill>
                  <a:srgbClr val="8FE2FF"/>
                </a:solidFill>
              </a:rPr>
              <a:t>In order to choose the right legal structure for your business, you must first be aware of your options. Accordingly, it is good to ask yourself the following key questions: how many founders are there and what are their rights? How much money are you allocating for the company’s capital to be paid upfront? What are the company’s activities/overall goals and purpose?</a:t>
            </a:r>
          </a:p>
          <a:p>
            <a:pPr algn="justLow"/>
            <a:endParaRPr lang="en-US" sz="2400" dirty="0">
              <a:solidFill>
                <a:srgbClr val="8FE2FF"/>
              </a:solidFill>
            </a:endParaRPr>
          </a:p>
        </p:txBody>
      </p:sp>
    </p:spTree>
    <p:extLst>
      <p:ext uri="{BB962C8B-B14F-4D97-AF65-F5344CB8AC3E}">
        <p14:creationId xmlns:p14="http://schemas.microsoft.com/office/powerpoint/2010/main" val="332274446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260089"/>
            <a:ext cx="8784976" cy="646331"/>
          </a:xfrm>
          <a:prstGeom prst="rect">
            <a:avLst/>
          </a:prstGeom>
          <a:noFill/>
        </p:spPr>
        <p:txBody>
          <a:bodyPr wrap="square" rtlCol="0">
            <a:spAutoFit/>
          </a:bodyPr>
          <a:lstStyle/>
          <a:p>
            <a:r>
              <a:rPr lang="en-US" sz="3600" b="1" dirty="0">
                <a:solidFill>
                  <a:schemeClr val="bg1"/>
                </a:solidFill>
              </a:rPr>
              <a:t>Forms of Business Structures in Egypt</a:t>
            </a:r>
            <a:endParaRPr lang="en-US" sz="3600" dirty="0">
              <a:solidFill>
                <a:schemeClr val="bg1"/>
              </a:solidFill>
            </a:endParaRPr>
          </a:p>
        </p:txBody>
      </p:sp>
      <p:sp>
        <p:nvSpPr>
          <p:cNvPr id="5" name="Round Same Side Corner Rectangle 4"/>
          <p:cNvSpPr/>
          <p:nvPr/>
        </p:nvSpPr>
        <p:spPr>
          <a:xfrm flipV="1">
            <a:off x="323528" y="913822"/>
            <a:ext cx="8496944" cy="3890173"/>
          </a:xfrm>
          <a:prstGeom prst="round2SameRect">
            <a:avLst/>
          </a:prstGeom>
          <a:solidFill>
            <a:srgbClr val="8FE2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6" name="TextBox 5"/>
          <p:cNvSpPr txBox="1"/>
          <p:nvPr/>
        </p:nvSpPr>
        <p:spPr>
          <a:xfrm>
            <a:off x="539552" y="1203598"/>
            <a:ext cx="7992888" cy="3365024"/>
          </a:xfrm>
          <a:prstGeom prst="rect">
            <a:avLst/>
          </a:prstGeom>
          <a:noFill/>
        </p:spPr>
        <p:txBody>
          <a:bodyPr wrap="square" rtlCol="0">
            <a:spAutoFit/>
          </a:bodyPr>
          <a:lstStyle/>
          <a:p>
            <a:pPr>
              <a:lnSpc>
                <a:spcPct val="150000"/>
              </a:lnSpc>
            </a:pPr>
            <a:r>
              <a:rPr lang="en-US" b="1" dirty="0">
                <a:solidFill>
                  <a:schemeClr val="bg1"/>
                </a:solidFill>
              </a:rPr>
              <a:t>The kinds of business firms allowed in Egypt are determined by the Law of Commerce No. 17 of 1999 and the Companies Law No. 159 of 1981. The Law of Commerce deals mainly with the sole proprietor and the simple partnerships, whereas the Companies Law regulates in detail joint stock companies, limited partnerships by shares, and limited liability companies. Each of these structures will be discussed below in details. </a:t>
            </a:r>
            <a:br>
              <a:rPr lang="en-US" b="1" dirty="0">
                <a:solidFill>
                  <a:schemeClr val="bg1"/>
                </a:solidFill>
              </a:rPr>
            </a:br>
            <a:endParaRPr lang="en-US" b="1" dirty="0">
              <a:solidFill>
                <a:schemeClr val="bg1"/>
              </a:solidFill>
            </a:endParaRPr>
          </a:p>
          <a:p>
            <a:pPr>
              <a:lnSpc>
                <a:spcPct val="150000"/>
              </a:lnSpc>
            </a:pPr>
            <a:endParaRPr lang="en-US" b="1" dirty="0">
              <a:solidFill>
                <a:schemeClr val="bg1"/>
              </a:solidFill>
            </a:endParaRPr>
          </a:p>
        </p:txBody>
      </p:sp>
    </p:spTree>
    <p:extLst>
      <p:ext uri="{BB962C8B-B14F-4D97-AF65-F5344CB8AC3E}">
        <p14:creationId xmlns:p14="http://schemas.microsoft.com/office/powerpoint/2010/main" val="125044664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Off-page Connector 3"/>
          <p:cNvSpPr/>
          <p:nvPr/>
        </p:nvSpPr>
        <p:spPr>
          <a:xfrm>
            <a:off x="2483768" y="0"/>
            <a:ext cx="3600400" cy="2736304"/>
          </a:xfrm>
          <a:prstGeom prst="flowChartOffpage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6" name="Rectangle 5"/>
          <p:cNvSpPr/>
          <p:nvPr/>
        </p:nvSpPr>
        <p:spPr>
          <a:xfrm>
            <a:off x="2555776" y="987574"/>
            <a:ext cx="3616696" cy="523220"/>
          </a:xfrm>
          <a:prstGeom prst="rect">
            <a:avLst/>
          </a:prstGeom>
        </p:spPr>
        <p:txBody>
          <a:bodyPr wrap="none">
            <a:spAutoFit/>
          </a:bodyPr>
          <a:lstStyle/>
          <a:p>
            <a:r>
              <a:rPr lang="en-US" sz="2800" b="1" dirty="0"/>
              <a:t>Sole Proprietorship </a:t>
            </a:r>
            <a:endParaRPr lang="en-US" sz="2800" dirty="0"/>
          </a:p>
        </p:txBody>
      </p:sp>
    </p:spTree>
    <p:extLst>
      <p:ext uri="{BB962C8B-B14F-4D97-AF65-F5344CB8AC3E}">
        <p14:creationId xmlns:p14="http://schemas.microsoft.com/office/powerpoint/2010/main" val="161048023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267494"/>
            <a:ext cx="8640960" cy="4678204"/>
          </a:xfrm>
          <a:prstGeom prst="rect">
            <a:avLst/>
          </a:prstGeom>
          <a:noFill/>
        </p:spPr>
        <p:txBody>
          <a:bodyPr wrap="square" rtlCol="0">
            <a:spAutoFit/>
          </a:bodyPr>
          <a:lstStyle/>
          <a:p>
            <a:r>
              <a:rPr lang="en-US" sz="2400" b="1" dirty="0" smtClean="0"/>
              <a:t>Formation</a:t>
            </a:r>
            <a:r>
              <a:rPr lang="en-US" sz="1600" b="1" dirty="0"/>
              <a:t> </a:t>
            </a:r>
            <a:r>
              <a:rPr lang="en-US" sz="1600" dirty="0"/>
              <a:t/>
            </a:r>
            <a:br>
              <a:rPr lang="en-US" sz="1600" dirty="0"/>
            </a:br>
            <a:r>
              <a:rPr lang="en-US" sz="1600" dirty="0"/>
              <a:t/>
            </a:r>
            <a:br>
              <a:rPr lang="en-US" sz="1600" dirty="0"/>
            </a:br>
            <a:r>
              <a:rPr lang="en-US" sz="1100" b="1" dirty="0">
                <a:solidFill>
                  <a:schemeClr val="bg1"/>
                </a:solidFill>
              </a:rPr>
              <a:t>A sole proprietor (or sole trader) is a natural person, who engages in a commercial activity for his or her own account</a:t>
            </a:r>
            <a:r>
              <a:rPr lang="en-US" sz="1100" b="1" dirty="0" smtClean="0">
                <a:solidFill>
                  <a:schemeClr val="bg1"/>
                </a:solidFill>
              </a:rPr>
              <a:t>.</a:t>
            </a:r>
          </a:p>
          <a:p>
            <a:r>
              <a:rPr lang="en-US" sz="1100" b="1" dirty="0">
                <a:solidFill>
                  <a:schemeClr val="bg1"/>
                </a:solidFill>
              </a:rPr>
              <a:t/>
            </a:r>
            <a:br>
              <a:rPr lang="en-US" sz="1100" b="1" dirty="0">
                <a:solidFill>
                  <a:schemeClr val="bg1"/>
                </a:solidFill>
              </a:rPr>
            </a:br>
            <a:r>
              <a:rPr lang="en-US" sz="1100" b="1" i="1" dirty="0">
                <a:solidFill>
                  <a:schemeClr val="bg1"/>
                </a:solidFill>
              </a:rPr>
              <a:t>To be licensed as a sole proprietor, the person should apply to the competent Commercial Registration Office for registration in the Commercial Register. The important requirements for this registration are: </a:t>
            </a:r>
            <a:r>
              <a:rPr lang="en-US" sz="1600" dirty="0"/>
              <a:t/>
            </a:r>
            <a:br>
              <a:rPr lang="en-US" sz="1600" dirty="0"/>
            </a:br>
            <a:endParaRPr lang="en-US" sz="1600" dirty="0"/>
          </a:p>
          <a:p>
            <a:pPr marL="285750" indent="-285750">
              <a:buFont typeface="Arial" panose="020B0604020202020204" pitchFamily="34" charset="0"/>
              <a:buChar char="•"/>
            </a:pPr>
            <a:r>
              <a:rPr lang="en-US" sz="1400" b="1" dirty="0">
                <a:solidFill>
                  <a:srgbClr val="8FE2FF"/>
                </a:solidFill>
              </a:rPr>
              <a:t>The applicant should be of at least 21 years </a:t>
            </a:r>
            <a:r>
              <a:rPr lang="en-US" sz="1400" b="1" dirty="0" smtClean="0">
                <a:solidFill>
                  <a:srgbClr val="8FE2FF"/>
                </a:solidFill>
              </a:rPr>
              <a:t>old</a:t>
            </a:r>
          </a:p>
          <a:p>
            <a:pPr marL="285750" indent="-285750">
              <a:buFont typeface="Arial" panose="020B0604020202020204" pitchFamily="34" charset="0"/>
              <a:buChar char="•"/>
            </a:pPr>
            <a:endParaRPr lang="en-US" sz="1400" b="1" dirty="0">
              <a:solidFill>
                <a:srgbClr val="8FE2FF"/>
              </a:solidFill>
            </a:endParaRPr>
          </a:p>
          <a:p>
            <a:pPr marL="285750" indent="-285750">
              <a:buFont typeface="Arial" panose="020B0604020202020204" pitchFamily="34" charset="0"/>
              <a:buChar char="•"/>
            </a:pPr>
            <a:r>
              <a:rPr lang="en-US" sz="1400" b="1" dirty="0">
                <a:solidFill>
                  <a:srgbClr val="8FE2FF"/>
                </a:solidFill>
              </a:rPr>
              <a:t>The applicant should be of Egyptian nationality unless he or she will carry out his or her activity under the Investment Law (at present law no. 8 of 1997), or will engage in exporting activity. </a:t>
            </a:r>
            <a:endParaRPr lang="en-US" sz="1400" b="1" dirty="0" smtClean="0">
              <a:solidFill>
                <a:srgbClr val="8FE2FF"/>
              </a:solidFill>
            </a:endParaRPr>
          </a:p>
          <a:p>
            <a:pPr marL="285750" indent="-285750">
              <a:buFont typeface="Arial" panose="020B0604020202020204" pitchFamily="34" charset="0"/>
              <a:buChar char="•"/>
            </a:pPr>
            <a:endParaRPr lang="en-US" sz="1400" b="1" dirty="0">
              <a:solidFill>
                <a:srgbClr val="8FE2FF"/>
              </a:solidFill>
            </a:endParaRPr>
          </a:p>
          <a:p>
            <a:pPr marL="285750" indent="-285750">
              <a:buFont typeface="Arial" panose="020B0604020202020204" pitchFamily="34" charset="0"/>
              <a:buChar char="•"/>
            </a:pPr>
            <a:r>
              <a:rPr lang="en-US" sz="1400" b="1" dirty="0">
                <a:solidFill>
                  <a:srgbClr val="8FE2FF"/>
                </a:solidFill>
              </a:rPr>
              <a:t>The applicant should use his or her own name as a trade name. This trade name should appear on his or her business firm or shop and its branches (if any), and in all his or her business </a:t>
            </a:r>
            <a:r>
              <a:rPr lang="en-US" sz="1400" b="1" dirty="0" smtClean="0">
                <a:solidFill>
                  <a:srgbClr val="8FE2FF"/>
                </a:solidFill>
              </a:rPr>
              <a:t>correspondence</a:t>
            </a:r>
            <a:r>
              <a:rPr lang="en-US" sz="1400" b="1" dirty="0">
                <a:solidFill>
                  <a:srgbClr val="8FE2FF"/>
                </a:solidFill>
              </a:rPr>
              <a:t>.</a:t>
            </a:r>
            <a:endParaRPr lang="en-US" sz="1400" b="1" dirty="0" smtClean="0">
              <a:solidFill>
                <a:srgbClr val="8FE2FF"/>
              </a:solidFill>
            </a:endParaRPr>
          </a:p>
          <a:p>
            <a:pPr marL="285750" indent="-285750">
              <a:buFont typeface="Arial" panose="020B0604020202020204" pitchFamily="34" charset="0"/>
              <a:buChar char="•"/>
            </a:pPr>
            <a:endParaRPr lang="en-US" sz="1400" b="1" dirty="0">
              <a:solidFill>
                <a:srgbClr val="8FE2FF"/>
              </a:solidFill>
            </a:endParaRPr>
          </a:p>
          <a:p>
            <a:pPr marL="285750" indent="-285750">
              <a:buFont typeface="Arial" panose="020B0604020202020204" pitchFamily="34" charset="0"/>
              <a:buChar char="•"/>
            </a:pPr>
            <a:r>
              <a:rPr lang="en-US" sz="1400" b="1" dirty="0">
                <a:solidFill>
                  <a:srgbClr val="8FE2FF"/>
                </a:solidFill>
              </a:rPr>
              <a:t>The applicant should provide the Commercial Registration Office with other relevant important data such as the nature of his or her trade or business, the trade capital (no minimum capital is required), the addresses of the main firm, shop or branches (if any) and details of trademarks or copyrights (if any) ,Financial Requirements.</a:t>
            </a:r>
          </a:p>
          <a:p>
            <a:endParaRPr lang="en-US" sz="1600" dirty="0"/>
          </a:p>
        </p:txBody>
      </p:sp>
    </p:spTree>
    <p:extLst>
      <p:ext uri="{BB962C8B-B14F-4D97-AF65-F5344CB8AC3E}">
        <p14:creationId xmlns:p14="http://schemas.microsoft.com/office/powerpoint/2010/main" val="74261773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Off-page Connector 3"/>
          <p:cNvSpPr/>
          <p:nvPr/>
        </p:nvSpPr>
        <p:spPr>
          <a:xfrm>
            <a:off x="2483768" y="0"/>
            <a:ext cx="3600400" cy="2736304"/>
          </a:xfrm>
          <a:prstGeom prst="flowChartOffpage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6" name="Rectangle 5"/>
          <p:cNvSpPr/>
          <p:nvPr/>
        </p:nvSpPr>
        <p:spPr>
          <a:xfrm>
            <a:off x="2483768" y="987574"/>
            <a:ext cx="3757760" cy="523220"/>
          </a:xfrm>
          <a:prstGeom prst="rect">
            <a:avLst/>
          </a:prstGeom>
        </p:spPr>
        <p:txBody>
          <a:bodyPr wrap="none">
            <a:spAutoFit/>
          </a:bodyPr>
          <a:lstStyle/>
          <a:p>
            <a:r>
              <a:rPr lang="en-US" sz="2800" b="1" dirty="0"/>
              <a:t>Simple Partnerships </a:t>
            </a:r>
            <a:endParaRPr lang="en-US" sz="2800" dirty="0"/>
          </a:p>
        </p:txBody>
      </p:sp>
    </p:spTree>
    <p:extLst>
      <p:ext uri="{BB962C8B-B14F-4D97-AF65-F5344CB8AC3E}">
        <p14:creationId xmlns:p14="http://schemas.microsoft.com/office/powerpoint/2010/main" val="4112906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267494"/>
            <a:ext cx="8640960" cy="4493538"/>
          </a:xfrm>
          <a:prstGeom prst="rect">
            <a:avLst/>
          </a:prstGeom>
          <a:noFill/>
        </p:spPr>
        <p:txBody>
          <a:bodyPr wrap="square" rtlCol="0">
            <a:spAutoFit/>
          </a:bodyPr>
          <a:lstStyle/>
          <a:p>
            <a:r>
              <a:rPr lang="en-US" b="1" dirty="0" smtClean="0"/>
              <a:t>Formation</a:t>
            </a:r>
            <a:endParaRPr lang="en-US" sz="1600" b="1" dirty="0" smtClean="0"/>
          </a:p>
          <a:p>
            <a:r>
              <a:rPr lang="en-US" sz="1600" b="1" dirty="0"/>
              <a:t/>
            </a:r>
            <a:br>
              <a:rPr lang="en-US" sz="1600" b="1" dirty="0"/>
            </a:br>
            <a:r>
              <a:rPr lang="en-US" sz="1400" dirty="0">
                <a:solidFill>
                  <a:schemeClr val="bg1"/>
                </a:solidFill>
              </a:rPr>
              <a:t>The partnership is a kind of a business firm formed between two or more partners who are usually natural persons. There are two kinds of partnerships: the general partnership and the limited partnership. In the general partnership all the partners are considered as traders, and are jointly responsible to meet all the business liabilities or obligations without any limits. This means that if the partnership funds cannot meet its liabilities, creditors can recover their debts from the partners' private properties. The general partnership should have a trade name derived from the name(s) of one or more of its partners. </a:t>
            </a:r>
            <a:r>
              <a:rPr lang="en-US" sz="1400" dirty="0"/>
              <a:t/>
            </a:r>
            <a:br>
              <a:rPr lang="en-US" sz="1400" dirty="0"/>
            </a:br>
            <a:r>
              <a:rPr lang="en-US" sz="1400" dirty="0"/>
              <a:t/>
            </a:r>
            <a:br>
              <a:rPr lang="en-US" sz="1400" dirty="0"/>
            </a:br>
            <a:r>
              <a:rPr lang="en-US" sz="1400" i="1" dirty="0"/>
              <a:t>After concluding the partnership agreement the following is required to complete registration: </a:t>
            </a:r>
          </a:p>
          <a:p>
            <a:pPr marL="285750" indent="-285750">
              <a:buFont typeface="Arial" panose="020B0604020202020204" pitchFamily="34" charset="0"/>
              <a:buChar char="•"/>
            </a:pPr>
            <a:r>
              <a:rPr lang="en-US" sz="1400" i="1" dirty="0"/>
              <a:t/>
            </a:r>
            <a:br>
              <a:rPr lang="en-US" sz="1400" i="1" dirty="0"/>
            </a:br>
            <a:r>
              <a:rPr lang="en-US" sz="1400" dirty="0"/>
              <a:t>A copy of the partnership deed is published at the Court of First Instance where the partnership head office is located. </a:t>
            </a:r>
            <a:endParaRPr lang="en-US" sz="1400" dirty="0" smtClean="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The partnership deed is published in two daily newspapers of wide circulation. </a:t>
            </a:r>
            <a:endParaRPr lang="en-US" sz="1400" dirty="0" smtClean="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The partnership deed is registered in the Commercial Register (please refer to commercial registration requirements under the sole proprietor</a:t>
            </a:r>
            <a:r>
              <a:rPr lang="en-US" sz="1400" dirty="0" smtClean="0"/>
              <a:t>).</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After completing the above registration, the partnership can start its commercial activity. </a:t>
            </a:r>
          </a:p>
        </p:txBody>
      </p:sp>
    </p:spTree>
    <p:extLst>
      <p:ext uri="{BB962C8B-B14F-4D97-AF65-F5344CB8AC3E}">
        <p14:creationId xmlns:p14="http://schemas.microsoft.com/office/powerpoint/2010/main" val="375647478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3528" y="339502"/>
            <a:ext cx="8496944" cy="4524315"/>
          </a:xfrm>
          <a:prstGeom prst="rect">
            <a:avLst/>
          </a:prstGeom>
          <a:noFill/>
        </p:spPr>
        <p:txBody>
          <a:bodyPr wrap="square" rtlCol="0">
            <a:spAutoFit/>
          </a:bodyPr>
          <a:lstStyle/>
          <a:p>
            <a:r>
              <a:rPr lang="en-US" sz="1600" b="1" dirty="0"/>
              <a:t>Management</a:t>
            </a:r>
            <a:br>
              <a:rPr lang="en-US" sz="1600" b="1" dirty="0"/>
            </a:br>
            <a:r>
              <a:rPr lang="en-US" sz="1600" b="1" dirty="0"/>
              <a:t/>
            </a:r>
            <a:br>
              <a:rPr lang="en-US" sz="1600" b="1" dirty="0"/>
            </a:br>
            <a:r>
              <a:rPr lang="en-US" sz="1600" dirty="0">
                <a:solidFill>
                  <a:schemeClr val="bg1"/>
                </a:solidFill>
              </a:rPr>
              <a:t>In the limited partnership at least one of the partners is a general partner who is active and is considered a trader with full responsibility to meet the partnership's liabilities or obligations without any limits. Other partners, who are called limited partners, are inactive or sleeping partners, and their liability in meeting the business liabilities or obligations is limited by the amount of capital they have invested in the partnership, and no more. </a:t>
            </a:r>
            <a:endParaRPr lang="en-US" sz="1600" dirty="0" smtClean="0">
              <a:solidFill>
                <a:schemeClr val="bg1"/>
              </a:solidFill>
            </a:endParaRPr>
          </a:p>
          <a:p>
            <a:endParaRPr lang="en-US" sz="1600" dirty="0"/>
          </a:p>
          <a:p>
            <a:r>
              <a:rPr lang="en-US" sz="1600" b="1" dirty="0"/>
              <a:t>Financial Requirements</a:t>
            </a:r>
            <a:br>
              <a:rPr lang="en-US" sz="1600" b="1" dirty="0"/>
            </a:br>
            <a:r>
              <a:rPr lang="en-US" sz="1600" b="1" dirty="0"/>
              <a:t/>
            </a:r>
            <a:br>
              <a:rPr lang="en-US" sz="1600" b="1" dirty="0"/>
            </a:br>
            <a:r>
              <a:rPr lang="en-US" sz="1600" dirty="0">
                <a:solidFill>
                  <a:schemeClr val="bg1"/>
                </a:solidFill>
              </a:rPr>
              <a:t>No minimum capital is required. Regarding taxation, the general and limited partnerships are subject to the same tax provisions. The profit of the partnership itself as a legal entity is not taxable, but the share of each partner (general or limited) of this profit together with any other taxable incomes he or she may have is subjected, separately from other partners, to the unified income tax at the progressive rate scale applicable to sole proprietors, i.e. between 10% and 20% in addition to the state resources duty at 2%. Again each partner of a partnership is required to enroll himself or herself in the state social insurance system as a self-employed person. </a:t>
            </a:r>
          </a:p>
        </p:txBody>
      </p:sp>
    </p:spTree>
    <p:extLst>
      <p:ext uri="{BB962C8B-B14F-4D97-AF65-F5344CB8AC3E}">
        <p14:creationId xmlns:p14="http://schemas.microsoft.com/office/powerpoint/2010/main" val="22498045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Off-page Connector 3"/>
          <p:cNvSpPr/>
          <p:nvPr/>
        </p:nvSpPr>
        <p:spPr>
          <a:xfrm>
            <a:off x="2483768" y="0"/>
            <a:ext cx="3600400" cy="2736304"/>
          </a:xfrm>
          <a:prstGeom prst="flowChartOffpage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6" name="Rectangle 5"/>
          <p:cNvSpPr/>
          <p:nvPr/>
        </p:nvSpPr>
        <p:spPr>
          <a:xfrm>
            <a:off x="2483768" y="987574"/>
            <a:ext cx="3671198" cy="461665"/>
          </a:xfrm>
          <a:prstGeom prst="rect">
            <a:avLst/>
          </a:prstGeom>
        </p:spPr>
        <p:txBody>
          <a:bodyPr wrap="none">
            <a:spAutoFit/>
          </a:bodyPr>
          <a:lstStyle/>
          <a:p>
            <a:r>
              <a:rPr lang="en-US" sz="2400" b="1" dirty="0"/>
              <a:t>Joint Stock Companies </a:t>
            </a:r>
            <a:endParaRPr lang="en-US" sz="2400" dirty="0"/>
          </a:p>
        </p:txBody>
      </p:sp>
    </p:spTree>
    <p:extLst>
      <p:ext uri="{BB962C8B-B14F-4D97-AF65-F5344CB8AC3E}">
        <p14:creationId xmlns:p14="http://schemas.microsoft.com/office/powerpoint/2010/main" val="358247278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195486"/>
            <a:ext cx="8640960" cy="4724370"/>
          </a:xfrm>
          <a:prstGeom prst="rect">
            <a:avLst/>
          </a:prstGeom>
          <a:noFill/>
        </p:spPr>
        <p:txBody>
          <a:bodyPr wrap="square" rtlCol="0">
            <a:spAutoFit/>
          </a:bodyPr>
          <a:lstStyle/>
          <a:p>
            <a:r>
              <a:rPr lang="en-US" sz="1600" b="1" dirty="0" smtClean="0">
                <a:solidFill>
                  <a:schemeClr val="bg1"/>
                </a:solidFill>
              </a:rPr>
              <a:t>Formation</a:t>
            </a:r>
          </a:p>
          <a:p>
            <a:r>
              <a:rPr lang="en-US" sz="1050" b="1" dirty="0">
                <a:solidFill>
                  <a:schemeClr val="bg1"/>
                </a:solidFill>
              </a:rPr>
              <a:t/>
            </a:r>
            <a:br>
              <a:rPr lang="en-US" sz="1050" b="1" dirty="0">
                <a:solidFill>
                  <a:schemeClr val="bg1"/>
                </a:solidFill>
              </a:rPr>
            </a:br>
            <a:r>
              <a:rPr lang="en-US" sz="1100" dirty="0">
                <a:solidFill>
                  <a:schemeClr val="bg1"/>
                </a:solidFill>
              </a:rPr>
              <a:t>The Egyptian joint stock company is similar in its main features to the same kind of companies existing anywhere else in the world. Thus, it is a regulated company whose capital is divided into shares, the liability of each shareholder is limited to the value of his or her shares, and the shares can be traded in the stock exchange. </a:t>
            </a:r>
            <a:br>
              <a:rPr lang="en-US" sz="1100" dirty="0">
                <a:solidFill>
                  <a:schemeClr val="bg1"/>
                </a:solidFill>
              </a:rPr>
            </a:br>
            <a:r>
              <a:rPr lang="en-US" sz="1100" dirty="0">
                <a:solidFill>
                  <a:schemeClr val="bg1"/>
                </a:solidFill>
              </a:rPr>
              <a:t/>
            </a:r>
            <a:br>
              <a:rPr lang="en-US" sz="1100" dirty="0">
                <a:solidFill>
                  <a:schemeClr val="bg1"/>
                </a:solidFill>
              </a:rPr>
            </a:br>
            <a:r>
              <a:rPr lang="en-US" sz="1100" dirty="0">
                <a:solidFill>
                  <a:schemeClr val="bg1"/>
                </a:solidFill>
              </a:rPr>
              <a:t>The number of founders of a joint stock company should not be less than three founders, and consequently the number of shareholders cannot go below three at any time. </a:t>
            </a:r>
            <a:br>
              <a:rPr lang="en-US" sz="1100" dirty="0">
                <a:solidFill>
                  <a:schemeClr val="bg1"/>
                </a:solidFill>
              </a:rPr>
            </a:br>
            <a:r>
              <a:rPr lang="en-US" sz="1100" dirty="0">
                <a:solidFill>
                  <a:schemeClr val="bg1"/>
                </a:solidFill>
              </a:rPr>
              <a:t/>
            </a:r>
            <a:br>
              <a:rPr lang="en-US" sz="1100" dirty="0">
                <a:solidFill>
                  <a:schemeClr val="bg1"/>
                </a:solidFill>
              </a:rPr>
            </a:br>
            <a:r>
              <a:rPr lang="en-US" sz="1100" dirty="0">
                <a:solidFill>
                  <a:schemeClr val="bg1"/>
                </a:solidFill>
              </a:rPr>
              <a:t>The shares of a joint stock company, private or public, can be fully owned by foreigners, but they have to pay the value of their shares in the company in foreign convertible currencies.</a:t>
            </a:r>
            <a:br>
              <a:rPr lang="en-US" sz="1100" dirty="0">
                <a:solidFill>
                  <a:schemeClr val="bg1"/>
                </a:solidFill>
              </a:rPr>
            </a:br>
            <a:r>
              <a:rPr lang="en-US" sz="1100" dirty="0">
                <a:solidFill>
                  <a:schemeClr val="bg1"/>
                </a:solidFill>
              </a:rPr>
              <a:t>To form a joint stock company, the founders (or an attorney on behalf of them) should submit an application to the Companies Department with the following documents required</a:t>
            </a:r>
            <a:r>
              <a:rPr lang="en-US" sz="1100" dirty="0" smtClean="0">
                <a:solidFill>
                  <a:schemeClr val="bg1"/>
                </a:solidFill>
              </a:rPr>
              <a:t>:</a:t>
            </a:r>
          </a:p>
          <a:p>
            <a:endParaRPr lang="en-US" sz="1100" dirty="0">
              <a:solidFill>
                <a:schemeClr val="bg1"/>
              </a:solidFill>
            </a:endParaRPr>
          </a:p>
          <a:p>
            <a:pPr marL="171450" indent="-171450">
              <a:buFont typeface="Arial" panose="020B0604020202020204" pitchFamily="34" charset="0"/>
              <a:buChar char="•"/>
            </a:pPr>
            <a:r>
              <a:rPr lang="en-US" sz="1100" dirty="0"/>
              <a:t>A list of the founders' names and details. </a:t>
            </a:r>
            <a:endParaRPr lang="en-US" sz="1100" dirty="0" smtClean="0"/>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r>
              <a:rPr lang="en-US" sz="1100" dirty="0"/>
              <a:t>For founders who are corporations, a resolution from each corporate body indicating participation in the new company. </a:t>
            </a:r>
            <a:endParaRPr lang="en-US" sz="1100" dirty="0" smtClean="0"/>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r>
              <a:rPr lang="en-US" sz="1100" dirty="0"/>
              <a:t>For founders who are of foreign nationalities, relevant data is required in authenticated or legalized form such as nationality, address, work or activity, documents of incorporation, etc. </a:t>
            </a:r>
            <a:endParaRPr lang="en-US" sz="1100" dirty="0" smtClean="0"/>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r>
              <a:rPr lang="en-US" sz="1100" dirty="0"/>
              <a:t>The memorandum of association and the draft of the articles of association of the new company</a:t>
            </a:r>
            <a:r>
              <a:rPr lang="en-US" sz="1100" dirty="0" smtClean="0"/>
              <a:t>.</a:t>
            </a:r>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r>
              <a:rPr lang="en-US" sz="1100" dirty="0"/>
              <a:t> A certificate from the Egyptian bank receiving the share capital payments, Subsequently, the founders will apply to the Commercial Registration Office to register the new company in the Commercial Register, after which the company will be fully incorporated and can start its activity. The incorporation of a joint stock company usually takes 4 to 5 weeks to complete.</a:t>
            </a:r>
          </a:p>
          <a:p>
            <a:endParaRPr lang="en-US" sz="1050" dirty="0">
              <a:solidFill>
                <a:schemeClr val="bg1"/>
              </a:solidFill>
            </a:endParaRPr>
          </a:p>
        </p:txBody>
      </p:sp>
    </p:spTree>
    <p:extLst>
      <p:ext uri="{BB962C8B-B14F-4D97-AF65-F5344CB8AC3E}">
        <p14:creationId xmlns:p14="http://schemas.microsoft.com/office/powerpoint/2010/main" val="411796151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79512" y="195486"/>
            <a:ext cx="8784976" cy="4524315"/>
          </a:xfrm>
          <a:prstGeom prst="rect">
            <a:avLst/>
          </a:prstGeom>
          <a:noFill/>
        </p:spPr>
        <p:txBody>
          <a:bodyPr wrap="square" rtlCol="0">
            <a:spAutoFit/>
          </a:bodyPr>
          <a:lstStyle/>
          <a:p>
            <a:r>
              <a:rPr lang="en-US" b="1" dirty="0"/>
              <a:t>Financial Requirements</a:t>
            </a:r>
            <a:br>
              <a:rPr lang="en-US" b="1" dirty="0"/>
            </a:br>
            <a:endParaRPr lang="en-US" b="1" dirty="0" smtClean="0"/>
          </a:p>
          <a:p>
            <a:r>
              <a:rPr lang="en-US" dirty="0" smtClean="0">
                <a:solidFill>
                  <a:schemeClr val="bg1"/>
                </a:solidFill>
              </a:rPr>
              <a:t>The </a:t>
            </a:r>
            <a:r>
              <a:rPr lang="en-US" dirty="0">
                <a:solidFill>
                  <a:schemeClr val="bg1"/>
                </a:solidFill>
              </a:rPr>
              <a:t>shares of a joint stock company, whether it is a private or a public company, can be traded in the Egyptian Stock Exchange. </a:t>
            </a:r>
            <a:endParaRPr lang="en-US" dirty="0" smtClean="0">
              <a:solidFill>
                <a:schemeClr val="bg1"/>
              </a:solidFill>
            </a:endParaRPr>
          </a:p>
          <a:p>
            <a:endParaRPr lang="en-US" dirty="0"/>
          </a:p>
          <a:p>
            <a:endParaRPr lang="en-US" dirty="0"/>
          </a:p>
          <a:p>
            <a:r>
              <a:rPr lang="en-US" b="1" dirty="0"/>
              <a:t>Management</a:t>
            </a:r>
            <a:br>
              <a:rPr lang="en-US" b="1" dirty="0"/>
            </a:br>
            <a:r>
              <a:rPr lang="en-US" b="1" dirty="0"/>
              <a:t/>
            </a:r>
            <a:br>
              <a:rPr lang="en-US" b="1" dirty="0"/>
            </a:br>
            <a:r>
              <a:rPr lang="en-US" dirty="0">
                <a:solidFill>
                  <a:schemeClr val="bg1"/>
                </a:solidFill>
              </a:rPr>
              <a:t>A joint stock company is managed by a board of directors composed of an odd number, which is not less than three. The board members, including the chairman, can be of foreign nationalities. The directors represent the shareholders in managing the company, and therefore are considered as attorneys or agents to the shareholders and not as employees of the company.</a:t>
            </a:r>
            <a:r>
              <a:rPr lang="en-US" dirty="0"/>
              <a:t/>
            </a:r>
            <a:br>
              <a:rPr lang="en-US" dirty="0"/>
            </a:br>
            <a:endParaRPr lang="en-US" dirty="0"/>
          </a:p>
          <a:p>
            <a:endParaRPr lang="en-US" dirty="0"/>
          </a:p>
          <a:p>
            <a:endParaRPr lang="en-US" dirty="0"/>
          </a:p>
        </p:txBody>
      </p:sp>
    </p:spTree>
    <p:extLst>
      <p:ext uri="{BB962C8B-B14F-4D97-AF65-F5344CB8AC3E}">
        <p14:creationId xmlns:p14="http://schemas.microsoft.com/office/powerpoint/2010/main" val="121344633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Off-page Connector 3"/>
          <p:cNvSpPr/>
          <p:nvPr/>
        </p:nvSpPr>
        <p:spPr>
          <a:xfrm>
            <a:off x="2483768" y="0"/>
            <a:ext cx="3600400" cy="2736304"/>
          </a:xfrm>
          <a:prstGeom prst="flowChartOffpage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6" name="Rectangle 5"/>
          <p:cNvSpPr/>
          <p:nvPr/>
        </p:nvSpPr>
        <p:spPr>
          <a:xfrm>
            <a:off x="2619089" y="987574"/>
            <a:ext cx="3329758" cy="830997"/>
          </a:xfrm>
          <a:prstGeom prst="rect">
            <a:avLst/>
          </a:prstGeom>
        </p:spPr>
        <p:txBody>
          <a:bodyPr wrap="none">
            <a:spAutoFit/>
          </a:bodyPr>
          <a:lstStyle/>
          <a:p>
            <a:pPr algn="ctr"/>
            <a:r>
              <a:rPr lang="en-US" sz="2400" b="1" dirty="0"/>
              <a:t>Limited Partnerships </a:t>
            </a:r>
            <a:endParaRPr lang="en-US" sz="2400" b="1" dirty="0" smtClean="0"/>
          </a:p>
          <a:p>
            <a:pPr algn="ctr"/>
            <a:r>
              <a:rPr lang="en-US" sz="2400" b="1" dirty="0" smtClean="0"/>
              <a:t>by </a:t>
            </a:r>
            <a:r>
              <a:rPr lang="en-US" sz="2400" b="1" dirty="0"/>
              <a:t>Shares</a:t>
            </a:r>
            <a:endParaRPr lang="en-US" sz="2400" dirty="0"/>
          </a:p>
        </p:txBody>
      </p:sp>
    </p:spTree>
    <p:extLst>
      <p:ext uri="{BB962C8B-B14F-4D97-AF65-F5344CB8AC3E}">
        <p14:creationId xmlns:p14="http://schemas.microsoft.com/office/powerpoint/2010/main" val="243619905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267494"/>
            <a:ext cx="8640960" cy="2469907"/>
          </a:xfrm>
          <a:prstGeom prst="rect">
            <a:avLst/>
          </a:prstGeom>
          <a:noFill/>
        </p:spPr>
        <p:txBody>
          <a:bodyPr wrap="square" rtlCol="0">
            <a:spAutoFit/>
          </a:bodyPr>
          <a:lstStyle/>
          <a:p>
            <a:r>
              <a:rPr lang="en-US" b="1" dirty="0"/>
              <a:t>Formation</a:t>
            </a:r>
            <a:r>
              <a:rPr lang="en-US" dirty="0">
                <a:solidFill>
                  <a:schemeClr val="bg1"/>
                </a:solidFill>
              </a:rPr>
              <a:t/>
            </a:r>
            <a:br>
              <a:rPr lang="en-US" dirty="0">
                <a:solidFill>
                  <a:schemeClr val="bg1"/>
                </a:solidFill>
              </a:rPr>
            </a:br>
            <a:r>
              <a:rPr lang="en-US" dirty="0">
                <a:solidFill>
                  <a:schemeClr val="bg1"/>
                </a:solidFill>
              </a:rPr>
              <a:t/>
            </a:r>
            <a:br>
              <a:rPr lang="en-US" dirty="0">
                <a:solidFill>
                  <a:schemeClr val="bg1"/>
                </a:solidFill>
              </a:rPr>
            </a:br>
            <a:r>
              <a:rPr lang="en-US" dirty="0">
                <a:solidFill>
                  <a:schemeClr val="bg1"/>
                </a:solidFill>
              </a:rPr>
              <a:t>The limited partnership by shares, or the "</a:t>
            </a:r>
            <a:r>
              <a:rPr lang="en-US" dirty="0" err="1">
                <a:solidFill>
                  <a:schemeClr val="bg1"/>
                </a:solidFill>
              </a:rPr>
              <a:t>societe</a:t>
            </a:r>
            <a:r>
              <a:rPr lang="en-US" dirty="0">
                <a:solidFill>
                  <a:schemeClr val="bg1"/>
                </a:solidFill>
              </a:rPr>
              <a:t> en </a:t>
            </a:r>
            <a:r>
              <a:rPr lang="en-US" dirty="0" err="1">
                <a:solidFill>
                  <a:schemeClr val="bg1"/>
                </a:solidFill>
              </a:rPr>
              <a:t>commandite</a:t>
            </a:r>
            <a:r>
              <a:rPr lang="en-US" dirty="0">
                <a:solidFill>
                  <a:schemeClr val="bg1"/>
                </a:solidFill>
              </a:rPr>
              <a:t> par actions" as called in France, is similar to the joint stock company with the exception that at least one of the founders has unlimited liability in meeting the company's financial liabilities. The company is prohibited from conducting the business of insurance, banking, or savings or investing funds on other people's behalf (Article 3 &amp; 5 of the Companies Law).</a:t>
            </a:r>
            <a:br>
              <a:rPr lang="en-US" dirty="0">
                <a:solidFill>
                  <a:schemeClr val="bg1"/>
                </a:solidFill>
              </a:rPr>
            </a:br>
            <a:endParaRPr lang="en-US" sz="1100" dirty="0">
              <a:solidFill>
                <a:schemeClr val="bg1"/>
              </a:solidFill>
            </a:endParaRPr>
          </a:p>
        </p:txBody>
      </p:sp>
    </p:spTree>
    <p:extLst>
      <p:ext uri="{BB962C8B-B14F-4D97-AF65-F5344CB8AC3E}">
        <p14:creationId xmlns:p14="http://schemas.microsoft.com/office/powerpoint/2010/main" val="61371449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195486"/>
            <a:ext cx="8640960" cy="5293757"/>
          </a:xfrm>
          <a:prstGeom prst="rect">
            <a:avLst/>
          </a:prstGeom>
          <a:noFill/>
        </p:spPr>
        <p:txBody>
          <a:bodyPr wrap="square" rtlCol="0">
            <a:spAutoFit/>
          </a:bodyPr>
          <a:lstStyle/>
          <a:p>
            <a:r>
              <a:rPr lang="en-US" sz="1600" b="1" dirty="0"/>
              <a:t>Management</a:t>
            </a:r>
            <a:br>
              <a:rPr lang="en-US" sz="1600" b="1" dirty="0"/>
            </a:br>
            <a:r>
              <a:rPr lang="en-US" sz="1600" b="1" dirty="0"/>
              <a:t/>
            </a:r>
            <a:br>
              <a:rPr lang="en-US" sz="1600" b="1" dirty="0"/>
            </a:br>
            <a:r>
              <a:rPr lang="en-US" sz="1600" dirty="0">
                <a:solidFill>
                  <a:schemeClr val="bg1"/>
                </a:solidFill>
              </a:rPr>
              <a:t>The company is managed by the founder(s) of unlimited liability without any direct participation from the other founders or ordinary shareholders of limited liability. The founder(s) of unlimited liability who is managing the company is called the "manager", but his or her legal status is similar to the director of the joint stock company and the provisions applicable to these directors apply as well to the managers of limited partnerships by shares. The name and scope of such partner manager's authority must be specified in the Memorandum of Association (Article 111 of the Companies Law). </a:t>
            </a:r>
            <a:br>
              <a:rPr lang="en-US" sz="1600" dirty="0">
                <a:solidFill>
                  <a:schemeClr val="bg1"/>
                </a:solidFill>
              </a:rPr>
            </a:br>
            <a:r>
              <a:rPr lang="en-US" sz="1600" dirty="0">
                <a:solidFill>
                  <a:schemeClr val="bg1"/>
                </a:solidFill>
              </a:rPr>
              <a:t>The company must have a Supervisory Board made up of at least three persons, whose purpose is to supervise the actions of the manager(s). As such, this Supervisory Board may not be chosen from the partner manager(s). </a:t>
            </a:r>
            <a:r>
              <a:rPr lang="en-US" sz="1600" dirty="0"/>
              <a:t/>
            </a:r>
            <a:br>
              <a:rPr lang="en-US" sz="1600" dirty="0"/>
            </a:br>
            <a:endParaRPr lang="en-US" sz="1600" dirty="0"/>
          </a:p>
          <a:p>
            <a:r>
              <a:rPr lang="en-US" sz="1600" b="1" dirty="0"/>
              <a:t>Financial Requirements</a:t>
            </a:r>
            <a:br>
              <a:rPr lang="en-US" sz="1600" b="1" dirty="0"/>
            </a:br>
            <a:r>
              <a:rPr lang="en-US" sz="1600" b="1" dirty="0"/>
              <a:t/>
            </a:r>
            <a:br>
              <a:rPr lang="en-US" sz="1600" b="1" dirty="0"/>
            </a:br>
            <a:r>
              <a:rPr lang="en-US" sz="1600" dirty="0">
                <a:solidFill>
                  <a:schemeClr val="bg1"/>
                </a:solidFill>
              </a:rPr>
              <a:t>According to the Egyptian Law, There’s a minimum share capital required of a limited partnership. The capital is divided into two categories: (1) shares owned by founder partners, and (2) shares of equal value belonging to shareholders. The founder partners have unlimited liability while the shareholders' liability is limited to the value of their respective shares.</a:t>
            </a:r>
            <a:r>
              <a:rPr lang="en-US" sz="1600" dirty="0"/>
              <a:t/>
            </a:r>
            <a:br>
              <a:rPr lang="en-US" sz="1600" dirty="0"/>
            </a:br>
            <a:endParaRPr lang="en-US" sz="1600" dirty="0"/>
          </a:p>
          <a:p>
            <a:endParaRPr lang="en-US" sz="1600" dirty="0"/>
          </a:p>
        </p:txBody>
      </p:sp>
    </p:spTree>
    <p:extLst>
      <p:ext uri="{BB962C8B-B14F-4D97-AF65-F5344CB8AC3E}">
        <p14:creationId xmlns:p14="http://schemas.microsoft.com/office/powerpoint/2010/main" val="293250767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Off-page Connector 3"/>
          <p:cNvSpPr/>
          <p:nvPr/>
        </p:nvSpPr>
        <p:spPr>
          <a:xfrm>
            <a:off x="2483768" y="0"/>
            <a:ext cx="3600400" cy="2736304"/>
          </a:xfrm>
          <a:prstGeom prst="flowChartOffpage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6" name="Rectangle 5"/>
          <p:cNvSpPr/>
          <p:nvPr/>
        </p:nvSpPr>
        <p:spPr>
          <a:xfrm>
            <a:off x="2979765" y="987574"/>
            <a:ext cx="2608406" cy="830997"/>
          </a:xfrm>
          <a:prstGeom prst="rect">
            <a:avLst/>
          </a:prstGeom>
        </p:spPr>
        <p:txBody>
          <a:bodyPr wrap="none">
            <a:spAutoFit/>
          </a:bodyPr>
          <a:lstStyle/>
          <a:p>
            <a:pPr algn="ctr"/>
            <a:r>
              <a:rPr lang="en-US" sz="2400" b="1" dirty="0"/>
              <a:t>Limited Liability </a:t>
            </a:r>
            <a:endParaRPr lang="en-US" sz="2400" b="1" dirty="0" smtClean="0"/>
          </a:p>
          <a:p>
            <a:pPr algn="ctr"/>
            <a:r>
              <a:rPr lang="en-US" sz="2400" b="1" dirty="0" smtClean="0"/>
              <a:t>Companies</a:t>
            </a:r>
            <a:endParaRPr lang="en-US" sz="2400" dirty="0"/>
          </a:p>
        </p:txBody>
      </p:sp>
    </p:spTree>
    <p:extLst>
      <p:ext uri="{BB962C8B-B14F-4D97-AF65-F5344CB8AC3E}">
        <p14:creationId xmlns:p14="http://schemas.microsoft.com/office/powerpoint/2010/main" val="400571398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3528" y="339502"/>
            <a:ext cx="8496944" cy="3139321"/>
          </a:xfrm>
          <a:prstGeom prst="rect">
            <a:avLst/>
          </a:prstGeom>
          <a:noFill/>
        </p:spPr>
        <p:txBody>
          <a:bodyPr wrap="square" rtlCol="0">
            <a:spAutoFit/>
          </a:bodyPr>
          <a:lstStyle/>
          <a:p>
            <a:r>
              <a:rPr lang="en-US" b="1" dirty="0"/>
              <a:t>Formation</a:t>
            </a:r>
            <a:br>
              <a:rPr lang="en-US" b="1" dirty="0"/>
            </a:br>
            <a:r>
              <a:rPr lang="en-US" dirty="0"/>
              <a:t/>
            </a:r>
            <a:br>
              <a:rPr lang="en-US" dirty="0"/>
            </a:br>
            <a:r>
              <a:rPr lang="en-US" dirty="0">
                <a:solidFill>
                  <a:schemeClr val="bg1"/>
                </a:solidFill>
              </a:rPr>
              <a:t>The Egyptian limited liability company is a closed company where the liability of each of its partners is limited to the value of his or her shares (called quotas) in the company. The number of partners of a limited liability company cannot be less than two persons and cannot exceed fifty. The shares or quotas of the limited liability company cannot be traded in the stock exchange. The trade name of the limited liability company is usually derived from its object, but may also include the name(s) of one or more of its partners. Additionally, the words "Limited Liability Company" must be included in the name (Article 61of Ministerial Decision Implementing the Commercial Companies Law.)</a:t>
            </a:r>
            <a:r>
              <a:rPr lang="en-US" dirty="0"/>
              <a:t> </a:t>
            </a:r>
          </a:p>
        </p:txBody>
      </p:sp>
    </p:spTree>
    <p:extLst>
      <p:ext uri="{BB962C8B-B14F-4D97-AF65-F5344CB8AC3E}">
        <p14:creationId xmlns:p14="http://schemas.microsoft.com/office/powerpoint/2010/main" val="187698308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267494"/>
            <a:ext cx="8640960" cy="4616648"/>
          </a:xfrm>
          <a:prstGeom prst="rect">
            <a:avLst/>
          </a:prstGeom>
          <a:noFill/>
        </p:spPr>
        <p:txBody>
          <a:bodyPr wrap="square" rtlCol="0">
            <a:spAutoFit/>
          </a:bodyPr>
          <a:lstStyle/>
          <a:p>
            <a:r>
              <a:rPr lang="en-US" sz="1400" b="1" dirty="0"/>
              <a:t>Management</a:t>
            </a:r>
            <a:br>
              <a:rPr lang="en-US" sz="1400" b="1" dirty="0"/>
            </a:br>
            <a:r>
              <a:rPr lang="en-US" sz="1400" b="1" dirty="0"/>
              <a:t/>
            </a:r>
            <a:br>
              <a:rPr lang="en-US" sz="1400" b="1" dirty="0"/>
            </a:br>
            <a:r>
              <a:rPr lang="en-US" sz="1400" dirty="0">
                <a:solidFill>
                  <a:schemeClr val="bg1"/>
                </a:solidFill>
              </a:rPr>
              <a:t>The management of a limited liability company may be assigned to one or more managers. At least one manager must be of Egyptian nationality (Article 281 of the ministerial decision implementing the Companies Law). The manager(s) must be named in the Memorandum of Association but need not be a shareholder(s). The manager(s) may be appointed for a definite term (which must be specified in the Memorandum of Association) or for an indefinite term. The manager(s) shall have full authority to represent the company; unless such authority is limited by the Memorandum of Association. </a:t>
            </a:r>
            <a:br>
              <a:rPr lang="en-US" sz="1400" dirty="0">
                <a:solidFill>
                  <a:schemeClr val="bg1"/>
                </a:solidFill>
              </a:rPr>
            </a:br>
            <a:r>
              <a:rPr lang="en-US" sz="1400" dirty="0">
                <a:solidFill>
                  <a:schemeClr val="bg1"/>
                </a:solidFill>
              </a:rPr>
              <a:t/>
            </a:r>
            <a:br>
              <a:rPr lang="en-US" sz="1400" dirty="0">
                <a:solidFill>
                  <a:schemeClr val="bg1"/>
                </a:solidFill>
              </a:rPr>
            </a:br>
            <a:r>
              <a:rPr lang="en-US" sz="1400" dirty="0">
                <a:solidFill>
                  <a:schemeClr val="bg1"/>
                </a:solidFill>
              </a:rPr>
              <a:t>The manager of the limited liability company has the same legal status of the director of the joint stock company. The remuneration of the manager, after certain deductions, is subject to a salary at rates 10% and 2% </a:t>
            </a:r>
            <a:br>
              <a:rPr lang="en-US" sz="1400" dirty="0">
                <a:solidFill>
                  <a:schemeClr val="bg1"/>
                </a:solidFill>
              </a:rPr>
            </a:br>
            <a:r>
              <a:rPr lang="en-US" sz="1400" dirty="0">
                <a:solidFill>
                  <a:schemeClr val="bg1"/>
                </a:solidFill>
              </a:rPr>
              <a:t>If the number of the partners of a limited liability company exceeds ten, the partners should form a supervisory board consisting of at least three of them. </a:t>
            </a:r>
            <a:endParaRPr lang="en-US" sz="1400" dirty="0" smtClean="0">
              <a:solidFill>
                <a:schemeClr val="bg1"/>
              </a:solidFill>
            </a:endParaRPr>
          </a:p>
          <a:p>
            <a:endParaRPr lang="en-US" sz="1400" dirty="0"/>
          </a:p>
          <a:p>
            <a:r>
              <a:rPr lang="en-US" sz="1400" b="1" dirty="0"/>
              <a:t>Financial Requirements</a:t>
            </a:r>
            <a:br>
              <a:rPr lang="en-US" sz="1400" b="1" dirty="0"/>
            </a:br>
            <a:r>
              <a:rPr lang="en-US" sz="1400" b="1" dirty="0"/>
              <a:t/>
            </a:r>
            <a:br>
              <a:rPr lang="en-US" sz="1400" b="1" dirty="0"/>
            </a:br>
            <a:r>
              <a:rPr lang="en-US" sz="1400" dirty="0">
                <a:solidFill>
                  <a:schemeClr val="bg1"/>
                </a:solidFill>
              </a:rPr>
              <a:t>According to the Egyptian Law, There’s a minimum equity capital of a limited liability company. The equity capital should be fully paid up on foundation. The nominal value of the share or quota.</a:t>
            </a:r>
            <a:br>
              <a:rPr lang="en-US" sz="1400" dirty="0">
                <a:solidFill>
                  <a:schemeClr val="bg1"/>
                </a:solidFill>
              </a:rPr>
            </a:br>
            <a:r>
              <a:rPr lang="en-US" sz="1400" dirty="0">
                <a:solidFill>
                  <a:schemeClr val="bg1"/>
                </a:solidFill>
              </a:rPr>
              <a:t>The quotas cannot be traded in the stock exchange, however, any partner can sell his or her quotas to outsiders, given that he has already offered them to the other partners and they declined to buy them.</a:t>
            </a:r>
          </a:p>
        </p:txBody>
      </p:sp>
    </p:spTree>
    <p:extLst>
      <p:ext uri="{BB962C8B-B14F-4D97-AF65-F5344CB8AC3E}">
        <p14:creationId xmlns:p14="http://schemas.microsoft.com/office/powerpoint/2010/main" val="64299882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3" cstate="print">
            <a:extLst>
              <a:ext uri="{28A0092B-C50C-407E-A947-70E740481C1C}">
                <a14:useLocalDpi xmlns:a14="http://schemas.microsoft.com/office/drawing/2010/main" val="0"/>
              </a:ext>
            </a:extLst>
          </a:blip>
          <a:srcRect t="-400" r="-400"/>
          <a:stretch/>
        </p:blipFill>
        <p:spPr>
          <a:xfrm>
            <a:off x="0" y="-20538"/>
            <a:ext cx="9180512" cy="5164038"/>
          </a:xfrm>
          <a:prstGeom prst="rect">
            <a:avLst/>
          </a:prstGeom>
        </p:spPr>
      </p:pic>
      <p:sp>
        <p:nvSpPr>
          <p:cNvPr id="4" name="Snip Same Side Corner Rectangle 3"/>
          <p:cNvSpPr/>
          <p:nvPr/>
        </p:nvSpPr>
        <p:spPr>
          <a:xfrm>
            <a:off x="4788024" y="3795885"/>
            <a:ext cx="3888432" cy="1347614"/>
          </a:xfrm>
          <a:prstGeom prst="snip2Same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 name="TextBox 4"/>
          <p:cNvSpPr txBox="1"/>
          <p:nvPr/>
        </p:nvSpPr>
        <p:spPr>
          <a:xfrm>
            <a:off x="5076056" y="3931083"/>
            <a:ext cx="3312368" cy="1077218"/>
          </a:xfrm>
          <a:prstGeom prst="rect">
            <a:avLst/>
          </a:prstGeom>
          <a:noFill/>
        </p:spPr>
        <p:txBody>
          <a:bodyPr wrap="square" rtlCol="0">
            <a:spAutoFit/>
          </a:bodyPr>
          <a:lstStyle/>
          <a:p>
            <a:pPr algn="ctr"/>
            <a:r>
              <a:rPr lang="en-US" sz="3200" b="1" dirty="0">
                <a:solidFill>
                  <a:srgbClr val="53D2FF"/>
                </a:solidFill>
              </a:rPr>
              <a:t>Sources of </a:t>
            </a:r>
            <a:endParaRPr lang="en-US" sz="3200" b="1" dirty="0" smtClean="0">
              <a:solidFill>
                <a:srgbClr val="53D2FF"/>
              </a:solidFill>
            </a:endParaRPr>
          </a:p>
          <a:p>
            <a:pPr algn="ctr"/>
            <a:r>
              <a:rPr lang="en-US" sz="3200" b="1" dirty="0" smtClean="0">
                <a:solidFill>
                  <a:srgbClr val="53D2FF"/>
                </a:solidFill>
              </a:rPr>
              <a:t>start-up </a:t>
            </a:r>
            <a:r>
              <a:rPr lang="en-US" sz="3200" b="1" dirty="0">
                <a:solidFill>
                  <a:srgbClr val="53D2FF"/>
                </a:solidFill>
              </a:rPr>
              <a:t>funding</a:t>
            </a:r>
            <a:endParaRPr lang="en-US" sz="3200" dirty="0">
              <a:solidFill>
                <a:srgbClr val="53D2FF"/>
              </a:solidFill>
            </a:endParaRPr>
          </a:p>
        </p:txBody>
      </p:sp>
      <p:sp>
        <p:nvSpPr>
          <p:cNvPr id="7" name="TextBox 6"/>
          <p:cNvSpPr txBox="1"/>
          <p:nvPr/>
        </p:nvSpPr>
        <p:spPr>
          <a:xfrm>
            <a:off x="4355976" y="339502"/>
            <a:ext cx="4464496" cy="3293209"/>
          </a:xfrm>
          <a:prstGeom prst="rect">
            <a:avLst/>
          </a:prstGeom>
          <a:noFill/>
        </p:spPr>
        <p:txBody>
          <a:bodyPr wrap="square" rtlCol="0">
            <a:spAutoFit/>
          </a:bodyPr>
          <a:lstStyle/>
          <a:p>
            <a:pPr algn="just"/>
            <a:r>
              <a:rPr lang="en-US" sz="1600" dirty="0">
                <a:solidFill>
                  <a:schemeClr val="bg1"/>
                </a:solidFill>
              </a:rPr>
              <a:t>Most business startups usually begin with high hopes and investor confidence. However, a few circumstances can either make or mar any business startup</a:t>
            </a:r>
            <a:r>
              <a:rPr lang="en-US" sz="1600" dirty="0" smtClean="0">
                <a:solidFill>
                  <a:schemeClr val="bg1"/>
                </a:solidFill>
              </a:rPr>
              <a:t>.</a:t>
            </a:r>
          </a:p>
          <a:p>
            <a:pPr algn="just"/>
            <a:endParaRPr lang="en-US" sz="1600" dirty="0">
              <a:solidFill>
                <a:schemeClr val="bg1"/>
              </a:solidFill>
            </a:endParaRPr>
          </a:p>
          <a:p>
            <a:pPr algn="just"/>
            <a:r>
              <a:rPr lang="en-US" sz="1600" dirty="0">
                <a:solidFill>
                  <a:schemeClr val="bg1"/>
                </a:solidFill>
              </a:rPr>
              <a:t>A comprehensive research conducted by experts has shown that business startups within the first year often capitulate due to a myriad of reasons</a:t>
            </a:r>
            <a:r>
              <a:rPr lang="en-US" sz="1600" dirty="0" smtClean="0">
                <a:solidFill>
                  <a:schemeClr val="bg1"/>
                </a:solidFill>
              </a:rPr>
              <a:t>.</a:t>
            </a:r>
          </a:p>
          <a:p>
            <a:pPr algn="just"/>
            <a:endParaRPr lang="en-US" sz="1600" dirty="0">
              <a:solidFill>
                <a:schemeClr val="bg1"/>
              </a:solidFill>
            </a:endParaRPr>
          </a:p>
          <a:p>
            <a:pPr algn="just"/>
            <a:r>
              <a:rPr lang="en-US" sz="1600" dirty="0">
                <a:solidFill>
                  <a:schemeClr val="bg1"/>
                </a:solidFill>
              </a:rPr>
              <a:t>Here are a few tips on the procedure you can adopt, in order to source for the required funding for your startup.</a:t>
            </a:r>
          </a:p>
        </p:txBody>
      </p:sp>
    </p:spTree>
    <p:extLst>
      <p:ext uri="{BB962C8B-B14F-4D97-AF65-F5344CB8AC3E}">
        <p14:creationId xmlns:p14="http://schemas.microsoft.com/office/powerpoint/2010/main" val="299580268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2931790"/>
            <a:ext cx="9144000" cy="2211710"/>
          </a:xfrm>
          <a:prstGeom prst="rect">
            <a:avLst/>
          </a:prstGeom>
          <a:solidFill>
            <a:srgbClr val="8FE2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4" name="TextBox 3"/>
          <p:cNvSpPr txBox="1"/>
          <p:nvPr/>
        </p:nvSpPr>
        <p:spPr>
          <a:xfrm>
            <a:off x="179512" y="195486"/>
            <a:ext cx="8784976" cy="5262979"/>
          </a:xfrm>
          <a:prstGeom prst="rect">
            <a:avLst/>
          </a:prstGeom>
          <a:noFill/>
        </p:spPr>
        <p:txBody>
          <a:bodyPr wrap="square" rtlCol="0">
            <a:spAutoFit/>
          </a:bodyPr>
          <a:lstStyle/>
          <a:p>
            <a:pPr marL="342900" indent="-342900">
              <a:buAutoNum type="arabicPeriod"/>
            </a:pPr>
            <a:r>
              <a:rPr lang="en-US" sz="1400" b="1" u="sng" dirty="0" smtClean="0">
                <a:solidFill>
                  <a:schemeClr val="bg1"/>
                </a:solidFill>
              </a:rPr>
              <a:t>Bootstrapping </a:t>
            </a:r>
            <a:r>
              <a:rPr lang="en-US" sz="1400" b="1" u="sng" dirty="0">
                <a:solidFill>
                  <a:schemeClr val="bg1"/>
                </a:solidFill>
              </a:rPr>
              <a:t>your </a:t>
            </a:r>
            <a:r>
              <a:rPr lang="en-US" sz="1400" b="1" u="sng" dirty="0" smtClean="0">
                <a:solidFill>
                  <a:schemeClr val="bg1"/>
                </a:solidFill>
              </a:rPr>
              <a:t>business</a:t>
            </a:r>
          </a:p>
          <a:p>
            <a:pPr marL="342900" indent="-342900">
              <a:buAutoNum type="arabicPeriod"/>
            </a:pPr>
            <a:endParaRPr lang="en-US" sz="1400" dirty="0"/>
          </a:p>
          <a:p>
            <a:r>
              <a:rPr lang="en-US" sz="1400" dirty="0"/>
              <a:t>In order to succeed in your first time out in your business startup, you must ensure that you have some saved up funds you can easily access or funds you can obtain from friends or family.</a:t>
            </a:r>
          </a:p>
          <a:p>
            <a:r>
              <a:rPr lang="en-US" sz="1400" dirty="0"/>
              <a:t>The process of utilizing personal saved up funds or funding from friends and family is known as bootstrapping or self -funding</a:t>
            </a:r>
            <a:r>
              <a:rPr lang="en-US" sz="1400" dirty="0" smtClean="0"/>
              <a:t>.</a:t>
            </a:r>
          </a:p>
          <a:p>
            <a:endParaRPr lang="en-US" sz="1400" dirty="0"/>
          </a:p>
          <a:p>
            <a:r>
              <a:rPr lang="en-US" sz="1400" dirty="0"/>
              <a:t>Obtaining funding from family and friends is a unique way to kick off your startup. Friends and family are usually flexible when it comes to servicing your loan debt much more than other external sources</a:t>
            </a:r>
            <a:r>
              <a:rPr lang="en-US" sz="1400" dirty="0" smtClean="0"/>
              <a:t>.</a:t>
            </a:r>
          </a:p>
          <a:p>
            <a:endParaRPr lang="en-US" sz="1400" dirty="0"/>
          </a:p>
          <a:p>
            <a:r>
              <a:rPr lang="en-US" sz="1400" dirty="0"/>
              <a:t>So, if you approach the right friend or family member that supports your idea, you can get some, if not all the funds you require to start up your business. </a:t>
            </a:r>
            <a:endParaRPr lang="en-US" sz="1400" dirty="0" smtClean="0"/>
          </a:p>
          <a:p>
            <a:endParaRPr lang="en-US" sz="1400" dirty="0"/>
          </a:p>
          <a:p>
            <a:r>
              <a:rPr lang="en-US" sz="1400" b="1" dirty="0" smtClean="0"/>
              <a:t>Pros</a:t>
            </a:r>
          </a:p>
          <a:p>
            <a:endParaRPr lang="en-US" sz="1400" dirty="0"/>
          </a:p>
          <a:p>
            <a:r>
              <a:rPr lang="en-US" sz="1400" dirty="0"/>
              <a:t>- Funds can easily be accessed</a:t>
            </a:r>
          </a:p>
          <a:p>
            <a:r>
              <a:rPr lang="en-US" sz="1400" dirty="0"/>
              <a:t>- Little or no bureaucratic obstacles</a:t>
            </a:r>
          </a:p>
          <a:p>
            <a:r>
              <a:rPr lang="en-US" sz="1400" dirty="0" smtClean="0"/>
              <a:t>- Flexible </a:t>
            </a:r>
            <a:r>
              <a:rPr lang="en-US" sz="1400" dirty="0"/>
              <a:t>interest </a:t>
            </a:r>
            <a:r>
              <a:rPr lang="en-US" sz="1400" dirty="0" smtClean="0"/>
              <a:t>rates</a:t>
            </a:r>
          </a:p>
          <a:p>
            <a:pPr marL="285750" indent="-285750">
              <a:buFontTx/>
              <a:buChar char="-"/>
            </a:pPr>
            <a:endParaRPr lang="en-US" sz="1400" dirty="0"/>
          </a:p>
          <a:p>
            <a:r>
              <a:rPr lang="en-US" sz="1400" b="1" dirty="0" smtClean="0"/>
              <a:t>Cons</a:t>
            </a:r>
          </a:p>
          <a:p>
            <a:endParaRPr lang="en-US" sz="1400" dirty="0"/>
          </a:p>
          <a:p>
            <a:r>
              <a:rPr lang="en-US" sz="1400" dirty="0"/>
              <a:t>- Bootstrapping doesn't work for large businesses; it only works for small-scale enterprises </a:t>
            </a:r>
          </a:p>
          <a:p>
            <a:endParaRPr lang="en-US" sz="1400" dirty="0"/>
          </a:p>
          <a:p>
            <a:endParaRPr lang="en-US" sz="1400" dirty="0"/>
          </a:p>
        </p:txBody>
      </p:sp>
    </p:spTree>
    <p:extLst>
      <p:ext uri="{BB962C8B-B14F-4D97-AF65-F5344CB8AC3E}">
        <p14:creationId xmlns:p14="http://schemas.microsoft.com/office/powerpoint/2010/main" val="417950235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2139702"/>
            <a:ext cx="9144000" cy="3003798"/>
          </a:xfrm>
          <a:prstGeom prst="rect">
            <a:avLst/>
          </a:prstGeom>
          <a:solidFill>
            <a:srgbClr val="8FE2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4" name="TextBox 3"/>
          <p:cNvSpPr txBox="1"/>
          <p:nvPr/>
        </p:nvSpPr>
        <p:spPr>
          <a:xfrm>
            <a:off x="179512" y="195486"/>
            <a:ext cx="8712968" cy="5078313"/>
          </a:xfrm>
          <a:prstGeom prst="rect">
            <a:avLst/>
          </a:prstGeom>
          <a:noFill/>
        </p:spPr>
        <p:txBody>
          <a:bodyPr wrap="square" rtlCol="0">
            <a:spAutoFit/>
          </a:bodyPr>
          <a:lstStyle/>
          <a:p>
            <a:r>
              <a:rPr lang="en-US" sz="1300" b="1" u="sng" dirty="0">
                <a:solidFill>
                  <a:schemeClr val="bg1"/>
                </a:solidFill>
              </a:rPr>
              <a:t>2. Crowd </a:t>
            </a:r>
            <a:r>
              <a:rPr lang="en-US" sz="1300" b="1" u="sng" dirty="0" smtClean="0">
                <a:solidFill>
                  <a:schemeClr val="bg1"/>
                </a:solidFill>
              </a:rPr>
              <a:t>funding</a:t>
            </a:r>
          </a:p>
          <a:p>
            <a:endParaRPr lang="en-US" sz="1300" dirty="0"/>
          </a:p>
          <a:p>
            <a:r>
              <a:rPr lang="en-US" sz="1300" dirty="0"/>
              <a:t>Modern technology has made it easier for people to share their problems on an interactive social platform. Crowd funding platforms are basically set up for individuals to pitch their business ideas or challenges to a community of investors or people willing to support their ideas or cause</a:t>
            </a:r>
            <a:r>
              <a:rPr lang="en-US" sz="1300" dirty="0" smtClean="0"/>
              <a:t>.</a:t>
            </a:r>
          </a:p>
          <a:p>
            <a:endParaRPr lang="en-US" sz="1300" dirty="0"/>
          </a:p>
          <a:p>
            <a:r>
              <a:rPr lang="en-US" sz="1300" dirty="0"/>
              <a:t>How it basically works is that an individual makes a business pitch on the crowd funding platform, he shares his business model and it's potential for growth. If his idea is bought by the crowd funders on the platform, they'll make a pledge to support his business model publicly and donate funds respectively</a:t>
            </a:r>
            <a:r>
              <a:rPr lang="en-US" sz="1300" dirty="0" smtClean="0"/>
              <a:t>.</a:t>
            </a:r>
          </a:p>
          <a:p>
            <a:endParaRPr lang="en-US" sz="1300" dirty="0"/>
          </a:p>
          <a:p>
            <a:r>
              <a:rPr lang="en-US" sz="1300" b="1" dirty="0" smtClean="0"/>
              <a:t>Pros</a:t>
            </a:r>
          </a:p>
          <a:p>
            <a:endParaRPr lang="en-US" sz="1300" dirty="0"/>
          </a:p>
          <a:p>
            <a:r>
              <a:rPr lang="en-US" sz="1300" dirty="0"/>
              <a:t>- Crowd funding essentially creates public interest for your business, thus running some free marketing and providing finance for your business at the same time</a:t>
            </a:r>
          </a:p>
          <a:p>
            <a:r>
              <a:rPr lang="en-US" sz="1300" dirty="0"/>
              <a:t>- Crowd funding eliminates the intricacies involved in placing your business in the hands of an investor or a broker and wields that power to simpletons on the crowd funding platform</a:t>
            </a:r>
          </a:p>
          <a:p>
            <a:pPr marL="171450" indent="-171450">
              <a:buFontTx/>
              <a:buChar char="-"/>
            </a:pPr>
            <a:r>
              <a:rPr lang="en-US" sz="1300" dirty="0" smtClean="0"/>
              <a:t>Has </a:t>
            </a:r>
            <a:r>
              <a:rPr lang="en-US" sz="1300" dirty="0"/>
              <a:t>a potential to attract venture-capital investment as the business progresses</a:t>
            </a:r>
            <a:r>
              <a:rPr lang="en-US" sz="1300" dirty="0" smtClean="0"/>
              <a:t>.</a:t>
            </a:r>
          </a:p>
          <a:p>
            <a:pPr marL="171450" indent="-171450">
              <a:buFontTx/>
              <a:buChar char="-"/>
            </a:pPr>
            <a:endParaRPr lang="en-US" sz="1300" dirty="0"/>
          </a:p>
          <a:p>
            <a:r>
              <a:rPr lang="en-US" sz="1300" b="1" dirty="0" smtClean="0"/>
              <a:t>Cons</a:t>
            </a:r>
          </a:p>
          <a:p>
            <a:endParaRPr lang="en-US" sz="1300" dirty="0"/>
          </a:p>
          <a:p>
            <a:r>
              <a:rPr lang="en-US" sz="1300" dirty="0"/>
              <a:t>- The heavy competition inherent in crowd funding platforms can prove to be difficult if someone or people are pitching the same business idea as yours.</a:t>
            </a:r>
          </a:p>
          <a:p>
            <a:r>
              <a:rPr lang="en-US" sz="1300" dirty="0"/>
              <a:t>- If your business pitch isn't as solid as your competition, then there is a probability that your business idea will be overlooked or rejected </a:t>
            </a:r>
          </a:p>
          <a:p>
            <a:endParaRPr lang="en-US" sz="1200" dirty="0"/>
          </a:p>
        </p:txBody>
      </p:sp>
    </p:spTree>
    <p:extLst>
      <p:ext uri="{BB962C8B-B14F-4D97-AF65-F5344CB8AC3E}">
        <p14:creationId xmlns:p14="http://schemas.microsoft.com/office/powerpoint/2010/main" val="392729013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2139702"/>
            <a:ext cx="9144000" cy="3003798"/>
          </a:xfrm>
          <a:prstGeom prst="rect">
            <a:avLst/>
          </a:prstGeom>
          <a:solidFill>
            <a:srgbClr val="8FE2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4" name="TextBox 3"/>
          <p:cNvSpPr txBox="1"/>
          <p:nvPr/>
        </p:nvSpPr>
        <p:spPr>
          <a:xfrm>
            <a:off x="179512" y="195486"/>
            <a:ext cx="8712968" cy="4401205"/>
          </a:xfrm>
          <a:prstGeom prst="rect">
            <a:avLst/>
          </a:prstGeom>
          <a:noFill/>
        </p:spPr>
        <p:txBody>
          <a:bodyPr wrap="square" rtlCol="0">
            <a:spAutoFit/>
          </a:bodyPr>
          <a:lstStyle/>
          <a:p>
            <a:r>
              <a:rPr lang="en-US" sz="1400" b="1" u="sng" dirty="0">
                <a:solidFill>
                  <a:schemeClr val="bg1"/>
                </a:solidFill>
              </a:rPr>
              <a:t>3. Seek Angel Investment for Your </a:t>
            </a:r>
            <a:r>
              <a:rPr lang="en-US" sz="1400" b="1" u="sng" dirty="0" smtClean="0">
                <a:solidFill>
                  <a:schemeClr val="bg1"/>
                </a:solidFill>
              </a:rPr>
              <a:t>Startup</a:t>
            </a:r>
          </a:p>
          <a:p>
            <a:endParaRPr lang="en-US" sz="1400" dirty="0"/>
          </a:p>
          <a:p>
            <a:r>
              <a:rPr lang="en-US" sz="1400" dirty="0"/>
              <a:t>You might be curious if there is such a thing as Angel investment or Angel investor? Yes, there is. Angel investors are basically people with a huge amount of capital and are willing to invest it on over the edge business ideas</a:t>
            </a:r>
            <a:r>
              <a:rPr lang="en-US" sz="1400" dirty="0" smtClean="0"/>
              <a:t>.</a:t>
            </a:r>
          </a:p>
          <a:p>
            <a:endParaRPr lang="en-US" sz="1400" dirty="0"/>
          </a:p>
          <a:p>
            <a:r>
              <a:rPr lang="en-US" sz="1400" dirty="0"/>
              <a:t>Angel investors sometimes come together in groups to scrutinize business proposals, in order to select the perfect candidate to invest in</a:t>
            </a:r>
            <a:r>
              <a:rPr lang="en-US" sz="1400" dirty="0" smtClean="0"/>
              <a:t>.</a:t>
            </a:r>
          </a:p>
          <a:p>
            <a:endParaRPr lang="en-US" sz="1400" dirty="0" smtClean="0"/>
          </a:p>
          <a:p>
            <a:endParaRPr lang="en-US" sz="1400" dirty="0"/>
          </a:p>
          <a:p>
            <a:r>
              <a:rPr lang="en-US" sz="1400" b="1" dirty="0" smtClean="0"/>
              <a:t>Pros</a:t>
            </a:r>
          </a:p>
          <a:p>
            <a:endParaRPr lang="en-US" sz="1400" dirty="0"/>
          </a:p>
          <a:p>
            <a:r>
              <a:rPr lang="en-US" sz="1400" dirty="0"/>
              <a:t>- Angel investors offer mentorship alongside capital for startups</a:t>
            </a:r>
          </a:p>
          <a:p>
            <a:r>
              <a:rPr lang="en-US" sz="1400" dirty="0" smtClean="0"/>
              <a:t>- Angel </a:t>
            </a:r>
            <a:r>
              <a:rPr lang="en-US" sz="1400" dirty="0"/>
              <a:t>investors are willing to take risks on business idea as they anticipate heavy return on investment from your </a:t>
            </a:r>
            <a:r>
              <a:rPr lang="en-US" sz="1400" dirty="0" smtClean="0"/>
              <a:t>startup</a:t>
            </a:r>
          </a:p>
          <a:p>
            <a:pPr marL="285750" indent="-285750">
              <a:buFontTx/>
              <a:buChar char="-"/>
            </a:pPr>
            <a:endParaRPr lang="en-US" sz="1400" dirty="0"/>
          </a:p>
          <a:p>
            <a:pPr marL="285750" indent="-285750">
              <a:buFontTx/>
              <a:buChar char="-"/>
            </a:pPr>
            <a:endParaRPr lang="en-US" sz="1400" dirty="0"/>
          </a:p>
          <a:p>
            <a:r>
              <a:rPr lang="en-US" sz="1400" b="1" dirty="0" smtClean="0"/>
              <a:t>Cons</a:t>
            </a:r>
          </a:p>
          <a:p>
            <a:endParaRPr lang="en-US" sz="1400" dirty="0"/>
          </a:p>
          <a:p>
            <a:r>
              <a:rPr lang="en-US" sz="1400" dirty="0"/>
              <a:t>- Angel investors provide lower investment capital to business ideas compared to venture capitalists</a:t>
            </a:r>
          </a:p>
        </p:txBody>
      </p:sp>
    </p:spTree>
    <p:extLst>
      <p:ext uri="{BB962C8B-B14F-4D97-AF65-F5344CB8AC3E}">
        <p14:creationId xmlns:p14="http://schemas.microsoft.com/office/powerpoint/2010/main" val="283486212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1347614"/>
            <a:ext cx="9144000" cy="3795886"/>
          </a:xfrm>
          <a:prstGeom prst="rect">
            <a:avLst/>
          </a:prstGeom>
          <a:solidFill>
            <a:srgbClr val="8FE2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4" name="TextBox 3"/>
          <p:cNvSpPr txBox="1"/>
          <p:nvPr/>
        </p:nvSpPr>
        <p:spPr>
          <a:xfrm>
            <a:off x="179512" y="195486"/>
            <a:ext cx="8712968" cy="5109091"/>
          </a:xfrm>
          <a:prstGeom prst="rect">
            <a:avLst/>
          </a:prstGeom>
          <a:noFill/>
        </p:spPr>
        <p:txBody>
          <a:bodyPr wrap="square" rtlCol="0">
            <a:spAutoFit/>
          </a:bodyPr>
          <a:lstStyle/>
          <a:p>
            <a:r>
              <a:rPr lang="en-US" sz="1600" b="1" dirty="0"/>
              <a:t>4. Seek Venture Capital for your </a:t>
            </a:r>
            <a:r>
              <a:rPr lang="en-US" sz="1600" b="1" dirty="0" smtClean="0"/>
              <a:t>Startup</a:t>
            </a:r>
          </a:p>
          <a:p>
            <a:endParaRPr lang="en-US" sz="1600" dirty="0"/>
          </a:p>
          <a:p>
            <a:r>
              <a:rPr lang="en-US" sz="1400" dirty="0"/>
              <a:t>Venture capitals funds are managed by professionals that have a keen eye for seeking out companies with great prospects</a:t>
            </a:r>
            <a:r>
              <a:rPr lang="en-US" sz="1400" dirty="0" smtClean="0"/>
              <a:t>.</a:t>
            </a:r>
          </a:p>
          <a:p>
            <a:endParaRPr lang="en-US" sz="1400" dirty="0"/>
          </a:p>
          <a:p>
            <a:endParaRPr lang="en-US" sz="1400" b="1" dirty="0"/>
          </a:p>
          <a:p>
            <a:r>
              <a:rPr lang="en-US" sz="1400" b="1" dirty="0" smtClean="0"/>
              <a:t>Pros</a:t>
            </a:r>
          </a:p>
          <a:p>
            <a:endParaRPr lang="en-US" sz="1400" dirty="0"/>
          </a:p>
          <a:p>
            <a:r>
              <a:rPr lang="en-US" sz="1400" dirty="0"/>
              <a:t>-Venture Capitals effectively monitor the progress of a company they have invested in, thus ensuring the sustainability and growth of their investment.</a:t>
            </a:r>
          </a:p>
          <a:p>
            <a:r>
              <a:rPr lang="en-US" sz="1400" dirty="0"/>
              <a:t>- The mentorship and expertise venture capitals bring to the table can also sustain a business or company effectively</a:t>
            </a:r>
          </a:p>
          <a:p>
            <a:r>
              <a:rPr lang="en-US" sz="1400" dirty="0"/>
              <a:t>- Companies with astronomical growth rates such as </a:t>
            </a:r>
            <a:r>
              <a:rPr lang="en-US" sz="1400" dirty="0" err="1"/>
              <a:t>Uber</a:t>
            </a:r>
            <a:r>
              <a:rPr lang="en-US" sz="1400" dirty="0"/>
              <a:t>, </a:t>
            </a:r>
            <a:r>
              <a:rPr lang="en-US" sz="1400" dirty="0" err="1"/>
              <a:t>Flipkart</a:t>
            </a:r>
            <a:r>
              <a:rPr lang="en-US" sz="1400" dirty="0"/>
              <a:t> have a pre-designed exit strategy that enables them to reap huge profits that they can, in turn, re-invest in the growth of their company.</a:t>
            </a:r>
          </a:p>
          <a:p>
            <a:endParaRPr lang="en-US" sz="1400" b="1" dirty="0"/>
          </a:p>
          <a:p>
            <a:r>
              <a:rPr lang="en-US" sz="1400" b="1" dirty="0" smtClean="0"/>
              <a:t>Cons</a:t>
            </a:r>
          </a:p>
          <a:p>
            <a:endParaRPr lang="en-US" sz="1400" dirty="0"/>
          </a:p>
          <a:p>
            <a:r>
              <a:rPr lang="en-US" sz="1400" dirty="0"/>
              <a:t>- Venture capitals will remain loyal to your business till they have recovered their capital and profits. This usually occurs during a slim three to five-year timeframe</a:t>
            </a:r>
          </a:p>
          <a:p>
            <a:r>
              <a:rPr lang="en-US" sz="1400" dirty="0"/>
              <a:t>- You tend to lose control of your business since you're giving up a large part of it to venture capital investors</a:t>
            </a:r>
          </a:p>
          <a:p>
            <a:r>
              <a:rPr lang="en-US" sz="1400" dirty="0"/>
              <a:t>- Venture capital investors seek bigger companies with proven levels of stability and identifiable workforce. This could prove to be an obstacle for you because business startups don't usually have this level of stability. </a:t>
            </a:r>
          </a:p>
          <a:p>
            <a:endParaRPr lang="en-US" sz="1400" dirty="0"/>
          </a:p>
        </p:txBody>
      </p:sp>
    </p:spTree>
    <p:extLst>
      <p:ext uri="{BB962C8B-B14F-4D97-AF65-F5344CB8AC3E}">
        <p14:creationId xmlns:p14="http://schemas.microsoft.com/office/powerpoint/2010/main" val="132096208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2283718"/>
            <a:ext cx="9144000" cy="2859782"/>
          </a:xfrm>
          <a:prstGeom prst="rect">
            <a:avLst/>
          </a:prstGeom>
          <a:solidFill>
            <a:srgbClr val="8FE2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4" name="TextBox 3"/>
          <p:cNvSpPr txBox="1"/>
          <p:nvPr/>
        </p:nvSpPr>
        <p:spPr>
          <a:xfrm>
            <a:off x="179512" y="195486"/>
            <a:ext cx="8712968" cy="5016758"/>
          </a:xfrm>
          <a:prstGeom prst="rect">
            <a:avLst/>
          </a:prstGeom>
          <a:noFill/>
        </p:spPr>
        <p:txBody>
          <a:bodyPr wrap="square" rtlCol="0">
            <a:spAutoFit/>
          </a:bodyPr>
          <a:lstStyle/>
          <a:p>
            <a:r>
              <a:rPr lang="en-US" sz="1600" b="1" u="sng" dirty="0">
                <a:solidFill>
                  <a:schemeClr val="bg1"/>
                </a:solidFill>
              </a:rPr>
              <a:t>5. Seeking Funds from Business Incubators and Accelerators</a:t>
            </a:r>
          </a:p>
          <a:p>
            <a:endParaRPr lang="en-US" sz="1600" dirty="0"/>
          </a:p>
          <a:p>
            <a:r>
              <a:rPr lang="en-US" sz="1600" dirty="0"/>
              <a:t>Businesses that are just starting out can access funds provided by business incubators and accelerators</a:t>
            </a:r>
            <a:r>
              <a:rPr lang="en-US" sz="1600" dirty="0" smtClean="0"/>
              <a:t>.</a:t>
            </a:r>
          </a:p>
          <a:p>
            <a:endParaRPr lang="en-US" sz="1600" dirty="0"/>
          </a:p>
          <a:p>
            <a:r>
              <a:rPr lang="en-US" sz="1600" dirty="0"/>
              <a:t>The programs offered by them can be found in major cities across the globes</a:t>
            </a:r>
            <a:r>
              <a:rPr lang="en-US" sz="1600" dirty="0" smtClean="0"/>
              <a:t>.</a:t>
            </a:r>
          </a:p>
          <a:p>
            <a:endParaRPr lang="en-US" sz="1600" dirty="0"/>
          </a:p>
          <a:p>
            <a:r>
              <a:rPr lang="en-US" sz="1600" dirty="0"/>
              <a:t>Slight differences separate the terms "business incubators and accelerator". </a:t>
            </a:r>
            <a:endParaRPr lang="en-US" sz="1600" dirty="0" smtClean="0"/>
          </a:p>
          <a:p>
            <a:endParaRPr lang="en-US" sz="1600" dirty="0"/>
          </a:p>
          <a:p>
            <a:r>
              <a:rPr lang="en-US" sz="1600" b="1" dirty="0"/>
              <a:t>Core Difference</a:t>
            </a:r>
            <a:endParaRPr lang="en-US" sz="1600" dirty="0"/>
          </a:p>
          <a:p>
            <a:r>
              <a:rPr lang="en-US" sz="1600" dirty="0"/>
              <a:t>Business incubators basically nurture business while accelerators fast-track businesses. </a:t>
            </a:r>
            <a:endParaRPr lang="en-US" sz="1600" dirty="0" smtClean="0"/>
          </a:p>
          <a:p>
            <a:endParaRPr lang="en-US" sz="1600" dirty="0"/>
          </a:p>
          <a:p>
            <a:r>
              <a:rPr lang="en-US" sz="1600" b="1" dirty="0"/>
              <a:t>Pros</a:t>
            </a:r>
            <a:endParaRPr lang="en-US" sz="1600" dirty="0"/>
          </a:p>
          <a:p>
            <a:r>
              <a:rPr lang="en-US" sz="1600" dirty="0"/>
              <a:t>- Business owners receive mentorship from their investors</a:t>
            </a:r>
          </a:p>
          <a:p>
            <a:pPr marL="285750" indent="-285750">
              <a:buFontTx/>
              <a:buChar char="-"/>
            </a:pPr>
            <a:r>
              <a:rPr lang="en-US" sz="1600" dirty="0" smtClean="0"/>
              <a:t>Connections </a:t>
            </a:r>
            <a:r>
              <a:rPr lang="en-US" sz="1600" dirty="0"/>
              <a:t>can be made with other </a:t>
            </a:r>
            <a:r>
              <a:rPr lang="en-US" sz="1600" dirty="0" smtClean="0"/>
              <a:t>startups</a:t>
            </a:r>
          </a:p>
          <a:p>
            <a:pPr marL="285750" indent="-285750">
              <a:buFontTx/>
              <a:buChar char="-"/>
            </a:pPr>
            <a:endParaRPr lang="en-US" sz="1600" dirty="0"/>
          </a:p>
          <a:p>
            <a:r>
              <a:rPr lang="en-US" sz="1600" b="1" dirty="0"/>
              <a:t>Cons</a:t>
            </a:r>
            <a:endParaRPr lang="en-US" sz="1600" dirty="0"/>
          </a:p>
          <a:p>
            <a:r>
              <a:rPr lang="en-US" sz="1600" dirty="0"/>
              <a:t>- During its 4-8 month lifespan, if commitment is lacking, the startup might spiral in a downward direction</a:t>
            </a:r>
          </a:p>
          <a:p>
            <a:endParaRPr lang="en-US" sz="1600" dirty="0"/>
          </a:p>
        </p:txBody>
      </p:sp>
    </p:spTree>
    <p:extLst>
      <p:ext uri="{BB962C8B-B14F-4D97-AF65-F5344CB8AC3E}">
        <p14:creationId xmlns:p14="http://schemas.microsoft.com/office/powerpoint/2010/main" val="231394095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2283718"/>
            <a:ext cx="9144000" cy="2859782"/>
          </a:xfrm>
          <a:prstGeom prst="rect">
            <a:avLst/>
          </a:prstGeom>
          <a:solidFill>
            <a:srgbClr val="8FE2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4" name="TextBox 3"/>
          <p:cNvSpPr txBox="1"/>
          <p:nvPr/>
        </p:nvSpPr>
        <p:spPr>
          <a:xfrm>
            <a:off x="179512" y="195486"/>
            <a:ext cx="8712968" cy="4278094"/>
          </a:xfrm>
          <a:prstGeom prst="rect">
            <a:avLst/>
          </a:prstGeom>
          <a:noFill/>
        </p:spPr>
        <p:txBody>
          <a:bodyPr wrap="square" rtlCol="0">
            <a:spAutoFit/>
          </a:bodyPr>
          <a:lstStyle/>
          <a:p>
            <a:r>
              <a:rPr lang="en-US" sz="1600" b="1" u="sng" dirty="0">
                <a:solidFill>
                  <a:schemeClr val="bg1"/>
                </a:solidFill>
              </a:rPr>
              <a:t>6. Source Funds by winning contests</a:t>
            </a:r>
          </a:p>
          <a:p>
            <a:endParaRPr lang="en-US" sz="1600" dirty="0"/>
          </a:p>
          <a:p>
            <a:r>
              <a:rPr lang="en-US" sz="1600" dirty="0"/>
              <a:t>Another amazing way to source for funds is through engaging in competitions or contests that requires entrepreneurs to showcase or pitch their business module against other competitors vying for the same funding for their businesses</a:t>
            </a:r>
            <a:r>
              <a:rPr lang="en-US" sz="1600" dirty="0" smtClean="0"/>
              <a:t>.</a:t>
            </a:r>
          </a:p>
          <a:p>
            <a:endParaRPr lang="en-US" sz="1600" dirty="0"/>
          </a:p>
          <a:p>
            <a:r>
              <a:rPr lang="en-US" sz="1600" dirty="0"/>
              <a:t>As a contestant, you are required to present a comprehensive and detailed business plan if you are looking to win over investor confidence</a:t>
            </a:r>
            <a:r>
              <a:rPr lang="en-US" sz="1600" dirty="0" smtClean="0"/>
              <a:t>.</a:t>
            </a:r>
          </a:p>
          <a:p>
            <a:endParaRPr lang="en-US" sz="1600" dirty="0"/>
          </a:p>
          <a:p>
            <a:r>
              <a:rPr lang="en-US" sz="1600" b="1" dirty="0"/>
              <a:t>Pros</a:t>
            </a:r>
            <a:endParaRPr lang="en-US" sz="1600" dirty="0"/>
          </a:p>
          <a:p>
            <a:pPr marL="285750" indent="-285750">
              <a:buFontTx/>
              <a:buChar char="-"/>
            </a:pPr>
            <a:r>
              <a:rPr lang="en-US" sz="1600" dirty="0" smtClean="0"/>
              <a:t>In </a:t>
            </a:r>
            <a:r>
              <a:rPr lang="en-US" sz="1600" dirty="0"/>
              <a:t>the process of participating in these contests, media coverage will be allotted to your startup, thus giving you the much-needed publicity for your business startup</a:t>
            </a:r>
            <a:r>
              <a:rPr lang="en-US" sz="1600" dirty="0" smtClean="0"/>
              <a:t>.</a:t>
            </a:r>
          </a:p>
          <a:p>
            <a:pPr marL="285750" indent="-285750">
              <a:buFontTx/>
              <a:buChar char="-"/>
            </a:pPr>
            <a:endParaRPr lang="en-US" sz="1600" dirty="0"/>
          </a:p>
          <a:p>
            <a:r>
              <a:rPr lang="en-US" sz="1600" b="1" dirty="0"/>
              <a:t>Cons</a:t>
            </a:r>
            <a:endParaRPr lang="en-US" sz="1600" dirty="0"/>
          </a:p>
          <a:p>
            <a:r>
              <a:rPr lang="en-US" sz="1600" dirty="0"/>
              <a:t>- Losing contests or competitions can demoralize the faint hearted, thus causing them to abandon their plans of starting up their business.</a:t>
            </a:r>
          </a:p>
          <a:p>
            <a:endParaRPr lang="en-US" sz="1600" dirty="0"/>
          </a:p>
        </p:txBody>
      </p:sp>
    </p:spTree>
    <p:extLst>
      <p:ext uri="{BB962C8B-B14F-4D97-AF65-F5344CB8AC3E}">
        <p14:creationId xmlns:p14="http://schemas.microsoft.com/office/powerpoint/2010/main" val="171511714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1635646"/>
            <a:ext cx="9144000" cy="3507854"/>
          </a:xfrm>
          <a:prstGeom prst="rect">
            <a:avLst/>
          </a:prstGeom>
          <a:solidFill>
            <a:srgbClr val="8FE2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4" name="TextBox 3"/>
          <p:cNvSpPr txBox="1"/>
          <p:nvPr/>
        </p:nvSpPr>
        <p:spPr>
          <a:xfrm>
            <a:off x="179512" y="195486"/>
            <a:ext cx="8712968" cy="4832092"/>
          </a:xfrm>
          <a:prstGeom prst="rect">
            <a:avLst/>
          </a:prstGeom>
          <a:noFill/>
        </p:spPr>
        <p:txBody>
          <a:bodyPr wrap="square" rtlCol="0">
            <a:spAutoFit/>
          </a:bodyPr>
          <a:lstStyle/>
          <a:p>
            <a:r>
              <a:rPr lang="en-US" sz="1400" b="1" u="sng" dirty="0">
                <a:solidFill>
                  <a:schemeClr val="bg1"/>
                </a:solidFill>
              </a:rPr>
              <a:t>7. Raise Money through Bank Loan</a:t>
            </a:r>
          </a:p>
          <a:p>
            <a:endParaRPr lang="en-US" sz="1400" dirty="0"/>
          </a:p>
          <a:p>
            <a:r>
              <a:rPr lang="en-US" sz="1400" dirty="0"/>
              <a:t>Banking institutions provide financial backing on loans to individuals who approach them with a solid business plan. The business plan must be well structured to convey the modus operandi, profit forecast and estimated time of maturity.</a:t>
            </a:r>
          </a:p>
          <a:p>
            <a:r>
              <a:rPr lang="en-US" sz="1400" dirty="0"/>
              <a:t>The financial provision of banks is in two forms, they are working capital loan and funding</a:t>
            </a:r>
            <a:r>
              <a:rPr lang="en-US" sz="1400" dirty="0" smtClean="0"/>
              <a:t>.</a:t>
            </a:r>
          </a:p>
          <a:p>
            <a:endParaRPr lang="en-US" sz="1400" dirty="0"/>
          </a:p>
          <a:p>
            <a:r>
              <a:rPr lang="en-US" sz="1400" b="1" dirty="0"/>
              <a:t>Working Capital Loan</a:t>
            </a:r>
            <a:endParaRPr lang="en-US" sz="1400" dirty="0"/>
          </a:p>
          <a:p>
            <a:r>
              <a:rPr lang="en-US" sz="1400" dirty="0"/>
              <a:t>This loan is designed to traverse one full cycle of revenue generation. Stocks and debtors usually have leverage on the limit</a:t>
            </a:r>
            <a:r>
              <a:rPr lang="en-US" sz="1400" dirty="0" smtClean="0"/>
              <a:t>.</a:t>
            </a:r>
          </a:p>
          <a:p>
            <a:endParaRPr lang="en-US" sz="1400" dirty="0"/>
          </a:p>
          <a:p>
            <a:r>
              <a:rPr lang="en-US" sz="1400" b="1" dirty="0" smtClean="0"/>
              <a:t>Funding</a:t>
            </a:r>
          </a:p>
          <a:p>
            <a:r>
              <a:rPr lang="en-US" sz="1400" dirty="0" smtClean="0"/>
              <a:t>This </a:t>
            </a:r>
            <a:r>
              <a:rPr lang="en-US" sz="1400" dirty="0"/>
              <a:t>process involves providing the business plan and concise information of the valuation, alongside the project report on which the loan was sanctioned</a:t>
            </a:r>
            <a:r>
              <a:rPr lang="en-US" sz="1400" dirty="0" smtClean="0"/>
              <a:t>.</a:t>
            </a:r>
          </a:p>
          <a:p>
            <a:endParaRPr lang="en-US" sz="1400" dirty="0"/>
          </a:p>
          <a:p>
            <a:r>
              <a:rPr lang="en-US" sz="1400" b="1" dirty="0" smtClean="0"/>
              <a:t>Pros</a:t>
            </a:r>
            <a:endParaRPr lang="en-US" sz="1400" dirty="0"/>
          </a:p>
          <a:p>
            <a:r>
              <a:rPr lang="en-US" sz="1400" dirty="0"/>
              <a:t>- Large capital can be accessed by entrepreneurs</a:t>
            </a:r>
          </a:p>
          <a:p>
            <a:pPr marL="285750" indent="-285750">
              <a:buFontTx/>
              <a:buChar char="-"/>
            </a:pPr>
            <a:r>
              <a:rPr lang="en-US" sz="1400" dirty="0" smtClean="0"/>
              <a:t>Capital </a:t>
            </a:r>
            <a:r>
              <a:rPr lang="en-US" sz="1400" dirty="0"/>
              <a:t>provided can fast-track the process of income </a:t>
            </a:r>
            <a:r>
              <a:rPr lang="en-US" sz="1400" dirty="0" smtClean="0"/>
              <a:t>generation</a:t>
            </a:r>
          </a:p>
          <a:p>
            <a:pPr marL="285750" indent="-285750">
              <a:buFontTx/>
              <a:buChar char="-"/>
            </a:pPr>
            <a:endParaRPr lang="en-US" sz="1400" dirty="0"/>
          </a:p>
          <a:p>
            <a:r>
              <a:rPr lang="en-US" sz="1400" b="1" dirty="0"/>
              <a:t>Cons</a:t>
            </a:r>
            <a:endParaRPr lang="en-US" sz="1400" dirty="0"/>
          </a:p>
          <a:p>
            <a:r>
              <a:rPr lang="en-US" sz="1400" dirty="0"/>
              <a:t>- High risk of Collateral loss, since it is an important requirement for loan grants</a:t>
            </a:r>
          </a:p>
          <a:p>
            <a:endParaRPr lang="en-US" sz="1400" dirty="0"/>
          </a:p>
        </p:txBody>
      </p:sp>
    </p:spTree>
    <p:extLst>
      <p:ext uri="{BB962C8B-B14F-4D97-AF65-F5344CB8AC3E}">
        <p14:creationId xmlns:p14="http://schemas.microsoft.com/office/powerpoint/2010/main" val="389393780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3147814"/>
            <a:ext cx="9144000" cy="1995686"/>
          </a:xfrm>
          <a:prstGeom prst="rect">
            <a:avLst/>
          </a:prstGeom>
          <a:solidFill>
            <a:srgbClr val="8FE2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4" name="TextBox 3"/>
          <p:cNvSpPr txBox="1"/>
          <p:nvPr/>
        </p:nvSpPr>
        <p:spPr>
          <a:xfrm>
            <a:off x="179512" y="195486"/>
            <a:ext cx="8712968" cy="2954655"/>
          </a:xfrm>
          <a:prstGeom prst="rect">
            <a:avLst/>
          </a:prstGeom>
          <a:noFill/>
        </p:spPr>
        <p:txBody>
          <a:bodyPr wrap="square" rtlCol="0">
            <a:spAutoFit/>
          </a:bodyPr>
          <a:lstStyle/>
          <a:p>
            <a:r>
              <a:rPr lang="en-US" sz="1400" b="1" u="sng" dirty="0">
                <a:solidFill>
                  <a:schemeClr val="bg1"/>
                </a:solidFill>
              </a:rPr>
              <a:t>8. Acquire Loans from Microfinance Providers or NBFCs</a:t>
            </a:r>
          </a:p>
          <a:p>
            <a:endParaRPr lang="en-US" sz="1400" dirty="0"/>
          </a:p>
          <a:p>
            <a:pPr algn="just"/>
            <a:r>
              <a:rPr lang="en-US" dirty="0"/>
              <a:t>Microfinance was set up to give access to capital to small-scale entrepreneurs that lack access to conventional banking capital or loans. Individuals with poor credit ratings see microfinance institutions as a respite whenever they are out of favor by conventional banks</a:t>
            </a:r>
            <a:r>
              <a:rPr lang="en-US" dirty="0" smtClean="0"/>
              <a:t>.</a:t>
            </a:r>
          </a:p>
          <a:p>
            <a:pPr algn="just"/>
            <a:endParaRPr lang="en-US" dirty="0"/>
          </a:p>
          <a:p>
            <a:pPr algn="just"/>
            <a:r>
              <a:rPr lang="en-US" dirty="0"/>
              <a:t>Non-Banking Financial Corporations (NBFCs) give out loans to individuals who seek loans, without necessarily imposing any legality like conventional banks and credit repair services do.</a:t>
            </a:r>
          </a:p>
          <a:p>
            <a:endParaRPr lang="en-US" sz="1400" dirty="0"/>
          </a:p>
        </p:txBody>
      </p:sp>
    </p:spTree>
    <p:extLst>
      <p:ext uri="{BB962C8B-B14F-4D97-AF65-F5344CB8AC3E}">
        <p14:creationId xmlns:p14="http://schemas.microsoft.com/office/powerpoint/2010/main" val="148647139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1779662"/>
            <a:ext cx="9144000" cy="3363838"/>
          </a:xfrm>
          <a:prstGeom prst="rect">
            <a:avLst/>
          </a:prstGeom>
          <a:solidFill>
            <a:srgbClr val="8FE2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4" name="TextBox 3"/>
          <p:cNvSpPr txBox="1"/>
          <p:nvPr/>
        </p:nvSpPr>
        <p:spPr>
          <a:xfrm>
            <a:off x="179512" y="195486"/>
            <a:ext cx="8712968" cy="3693319"/>
          </a:xfrm>
          <a:prstGeom prst="rect">
            <a:avLst/>
          </a:prstGeom>
          <a:noFill/>
        </p:spPr>
        <p:txBody>
          <a:bodyPr wrap="square" rtlCol="0">
            <a:spAutoFit/>
          </a:bodyPr>
          <a:lstStyle/>
          <a:p>
            <a:r>
              <a:rPr lang="en-US" sz="1400" b="1" u="sng" dirty="0">
                <a:solidFill>
                  <a:schemeClr val="bg1"/>
                </a:solidFill>
              </a:rPr>
              <a:t>9. Government Programs that Offer Startup Capital</a:t>
            </a:r>
          </a:p>
          <a:p>
            <a:endParaRPr lang="en-US" sz="1400" dirty="0"/>
          </a:p>
          <a:p>
            <a:r>
              <a:rPr lang="en-US" sz="1600" dirty="0"/>
              <a:t>Government programs that offer startup capital are an excellent way to source funding for your business. You are required to submit a plan that can be accepted by the grant committee. Once your plan has been scrutinized and approved, you will be provided with the funds to start up your business</a:t>
            </a:r>
            <a:r>
              <a:rPr lang="en-US" sz="1600" dirty="0" smtClean="0"/>
              <a:t>.</a:t>
            </a:r>
          </a:p>
          <a:p>
            <a:endParaRPr lang="en-US" sz="1600" dirty="0"/>
          </a:p>
          <a:p>
            <a:r>
              <a:rPr lang="en-US" sz="1600" b="1" dirty="0" smtClean="0"/>
              <a:t>Pros</a:t>
            </a:r>
            <a:endParaRPr lang="en-US" sz="1600" dirty="0"/>
          </a:p>
          <a:p>
            <a:pPr marL="285750" indent="-285750">
              <a:buFontTx/>
              <a:buChar char="-"/>
            </a:pPr>
            <a:r>
              <a:rPr lang="en-US" sz="1600" dirty="0" smtClean="0"/>
              <a:t>Funding </a:t>
            </a:r>
            <a:r>
              <a:rPr lang="en-US" sz="1600" dirty="0"/>
              <a:t>from government is usually substantial in size, thus providing you with surplus capital to manage your </a:t>
            </a:r>
            <a:r>
              <a:rPr lang="en-US" sz="1600" dirty="0" smtClean="0"/>
              <a:t>startup</a:t>
            </a:r>
          </a:p>
          <a:p>
            <a:pPr marL="285750" indent="-285750">
              <a:buFontTx/>
              <a:buChar char="-"/>
            </a:pPr>
            <a:endParaRPr lang="en-US" sz="1600" dirty="0"/>
          </a:p>
          <a:p>
            <a:r>
              <a:rPr lang="en-US" sz="1600" b="1" dirty="0"/>
              <a:t>Cons</a:t>
            </a:r>
            <a:endParaRPr lang="en-US" sz="1600" dirty="0"/>
          </a:p>
          <a:p>
            <a:r>
              <a:rPr lang="en-US" sz="1600" dirty="0"/>
              <a:t>- The process of scrutiny, approval and eventual release of funds may take a lot of time due to government bureaucracy</a:t>
            </a:r>
          </a:p>
          <a:p>
            <a:endParaRPr lang="en-US" sz="1400" dirty="0"/>
          </a:p>
        </p:txBody>
      </p:sp>
    </p:spTree>
    <p:extLst>
      <p:ext uri="{BB962C8B-B14F-4D97-AF65-F5344CB8AC3E}">
        <p14:creationId xmlns:p14="http://schemas.microsoft.com/office/powerpoint/2010/main" val="49239359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2211710"/>
            <a:ext cx="9144000" cy="2931790"/>
          </a:xfrm>
          <a:prstGeom prst="rect">
            <a:avLst/>
          </a:prstGeom>
          <a:solidFill>
            <a:srgbClr val="8FE2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4" name="TextBox 3"/>
          <p:cNvSpPr txBox="1"/>
          <p:nvPr/>
        </p:nvSpPr>
        <p:spPr>
          <a:xfrm>
            <a:off x="179512" y="195486"/>
            <a:ext cx="8712968" cy="3939540"/>
          </a:xfrm>
          <a:prstGeom prst="rect">
            <a:avLst/>
          </a:prstGeom>
          <a:noFill/>
        </p:spPr>
        <p:txBody>
          <a:bodyPr wrap="square" rtlCol="0">
            <a:spAutoFit/>
          </a:bodyPr>
          <a:lstStyle/>
          <a:p>
            <a:r>
              <a:rPr lang="en-US" sz="1400" b="1" u="sng" dirty="0">
                <a:solidFill>
                  <a:schemeClr val="bg1"/>
                </a:solidFill>
              </a:rPr>
              <a:t>10. Other Ways you can Raise Money for your Startup</a:t>
            </a:r>
          </a:p>
          <a:p>
            <a:endParaRPr lang="en-US" sz="1400" dirty="0"/>
          </a:p>
          <a:p>
            <a:r>
              <a:rPr lang="en-US" sz="1600" b="1" dirty="0"/>
              <a:t>Product Pre-Sale:</a:t>
            </a:r>
            <a:r>
              <a:rPr lang="en-US" sz="1600" dirty="0"/>
              <a:t> An amazing way of raising funds for your business is through product pre-sale before launching your products officially. This builds consumer confidence in your brand and allows you to size up the demand for your product before its official launch</a:t>
            </a:r>
            <a:r>
              <a:rPr lang="en-US" sz="1600" dirty="0" smtClean="0"/>
              <a:t>.</a:t>
            </a:r>
          </a:p>
          <a:p>
            <a:endParaRPr lang="en-US" sz="1600" dirty="0"/>
          </a:p>
          <a:p>
            <a:r>
              <a:rPr lang="en-US" sz="1600" dirty="0"/>
              <a:t>Companies like Apple and Samsung adopt this procedure, allowing consumers to make pre-purchases before the official release of their products</a:t>
            </a:r>
            <a:r>
              <a:rPr lang="en-US" sz="1600" dirty="0" smtClean="0"/>
              <a:t>.</a:t>
            </a:r>
          </a:p>
          <a:p>
            <a:endParaRPr lang="en-US" sz="1600" dirty="0"/>
          </a:p>
          <a:p>
            <a:r>
              <a:rPr lang="en-US" sz="1600" b="1" dirty="0"/>
              <a:t>Selling Assets:</a:t>
            </a:r>
            <a:r>
              <a:rPr lang="en-US" sz="1600" dirty="0"/>
              <a:t> Doing away with assets in your possession that have high financial value, can effectively serve as an immediate source of funding for your </a:t>
            </a:r>
            <a:r>
              <a:rPr lang="en-US" sz="1600" dirty="0" smtClean="0"/>
              <a:t>startup</a:t>
            </a:r>
          </a:p>
          <a:p>
            <a:endParaRPr lang="en-US" sz="1600" dirty="0"/>
          </a:p>
          <a:p>
            <a:r>
              <a:rPr lang="en-US" sz="1600" b="1" dirty="0"/>
              <a:t>Credit Cards:</a:t>
            </a:r>
            <a:r>
              <a:rPr lang="en-US" sz="1600" dirty="0"/>
              <a:t> Business credit cards are an instant source of funding. New businesses that incur heavy expenditure can utilize credit cards as long as they fulfill the minimum payment requirement.</a:t>
            </a:r>
          </a:p>
          <a:p>
            <a:endParaRPr lang="en-US" sz="1400" dirty="0"/>
          </a:p>
        </p:txBody>
      </p:sp>
    </p:spTree>
    <p:extLst>
      <p:ext uri="{BB962C8B-B14F-4D97-AF65-F5344CB8AC3E}">
        <p14:creationId xmlns:p14="http://schemas.microsoft.com/office/powerpoint/2010/main" val="1729195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rame 17"/>
          <p:cNvSpPr/>
          <p:nvPr/>
        </p:nvSpPr>
        <p:spPr>
          <a:xfrm rot="18900000">
            <a:off x="6343368" y="2430572"/>
            <a:ext cx="1793332" cy="1793332"/>
          </a:xfrm>
          <a:prstGeom prst="frame">
            <a:avLst>
              <a:gd name="adj1" fmla="val 483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9" name="Text Placeholder 1"/>
          <p:cNvSpPr txBox="1">
            <a:spLocks/>
          </p:cNvSpPr>
          <p:nvPr/>
        </p:nvSpPr>
        <p:spPr>
          <a:xfrm>
            <a:off x="251520" y="1203598"/>
            <a:ext cx="4032448" cy="1944464"/>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ko-KR" b="1" dirty="0">
                <a:solidFill>
                  <a:schemeClr val="bg1"/>
                </a:solidFill>
                <a:latin typeface="+mj-lt"/>
                <a:cs typeface="Arial" pitchFamily="34" charset="0"/>
              </a:rPr>
              <a:t>Small Business Grant and Support in Egypt</a:t>
            </a:r>
            <a:endParaRPr lang="ko-KR" altLang="en-US" b="1" dirty="0">
              <a:solidFill>
                <a:schemeClr val="bg1"/>
              </a:solidFill>
              <a:latin typeface="+mj-lt"/>
              <a:cs typeface="Arial" pitchFamily="34" charset="0"/>
            </a:endParaRPr>
          </a:p>
        </p:txBody>
      </p:sp>
      <p:sp>
        <p:nvSpPr>
          <p:cNvPr id="5" name="그림 개체 틀 4">
            <a:extLst>
              <a:ext uri="{FF2B5EF4-FFF2-40B4-BE49-F238E27FC236}">
                <a16:creationId xmlns:a16="http://schemas.microsoft.com/office/drawing/2014/main" xmlns="" id="{5E9D2E2D-36E6-460B-B2E6-9B3BF0EF6074}"/>
              </a:ext>
            </a:extLst>
          </p:cNvPr>
          <p:cNvSpPr>
            <a:spLocks noGrp="1"/>
          </p:cNvSpPr>
          <p:nvPr>
            <p:ph type="pic" idx="21"/>
          </p:nvPr>
        </p:nvSpPr>
        <p:spPr>
          <a:solidFill>
            <a:schemeClr val="bg1"/>
          </a:solidFill>
        </p:spPr>
      </p:sp>
      <p:sp>
        <p:nvSpPr>
          <p:cNvPr id="9" name="그림 개체 틀 8">
            <a:extLst>
              <a:ext uri="{FF2B5EF4-FFF2-40B4-BE49-F238E27FC236}">
                <a16:creationId xmlns:a16="http://schemas.microsoft.com/office/drawing/2014/main" xmlns="" id="{FC01822E-DC72-472E-BAF0-9CCBB8D77A9C}"/>
              </a:ext>
            </a:extLst>
          </p:cNvPr>
          <p:cNvSpPr>
            <a:spLocks noGrp="1"/>
          </p:cNvSpPr>
          <p:nvPr>
            <p:ph type="pic" idx="19"/>
          </p:nvPr>
        </p:nvSpPr>
        <p:spPr>
          <a:solidFill>
            <a:schemeClr val="bg1"/>
          </a:solidFill>
        </p:spPr>
      </p:sp>
      <p:pic>
        <p:nvPicPr>
          <p:cNvPr id="6" name="Picture Placeholder 5"/>
          <p:cNvPicPr>
            <a:picLocks noGrp="1" noChangeAspect="1"/>
          </p:cNvPicPr>
          <p:nvPr>
            <p:ph type="pic" idx="20"/>
          </p:nvPr>
        </p:nvPicPr>
        <p:blipFill>
          <a:blip r:embed="rId2" cstate="print">
            <a:extLst>
              <a:ext uri="{28A0092B-C50C-407E-A947-70E740481C1C}">
                <a14:useLocalDpi xmlns:a14="http://schemas.microsoft.com/office/drawing/2010/main" val="0"/>
              </a:ext>
            </a:extLst>
          </a:blip>
          <a:srcRect t="453" b="453"/>
          <a:stretch>
            <a:fillRect/>
          </a:stretch>
        </p:blipFill>
        <p:spPr/>
      </p:pic>
      <p:pic>
        <p:nvPicPr>
          <p:cNvPr id="7" name="Picture Placeholder 6"/>
          <p:cNvPicPr>
            <a:picLocks noGrp="1" noChangeAspect="1"/>
          </p:cNvPicPr>
          <p:nvPr>
            <p:ph type="pic" idx="18"/>
          </p:nvPr>
        </p:nvPicPr>
        <p:blipFill>
          <a:blip r:embed="rId3" cstate="print">
            <a:extLst>
              <a:ext uri="{28A0092B-C50C-407E-A947-70E740481C1C}">
                <a14:useLocalDpi xmlns:a14="http://schemas.microsoft.com/office/drawing/2010/main" val="0"/>
              </a:ext>
            </a:extLst>
          </a:blip>
          <a:srcRect l="24772" r="24772"/>
          <a:stretch>
            <a:fillRect/>
          </a:stretch>
        </p:blipFill>
        <p:spPr/>
      </p:pic>
    </p:spTree>
    <p:extLst>
      <p:ext uri="{BB962C8B-B14F-4D97-AF65-F5344CB8AC3E}">
        <p14:creationId xmlns:p14="http://schemas.microsoft.com/office/powerpoint/2010/main" val="47738142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23528" y="339502"/>
            <a:ext cx="8424936" cy="4109330"/>
          </a:xfrm>
          <a:prstGeom prst="rect">
            <a:avLst/>
          </a:prstGeom>
          <a:noFill/>
        </p:spPr>
        <p:txBody>
          <a:bodyPr wrap="square" rtlCol="0">
            <a:spAutoFit/>
          </a:bodyPr>
          <a:lstStyle/>
          <a:p>
            <a:pPr algn="justLow">
              <a:lnSpc>
                <a:spcPct val="150000"/>
              </a:lnSpc>
            </a:pPr>
            <a:r>
              <a:rPr lang="en-US" sz="1600" b="1" dirty="0">
                <a:solidFill>
                  <a:schemeClr val="bg1"/>
                </a:solidFill>
              </a:rPr>
              <a:t>Entrepreneurship is often – and rightly – lauded as a key component of dynamic economies. Innovation, enabled by ready access to capital and a permissive regulatory environment, can help drive corporate growth, exports, private sector activity and jobs – all of which are needed in Egypt. Small and medium-sized enterprises (SMEs) comprise a large portion of Egypt’s economic activity, contributing roughly 65-75% to employment and 80% to GDP by some estimates. Meanwhile, large government projects like the Suez Canal Corridor will create jobs for Egyptians. Still, establishing an environment in which locals are able to create their own job opportunities has become a strategic priority for the government, and the topic of entrepreneurship is a regular feature in conferences on Egypt’s economic future.</a:t>
            </a:r>
          </a:p>
          <a:p>
            <a:pPr algn="justLow">
              <a:lnSpc>
                <a:spcPct val="150000"/>
              </a:lnSpc>
            </a:pPr>
            <a:endParaRPr lang="en-US" sz="1600" b="1" dirty="0">
              <a:solidFill>
                <a:schemeClr val="bg1"/>
              </a:solidFill>
            </a:endParaRPr>
          </a:p>
        </p:txBody>
      </p:sp>
      <p:sp>
        <p:nvSpPr>
          <p:cNvPr id="7" name="Rectangle 6"/>
          <p:cNvSpPr/>
          <p:nvPr/>
        </p:nvSpPr>
        <p:spPr>
          <a:xfrm>
            <a:off x="0" y="4371950"/>
            <a:ext cx="9144000" cy="2160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rgbClr val="8FE2FF"/>
              </a:solidFill>
            </a:endParaRPr>
          </a:p>
        </p:txBody>
      </p:sp>
    </p:spTree>
    <p:extLst>
      <p:ext uri="{BB962C8B-B14F-4D97-AF65-F5344CB8AC3E}">
        <p14:creationId xmlns:p14="http://schemas.microsoft.com/office/powerpoint/2010/main" val="17120495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23528" y="339502"/>
            <a:ext cx="8424936" cy="3739998"/>
          </a:xfrm>
          <a:prstGeom prst="rect">
            <a:avLst/>
          </a:prstGeom>
          <a:noFill/>
        </p:spPr>
        <p:txBody>
          <a:bodyPr wrap="square" rtlCol="0">
            <a:spAutoFit/>
          </a:bodyPr>
          <a:lstStyle/>
          <a:p>
            <a:pPr algn="just">
              <a:lnSpc>
                <a:spcPct val="150000"/>
              </a:lnSpc>
            </a:pPr>
            <a:r>
              <a:rPr lang="en-US" sz="1600" b="1" dirty="0">
                <a:solidFill>
                  <a:schemeClr val="bg1"/>
                </a:solidFill>
              </a:rPr>
              <a:t>Egypt’s legal framework, which includes patchy contract enforcement, represents a significant barrier to market entry and discourages informal enterprises from </a:t>
            </a:r>
            <a:r>
              <a:rPr lang="en-US" sz="1600" b="1" dirty="0" err="1">
                <a:solidFill>
                  <a:schemeClr val="bg1"/>
                </a:solidFill>
              </a:rPr>
              <a:t>formalising</a:t>
            </a:r>
            <a:r>
              <a:rPr lang="en-US" sz="1600" b="1" dirty="0">
                <a:solidFill>
                  <a:schemeClr val="bg1"/>
                </a:solidFill>
              </a:rPr>
              <a:t>. According to the World Bank’s “Doing Business” 2016 report, Egypt was ranked 155th out of 188 economies, with resolving a dispute taking more than 1000 days. Access to capital is another hurdle. Banks have historically been reluctant to extend credit to start-ups and SMEs, preferring the high-yield, big-ticket deals on offer in the corporate segment (see Banking chapter), while non-banking financing mechanisms, such as venture capital, private equity and crowd funding, have only recently begun to emerge in the Egyptian market.</a:t>
            </a:r>
          </a:p>
          <a:p>
            <a:pPr algn="justLow">
              <a:lnSpc>
                <a:spcPct val="150000"/>
              </a:lnSpc>
            </a:pPr>
            <a:endParaRPr lang="en-US" sz="1600" b="1" dirty="0">
              <a:solidFill>
                <a:schemeClr val="bg1"/>
              </a:solidFill>
            </a:endParaRPr>
          </a:p>
        </p:txBody>
      </p:sp>
      <p:sp>
        <p:nvSpPr>
          <p:cNvPr id="7" name="Rectangle 6"/>
          <p:cNvSpPr/>
          <p:nvPr/>
        </p:nvSpPr>
        <p:spPr>
          <a:xfrm>
            <a:off x="0" y="4371950"/>
            <a:ext cx="9144000" cy="771550"/>
          </a:xfrm>
          <a:prstGeom prst="rect">
            <a:avLst/>
          </a:prstGeom>
          <a:solidFill>
            <a:srgbClr val="8FE2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rgbClr val="8FE2FF"/>
              </a:solidFill>
            </a:endParaRPr>
          </a:p>
        </p:txBody>
      </p:sp>
      <p:sp>
        <p:nvSpPr>
          <p:cNvPr id="2" name="TextBox 1"/>
          <p:cNvSpPr txBox="1"/>
          <p:nvPr/>
        </p:nvSpPr>
        <p:spPr>
          <a:xfrm>
            <a:off x="251520" y="4465337"/>
            <a:ext cx="3816424" cy="584775"/>
          </a:xfrm>
          <a:prstGeom prst="rect">
            <a:avLst/>
          </a:prstGeom>
          <a:noFill/>
        </p:spPr>
        <p:txBody>
          <a:bodyPr wrap="square" rtlCol="0">
            <a:spAutoFit/>
          </a:bodyPr>
          <a:lstStyle/>
          <a:p>
            <a:r>
              <a:rPr lang="en-US" sz="3200" b="1" dirty="0"/>
              <a:t>Challenges</a:t>
            </a:r>
            <a:endParaRPr lang="en-US" sz="3200" dirty="0"/>
          </a:p>
        </p:txBody>
      </p:sp>
    </p:spTree>
    <p:extLst>
      <p:ext uri="{BB962C8B-B14F-4D97-AF65-F5344CB8AC3E}">
        <p14:creationId xmlns:p14="http://schemas.microsoft.com/office/powerpoint/2010/main" val="323100320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23528" y="339502"/>
            <a:ext cx="8424936" cy="4247317"/>
          </a:xfrm>
          <a:prstGeom prst="rect">
            <a:avLst/>
          </a:prstGeom>
          <a:noFill/>
        </p:spPr>
        <p:txBody>
          <a:bodyPr wrap="square" rtlCol="0">
            <a:spAutoFit/>
          </a:bodyPr>
          <a:lstStyle/>
          <a:p>
            <a:r>
              <a:rPr lang="en-US" sz="2000" b="1" dirty="0">
                <a:solidFill>
                  <a:schemeClr val="bg1"/>
                </a:solidFill>
              </a:rPr>
              <a:t>As with most emerging economies, governmental bodies played the leading role in the early stages of this process. The Social Fund for Development (SFD), formed in 1991, has been particularly active, following a wide remit that incorporates community-level initiatives, </a:t>
            </a:r>
            <a:r>
              <a:rPr lang="en-US" sz="2000" b="1" dirty="0" err="1">
                <a:solidFill>
                  <a:schemeClr val="bg1"/>
                </a:solidFill>
              </a:rPr>
              <a:t>mobilising</a:t>
            </a:r>
            <a:r>
              <a:rPr lang="en-US" sz="2000" b="1" dirty="0">
                <a:solidFill>
                  <a:schemeClr val="bg1"/>
                </a:solidFill>
              </a:rPr>
              <a:t> national and international resources, and working with governmental bodies, non-governmental </a:t>
            </a:r>
            <a:r>
              <a:rPr lang="en-US" sz="2000" b="1" dirty="0" err="1">
                <a:solidFill>
                  <a:schemeClr val="bg1"/>
                </a:solidFill>
              </a:rPr>
              <a:t>organisations</a:t>
            </a:r>
            <a:r>
              <a:rPr lang="en-US" sz="2000" b="1" dirty="0">
                <a:solidFill>
                  <a:schemeClr val="bg1"/>
                </a:solidFill>
              </a:rPr>
              <a:t> and private sector groups to provide employment opportunities. Legislation passed in 2004 gave it an explicit mandate to support SMEs in terms of access to finance, licensing and similar matters, and established it as the principal coordinating agency for the sector. In 2015 the fund announced that it had allocated $15m from a $300m World-Bank-led loan to finance entrepreneurship projects.</a:t>
            </a:r>
          </a:p>
          <a:p>
            <a:pPr algn="justLow">
              <a:lnSpc>
                <a:spcPct val="150000"/>
              </a:lnSpc>
            </a:pPr>
            <a:endParaRPr lang="en-US" sz="2000" b="1" dirty="0">
              <a:solidFill>
                <a:schemeClr val="bg1"/>
              </a:solidFill>
            </a:endParaRPr>
          </a:p>
        </p:txBody>
      </p:sp>
      <p:sp>
        <p:nvSpPr>
          <p:cNvPr id="7" name="Rectangle 6"/>
          <p:cNvSpPr/>
          <p:nvPr/>
        </p:nvSpPr>
        <p:spPr>
          <a:xfrm>
            <a:off x="0" y="4371950"/>
            <a:ext cx="9144000" cy="771550"/>
          </a:xfrm>
          <a:prstGeom prst="rect">
            <a:avLst/>
          </a:prstGeom>
          <a:solidFill>
            <a:srgbClr val="8FE2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rgbClr val="8FE2FF"/>
              </a:solidFill>
            </a:endParaRPr>
          </a:p>
        </p:txBody>
      </p:sp>
      <p:sp>
        <p:nvSpPr>
          <p:cNvPr id="2" name="TextBox 1"/>
          <p:cNvSpPr txBox="1"/>
          <p:nvPr/>
        </p:nvSpPr>
        <p:spPr>
          <a:xfrm>
            <a:off x="251520" y="4465337"/>
            <a:ext cx="3816424" cy="584775"/>
          </a:xfrm>
          <a:prstGeom prst="rect">
            <a:avLst/>
          </a:prstGeom>
          <a:noFill/>
        </p:spPr>
        <p:txBody>
          <a:bodyPr wrap="square" rtlCol="0">
            <a:spAutoFit/>
          </a:bodyPr>
          <a:lstStyle/>
          <a:p>
            <a:r>
              <a:rPr lang="en-US" sz="3200" b="1" dirty="0"/>
              <a:t>Government First</a:t>
            </a:r>
            <a:endParaRPr lang="en-US" sz="3200" dirty="0"/>
          </a:p>
        </p:txBody>
      </p:sp>
    </p:spTree>
    <p:extLst>
      <p:ext uri="{BB962C8B-B14F-4D97-AF65-F5344CB8AC3E}">
        <p14:creationId xmlns:p14="http://schemas.microsoft.com/office/powerpoint/2010/main" val="19212989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23528" y="339502"/>
            <a:ext cx="8424936" cy="3477875"/>
          </a:xfrm>
          <a:prstGeom prst="rect">
            <a:avLst/>
          </a:prstGeom>
          <a:noFill/>
        </p:spPr>
        <p:txBody>
          <a:bodyPr wrap="square" rtlCol="0">
            <a:spAutoFit/>
          </a:bodyPr>
          <a:lstStyle/>
          <a:p>
            <a:pPr algn="just"/>
            <a:r>
              <a:rPr lang="en-US" sz="2000" b="1" dirty="0">
                <a:solidFill>
                  <a:schemeClr val="bg1"/>
                </a:solidFill>
              </a:rPr>
              <a:t>This injection of private sector capital and know-how into the arena is perhaps the most exciting development in recent years, and the increasing number of incubators and angel investors setting up shop in Egypt is testament to the nation’s entrepreneurial potential. Other start-up and venture capital players include </a:t>
            </a:r>
            <a:r>
              <a:rPr lang="en-US" sz="2000" b="1" dirty="0" err="1">
                <a:solidFill>
                  <a:schemeClr val="bg1"/>
                </a:solidFill>
              </a:rPr>
              <a:t>Ideavelopers</a:t>
            </a:r>
            <a:r>
              <a:rPr lang="en-US" sz="2000" b="1" dirty="0">
                <a:solidFill>
                  <a:schemeClr val="bg1"/>
                </a:solidFill>
              </a:rPr>
              <a:t>, which has a regional scope through its Technology Development Fund; the Cairo Angel Network, an integrated platform for professional angel investors; the incubators and services offered by Smart Village, a business park on the western fringes of Cairo; and </a:t>
            </a:r>
            <a:r>
              <a:rPr lang="en-US" sz="2000" b="1" dirty="0" err="1">
                <a:solidFill>
                  <a:schemeClr val="bg1"/>
                </a:solidFill>
              </a:rPr>
              <a:t>Innoventures</a:t>
            </a:r>
            <a:r>
              <a:rPr lang="en-US" sz="2000" b="1" dirty="0">
                <a:solidFill>
                  <a:schemeClr val="bg1"/>
                </a:solidFill>
              </a:rPr>
              <a:t>, which provides funding and incubation services to seed stage start-ups, with a focus on ICT, electronics, media, market intelligence </a:t>
            </a:r>
          </a:p>
        </p:txBody>
      </p:sp>
      <p:sp>
        <p:nvSpPr>
          <p:cNvPr id="7" name="Rectangle 6"/>
          <p:cNvSpPr/>
          <p:nvPr/>
        </p:nvSpPr>
        <p:spPr>
          <a:xfrm>
            <a:off x="0" y="4371950"/>
            <a:ext cx="9144000" cy="771550"/>
          </a:xfrm>
          <a:prstGeom prst="rect">
            <a:avLst/>
          </a:prstGeom>
          <a:solidFill>
            <a:srgbClr val="8FE2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rgbClr val="8FE2FF"/>
              </a:solidFill>
            </a:endParaRPr>
          </a:p>
        </p:txBody>
      </p:sp>
      <p:sp>
        <p:nvSpPr>
          <p:cNvPr id="2" name="TextBox 1"/>
          <p:cNvSpPr txBox="1"/>
          <p:nvPr/>
        </p:nvSpPr>
        <p:spPr>
          <a:xfrm>
            <a:off x="251520" y="4465337"/>
            <a:ext cx="3816424" cy="584775"/>
          </a:xfrm>
          <a:prstGeom prst="rect">
            <a:avLst/>
          </a:prstGeom>
          <a:noFill/>
        </p:spPr>
        <p:txBody>
          <a:bodyPr wrap="square" rtlCol="0">
            <a:spAutoFit/>
          </a:bodyPr>
          <a:lstStyle/>
          <a:p>
            <a:r>
              <a:rPr lang="en-US" sz="3200" b="1" dirty="0"/>
              <a:t>Private Sector</a:t>
            </a:r>
            <a:endParaRPr lang="en-US" sz="3200" dirty="0"/>
          </a:p>
        </p:txBody>
      </p:sp>
    </p:spTree>
    <p:extLst>
      <p:ext uri="{BB962C8B-B14F-4D97-AF65-F5344CB8AC3E}">
        <p14:creationId xmlns:p14="http://schemas.microsoft.com/office/powerpoint/2010/main" val="1134195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3"/>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l="5211" r="5211"/>
          <a:stretch>
            <a:fillRect/>
          </a:stretch>
        </p:blipFill>
        <p:spPr/>
      </p:pic>
      <p:sp>
        <p:nvSpPr>
          <p:cNvPr id="6" name="Frame 5"/>
          <p:cNvSpPr/>
          <p:nvPr/>
        </p:nvSpPr>
        <p:spPr>
          <a:xfrm>
            <a:off x="197768" y="159481"/>
            <a:ext cx="4176464" cy="4824536"/>
          </a:xfrm>
          <a:prstGeom prst="frame">
            <a:avLst>
              <a:gd name="adj1" fmla="val 1002"/>
            </a:avLst>
          </a:prstGeom>
          <a:solidFill>
            <a:srgbClr val="8FE2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0" name="TextBox 9"/>
          <p:cNvSpPr txBox="1"/>
          <p:nvPr/>
        </p:nvSpPr>
        <p:spPr>
          <a:xfrm>
            <a:off x="4716016" y="1906835"/>
            <a:ext cx="4208717" cy="1815882"/>
          </a:xfrm>
          <a:prstGeom prst="rect">
            <a:avLst/>
          </a:prstGeom>
          <a:noFill/>
        </p:spPr>
        <p:txBody>
          <a:bodyPr wrap="square" rtlCol="0">
            <a:spAutoFit/>
          </a:bodyPr>
          <a:lstStyle/>
          <a:p>
            <a:pPr algn="just"/>
            <a:r>
              <a:rPr lang="en-US" sz="2800" b="1" dirty="0">
                <a:solidFill>
                  <a:schemeClr val="bg1"/>
                </a:solidFill>
              </a:rPr>
              <a:t>Ethical </a:t>
            </a:r>
            <a:r>
              <a:rPr lang="en-US" sz="2800" b="1" dirty="0" smtClean="0">
                <a:solidFill>
                  <a:schemeClr val="bg1"/>
                </a:solidFill>
              </a:rPr>
              <a:t>Practices </a:t>
            </a:r>
          </a:p>
          <a:p>
            <a:pPr algn="just"/>
            <a:r>
              <a:rPr lang="en-US" sz="2800" b="1" dirty="0" smtClean="0">
                <a:solidFill>
                  <a:schemeClr val="bg1"/>
                </a:solidFill>
              </a:rPr>
              <a:t>and Social </a:t>
            </a:r>
          </a:p>
          <a:p>
            <a:pPr algn="just"/>
            <a:r>
              <a:rPr lang="en-US" sz="2800" b="1" dirty="0" smtClean="0">
                <a:solidFill>
                  <a:schemeClr val="bg1"/>
                </a:solidFill>
              </a:rPr>
              <a:t>Responsibilities </a:t>
            </a:r>
            <a:r>
              <a:rPr lang="en-US" sz="2800" b="1" dirty="0">
                <a:solidFill>
                  <a:schemeClr val="bg1"/>
                </a:solidFill>
              </a:rPr>
              <a:t>of a </a:t>
            </a:r>
            <a:endParaRPr lang="en-US" sz="2800" b="1" dirty="0" smtClean="0">
              <a:solidFill>
                <a:schemeClr val="bg1"/>
              </a:solidFill>
            </a:endParaRPr>
          </a:p>
          <a:p>
            <a:pPr algn="just"/>
            <a:r>
              <a:rPr lang="en-US" sz="2800" b="1" dirty="0" smtClean="0">
                <a:solidFill>
                  <a:schemeClr val="bg1"/>
                </a:solidFill>
              </a:rPr>
              <a:t>Business</a:t>
            </a:r>
            <a:endParaRPr lang="en-US" sz="2800" dirty="0">
              <a:solidFill>
                <a:schemeClr val="bg1"/>
              </a:solidFill>
            </a:endParaRPr>
          </a:p>
        </p:txBody>
      </p:sp>
    </p:spTree>
    <p:extLst>
      <p:ext uri="{BB962C8B-B14F-4D97-AF65-F5344CB8AC3E}">
        <p14:creationId xmlns:p14="http://schemas.microsoft.com/office/powerpoint/2010/main" val="373517520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3563888" cy="5143500"/>
          </a:xfrm>
          <a:prstGeom prst="rect">
            <a:avLst/>
          </a:prstGeom>
          <a:solidFill>
            <a:srgbClr val="8FE2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 name="TextBox 4"/>
          <p:cNvSpPr txBox="1"/>
          <p:nvPr/>
        </p:nvSpPr>
        <p:spPr>
          <a:xfrm>
            <a:off x="179512" y="-92546"/>
            <a:ext cx="2664296" cy="1569660"/>
          </a:xfrm>
          <a:prstGeom prst="rect">
            <a:avLst/>
          </a:prstGeom>
          <a:noFill/>
        </p:spPr>
        <p:txBody>
          <a:bodyPr wrap="square" rtlCol="0">
            <a:spAutoFit/>
          </a:bodyPr>
          <a:lstStyle/>
          <a:p>
            <a:r>
              <a:rPr lang="en-US" sz="9600" dirty="0" smtClean="0">
                <a:solidFill>
                  <a:schemeClr val="bg1"/>
                </a:solidFill>
              </a:rPr>
              <a:t>1</a:t>
            </a:r>
            <a:endParaRPr lang="en-US" sz="9600" dirty="0">
              <a:solidFill>
                <a:schemeClr val="bg1"/>
              </a:solidFill>
            </a:endParaRPr>
          </a:p>
        </p:txBody>
      </p:sp>
      <p:sp>
        <p:nvSpPr>
          <p:cNvPr id="6" name="TextBox 5"/>
          <p:cNvSpPr txBox="1"/>
          <p:nvPr/>
        </p:nvSpPr>
        <p:spPr>
          <a:xfrm>
            <a:off x="323528" y="1995686"/>
            <a:ext cx="3312368" cy="1077218"/>
          </a:xfrm>
          <a:prstGeom prst="rect">
            <a:avLst/>
          </a:prstGeom>
          <a:noFill/>
        </p:spPr>
        <p:txBody>
          <a:bodyPr wrap="square" rtlCol="0">
            <a:spAutoFit/>
          </a:bodyPr>
          <a:lstStyle/>
          <a:p>
            <a:r>
              <a:rPr lang="en-US" sz="3200" b="1" dirty="0" smtClean="0"/>
              <a:t>Establish </a:t>
            </a:r>
            <a:r>
              <a:rPr lang="en-US" sz="3200" b="1" dirty="0"/>
              <a:t>a </a:t>
            </a:r>
            <a:endParaRPr lang="en-US" sz="3200" b="1" dirty="0" smtClean="0"/>
          </a:p>
          <a:p>
            <a:r>
              <a:rPr lang="en-US" sz="3200" b="1" dirty="0" smtClean="0"/>
              <a:t>social </a:t>
            </a:r>
            <a:r>
              <a:rPr lang="en-US" sz="3200" b="1" dirty="0"/>
              <a:t>mission.</a:t>
            </a:r>
          </a:p>
        </p:txBody>
      </p:sp>
      <p:sp>
        <p:nvSpPr>
          <p:cNvPr id="7" name="TextBox 6"/>
          <p:cNvSpPr txBox="1"/>
          <p:nvPr/>
        </p:nvSpPr>
        <p:spPr>
          <a:xfrm>
            <a:off x="3703741" y="987574"/>
            <a:ext cx="5184576" cy="3293209"/>
          </a:xfrm>
          <a:prstGeom prst="rect">
            <a:avLst/>
          </a:prstGeom>
          <a:noFill/>
        </p:spPr>
        <p:txBody>
          <a:bodyPr wrap="square" rtlCol="0">
            <a:spAutoFit/>
          </a:bodyPr>
          <a:lstStyle/>
          <a:p>
            <a:pPr algn="just"/>
            <a:r>
              <a:rPr lang="en-US" sz="1600" dirty="0">
                <a:solidFill>
                  <a:schemeClr val="bg1"/>
                </a:solidFill>
              </a:rPr>
              <a:t>The best and most forward way to make your business socially conscious is to create a social mission. All companies have mission and vision statements, but you should incorporate a third one that emphasizes how your company will actively seek to help the community</a:t>
            </a:r>
            <a:r>
              <a:rPr lang="en-US" sz="1600" dirty="0" smtClean="0">
                <a:solidFill>
                  <a:schemeClr val="bg1"/>
                </a:solidFill>
              </a:rPr>
              <a:t>.</a:t>
            </a:r>
          </a:p>
          <a:p>
            <a:pPr algn="just"/>
            <a:endParaRPr lang="en-US" sz="1600" dirty="0">
              <a:solidFill>
                <a:schemeClr val="bg1"/>
              </a:solidFill>
            </a:endParaRPr>
          </a:p>
          <a:p>
            <a:pPr algn="just"/>
            <a:r>
              <a:rPr lang="en-US" sz="1600" dirty="0">
                <a:solidFill>
                  <a:schemeClr val="bg1"/>
                </a:solidFill>
              </a:rPr>
              <a:t>Don't fall into the trap of creating a vague social mission; it'll be hard to explain to your team, and chances are you won't be able to build a strategy around it. Instead, look at the resources you can allocate to helping the community right now and write a realistic mission that focuses on promoting teamwork and transparency. Keep the mission simple, such as "Do Good Stuff."</a:t>
            </a:r>
          </a:p>
        </p:txBody>
      </p:sp>
      <p:sp>
        <p:nvSpPr>
          <p:cNvPr id="8" name="Rectangle 7"/>
          <p:cNvSpPr/>
          <p:nvPr/>
        </p:nvSpPr>
        <p:spPr>
          <a:xfrm>
            <a:off x="251520" y="123478"/>
            <a:ext cx="8640960" cy="468052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918179521"/>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3563888" cy="5143500"/>
          </a:xfrm>
          <a:prstGeom prst="rect">
            <a:avLst/>
          </a:prstGeom>
          <a:solidFill>
            <a:srgbClr val="8FE2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 name="TextBox 4"/>
          <p:cNvSpPr txBox="1"/>
          <p:nvPr/>
        </p:nvSpPr>
        <p:spPr>
          <a:xfrm>
            <a:off x="323528" y="-92546"/>
            <a:ext cx="2664296" cy="1569660"/>
          </a:xfrm>
          <a:prstGeom prst="rect">
            <a:avLst/>
          </a:prstGeom>
          <a:noFill/>
        </p:spPr>
        <p:txBody>
          <a:bodyPr wrap="square" rtlCol="0">
            <a:spAutoFit/>
          </a:bodyPr>
          <a:lstStyle/>
          <a:p>
            <a:r>
              <a:rPr lang="en-US" sz="9600" dirty="0" smtClean="0">
                <a:solidFill>
                  <a:schemeClr val="bg1"/>
                </a:solidFill>
              </a:rPr>
              <a:t>2</a:t>
            </a:r>
            <a:endParaRPr lang="en-US" sz="9600" dirty="0">
              <a:solidFill>
                <a:schemeClr val="bg1"/>
              </a:solidFill>
            </a:endParaRPr>
          </a:p>
        </p:txBody>
      </p:sp>
      <p:sp>
        <p:nvSpPr>
          <p:cNvPr id="6" name="TextBox 5"/>
          <p:cNvSpPr txBox="1"/>
          <p:nvPr/>
        </p:nvSpPr>
        <p:spPr>
          <a:xfrm>
            <a:off x="323528" y="1995686"/>
            <a:ext cx="3312368" cy="1077218"/>
          </a:xfrm>
          <a:prstGeom prst="rect">
            <a:avLst/>
          </a:prstGeom>
          <a:noFill/>
        </p:spPr>
        <p:txBody>
          <a:bodyPr wrap="square" rtlCol="0">
            <a:spAutoFit/>
          </a:bodyPr>
          <a:lstStyle/>
          <a:p>
            <a:r>
              <a:rPr lang="en-US" sz="3200" b="1" dirty="0" smtClean="0"/>
              <a:t>Establish </a:t>
            </a:r>
          </a:p>
          <a:p>
            <a:r>
              <a:rPr lang="en-US" sz="3200" b="1" dirty="0" smtClean="0"/>
              <a:t>realistic </a:t>
            </a:r>
            <a:r>
              <a:rPr lang="en-US" sz="3200" b="1" dirty="0"/>
              <a:t>goals.</a:t>
            </a:r>
          </a:p>
        </p:txBody>
      </p:sp>
      <p:sp>
        <p:nvSpPr>
          <p:cNvPr id="7" name="TextBox 6"/>
          <p:cNvSpPr txBox="1"/>
          <p:nvPr/>
        </p:nvSpPr>
        <p:spPr>
          <a:xfrm>
            <a:off x="3689379" y="521019"/>
            <a:ext cx="5184576" cy="4026552"/>
          </a:xfrm>
          <a:prstGeom prst="rect">
            <a:avLst/>
          </a:prstGeom>
          <a:noFill/>
        </p:spPr>
        <p:txBody>
          <a:bodyPr wrap="square" rtlCol="0">
            <a:spAutoFit/>
          </a:bodyPr>
          <a:lstStyle/>
          <a:p>
            <a:pPr algn="justLow"/>
            <a:r>
              <a:rPr lang="en-US" sz="1600" dirty="0">
                <a:solidFill>
                  <a:schemeClr val="bg1"/>
                </a:solidFill>
              </a:rPr>
              <a:t>After you have set up your mission, you should start thinking about what you are going to do and exactly how your company will help. Create a list of goals that you want to achieve in the next three to six months. Remember to set up realistic objectives that can be accomplished without causing major disruptions to your day-to-day operations</a:t>
            </a:r>
            <a:r>
              <a:rPr lang="en-US" sz="1600" dirty="0" smtClean="0">
                <a:solidFill>
                  <a:schemeClr val="bg1"/>
                </a:solidFill>
              </a:rPr>
              <a:t>.</a:t>
            </a:r>
          </a:p>
          <a:p>
            <a:pPr algn="justLow"/>
            <a:endParaRPr lang="en-US" sz="1600" dirty="0">
              <a:solidFill>
                <a:schemeClr val="bg1"/>
              </a:solidFill>
            </a:endParaRPr>
          </a:p>
          <a:p>
            <a:pPr algn="justLow"/>
            <a:r>
              <a:rPr lang="en-US" sz="1600" dirty="0">
                <a:solidFill>
                  <a:schemeClr val="bg1"/>
                </a:solidFill>
              </a:rPr>
              <a:t>Include both short-term and long-term goals that can be measured. These goals should</a:t>
            </a:r>
            <a:r>
              <a:rPr lang="en-US" sz="1600" dirty="0" smtClean="0">
                <a:solidFill>
                  <a:schemeClr val="bg1"/>
                </a:solidFill>
              </a:rPr>
              <a:t>:</a:t>
            </a:r>
          </a:p>
          <a:p>
            <a:pPr algn="justLow"/>
            <a:endParaRPr lang="en-US" sz="1600" dirty="0">
              <a:solidFill>
                <a:schemeClr val="bg1"/>
              </a:solidFill>
            </a:endParaRPr>
          </a:p>
          <a:p>
            <a:pPr marL="171450" indent="-171450" algn="justLow">
              <a:lnSpc>
                <a:spcPct val="200000"/>
              </a:lnSpc>
              <a:buFont typeface="Arial" panose="020B0604020202020204" pitchFamily="34" charset="0"/>
              <a:buChar char="•"/>
            </a:pPr>
            <a:r>
              <a:rPr lang="en-US" sz="1400" dirty="0">
                <a:solidFill>
                  <a:schemeClr val="bg1"/>
                </a:solidFill>
              </a:rPr>
              <a:t>Address an immediate issue within your community</a:t>
            </a:r>
          </a:p>
          <a:p>
            <a:pPr marL="171450" indent="-171450" algn="justLow">
              <a:lnSpc>
                <a:spcPct val="200000"/>
              </a:lnSpc>
              <a:buFont typeface="Arial" panose="020B0604020202020204" pitchFamily="34" charset="0"/>
              <a:buChar char="•"/>
            </a:pPr>
            <a:r>
              <a:rPr lang="en-US" sz="1400" dirty="0">
                <a:solidFill>
                  <a:schemeClr val="bg1"/>
                </a:solidFill>
              </a:rPr>
              <a:t>Provide solutions with the resources you already have</a:t>
            </a:r>
          </a:p>
          <a:p>
            <a:pPr marL="171450" indent="-171450" algn="justLow">
              <a:lnSpc>
                <a:spcPct val="200000"/>
              </a:lnSpc>
              <a:buFont typeface="Arial" panose="020B0604020202020204" pitchFamily="34" charset="0"/>
              <a:buChar char="•"/>
            </a:pPr>
            <a:r>
              <a:rPr lang="en-US" sz="1400" dirty="0">
                <a:solidFill>
                  <a:schemeClr val="bg1"/>
                </a:solidFill>
              </a:rPr>
              <a:t>Educate or create awareness of an issue in your area</a:t>
            </a:r>
          </a:p>
        </p:txBody>
      </p:sp>
      <p:sp>
        <p:nvSpPr>
          <p:cNvPr id="8" name="Rectangle 7"/>
          <p:cNvSpPr/>
          <p:nvPr/>
        </p:nvSpPr>
        <p:spPr>
          <a:xfrm>
            <a:off x="251520" y="123478"/>
            <a:ext cx="8640960" cy="468052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242725337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3563888" cy="5143500"/>
          </a:xfrm>
          <a:prstGeom prst="rect">
            <a:avLst/>
          </a:prstGeom>
          <a:solidFill>
            <a:srgbClr val="8FE2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 name="TextBox 4"/>
          <p:cNvSpPr txBox="1"/>
          <p:nvPr/>
        </p:nvSpPr>
        <p:spPr>
          <a:xfrm>
            <a:off x="323528" y="-92546"/>
            <a:ext cx="2664296" cy="1569660"/>
          </a:xfrm>
          <a:prstGeom prst="rect">
            <a:avLst/>
          </a:prstGeom>
          <a:noFill/>
        </p:spPr>
        <p:txBody>
          <a:bodyPr wrap="square" rtlCol="0">
            <a:spAutoFit/>
          </a:bodyPr>
          <a:lstStyle/>
          <a:p>
            <a:r>
              <a:rPr lang="en-US" sz="9600" dirty="0" smtClean="0">
                <a:solidFill>
                  <a:schemeClr val="bg1"/>
                </a:solidFill>
              </a:rPr>
              <a:t>3</a:t>
            </a:r>
            <a:endParaRPr lang="en-US" sz="9600" dirty="0">
              <a:solidFill>
                <a:schemeClr val="bg1"/>
              </a:solidFill>
            </a:endParaRPr>
          </a:p>
        </p:txBody>
      </p:sp>
      <p:sp>
        <p:nvSpPr>
          <p:cNvPr id="6" name="TextBox 5"/>
          <p:cNvSpPr txBox="1"/>
          <p:nvPr/>
        </p:nvSpPr>
        <p:spPr>
          <a:xfrm>
            <a:off x="323528" y="1995686"/>
            <a:ext cx="3312368" cy="1077218"/>
          </a:xfrm>
          <a:prstGeom prst="rect">
            <a:avLst/>
          </a:prstGeom>
          <a:noFill/>
        </p:spPr>
        <p:txBody>
          <a:bodyPr wrap="square" rtlCol="0">
            <a:spAutoFit/>
          </a:bodyPr>
          <a:lstStyle/>
          <a:p>
            <a:r>
              <a:rPr lang="en-US" sz="3200" b="1" dirty="0"/>
              <a:t>Educate your </a:t>
            </a:r>
            <a:endParaRPr lang="en-US" sz="3200" b="1" dirty="0" smtClean="0"/>
          </a:p>
          <a:p>
            <a:r>
              <a:rPr lang="en-US" sz="3200" b="1" dirty="0" smtClean="0"/>
              <a:t>Employees</a:t>
            </a:r>
            <a:r>
              <a:rPr lang="en-US" sz="3200" b="1" dirty="0"/>
              <a:t>.</a:t>
            </a:r>
          </a:p>
        </p:txBody>
      </p:sp>
      <p:sp>
        <p:nvSpPr>
          <p:cNvPr id="7" name="TextBox 6"/>
          <p:cNvSpPr txBox="1"/>
          <p:nvPr/>
        </p:nvSpPr>
        <p:spPr>
          <a:xfrm>
            <a:off x="3692372" y="843558"/>
            <a:ext cx="5184576" cy="3046988"/>
          </a:xfrm>
          <a:prstGeom prst="rect">
            <a:avLst/>
          </a:prstGeom>
          <a:noFill/>
        </p:spPr>
        <p:txBody>
          <a:bodyPr wrap="square" rtlCol="0">
            <a:spAutoFit/>
          </a:bodyPr>
          <a:lstStyle/>
          <a:p>
            <a:r>
              <a:rPr lang="en-US" sz="1600" dirty="0">
                <a:solidFill>
                  <a:schemeClr val="bg1"/>
                </a:solidFill>
              </a:rPr>
              <a:t>You will need the help of your entire team if you want to truly create a socially responsible business. Therefore, your employees need to be involved and informed every step of the way. They need to understand the issues your company is addressing, why you're doing it, and exactly how</a:t>
            </a:r>
            <a:r>
              <a:rPr lang="en-US" sz="1600" dirty="0" smtClean="0">
                <a:solidFill>
                  <a:schemeClr val="bg1"/>
                </a:solidFill>
              </a:rPr>
              <a:t>.</a:t>
            </a:r>
          </a:p>
          <a:p>
            <a:endParaRPr lang="en-US" sz="1600" dirty="0">
              <a:solidFill>
                <a:schemeClr val="bg1"/>
              </a:solidFill>
            </a:endParaRPr>
          </a:p>
          <a:p>
            <a:pPr algn="just"/>
            <a:r>
              <a:rPr lang="en-US" sz="1600" dirty="0">
                <a:solidFill>
                  <a:schemeClr val="bg1"/>
                </a:solidFill>
              </a:rPr>
              <a:t>You can answer their questions by carrying out meetings and sending out informative memos. This will help them answer any customer inquiries and motivate them to join the cause.</a:t>
            </a:r>
          </a:p>
          <a:p>
            <a:endParaRPr lang="en-US" sz="1600" dirty="0"/>
          </a:p>
        </p:txBody>
      </p:sp>
      <p:sp>
        <p:nvSpPr>
          <p:cNvPr id="8" name="Rectangle 7"/>
          <p:cNvSpPr/>
          <p:nvPr/>
        </p:nvSpPr>
        <p:spPr>
          <a:xfrm>
            <a:off x="251520" y="123478"/>
            <a:ext cx="8640960" cy="468052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145785065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3563888" cy="5143500"/>
          </a:xfrm>
          <a:prstGeom prst="rect">
            <a:avLst/>
          </a:prstGeom>
          <a:solidFill>
            <a:srgbClr val="8FE2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 name="TextBox 4"/>
          <p:cNvSpPr txBox="1"/>
          <p:nvPr/>
        </p:nvSpPr>
        <p:spPr>
          <a:xfrm>
            <a:off x="323528" y="-92546"/>
            <a:ext cx="2664296" cy="1569660"/>
          </a:xfrm>
          <a:prstGeom prst="rect">
            <a:avLst/>
          </a:prstGeom>
          <a:noFill/>
        </p:spPr>
        <p:txBody>
          <a:bodyPr wrap="square" rtlCol="0">
            <a:spAutoFit/>
          </a:bodyPr>
          <a:lstStyle/>
          <a:p>
            <a:r>
              <a:rPr lang="en-US" sz="9600" dirty="0" smtClean="0">
                <a:solidFill>
                  <a:schemeClr val="bg1"/>
                </a:solidFill>
              </a:rPr>
              <a:t>4</a:t>
            </a:r>
            <a:endParaRPr lang="en-US" sz="9600" dirty="0">
              <a:solidFill>
                <a:schemeClr val="bg1"/>
              </a:solidFill>
            </a:endParaRPr>
          </a:p>
        </p:txBody>
      </p:sp>
      <p:sp>
        <p:nvSpPr>
          <p:cNvPr id="6" name="TextBox 5"/>
          <p:cNvSpPr txBox="1"/>
          <p:nvPr/>
        </p:nvSpPr>
        <p:spPr>
          <a:xfrm>
            <a:off x="323528" y="1995686"/>
            <a:ext cx="3312368" cy="2062103"/>
          </a:xfrm>
          <a:prstGeom prst="rect">
            <a:avLst/>
          </a:prstGeom>
          <a:noFill/>
        </p:spPr>
        <p:txBody>
          <a:bodyPr wrap="square" rtlCol="0">
            <a:spAutoFit/>
          </a:bodyPr>
          <a:lstStyle/>
          <a:p>
            <a:r>
              <a:rPr lang="en-US" sz="3200" b="1" dirty="0"/>
              <a:t>Organize an </a:t>
            </a:r>
            <a:endParaRPr lang="en-US" sz="3200" b="1" dirty="0" smtClean="0"/>
          </a:p>
          <a:p>
            <a:r>
              <a:rPr lang="en-US" sz="3200" b="1" dirty="0" smtClean="0"/>
              <a:t>in-house </a:t>
            </a:r>
            <a:r>
              <a:rPr lang="en-US" sz="3200" b="1" dirty="0"/>
              <a:t>social </a:t>
            </a:r>
            <a:r>
              <a:rPr lang="en-US" sz="3200" b="1" dirty="0" smtClean="0"/>
              <a:t>Responsibility </a:t>
            </a:r>
          </a:p>
          <a:p>
            <a:r>
              <a:rPr lang="en-US" sz="3200" b="1" dirty="0" smtClean="0"/>
              <a:t>team</a:t>
            </a:r>
            <a:endParaRPr lang="en-US" sz="3200" b="1" dirty="0"/>
          </a:p>
        </p:txBody>
      </p:sp>
      <p:sp>
        <p:nvSpPr>
          <p:cNvPr id="7" name="TextBox 6"/>
          <p:cNvSpPr txBox="1"/>
          <p:nvPr/>
        </p:nvSpPr>
        <p:spPr>
          <a:xfrm>
            <a:off x="3671900" y="540424"/>
            <a:ext cx="5184576" cy="4062651"/>
          </a:xfrm>
          <a:prstGeom prst="rect">
            <a:avLst/>
          </a:prstGeom>
          <a:noFill/>
        </p:spPr>
        <p:txBody>
          <a:bodyPr wrap="square" rtlCol="0">
            <a:spAutoFit/>
          </a:bodyPr>
          <a:lstStyle/>
          <a:p>
            <a:r>
              <a:rPr lang="en-US" sz="1600" dirty="0">
                <a:solidFill>
                  <a:schemeClr val="bg1"/>
                </a:solidFill>
              </a:rPr>
              <a:t>Once you have educated your employees, you can set up an in-house social responsibility team. These employees can dedicate some of their time to crowdsourcing ideas to figure out the best way to have a more positive impact in the community.  </a:t>
            </a:r>
            <a:endParaRPr lang="en-US" sz="1600" dirty="0" smtClean="0">
              <a:solidFill>
                <a:schemeClr val="bg1"/>
              </a:solidFill>
            </a:endParaRPr>
          </a:p>
          <a:p>
            <a:endParaRPr lang="en-US" sz="1600" dirty="0">
              <a:solidFill>
                <a:schemeClr val="bg1"/>
              </a:solidFill>
            </a:endParaRPr>
          </a:p>
          <a:p>
            <a:r>
              <a:rPr lang="en-US" sz="1600" dirty="0">
                <a:solidFill>
                  <a:schemeClr val="bg1"/>
                </a:solidFill>
              </a:rPr>
              <a:t>Your in-house social responsibility team should also</a:t>
            </a:r>
            <a:r>
              <a:rPr lang="en-US" sz="1600" dirty="0" smtClean="0">
                <a:solidFill>
                  <a:schemeClr val="bg1"/>
                </a:solidFill>
              </a:rPr>
              <a:t>:</a:t>
            </a:r>
          </a:p>
          <a:p>
            <a:pPr marL="285750" indent="-285750">
              <a:buFont typeface="Arial" panose="020B0604020202020204" pitchFamily="34" charset="0"/>
              <a:buChar char="•"/>
            </a:pPr>
            <a:endParaRPr lang="en-US" sz="2000" dirty="0">
              <a:solidFill>
                <a:schemeClr val="bg1"/>
              </a:solidFill>
            </a:endParaRPr>
          </a:p>
          <a:p>
            <a:pPr marL="171450" indent="-171450">
              <a:lnSpc>
                <a:spcPct val="150000"/>
              </a:lnSpc>
              <a:buFont typeface="Arial" panose="020B0604020202020204" pitchFamily="34" charset="0"/>
              <a:buChar char="•"/>
            </a:pPr>
            <a:r>
              <a:rPr lang="en-US" sz="1400" dirty="0">
                <a:solidFill>
                  <a:schemeClr val="bg1"/>
                </a:solidFill>
              </a:rPr>
              <a:t>Be passionate about helping others</a:t>
            </a:r>
          </a:p>
          <a:p>
            <a:pPr marL="171450" indent="-171450">
              <a:lnSpc>
                <a:spcPct val="150000"/>
              </a:lnSpc>
              <a:buFont typeface="Arial" panose="020B0604020202020204" pitchFamily="34" charset="0"/>
              <a:buChar char="•"/>
            </a:pPr>
            <a:r>
              <a:rPr lang="en-US" sz="1400" dirty="0">
                <a:solidFill>
                  <a:schemeClr val="bg1"/>
                </a:solidFill>
              </a:rPr>
              <a:t>Create and carry out an actionable list of tasks</a:t>
            </a:r>
          </a:p>
          <a:p>
            <a:pPr marL="171450" indent="-171450">
              <a:lnSpc>
                <a:spcPct val="150000"/>
              </a:lnSpc>
              <a:buFont typeface="Arial" panose="020B0604020202020204" pitchFamily="34" charset="0"/>
              <a:buChar char="•"/>
            </a:pPr>
            <a:r>
              <a:rPr lang="en-US" sz="1400" dirty="0">
                <a:solidFill>
                  <a:schemeClr val="bg1"/>
                </a:solidFill>
              </a:rPr>
              <a:t>Work with the resources you allocated</a:t>
            </a:r>
          </a:p>
          <a:p>
            <a:pPr marL="171450" indent="-171450">
              <a:lnSpc>
                <a:spcPct val="150000"/>
              </a:lnSpc>
              <a:buFont typeface="Arial" panose="020B0604020202020204" pitchFamily="34" charset="0"/>
              <a:buChar char="•"/>
            </a:pPr>
            <a:r>
              <a:rPr lang="en-US" sz="1400" dirty="0">
                <a:solidFill>
                  <a:schemeClr val="bg1"/>
                </a:solidFill>
              </a:rPr>
              <a:t>Launch internal and public awareness campaigns</a:t>
            </a:r>
          </a:p>
          <a:p>
            <a:pPr marL="171450" indent="-171450">
              <a:lnSpc>
                <a:spcPct val="150000"/>
              </a:lnSpc>
              <a:buFont typeface="Arial" panose="020B0604020202020204" pitchFamily="34" charset="0"/>
              <a:buChar char="•"/>
            </a:pPr>
            <a:r>
              <a:rPr lang="en-US" sz="1400" dirty="0">
                <a:solidFill>
                  <a:schemeClr val="bg1"/>
                </a:solidFill>
              </a:rPr>
              <a:t>Report to you about the performance of the social responsibility strategy</a:t>
            </a:r>
          </a:p>
        </p:txBody>
      </p:sp>
      <p:sp>
        <p:nvSpPr>
          <p:cNvPr id="8" name="Rectangle 7"/>
          <p:cNvSpPr/>
          <p:nvPr/>
        </p:nvSpPr>
        <p:spPr>
          <a:xfrm>
            <a:off x="251520" y="123478"/>
            <a:ext cx="8640960" cy="468052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214768292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3563888" cy="5143500"/>
          </a:xfrm>
          <a:prstGeom prst="rect">
            <a:avLst/>
          </a:prstGeom>
          <a:solidFill>
            <a:srgbClr val="8FE2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 name="TextBox 4"/>
          <p:cNvSpPr txBox="1"/>
          <p:nvPr/>
        </p:nvSpPr>
        <p:spPr>
          <a:xfrm>
            <a:off x="323528" y="-92546"/>
            <a:ext cx="2664296" cy="1569660"/>
          </a:xfrm>
          <a:prstGeom prst="rect">
            <a:avLst/>
          </a:prstGeom>
          <a:noFill/>
        </p:spPr>
        <p:txBody>
          <a:bodyPr wrap="square" rtlCol="0">
            <a:spAutoFit/>
          </a:bodyPr>
          <a:lstStyle/>
          <a:p>
            <a:r>
              <a:rPr lang="en-US" sz="9600" dirty="0" smtClean="0">
                <a:solidFill>
                  <a:schemeClr val="bg1"/>
                </a:solidFill>
              </a:rPr>
              <a:t>5</a:t>
            </a:r>
            <a:endParaRPr lang="en-US" sz="9600" dirty="0">
              <a:solidFill>
                <a:schemeClr val="bg1"/>
              </a:solidFill>
            </a:endParaRPr>
          </a:p>
        </p:txBody>
      </p:sp>
      <p:sp>
        <p:nvSpPr>
          <p:cNvPr id="6" name="TextBox 5"/>
          <p:cNvSpPr txBox="1"/>
          <p:nvPr/>
        </p:nvSpPr>
        <p:spPr>
          <a:xfrm>
            <a:off x="323528" y="1995686"/>
            <a:ext cx="3312368" cy="1077218"/>
          </a:xfrm>
          <a:prstGeom prst="rect">
            <a:avLst/>
          </a:prstGeom>
          <a:noFill/>
        </p:spPr>
        <p:txBody>
          <a:bodyPr wrap="square" rtlCol="0">
            <a:spAutoFit/>
          </a:bodyPr>
          <a:lstStyle/>
          <a:p>
            <a:r>
              <a:rPr lang="en-US" sz="3200" b="1" dirty="0" smtClean="0"/>
              <a:t>Direct </a:t>
            </a:r>
          </a:p>
          <a:p>
            <a:r>
              <a:rPr lang="en-US" sz="3200" b="1" dirty="0" smtClean="0"/>
              <a:t>Contributions</a:t>
            </a:r>
            <a:r>
              <a:rPr lang="en-US" sz="3200" b="1" dirty="0"/>
              <a:t>.</a:t>
            </a:r>
          </a:p>
        </p:txBody>
      </p:sp>
      <p:sp>
        <p:nvSpPr>
          <p:cNvPr id="7" name="TextBox 6"/>
          <p:cNvSpPr txBox="1"/>
          <p:nvPr/>
        </p:nvSpPr>
        <p:spPr>
          <a:xfrm>
            <a:off x="3635896" y="555526"/>
            <a:ext cx="5184576" cy="3139321"/>
          </a:xfrm>
          <a:prstGeom prst="rect">
            <a:avLst/>
          </a:prstGeom>
          <a:noFill/>
        </p:spPr>
        <p:txBody>
          <a:bodyPr wrap="square" rtlCol="0">
            <a:spAutoFit/>
          </a:bodyPr>
          <a:lstStyle/>
          <a:p>
            <a:pPr algn="justLow"/>
            <a:r>
              <a:rPr lang="en-US" dirty="0">
                <a:solidFill>
                  <a:schemeClr val="bg1"/>
                </a:solidFill>
              </a:rPr>
              <a:t>You can show social responsibility through philanthropy. Donating money or resources to local charities can make a huge difference to their daily operations, having a direct impact on the community in which your business a part</a:t>
            </a:r>
            <a:r>
              <a:rPr lang="en-US" dirty="0" smtClean="0">
                <a:solidFill>
                  <a:schemeClr val="bg1"/>
                </a:solidFill>
              </a:rPr>
              <a:t>.</a:t>
            </a:r>
          </a:p>
          <a:p>
            <a:pPr algn="justLow"/>
            <a:endParaRPr lang="en-US" dirty="0">
              <a:solidFill>
                <a:schemeClr val="bg1"/>
              </a:solidFill>
            </a:endParaRPr>
          </a:p>
          <a:p>
            <a:pPr algn="justLow"/>
            <a:r>
              <a:rPr lang="en-US" dirty="0">
                <a:solidFill>
                  <a:schemeClr val="bg1"/>
                </a:solidFill>
              </a:rPr>
              <a:t>Most startups and small companies are limited as to how much money they can donate. You can always go the extra mile and set up a donation box or organize a small fundraising event to show support.</a:t>
            </a:r>
          </a:p>
        </p:txBody>
      </p:sp>
      <p:sp>
        <p:nvSpPr>
          <p:cNvPr id="8" name="Rectangle 7"/>
          <p:cNvSpPr/>
          <p:nvPr/>
        </p:nvSpPr>
        <p:spPr>
          <a:xfrm>
            <a:off x="251520" y="123478"/>
            <a:ext cx="8640960" cy="468052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3142525514"/>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3563888" cy="5143500"/>
          </a:xfrm>
          <a:prstGeom prst="rect">
            <a:avLst/>
          </a:prstGeom>
          <a:solidFill>
            <a:srgbClr val="8FE2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 name="TextBox 4"/>
          <p:cNvSpPr txBox="1"/>
          <p:nvPr/>
        </p:nvSpPr>
        <p:spPr>
          <a:xfrm>
            <a:off x="323528" y="-92546"/>
            <a:ext cx="2664296" cy="1569660"/>
          </a:xfrm>
          <a:prstGeom prst="rect">
            <a:avLst/>
          </a:prstGeom>
          <a:noFill/>
        </p:spPr>
        <p:txBody>
          <a:bodyPr wrap="square" rtlCol="0">
            <a:spAutoFit/>
          </a:bodyPr>
          <a:lstStyle/>
          <a:p>
            <a:r>
              <a:rPr lang="en-US" sz="9600" dirty="0" smtClean="0">
                <a:solidFill>
                  <a:schemeClr val="bg1"/>
                </a:solidFill>
              </a:rPr>
              <a:t>6</a:t>
            </a:r>
            <a:endParaRPr lang="en-US" sz="9600" dirty="0">
              <a:solidFill>
                <a:schemeClr val="bg1"/>
              </a:solidFill>
            </a:endParaRPr>
          </a:p>
        </p:txBody>
      </p:sp>
      <p:sp>
        <p:nvSpPr>
          <p:cNvPr id="6" name="TextBox 5"/>
          <p:cNvSpPr txBox="1"/>
          <p:nvPr/>
        </p:nvSpPr>
        <p:spPr>
          <a:xfrm>
            <a:off x="323528" y="1995686"/>
            <a:ext cx="3312368" cy="1077218"/>
          </a:xfrm>
          <a:prstGeom prst="rect">
            <a:avLst/>
          </a:prstGeom>
          <a:noFill/>
        </p:spPr>
        <p:txBody>
          <a:bodyPr wrap="square" rtlCol="0">
            <a:spAutoFit/>
          </a:bodyPr>
          <a:lstStyle/>
          <a:p>
            <a:r>
              <a:rPr lang="en-US" sz="3200" b="1" dirty="0"/>
              <a:t>Encourage </a:t>
            </a:r>
            <a:endParaRPr lang="en-US" sz="3200" b="1" dirty="0" smtClean="0"/>
          </a:p>
          <a:p>
            <a:r>
              <a:rPr lang="en-US" sz="3200" b="1" dirty="0" smtClean="0"/>
              <a:t>volunteering</a:t>
            </a:r>
            <a:r>
              <a:rPr lang="en-US" sz="3200" b="1" dirty="0"/>
              <a:t>.</a:t>
            </a:r>
          </a:p>
        </p:txBody>
      </p:sp>
      <p:sp>
        <p:nvSpPr>
          <p:cNvPr id="7" name="TextBox 6"/>
          <p:cNvSpPr txBox="1"/>
          <p:nvPr/>
        </p:nvSpPr>
        <p:spPr>
          <a:xfrm>
            <a:off x="3635896" y="555526"/>
            <a:ext cx="5184576" cy="3693319"/>
          </a:xfrm>
          <a:prstGeom prst="rect">
            <a:avLst/>
          </a:prstGeom>
          <a:noFill/>
        </p:spPr>
        <p:txBody>
          <a:bodyPr wrap="square" rtlCol="0">
            <a:spAutoFit/>
          </a:bodyPr>
          <a:lstStyle/>
          <a:p>
            <a:r>
              <a:rPr lang="en-US" dirty="0">
                <a:solidFill>
                  <a:schemeClr val="bg1"/>
                </a:solidFill>
              </a:rPr>
              <a:t>Volunteering makes a world of difference, so reward your employees who decide to enroll and volunteer in social programs. Moreover, you should scope out charitable events that need daytime volunteers and offer your team's assistance. Volunteering as a team will help your employees build a strong bond while contributing to a good cause</a:t>
            </a:r>
            <a:r>
              <a:rPr lang="en-US" dirty="0" smtClean="0">
                <a:solidFill>
                  <a:schemeClr val="bg1"/>
                </a:solidFill>
              </a:rPr>
              <a:t>.</a:t>
            </a:r>
          </a:p>
          <a:p>
            <a:endParaRPr lang="en-US" dirty="0">
              <a:solidFill>
                <a:schemeClr val="bg1"/>
              </a:solidFill>
            </a:endParaRPr>
          </a:p>
          <a:p>
            <a:pPr algn="just"/>
            <a:r>
              <a:rPr lang="en-US" dirty="0">
                <a:solidFill>
                  <a:schemeClr val="bg1"/>
                </a:solidFill>
              </a:rPr>
              <a:t>Besides having a volunteering day, you can also reward those who want to volunteer during work hours. You can allow them to take paid time off to volunteer on specific dates, granted they finish all their tasks beforehand.</a:t>
            </a:r>
          </a:p>
        </p:txBody>
      </p:sp>
      <p:sp>
        <p:nvSpPr>
          <p:cNvPr id="8" name="Rectangle 7"/>
          <p:cNvSpPr/>
          <p:nvPr/>
        </p:nvSpPr>
        <p:spPr>
          <a:xfrm>
            <a:off x="251520" y="123478"/>
            <a:ext cx="8640960" cy="468052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519215440"/>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3563888" cy="5143500"/>
          </a:xfrm>
          <a:prstGeom prst="rect">
            <a:avLst/>
          </a:prstGeom>
          <a:solidFill>
            <a:srgbClr val="8FE2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 name="TextBox 4"/>
          <p:cNvSpPr txBox="1"/>
          <p:nvPr/>
        </p:nvSpPr>
        <p:spPr>
          <a:xfrm>
            <a:off x="323528" y="-92546"/>
            <a:ext cx="2664296" cy="1569660"/>
          </a:xfrm>
          <a:prstGeom prst="rect">
            <a:avLst/>
          </a:prstGeom>
          <a:noFill/>
        </p:spPr>
        <p:txBody>
          <a:bodyPr wrap="square" rtlCol="0">
            <a:spAutoFit/>
          </a:bodyPr>
          <a:lstStyle/>
          <a:p>
            <a:r>
              <a:rPr lang="en-US" sz="9600" dirty="0" smtClean="0">
                <a:solidFill>
                  <a:schemeClr val="bg1"/>
                </a:solidFill>
              </a:rPr>
              <a:t>7</a:t>
            </a:r>
            <a:endParaRPr lang="en-US" sz="9600" dirty="0">
              <a:solidFill>
                <a:schemeClr val="bg1"/>
              </a:solidFill>
            </a:endParaRPr>
          </a:p>
        </p:txBody>
      </p:sp>
      <p:sp>
        <p:nvSpPr>
          <p:cNvPr id="6" name="TextBox 5"/>
          <p:cNvSpPr txBox="1"/>
          <p:nvPr/>
        </p:nvSpPr>
        <p:spPr>
          <a:xfrm>
            <a:off x="323528" y="1995686"/>
            <a:ext cx="3312368" cy="1077218"/>
          </a:xfrm>
          <a:prstGeom prst="rect">
            <a:avLst/>
          </a:prstGeom>
          <a:noFill/>
        </p:spPr>
        <p:txBody>
          <a:bodyPr wrap="square" rtlCol="0">
            <a:spAutoFit/>
          </a:bodyPr>
          <a:lstStyle/>
          <a:p>
            <a:r>
              <a:rPr lang="en-US" sz="3200" b="1" dirty="0"/>
              <a:t>Ethical labor </a:t>
            </a:r>
            <a:endParaRPr lang="en-US" sz="3200" b="1" dirty="0" smtClean="0"/>
          </a:p>
          <a:p>
            <a:r>
              <a:rPr lang="en-US" sz="3200" b="1" dirty="0" smtClean="0"/>
              <a:t>practices</a:t>
            </a:r>
            <a:endParaRPr lang="en-US" sz="3200" b="1" dirty="0"/>
          </a:p>
        </p:txBody>
      </p:sp>
      <p:sp>
        <p:nvSpPr>
          <p:cNvPr id="7" name="TextBox 6"/>
          <p:cNvSpPr txBox="1"/>
          <p:nvPr/>
        </p:nvSpPr>
        <p:spPr>
          <a:xfrm>
            <a:off x="3635896" y="555526"/>
            <a:ext cx="5184576" cy="3600986"/>
          </a:xfrm>
          <a:prstGeom prst="rect">
            <a:avLst/>
          </a:prstGeom>
          <a:noFill/>
        </p:spPr>
        <p:txBody>
          <a:bodyPr wrap="square" rtlCol="0">
            <a:spAutoFit/>
          </a:bodyPr>
          <a:lstStyle/>
          <a:p>
            <a:r>
              <a:rPr lang="en-US" dirty="0">
                <a:solidFill>
                  <a:schemeClr val="bg1"/>
                </a:solidFill>
              </a:rPr>
              <a:t>When you think about social responsibility, the first things to come to mind are donations and volunteering. However, social consciousness starts from within. Make sure you follow ethical labor practices, for instance</a:t>
            </a:r>
            <a:r>
              <a:rPr lang="en-US" dirty="0" smtClean="0">
                <a:solidFill>
                  <a:schemeClr val="bg1"/>
                </a:solidFill>
              </a:rPr>
              <a:t>:</a:t>
            </a:r>
          </a:p>
          <a:p>
            <a:endParaRPr lang="en-US" dirty="0">
              <a:solidFill>
                <a:schemeClr val="bg1"/>
              </a:solidFill>
            </a:endParaRPr>
          </a:p>
          <a:p>
            <a:pPr marL="285750" indent="-285750">
              <a:lnSpc>
                <a:spcPct val="150000"/>
              </a:lnSpc>
              <a:buFont typeface="Arial" panose="020B0604020202020204" pitchFamily="34" charset="0"/>
              <a:buChar char="•"/>
            </a:pPr>
            <a:r>
              <a:rPr lang="en-US" sz="1600" dirty="0">
                <a:solidFill>
                  <a:schemeClr val="bg1"/>
                </a:solidFill>
              </a:rPr>
              <a:t>Treat your employees with respect and dignity</a:t>
            </a:r>
          </a:p>
          <a:p>
            <a:pPr marL="285750" indent="-285750">
              <a:lnSpc>
                <a:spcPct val="150000"/>
              </a:lnSpc>
              <a:buFont typeface="Arial" panose="020B0604020202020204" pitchFamily="34" charset="0"/>
              <a:buChar char="•"/>
            </a:pPr>
            <a:r>
              <a:rPr lang="en-US" sz="1600" dirty="0">
                <a:solidFill>
                  <a:schemeClr val="bg1"/>
                </a:solidFill>
              </a:rPr>
              <a:t>Value their work</a:t>
            </a:r>
          </a:p>
          <a:p>
            <a:pPr marL="285750" indent="-285750">
              <a:lnSpc>
                <a:spcPct val="150000"/>
              </a:lnSpc>
              <a:buFont typeface="Arial" panose="020B0604020202020204" pitchFamily="34" charset="0"/>
              <a:buChar char="•"/>
            </a:pPr>
            <a:r>
              <a:rPr lang="en-US" sz="1600" dirty="0">
                <a:solidFill>
                  <a:schemeClr val="bg1"/>
                </a:solidFill>
              </a:rPr>
              <a:t>Enable growth opportunities within your company</a:t>
            </a:r>
          </a:p>
          <a:p>
            <a:pPr marL="285750" indent="-285750">
              <a:lnSpc>
                <a:spcPct val="150000"/>
              </a:lnSpc>
              <a:buFont typeface="Arial" panose="020B0604020202020204" pitchFamily="34" charset="0"/>
              <a:buChar char="•"/>
            </a:pPr>
            <a:r>
              <a:rPr lang="en-US" sz="1600" dirty="0">
                <a:solidFill>
                  <a:schemeClr val="bg1"/>
                </a:solidFill>
              </a:rPr>
              <a:t>Provide fair compensation for their services</a:t>
            </a:r>
          </a:p>
          <a:p>
            <a:pPr marL="285750" indent="-285750">
              <a:lnSpc>
                <a:spcPct val="150000"/>
              </a:lnSpc>
              <a:buFont typeface="Arial" panose="020B0604020202020204" pitchFamily="34" charset="0"/>
              <a:buChar char="•"/>
            </a:pPr>
            <a:r>
              <a:rPr lang="en-US" sz="1600" dirty="0">
                <a:solidFill>
                  <a:schemeClr val="bg1"/>
                </a:solidFill>
              </a:rPr>
              <a:t>Create a safe and healthy work environment</a:t>
            </a:r>
          </a:p>
        </p:txBody>
      </p:sp>
      <p:sp>
        <p:nvSpPr>
          <p:cNvPr id="8" name="Rectangle 7"/>
          <p:cNvSpPr/>
          <p:nvPr/>
        </p:nvSpPr>
        <p:spPr>
          <a:xfrm>
            <a:off x="251520" y="123478"/>
            <a:ext cx="8640960" cy="468052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785899357"/>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3563888" cy="5143500"/>
          </a:xfrm>
          <a:prstGeom prst="rect">
            <a:avLst/>
          </a:prstGeom>
          <a:solidFill>
            <a:srgbClr val="8FE2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 name="TextBox 4"/>
          <p:cNvSpPr txBox="1"/>
          <p:nvPr/>
        </p:nvSpPr>
        <p:spPr>
          <a:xfrm>
            <a:off x="323528" y="-92546"/>
            <a:ext cx="2664296" cy="1569660"/>
          </a:xfrm>
          <a:prstGeom prst="rect">
            <a:avLst/>
          </a:prstGeom>
          <a:noFill/>
        </p:spPr>
        <p:txBody>
          <a:bodyPr wrap="square" rtlCol="0">
            <a:spAutoFit/>
          </a:bodyPr>
          <a:lstStyle/>
          <a:p>
            <a:r>
              <a:rPr lang="en-US" sz="9600" dirty="0" smtClean="0">
                <a:solidFill>
                  <a:schemeClr val="bg1"/>
                </a:solidFill>
              </a:rPr>
              <a:t>8</a:t>
            </a:r>
            <a:endParaRPr lang="en-US" sz="9600" dirty="0">
              <a:solidFill>
                <a:schemeClr val="bg1"/>
              </a:solidFill>
            </a:endParaRPr>
          </a:p>
        </p:txBody>
      </p:sp>
      <p:sp>
        <p:nvSpPr>
          <p:cNvPr id="6" name="TextBox 5"/>
          <p:cNvSpPr txBox="1"/>
          <p:nvPr/>
        </p:nvSpPr>
        <p:spPr>
          <a:xfrm>
            <a:off x="323528" y="1995686"/>
            <a:ext cx="3312368" cy="1077218"/>
          </a:xfrm>
          <a:prstGeom prst="rect">
            <a:avLst/>
          </a:prstGeom>
          <a:noFill/>
        </p:spPr>
        <p:txBody>
          <a:bodyPr wrap="square" rtlCol="0">
            <a:spAutoFit/>
          </a:bodyPr>
          <a:lstStyle/>
          <a:p>
            <a:r>
              <a:rPr lang="en-US" sz="3200" b="1" dirty="0"/>
              <a:t>Think about </a:t>
            </a:r>
            <a:endParaRPr lang="en-US" sz="3200" b="1" dirty="0" smtClean="0"/>
          </a:p>
          <a:p>
            <a:r>
              <a:rPr lang="en-US" sz="3200" b="1" dirty="0" smtClean="0"/>
              <a:t>sustainability</a:t>
            </a:r>
            <a:endParaRPr lang="en-US" sz="3200" b="1" dirty="0"/>
          </a:p>
        </p:txBody>
      </p:sp>
      <p:sp>
        <p:nvSpPr>
          <p:cNvPr id="7" name="TextBox 6"/>
          <p:cNvSpPr txBox="1"/>
          <p:nvPr/>
        </p:nvSpPr>
        <p:spPr>
          <a:xfrm>
            <a:off x="3633815" y="302915"/>
            <a:ext cx="5184576" cy="4462760"/>
          </a:xfrm>
          <a:prstGeom prst="rect">
            <a:avLst/>
          </a:prstGeom>
          <a:noFill/>
        </p:spPr>
        <p:txBody>
          <a:bodyPr wrap="square" rtlCol="0">
            <a:spAutoFit/>
          </a:bodyPr>
          <a:lstStyle/>
          <a:p>
            <a:r>
              <a:rPr lang="en-US" sz="1400" dirty="0">
                <a:solidFill>
                  <a:schemeClr val="bg1"/>
                </a:solidFill>
              </a:rPr>
              <a:t>Even if they don't seem like an immediate concern in your particular community, environmental issues are already an alarming reality for most. Capitalist economies have spearheaded the charge of unsustainable practices, so it's every entrepreneur's responsibility to take action and start reducing their environmental impact</a:t>
            </a:r>
            <a:r>
              <a:rPr lang="en-US" sz="1400" dirty="0" smtClean="0">
                <a:solidFill>
                  <a:schemeClr val="bg1"/>
                </a:solidFill>
              </a:rPr>
              <a:t>.</a:t>
            </a:r>
          </a:p>
          <a:p>
            <a:endParaRPr lang="en-US" sz="1400" dirty="0">
              <a:solidFill>
                <a:schemeClr val="bg1"/>
              </a:solidFill>
            </a:endParaRPr>
          </a:p>
          <a:p>
            <a:r>
              <a:rPr lang="en-US" sz="1400" dirty="0">
                <a:solidFill>
                  <a:schemeClr val="bg1"/>
                </a:solidFill>
              </a:rPr>
              <a:t>Make sure you focus on sustainability and keep it in mind throughout your company's entire operations. This includes</a:t>
            </a:r>
            <a:r>
              <a:rPr lang="en-US" sz="1400" dirty="0" smtClean="0">
                <a:solidFill>
                  <a:schemeClr val="bg1"/>
                </a:solidFill>
              </a:rPr>
              <a:t>:</a:t>
            </a:r>
          </a:p>
          <a:p>
            <a:endParaRPr lang="en-US" sz="1400" dirty="0">
              <a:solidFill>
                <a:schemeClr val="bg1"/>
              </a:solidFill>
            </a:endParaRPr>
          </a:p>
          <a:p>
            <a:pPr marL="171450" indent="-171450">
              <a:buFont typeface="Arial" panose="020B0604020202020204" pitchFamily="34" charset="0"/>
              <a:buChar char="•"/>
            </a:pPr>
            <a:r>
              <a:rPr lang="en-US" sz="1200" dirty="0">
                <a:solidFill>
                  <a:schemeClr val="bg1"/>
                </a:solidFill>
              </a:rPr>
              <a:t>Working a paperless environment, whenever </a:t>
            </a:r>
            <a:r>
              <a:rPr lang="en-US" sz="1200" dirty="0" smtClean="0">
                <a:solidFill>
                  <a:schemeClr val="bg1"/>
                </a:solidFill>
              </a:rPr>
              <a:t>possible</a:t>
            </a:r>
          </a:p>
          <a:p>
            <a:pPr marL="171450" indent="-171450">
              <a:buFont typeface="Arial" panose="020B0604020202020204" pitchFamily="34" charset="0"/>
              <a:buChar char="•"/>
            </a:pPr>
            <a:endParaRPr lang="en-US" sz="1200" dirty="0">
              <a:solidFill>
                <a:schemeClr val="bg1"/>
              </a:solidFill>
            </a:endParaRPr>
          </a:p>
          <a:p>
            <a:pPr marL="171450" indent="-171450">
              <a:buFont typeface="Arial" panose="020B0604020202020204" pitchFamily="34" charset="0"/>
              <a:buChar char="•"/>
            </a:pPr>
            <a:r>
              <a:rPr lang="en-US" sz="1200" dirty="0">
                <a:solidFill>
                  <a:schemeClr val="bg1"/>
                </a:solidFill>
              </a:rPr>
              <a:t>Participating in recycling </a:t>
            </a:r>
            <a:r>
              <a:rPr lang="en-US" sz="1200" dirty="0" smtClean="0">
                <a:solidFill>
                  <a:schemeClr val="bg1"/>
                </a:solidFill>
              </a:rPr>
              <a:t>programs</a:t>
            </a:r>
          </a:p>
          <a:p>
            <a:pPr marL="171450" indent="-171450">
              <a:buFont typeface="Arial" panose="020B0604020202020204" pitchFamily="34" charset="0"/>
              <a:buChar char="•"/>
            </a:pPr>
            <a:endParaRPr lang="en-US" sz="1200" dirty="0">
              <a:solidFill>
                <a:schemeClr val="bg1"/>
              </a:solidFill>
            </a:endParaRPr>
          </a:p>
          <a:p>
            <a:pPr marL="171450" indent="-171450">
              <a:buFont typeface="Arial" panose="020B0604020202020204" pitchFamily="34" charset="0"/>
              <a:buChar char="•"/>
            </a:pPr>
            <a:r>
              <a:rPr lang="en-US" sz="1200" dirty="0">
                <a:solidFill>
                  <a:schemeClr val="bg1"/>
                </a:solidFill>
              </a:rPr>
              <a:t>Implementing eco-friendly lighting and </a:t>
            </a:r>
            <a:r>
              <a:rPr lang="en-US" sz="1200" dirty="0" smtClean="0">
                <a:solidFill>
                  <a:schemeClr val="bg1"/>
                </a:solidFill>
              </a:rPr>
              <a:t>plumbing</a:t>
            </a:r>
          </a:p>
          <a:p>
            <a:pPr marL="171450" indent="-171450">
              <a:buFont typeface="Arial" panose="020B0604020202020204" pitchFamily="34" charset="0"/>
              <a:buChar char="•"/>
            </a:pPr>
            <a:endParaRPr lang="en-US" sz="1200" dirty="0">
              <a:solidFill>
                <a:schemeClr val="bg1"/>
              </a:solidFill>
            </a:endParaRPr>
          </a:p>
          <a:p>
            <a:pPr marL="171450" indent="-171450">
              <a:buFont typeface="Arial" panose="020B0604020202020204" pitchFamily="34" charset="0"/>
              <a:buChar char="•"/>
            </a:pPr>
            <a:r>
              <a:rPr lang="en-US" sz="1200" dirty="0">
                <a:solidFill>
                  <a:schemeClr val="bg1"/>
                </a:solidFill>
              </a:rPr>
              <a:t>Creating energy-efficient </a:t>
            </a:r>
            <a:r>
              <a:rPr lang="en-US" sz="1200" dirty="0" smtClean="0">
                <a:solidFill>
                  <a:schemeClr val="bg1"/>
                </a:solidFill>
              </a:rPr>
              <a:t>policies</a:t>
            </a:r>
          </a:p>
          <a:p>
            <a:pPr marL="171450" indent="-171450">
              <a:buFont typeface="Arial" panose="020B0604020202020204" pitchFamily="34" charset="0"/>
              <a:buChar char="•"/>
            </a:pPr>
            <a:endParaRPr lang="en-US" sz="1200" dirty="0">
              <a:solidFill>
                <a:schemeClr val="bg1"/>
              </a:solidFill>
            </a:endParaRPr>
          </a:p>
          <a:p>
            <a:pPr marL="171450" indent="-171450">
              <a:buFont typeface="Arial" panose="020B0604020202020204" pitchFamily="34" charset="0"/>
              <a:buChar char="•"/>
            </a:pPr>
            <a:r>
              <a:rPr lang="en-US" sz="1200" dirty="0">
                <a:solidFill>
                  <a:schemeClr val="bg1"/>
                </a:solidFill>
              </a:rPr>
              <a:t>Encouraging carpooling, a great place for listening to inspirational audio books</a:t>
            </a:r>
            <a:r>
              <a:rPr lang="en-US" sz="1200" dirty="0" smtClean="0">
                <a:solidFill>
                  <a:schemeClr val="bg1"/>
                </a:solidFill>
              </a:rPr>
              <a:t>.</a:t>
            </a:r>
          </a:p>
          <a:p>
            <a:pPr marL="171450" indent="-171450">
              <a:buFont typeface="Arial" panose="020B0604020202020204" pitchFamily="34" charset="0"/>
              <a:buChar char="•"/>
            </a:pPr>
            <a:endParaRPr lang="en-US" sz="1200" dirty="0">
              <a:solidFill>
                <a:schemeClr val="bg1"/>
              </a:solidFill>
            </a:endParaRPr>
          </a:p>
          <a:p>
            <a:pPr marL="171450" indent="-171450">
              <a:buFont typeface="Arial" panose="020B0604020202020204" pitchFamily="34" charset="0"/>
              <a:buChar char="•"/>
            </a:pPr>
            <a:r>
              <a:rPr lang="en-US" sz="1200" dirty="0">
                <a:solidFill>
                  <a:schemeClr val="bg1"/>
                </a:solidFill>
              </a:rPr>
              <a:t>Discouraging any unsustainable practices and industry standards</a:t>
            </a:r>
          </a:p>
        </p:txBody>
      </p:sp>
      <p:sp>
        <p:nvSpPr>
          <p:cNvPr id="8" name="Rectangle 7"/>
          <p:cNvSpPr/>
          <p:nvPr/>
        </p:nvSpPr>
        <p:spPr>
          <a:xfrm>
            <a:off x="251520" y="123478"/>
            <a:ext cx="8640960" cy="468052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195506326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3563888" cy="5143500"/>
          </a:xfrm>
          <a:prstGeom prst="rect">
            <a:avLst/>
          </a:prstGeom>
          <a:solidFill>
            <a:srgbClr val="8FE2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 name="TextBox 4"/>
          <p:cNvSpPr txBox="1"/>
          <p:nvPr/>
        </p:nvSpPr>
        <p:spPr>
          <a:xfrm>
            <a:off x="179512" y="-92546"/>
            <a:ext cx="2664296" cy="1569660"/>
          </a:xfrm>
          <a:prstGeom prst="rect">
            <a:avLst/>
          </a:prstGeom>
          <a:noFill/>
        </p:spPr>
        <p:txBody>
          <a:bodyPr wrap="square" rtlCol="0">
            <a:spAutoFit/>
          </a:bodyPr>
          <a:lstStyle/>
          <a:p>
            <a:r>
              <a:rPr lang="en-US" sz="9600" dirty="0" smtClean="0">
                <a:solidFill>
                  <a:schemeClr val="bg1"/>
                </a:solidFill>
              </a:rPr>
              <a:t>10</a:t>
            </a:r>
            <a:endParaRPr lang="en-US" sz="9600" dirty="0">
              <a:solidFill>
                <a:schemeClr val="bg1"/>
              </a:solidFill>
            </a:endParaRPr>
          </a:p>
        </p:txBody>
      </p:sp>
      <p:sp>
        <p:nvSpPr>
          <p:cNvPr id="6" name="TextBox 5"/>
          <p:cNvSpPr txBox="1"/>
          <p:nvPr/>
        </p:nvSpPr>
        <p:spPr>
          <a:xfrm>
            <a:off x="323528" y="1995686"/>
            <a:ext cx="3312368" cy="1077218"/>
          </a:xfrm>
          <a:prstGeom prst="rect">
            <a:avLst/>
          </a:prstGeom>
          <a:noFill/>
        </p:spPr>
        <p:txBody>
          <a:bodyPr wrap="square" rtlCol="0">
            <a:spAutoFit/>
          </a:bodyPr>
          <a:lstStyle/>
          <a:p>
            <a:r>
              <a:rPr lang="en-US" sz="3200" b="1" dirty="0"/>
              <a:t>Make your </a:t>
            </a:r>
            <a:endParaRPr lang="en-US" sz="3200" b="1" dirty="0" smtClean="0"/>
          </a:p>
          <a:p>
            <a:r>
              <a:rPr lang="en-US" sz="3200" b="1" dirty="0" smtClean="0"/>
              <a:t>effort </a:t>
            </a:r>
            <a:r>
              <a:rPr lang="en-US" sz="3200" b="1" dirty="0"/>
              <a:t>last.</a:t>
            </a:r>
          </a:p>
        </p:txBody>
      </p:sp>
      <p:sp>
        <p:nvSpPr>
          <p:cNvPr id="7" name="TextBox 6"/>
          <p:cNvSpPr txBox="1"/>
          <p:nvPr/>
        </p:nvSpPr>
        <p:spPr>
          <a:xfrm>
            <a:off x="3640245" y="1275606"/>
            <a:ext cx="5184576" cy="2800767"/>
          </a:xfrm>
          <a:prstGeom prst="rect">
            <a:avLst/>
          </a:prstGeom>
          <a:noFill/>
        </p:spPr>
        <p:txBody>
          <a:bodyPr wrap="square" rtlCol="0">
            <a:spAutoFit/>
          </a:bodyPr>
          <a:lstStyle/>
          <a:p>
            <a:pPr algn="just"/>
            <a:r>
              <a:rPr lang="en-US" sz="1600" dirty="0">
                <a:solidFill>
                  <a:schemeClr val="bg1"/>
                </a:solidFill>
              </a:rPr>
              <a:t>It's important to understand that social consciousness is not a marketing stunt or one-time attempt. You need to take social responsibility seriously and treat it for what it is: an ongoing effort to help a good cause in your community</a:t>
            </a:r>
            <a:r>
              <a:rPr lang="en-US" sz="1600" dirty="0" smtClean="0">
                <a:solidFill>
                  <a:schemeClr val="bg1"/>
                </a:solidFill>
              </a:rPr>
              <a:t>.</a:t>
            </a:r>
          </a:p>
          <a:p>
            <a:pPr algn="just"/>
            <a:endParaRPr lang="en-US" sz="1600" dirty="0">
              <a:solidFill>
                <a:schemeClr val="bg1"/>
              </a:solidFill>
            </a:endParaRPr>
          </a:p>
          <a:p>
            <a:pPr algn="just"/>
            <a:r>
              <a:rPr lang="en-US" sz="1600" dirty="0">
                <a:solidFill>
                  <a:schemeClr val="bg1"/>
                </a:solidFill>
              </a:rPr>
              <a:t>Always try to contribute on a regular basis, host an annual event, and make scheduled contributions to a good cause. Organize yourself properly and set realistic expectations to make sure you can continuously help your community.</a:t>
            </a:r>
          </a:p>
        </p:txBody>
      </p:sp>
      <p:sp>
        <p:nvSpPr>
          <p:cNvPr id="8" name="Rectangle 7"/>
          <p:cNvSpPr/>
          <p:nvPr/>
        </p:nvSpPr>
        <p:spPr>
          <a:xfrm>
            <a:off x="251520" y="123478"/>
            <a:ext cx="8640960" cy="468052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260361021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 Diagonal Corner Rectangle 7"/>
          <p:cNvSpPr/>
          <p:nvPr/>
        </p:nvSpPr>
        <p:spPr>
          <a:xfrm flipH="1">
            <a:off x="251519" y="267494"/>
            <a:ext cx="8496943" cy="4536504"/>
          </a:xfrm>
          <a:prstGeom prst="round2Diag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 name="TextBox 1"/>
          <p:cNvSpPr txBox="1"/>
          <p:nvPr/>
        </p:nvSpPr>
        <p:spPr>
          <a:xfrm>
            <a:off x="539552" y="699542"/>
            <a:ext cx="7704856" cy="1077218"/>
          </a:xfrm>
          <a:prstGeom prst="rect">
            <a:avLst/>
          </a:prstGeom>
          <a:noFill/>
        </p:spPr>
        <p:txBody>
          <a:bodyPr wrap="square" rtlCol="0">
            <a:spAutoFit/>
          </a:bodyPr>
          <a:lstStyle/>
          <a:p>
            <a:pPr algn="ctr"/>
            <a:r>
              <a:rPr lang="en-US" sz="3200" b="1" dirty="0">
                <a:solidFill>
                  <a:srgbClr val="53D2FF"/>
                </a:solidFill>
              </a:rPr>
              <a:t>Exit Strategies for Small </a:t>
            </a:r>
            <a:endParaRPr lang="en-US" sz="3200" b="1" dirty="0" smtClean="0">
              <a:solidFill>
                <a:srgbClr val="53D2FF"/>
              </a:solidFill>
            </a:endParaRPr>
          </a:p>
          <a:p>
            <a:pPr algn="ctr"/>
            <a:r>
              <a:rPr lang="en-US" sz="3200" b="1" dirty="0" smtClean="0">
                <a:solidFill>
                  <a:srgbClr val="53D2FF"/>
                </a:solidFill>
              </a:rPr>
              <a:t>Business</a:t>
            </a:r>
            <a:r>
              <a:rPr lang="en-US" sz="3200" b="1" dirty="0">
                <a:solidFill>
                  <a:srgbClr val="53D2FF"/>
                </a:solidFill>
              </a:rPr>
              <a:t>: What You Need to Know</a:t>
            </a:r>
            <a:endParaRPr lang="en-US" sz="3200" dirty="0">
              <a:solidFill>
                <a:srgbClr val="53D2FF"/>
              </a:solidFill>
            </a:endParaRPr>
          </a:p>
        </p:txBody>
      </p:sp>
      <p:sp>
        <p:nvSpPr>
          <p:cNvPr id="3" name="TextBox 2"/>
          <p:cNvSpPr txBox="1"/>
          <p:nvPr/>
        </p:nvSpPr>
        <p:spPr>
          <a:xfrm>
            <a:off x="611560" y="1851670"/>
            <a:ext cx="7632848" cy="1477328"/>
          </a:xfrm>
          <a:prstGeom prst="rect">
            <a:avLst/>
          </a:prstGeom>
          <a:noFill/>
        </p:spPr>
        <p:txBody>
          <a:bodyPr wrap="square" rtlCol="0">
            <a:spAutoFit/>
          </a:bodyPr>
          <a:lstStyle/>
          <a:p>
            <a:r>
              <a:rPr lang="en-US" dirty="0"/>
              <a:t>An exit strategy is how a business owner plans on selling their investment in their business. An exit strategy is part of the business plan, which is a document every entrepreneur needs. Exit strategies help business owners have an out if they want to retire, leave, or if the business fails.</a:t>
            </a:r>
          </a:p>
          <a:p>
            <a:endParaRPr lang="en-US" dirty="0"/>
          </a:p>
        </p:txBody>
      </p:sp>
      <p:sp>
        <p:nvSpPr>
          <p:cNvPr id="10" name="TextBox 9"/>
          <p:cNvSpPr txBox="1"/>
          <p:nvPr/>
        </p:nvSpPr>
        <p:spPr>
          <a:xfrm>
            <a:off x="567759" y="3147814"/>
            <a:ext cx="7632848" cy="1200329"/>
          </a:xfrm>
          <a:prstGeom prst="rect">
            <a:avLst/>
          </a:prstGeom>
          <a:noFill/>
        </p:spPr>
        <p:txBody>
          <a:bodyPr wrap="square" rtlCol="0">
            <a:spAutoFit/>
          </a:bodyPr>
          <a:lstStyle/>
          <a:p>
            <a:pPr fontAlgn="base"/>
            <a:r>
              <a:rPr lang="en-US" b="1" dirty="0">
                <a:solidFill>
                  <a:srgbClr val="53D2FF"/>
                </a:solidFill>
              </a:rPr>
              <a:t>Exit strategies for small business</a:t>
            </a:r>
          </a:p>
          <a:p>
            <a:pPr algn="just" fontAlgn="base"/>
            <a:r>
              <a:rPr lang="en-US" dirty="0"/>
              <a:t>There are a few different types of exit strategies of a business. The exit strategy you choose depends on your type of business structure and size. Take a look at these exit strategies for entrepreneurs.</a:t>
            </a:r>
          </a:p>
        </p:txBody>
      </p:sp>
    </p:spTree>
    <p:extLst>
      <p:ext uri="{BB962C8B-B14F-4D97-AF65-F5344CB8AC3E}">
        <p14:creationId xmlns:p14="http://schemas.microsoft.com/office/powerpoint/2010/main" val="1574293708"/>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11760" y="267494"/>
            <a:ext cx="6480720" cy="4431983"/>
          </a:xfrm>
          <a:prstGeom prst="rect">
            <a:avLst/>
          </a:prstGeom>
          <a:noFill/>
        </p:spPr>
        <p:txBody>
          <a:bodyPr wrap="square" rtlCol="0">
            <a:spAutoFit/>
          </a:bodyPr>
          <a:lstStyle/>
          <a:p>
            <a:pPr fontAlgn="base"/>
            <a:r>
              <a:rPr lang="en-US" b="1" dirty="0">
                <a:solidFill>
                  <a:schemeClr val="bg1"/>
                </a:solidFill>
              </a:rPr>
              <a:t>1. Merger</a:t>
            </a:r>
          </a:p>
          <a:p>
            <a:pPr algn="just" fontAlgn="base"/>
            <a:r>
              <a:rPr lang="en-US" dirty="0">
                <a:solidFill>
                  <a:schemeClr val="bg1"/>
                </a:solidFill>
              </a:rPr>
              <a:t>A merger can occur when two businesses combine into one new business. Mergers increase your business’s value, which is why investors or shareholders like them.</a:t>
            </a:r>
          </a:p>
          <a:p>
            <a:pPr algn="just"/>
            <a:r>
              <a:rPr lang="en-US" dirty="0">
                <a:solidFill>
                  <a:schemeClr val="bg1"/>
                </a:solidFill>
              </a:rPr>
              <a:t>In order to go through with a merger as an exit strategy, you still need to be a part of the business. Through a merger, you will be an owner or manager of the new business.</a:t>
            </a:r>
          </a:p>
          <a:p>
            <a:pPr algn="just"/>
            <a:endParaRPr lang="en-US" dirty="0"/>
          </a:p>
          <a:p>
            <a:pPr fontAlgn="base"/>
            <a:r>
              <a:rPr lang="en-US" b="1" u="sng" dirty="0"/>
              <a:t>There are five main types of mergers</a:t>
            </a:r>
            <a:r>
              <a:rPr lang="en-US" b="1" u="sng" dirty="0" smtClean="0"/>
              <a:t>:</a:t>
            </a:r>
          </a:p>
          <a:p>
            <a:pPr fontAlgn="base"/>
            <a:endParaRPr lang="en-US" dirty="0"/>
          </a:p>
          <a:p>
            <a:pPr marL="285750" lvl="0" indent="-285750" fontAlgn="base">
              <a:buFont typeface="Arial" panose="020B0604020202020204" pitchFamily="34" charset="0"/>
              <a:buChar char="•"/>
            </a:pPr>
            <a:r>
              <a:rPr lang="en-US" sz="1400" b="1" dirty="0"/>
              <a:t>Conglomerate:</a:t>
            </a:r>
            <a:r>
              <a:rPr lang="en-US" sz="1400" dirty="0"/>
              <a:t> the two businesses have nothing in common</a:t>
            </a:r>
          </a:p>
          <a:p>
            <a:pPr marL="285750" lvl="0" indent="-285750" fontAlgn="base">
              <a:buFont typeface="Arial" panose="020B0604020202020204" pitchFamily="34" charset="0"/>
              <a:buChar char="•"/>
            </a:pPr>
            <a:r>
              <a:rPr lang="en-US" sz="1400" b="1" dirty="0"/>
              <a:t>Horizontal:</a:t>
            </a:r>
            <a:r>
              <a:rPr lang="en-US" sz="1400" dirty="0"/>
              <a:t> both businesses are in same industry</a:t>
            </a:r>
          </a:p>
          <a:p>
            <a:pPr marL="285750" lvl="0" indent="-285750" fontAlgn="base">
              <a:buFont typeface="Arial" panose="020B0604020202020204" pitchFamily="34" charset="0"/>
              <a:buChar char="•"/>
            </a:pPr>
            <a:r>
              <a:rPr lang="en-US" sz="1400" b="1" dirty="0"/>
              <a:t>Market extension:</a:t>
            </a:r>
            <a:r>
              <a:rPr lang="en-US" sz="1400" dirty="0"/>
              <a:t> the businesses sell the same products but compete in different markets</a:t>
            </a:r>
          </a:p>
          <a:p>
            <a:pPr marL="285750" lvl="0" indent="-285750" fontAlgn="base">
              <a:buFont typeface="Arial" panose="020B0604020202020204" pitchFamily="34" charset="0"/>
              <a:buChar char="•"/>
            </a:pPr>
            <a:r>
              <a:rPr lang="en-US" sz="1400" b="1" dirty="0"/>
              <a:t>Product extension:</a:t>
            </a:r>
            <a:r>
              <a:rPr lang="en-US" sz="1400" dirty="0"/>
              <a:t> both businesses’ products go well together</a:t>
            </a:r>
          </a:p>
          <a:p>
            <a:pPr marL="285750" lvl="0" indent="-285750" fontAlgn="base">
              <a:buFont typeface="Arial" panose="020B0604020202020204" pitchFamily="34" charset="0"/>
              <a:buChar char="•"/>
            </a:pPr>
            <a:r>
              <a:rPr lang="en-US" sz="1400" b="1" dirty="0"/>
              <a:t>Vertical merger:</a:t>
            </a:r>
            <a:r>
              <a:rPr lang="en-US" sz="1400" dirty="0"/>
              <a:t> both businesses make parts for a completed product</a:t>
            </a:r>
          </a:p>
          <a:p>
            <a:endParaRPr lang="en-US" dirty="0"/>
          </a:p>
        </p:txBody>
      </p:sp>
      <p:pic>
        <p:nvPicPr>
          <p:cNvPr id="4" name="Picture Placeholder 3"/>
          <p:cNvPicPr>
            <a:picLocks noGrp="1" noChangeAspect="1"/>
          </p:cNvPicPr>
          <p:nvPr>
            <p:ph type="pic" idx="1"/>
          </p:nvPr>
        </p:nvPicPr>
        <p:blipFill>
          <a:blip r:embed="rId2">
            <a:extLst>
              <a:ext uri="{28A0092B-C50C-407E-A947-70E740481C1C}">
                <a14:useLocalDpi xmlns:a14="http://schemas.microsoft.com/office/drawing/2010/main" val="0"/>
              </a:ext>
            </a:extLst>
          </a:blip>
          <a:srcRect l="20199" r="20199"/>
          <a:stretch>
            <a:fillRect/>
          </a:stretch>
        </p:blipFill>
        <p:spPr>
          <a:xfrm>
            <a:off x="4763" y="0"/>
            <a:ext cx="2159000" cy="5143500"/>
          </a:xfrm>
        </p:spPr>
      </p:pic>
    </p:spTree>
    <p:extLst>
      <p:ext uri="{BB962C8B-B14F-4D97-AF65-F5344CB8AC3E}">
        <p14:creationId xmlns:p14="http://schemas.microsoft.com/office/powerpoint/2010/main" val="284496592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11760" y="267494"/>
            <a:ext cx="6480720" cy="4247317"/>
          </a:xfrm>
          <a:prstGeom prst="rect">
            <a:avLst/>
          </a:prstGeom>
          <a:noFill/>
        </p:spPr>
        <p:txBody>
          <a:bodyPr wrap="square" rtlCol="0">
            <a:spAutoFit/>
          </a:bodyPr>
          <a:lstStyle/>
          <a:p>
            <a:pPr fontAlgn="base"/>
            <a:r>
              <a:rPr lang="en-US" b="1" dirty="0">
                <a:solidFill>
                  <a:schemeClr val="bg1"/>
                </a:solidFill>
              </a:rPr>
              <a:t>2. Acquisition</a:t>
            </a:r>
          </a:p>
          <a:p>
            <a:pPr algn="just" fontAlgn="base"/>
            <a:r>
              <a:rPr lang="en-US" dirty="0">
                <a:solidFill>
                  <a:schemeClr val="bg1"/>
                </a:solidFill>
              </a:rPr>
              <a:t>An acquisition is when a company buys another business. With an acquisition exit strategy, you give up ownership of your business to the business that buys it from you</a:t>
            </a:r>
            <a:r>
              <a:rPr lang="en-US" dirty="0" smtClean="0">
                <a:solidFill>
                  <a:schemeClr val="bg1"/>
                </a:solidFill>
              </a:rPr>
              <a:t>.</a:t>
            </a:r>
          </a:p>
          <a:p>
            <a:pPr algn="just" fontAlgn="base"/>
            <a:endParaRPr lang="en-US" dirty="0">
              <a:solidFill>
                <a:schemeClr val="bg1"/>
              </a:solidFill>
            </a:endParaRPr>
          </a:p>
          <a:p>
            <a:pPr algn="just" fontAlgn="base"/>
            <a:r>
              <a:rPr lang="en-US" dirty="0">
                <a:solidFill>
                  <a:schemeClr val="bg1"/>
                </a:solidFill>
              </a:rPr>
              <a:t>One of the positives of going with an acquisition is that you get to name your price. A business might be apt to pay a higher price than the actual value of your business</a:t>
            </a:r>
            <a:r>
              <a:rPr lang="en-US" dirty="0" smtClean="0">
                <a:solidFill>
                  <a:schemeClr val="bg1"/>
                </a:solidFill>
              </a:rPr>
              <a:t>.</a:t>
            </a:r>
          </a:p>
          <a:p>
            <a:pPr algn="just" fontAlgn="base"/>
            <a:endParaRPr lang="en-US" dirty="0">
              <a:solidFill>
                <a:schemeClr val="bg1"/>
              </a:solidFill>
            </a:endParaRPr>
          </a:p>
          <a:p>
            <a:pPr algn="just" fontAlgn="base"/>
            <a:r>
              <a:rPr lang="en-US" dirty="0">
                <a:solidFill>
                  <a:schemeClr val="bg1"/>
                </a:solidFill>
              </a:rPr>
              <a:t>There are two types of acquisition: friendly and hostile. If you have a friendly acquisition, you agree to be acquired by a larger business. However, a hostile acquisition means that you do not agree. The acquiring business purchases stakes to complete the acquisition.</a:t>
            </a:r>
          </a:p>
          <a:p>
            <a:endParaRPr lang="en-US" dirty="0"/>
          </a:p>
        </p:txBody>
      </p:sp>
      <p:pic>
        <p:nvPicPr>
          <p:cNvPr id="4" name="Picture Placeholder 3"/>
          <p:cNvPicPr>
            <a:picLocks noGrp="1" noChangeAspect="1"/>
          </p:cNvPicPr>
          <p:nvPr>
            <p:ph type="pic" idx="1"/>
          </p:nvPr>
        </p:nvPicPr>
        <p:blipFill>
          <a:blip r:embed="rId2">
            <a:extLst>
              <a:ext uri="{28A0092B-C50C-407E-A947-70E740481C1C}">
                <a14:useLocalDpi xmlns:a14="http://schemas.microsoft.com/office/drawing/2010/main" val="0"/>
              </a:ext>
            </a:extLst>
          </a:blip>
          <a:srcRect l="20199" r="20199"/>
          <a:stretch>
            <a:fillRect/>
          </a:stretch>
        </p:blipFill>
        <p:spPr>
          <a:xfrm>
            <a:off x="4763" y="0"/>
            <a:ext cx="2159000" cy="5143500"/>
          </a:xfrm>
        </p:spPr>
      </p:pic>
    </p:spTree>
    <p:extLst>
      <p:ext uri="{BB962C8B-B14F-4D97-AF65-F5344CB8AC3E}">
        <p14:creationId xmlns:p14="http://schemas.microsoft.com/office/powerpoint/2010/main" val="194702735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11760" y="267494"/>
            <a:ext cx="6480720" cy="2585323"/>
          </a:xfrm>
          <a:prstGeom prst="rect">
            <a:avLst/>
          </a:prstGeom>
          <a:noFill/>
        </p:spPr>
        <p:txBody>
          <a:bodyPr wrap="square" rtlCol="0">
            <a:spAutoFit/>
          </a:bodyPr>
          <a:lstStyle/>
          <a:p>
            <a:pPr fontAlgn="base"/>
            <a:r>
              <a:rPr lang="en-US" b="1" dirty="0">
                <a:solidFill>
                  <a:schemeClr val="bg1"/>
                </a:solidFill>
              </a:rPr>
              <a:t>3. Sell to someone you know</a:t>
            </a:r>
          </a:p>
          <a:p>
            <a:pPr algn="just" fontAlgn="base"/>
            <a:r>
              <a:rPr lang="en-US" dirty="0">
                <a:solidFill>
                  <a:schemeClr val="bg1"/>
                </a:solidFill>
              </a:rPr>
              <a:t>You might want to see your business live on under someone else’s ownership. In many cases, you can sell to someone you know as an exit strategy</a:t>
            </a:r>
            <a:r>
              <a:rPr lang="en-US" dirty="0" smtClean="0">
                <a:solidFill>
                  <a:schemeClr val="bg1"/>
                </a:solidFill>
              </a:rPr>
              <a:t>.</a:t>
            </a:r>
          </a:p>
          <a:p>
            <a:pPr algn="just" fontAlgn="base"/>
            <a:endParaRPr lang="en-US" dirty="0">
              <a:solidFill>
                <a:schemeClr val="bg1"/>
              </a:solidFill>
            </a:endParaRPr>
          </a:p>
          <a:p>
            <a:pPr algn="just" fontAlgn="base"/>
            <a:r>
              <a:rPr lang="en-US" dirty="0">
                <a:solidFill>
                  <a:schemeClr val="bg1"/>
                </a:solidFill>
              </a:rPr>
              <a:t>If you have family members who want to continue your business, you could sell it to a child, sibling, or another family member. Maybe you have friends who are willing to make you an offer because they see the potential of your business.</a:t>
            </a:r>
          </a:p>
        </p:txBody>
      </p:sp>
      <p:pic>
        <p:nvPicPr>
          <p:cNvPr id="4" name="Picture Placeholder 3"/>
          <p:cNvPicPr>
            <a:picLocks noGrp="1" noChangeAspect="1"/>
          </p:cNvPicPr>
          <p:nvPr>
            <p:ph type="pic" idx="1"/>
          </p:nvPr>
        </p:nvPicPr>
        <p:blipFill>
          <a:blip r:embed="rId2">
            <a:extLst>
              <a:ext uri="{28A0092B-C50C-407E-A947-70E740481C1C}">
                <a14:useLocalDpi xmlns:a14="http://schemas.microsoft.com/office/drawing/2010/main" val="0"/>
              </a:ext>
            </a:extLst>
          </a:blip>
          <a:srcRect l="20199" r="20199"/>
          <a:stretch>
            <a:fillRect/>
          </a:stretch>
        </p:blipFill>
        <p:spPr>
          <a:xfrm>
            <a:off x="4763" y="0"/>
            <a:ext cx="2159000" cy="5143500"/>
          </a:xfrm>
        </p:spPr>
      </p:pic>
    </p:spTree>
    <p:extLst>
      <p:ext uri="{BB962C8B-B14F-4D97-AF65-F5344CB8AC3E}">
        <p14:creationId xmlns:p14="http://schemas.microsoft.com/office/powerpoint/2010/main" val="291254024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11760" y="267494"/>
            <a:ext cx="6480720" cy="4524315"/>
          </a:xfrm>
          <a:prstGeom prst="rect">
            <a:avLst/>
          </a:prstGeom>
          <a:noFill/>
        </p:spPr>
        <p:txBody>
          <a:bodyPr wrap="square" rtlCol="0">
            <a:spAutoFit/>
          </a:bodyPr>
          <a:lstStyle/>
          <a:p>
            <a:pPr fontAlgn="base"/>
            <a:r>
              <a:rPr lang="en-US" b="1" dirty="0">
                <a:solidFill>
                  <a:schemeClr val="bg1"/>
                </a:solidFill>
              </a:rPr>
              <a:t>4. Initial Public Offering (IPO)</a:t>
            </a:r>
          </a:p>
          <a:p>
            <a:pPr algn="just" fontAlgn="base"/>
            <a:r>
              <a:rPr lang="en-US" dirty="0">
                <a:solidFill>
                  <a:schemeClr val="bg1"/>
                </a:solidFill>
              </a:rPr>
              <a:t>An Initial Public Offering is the first sale of a business’s stocks to the general public. This is also known as going public</a:t>
            </a:r>
            <a:r>
              <a:rPr lang="en-US" dirty="0" smtClean="0">
                <a:solidFill>
                  <a:schemeClr val="bg1"/>
                </a:solidFill>
              </a:rPr>
              <a:t>.</a:t>
            </a:r>
          </a:p>
          <a:p>
            <a:pPr algn="just" fontAlgn="base"/>
            <a:endParaRPr lang="en-US" dirty="0">
              <a:solidFill>
                <a:schemeClr val="bg1"/>
              </a:solidFill>
            </a:endParaRPr>
          </a:p>
          <a:p>
            <a:pPr algn="just" fontAlgn="base"/>
            <a:r>
              <a:rPr lang="en-US" dirty="0">
                <a:solidFill>
                  <a:schemeClr val="bg1"/>
                </a:solidFill>
              </a:rPr>
              <a:t>Businesses are either private or public. If a business is private, there are one or a couple owners, like in a sole proprietorship or partnership. Public businesses are large and sell ownership of the company to the public</a:t>
            </a:r>
            <a:r>
              <a:rPr lang="en-US" dirty="0" smtClean="0">
                <a:solidFill>
                  <a:schemeClr val="bg1"/>
                </a:solidFill>
              </a:rPr>
              <a:t>.</a:t>
            </a:r>
          </a:p>
          <a:p>
            <a:pPr algn="just" fontAlgn="base"/>
            <a:endParaRPr lang="en-US" dirty="0">
              <a:solidFill>
                <a:schemeClr val="bg1"/>
              </a:solidFill>
            </a:endParaRPr>
          </a:p>
          <a:p>
            <a:pPr algn="just" fontAlgn="base"/>
            <a:r>
              <a:rPr lang="en-US" dirty="0">
                <a:solidFill>
                  <a:schemeClr val="bg1"/>
                </a:solidFill>
              </a:rPr>
              <a:t>Going public might be difficult for small businesses, as it costs a significant amount of money. If you want a fast exit strategy, an IPO might not be the way to go</a:t>
            </a:r>
            <a:r>
              <a:rPr lang="en-US" dirty="0" smtClean="0">
                <a:solidFill>
                  <a:schemeClr val="bg1"/>
                </a:solidFill>
              </a:rPr>
              <a:t>.</a:t>
            </a:r>
          </a:p>
          <a:p>
            <a:pPr algn="just" fontAlgn="base"/>
            <a:endParaRPr lang="en-US" dirty="0">
              <a:solidFill>
                <a:schemeClr val="bg1"/>
              </a:solidFill>
            </a:endParaRPr>
          </a:p>
          <a:p>
            <a:pPr algn="just" fontAlgn="base"/>
            <a:r>
              <a:rPr lang="en-US" dirty="0">
                <a:solidFill>
                  <a:schemeClr val="bg1"/>
                </a:solidFill>
              </a:rPr>
              <a:t>To start an IPO, businesses need investment banks, lawyers, certified public accountants, and Securities and Exchange Commission (SEC) experts to get started.</a:t>
            </a:r>
          </a:p>
        </p:txBody>
      </p:sp>
      <p:pic>
        <p:nvPicPr>
          <p:cNvPr id="4" name="Picture Placeholder 3"/>
          <p:cNvPicPr>
            <a:picLocks noGrp="1" noChangeAspect="1"/>
          </p:cNvPicPr>
          <p:nvPr>
            <p:ph type="pic" idx="1"/>
          </p:nvPr>
        </p:nvPicPr>
        <p:blipFill>
          <a:blip r:embed="rId2">
            <a:extLst>
              <a:ext uri="{28A0092B-C50C-407E-A947-70E740481C1C}">
                <a14:useLocalDpi xmlns:a14="http://schemas.microsoft.com/office/drawing/2010/main" val="0"/>
              </a:ext>
            </a:extLst>
          </a:blip>
          <a:srcRect l="20199" r="20199"/>
          <a:stretch>
            <a:fillRect/>
          </a:stretch>
        </p:blipFill>
        <p:spPr>
          <a:xfrm>
            <a:off x="4763" y="0"/>
            <a:ext cx="2159000" cy="5143500"/>
          </a:xfrm>
        </p:spPr>
      </p:pic>
    </p:spTree>
    <p:extLst>
      <p:ext uri="{BB962C8B-B14F-4D97-AF65-F5344CB8AC3E}">
        <p14:creationId xmlns:p14="http://schemas.microsoft.com/office/powerpoint/2010/main" val="157765694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11760" y="267494"/>
            <a:ext cx="6480720" cy="2862322"/>
          </a:xfrm>
          <a:prstGeom prst="rect">
            <a:avLst/>
          </a:prstGeom>
          <a:noFill/>
        </p:spPr>
        <p:txBody>
          <a:bodyPr wrap="square" rtlCol="0">
            <a:spAutoFit/>
          </a:bodyPr>
          <a:lstStyle/>
          <a:p>
            <a:pPr fontAlgn="base"/>
            <a:r>
              <a:rPr lang="en-US" b="1" dirty="0">
                <a:solidFill>
                  <a:schemeClr val="bg1"/>
                </a:solidFill>
              </a:rPr>
              <a:t>5. Liquidation</a:t>
            </a:r>
          </a:p>
          <a:p>
            <a:pPr algn="just" fontAlgn="base"/>
            <a:r>
              <a:rPr lang="en-US" dirty="0">
                <a:solidFill>
                  <a:schemeClr val="bg1"/>
                </a:solidFill>
              </a:rPr>
              <a:t>Another exit strategy for small business is liquidation. When a company can no longer pay its debts, it must be liquidated. With liquidation, business operations end and the liquidation value of your assets are split between creditors</a:t>
            </a:r>
            <a:r>
              <a:rPr lang="en-US" dirty="0" smtClean="0">
                <a:solidFill>
                  <a:schemeClr val="bg1"/>
                </a:solidFill>
              </a:rPr>
              <a:t>.</a:t>
            </a:r>
          </a:p>
          <a:p>
            <a:pPr algn="just" fontAlgn="base"/>
            <a:endParaRPr lang="en-US" dirty="0">
              <a:solidFill>
                <a:schemeClr val="bg1"/>
              </a:solidFill>
            </a:endParaRPr>
          </a:p>
          <a:p>
            <a:pPr algn="just" fontAlgn="base"/>
            <a:r>
              <a:rPr lang="en-US" dirty="0">
                <a:solidFill>
                  <a:schemeClr val="bg1"/>
                </a:solidFill>
              </a:rPr>
              <a:t>Liquidation is a clear-cut exit strategy because you don’t need to negotiate or merge your business. Your business stops and your assets go to those you owe money to.</a:t>
            </a:r>
          </a:p>
          <a:p>
            <a:endParaRPr lang="en-US" dirty="0">
              <a:solidFill>
                <a:schemeClr val="bg1"/>
              </a:solidFill>
            </a:endParaRPr>
          </a:p>
        </p:txBody>
      </p:sp>
      <p:pic>
        <p:nvPicPr>
          <p:cNvPr id="4" name="Picture Placeholder 3"/>
          <p:cNvPicPr>
            <a:picLocks noGrp="1" noChangeAspect="1"/>
          </p:cNvPicPr>
          <p:nvPr>
            <p:ph type="pic" idx="1"/>
          </p:nvPr>
        </p:nvPicPr>
        <p:blipFill>
          <a:blip r:embed="rId2">
            <a:extLst>
              <a:ext uri="{28A0092B-C50C-407E-A947-70E740481C1C}">
                <a14:useLocalDpi xmlns:a14="http://schemas.microsoft.com/office/drawing/2010/main" val="0"/>
              </a:ext>
            </a:extLst>
          </a:blip>
          <a:srcRect l="20199" r="20199"/>
          <a:stretch>
            <a:fillRect/>
          </a:stretch>
        </p:blipFill>
        <p:spPr>
          <a:xfrm>
            <a:off x="4763" y="0"/>
            <a:ext cx="2159000" cy="5143500"/>
          </a:xfrm>
        </p:spPr>
      </p:pic>
    </p:spTree>
    <p:extLst>
      <p:ext uri="{BB962C8B-B14F-4D97-AF65-F5344CB8AC3E}">
        <p14:creationId xmlns:p14="http://schemas.microsoft.com/office/powerpoint/2010/main" val="318189570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3" descr="E:\002-KIMS BUSINESS\007-02-MaxPPT-Contents\150902-com-Global-Laptop\mo900.png">
            <a:extLst>
              <a:ext uri="{FF2B5EF4-FFF2-40B4-BE49-F238E27FC236}">
                <a16:creationId xmlns:a16="http://schemas.microsoft.com/office/drawing/2014/main" xmlns="" id="{3505F014-CDEF-4058-AE04-756173FA6CED}"/>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rcRect l="18253"/>
          <a:stretch/>
        </p:blipFill>
        <p:spPr bwMode="auto">
          <a:xfrm>
            <a:off x="0" y="915566"/>
            <a:ext cx="3325249" cy="407022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rot="178828">
            <a:off x="1547664" y="1873461"/>
            <a:ext cx="1339408" cy="954107"/>
          </a:xfrm>
          <a:prstGeom prst="rect">
            <a:avLst/>
          </a:prstGeom>
          <a:noFill/>
        </p:spPr>
        <p:txBody>
          <a:bodyPr wrap="square" rtlCol="0">
            <a:spAutoFit/>
          </a:bodyPr>
          <a:lstStyle/>
          <a:p>
            <a:pPr algn="ctr"/>
            <a:r>
              <a:rPr lang="en-US" sz="1400" b="1" dirty="0">
                <a:solidFill>
                  <a:schemeClr val="bg1"/>
                </a:solidFill>
              </a:rPr>
              <a:t>How to write an exit strategy for a business plan</a:t>
            </a:r>
          </a:p>
        </p:txBody>
      </p:sp>
      <p:sp>
        <p:nvSpPr>
          <p:cNvPr id="10" name="TextBox 9"/>
          <p:cNvSpPr txBox="1"/>
          <p:nvPr/>
        </p:nvSpPr>
        <p:spPr>
          <a:xfrm>
            <a:off x="3491880" y="411510"/>
            <a:ext cx="5400600" cy="4247317"/>
          </a:xfrm>
          <a:prstGeom prst="rect">
            <a:avLst/>
          </a:prstGeom>
          <a:noFill/>
        </p:spPr>
        <p:txBody>
          <a:bodyPr wrap="square" rtlCol="0">
            <a:spAutoFit/>
          </a:bodyPr>
          <a:lstStyle/>
          <a:p>
            <a:pPr algn="just" fontAlgn="base"/>
            <a:r>
              <a:rPr lang="en-US" dirty="0">
                <a:solidFill>
                  <a:schemeClr val="bg1"/>
                </a:solidFill>
              </a:rPr>
              <a:t>In your business plan, you need an exit strategy so investors or lenders know how you plan to protect their money. And, the exit strategy gives you a plan if your business starts going south. Once you decide which exit strategy you will go with, include it at the end of your business plan</a:t>
            </a:r>
            <a:r>
              <a:rPr lang="en-US" dirty="0" smtClean="0">
                <a:solidFill>
                  <a:schemeClr val="bg1"/>
                </a:solidFill>
              </a:rPr>
              <a:t>.</a:t>
            </a:r>
          </a:p>
          <a:p>
            <a:pPr algn="just" fontAlgn="base"/>
            <a:endParaRPr lang="en-US" dirty="0">
              <a:solidFill>
                <a:schemeClr val="bg1"/>
              </a:solidFill>
            </a:endParaRPr>
          </a:p>
          <a:p>
            <a:pPr algn="just" fontAlgn="base"/>
            <a:r>
              <a:rPr lang="en-US" dirty="0">
                <a:solidFill>
                  <a:schemeClr val="bg1"/>
                </a:solidFill>
              </a:rPr>
              <a:t>Your business plan outlines what your business is, how it will be run, and what kinds of products you will sell. A business plan projects the next 3-5 years, so it’s important to include financial projections and exit strategies</a:t>
            </a:r>
            <a:r>
              <a:rPr lang="en-US" dirty="0" smtClean="0">
                <a:solidFill>
                  <a:schemeClr val="bg1"/>
                </a:solidFill>
              </a:rPr>
              <a:t>.</a:t>
            </a:r>
          </a:p>
          <a:p>
            <a:pPr algn="just" fontAlgn="base"/>
            <a:endParaRPr lang="en-US" dirty="0">
              <a:solidFill>
                <a:schemeClr val="bg1"/>
              </a:solidFill>
            </a:endParaRPr>
          </a:p>
          <a:p>
            <a:pPr algn="just" fontAlgn="base"/>
            <a:r>
              <a:rPr lang="en-US" dirty="0">
                <a:solidFill>
                  <a:schemeClr val="bg1"/>
                </a:solidFill>
              </a:rPr>
              <a:t>Keep in mind that you will update your business plan and exit strategy as your company goals change.</a:t>
            </a:r>
          </a:p>
        </p:txBody>
      </p:sp>
    </p:spTree>
    <p:extLst>
      <p:ext uri="{BB962C8B-B14F-4D97-AF65-F5344CB8AC3E}">
        <p14:creationId xmlns:p14="http://schemas.microsoft.com/office/powerpoint/2010/main" val="262634994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xmlns="" id="{C4764500-2214-4430-B440-EC615A3A1658}"/>
              </a:ext>
            </a:extLst>
          </p:cNvPr>
          <p:cNvSpPr/>
          <p:nvPr/>
        </p:nvSpPr>
        <p:spPr>
          <a:xfrm>
            <a:off x="251520" y="585885"/>
            <a:ext cx="4176464" cy="3858074"/>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rgbClr val="262626"/>
              </a:solidFill>
            </a:endParaRPr>
          </a:p>
        </p:txBody>
      </p:sp>
      <p:sp>
        <p:nvSpPr>
          <p:cNvPr id="11" name="Rounded Rectangle 17">
            <a:extLst>
              <a:ext uri="{FF2B5EF4-FFF2-40B4-BE49-F238E27FC236}">
                <a16:creationId xmlns:a16="http://schemas.microsoft.com/office/drawing/2014/main" xmlns="" id="{52BC6E8B-AD4E-4E2E-82AF-63ED16A39DF0}"/>
              </a:ext>
            </a:extLst>
          </p:cNvPr>
          <p:cNvSpPr/>
          <p:nvPr/>
        </p:nvSpPr>
        <p:spPr>
          <a:xfrm>
            <a:off x="395536" y="235782"/>
            <a:ext cx="3799452" cy="616126"/>
          </a:xfrm>
          <a:prstGeom prst="roundRect">
            <a:avLst>
              <a:gd name="adj" fmla="val 50000"/>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rgbClr val="262626"/>
              </a:solidFill>
            </a:endParaRPr>
          </a:p>
        </p:txBody>
      </p:sp>
      <p:sp>
        <p:nvSpPr>
          <p:cNvPr id="12" name="Rectangle 11">
            <a:extLst>
              <a:ext uri="{FF2B5EF4-FFF2-40B4-BE49-F238E27FC236}">
                <a16:creationId xmlns:a16="http://schemas.microsoft.com/office/drawing/2014/main" xmlns="" id="{C4764500-2214-4430-B440-EC615A3A1658}"/>
              </a:ext>
            </a:extLst>
          </p:cNvPr>
          <p:cNvSpPr/>
          <p:nvPr/>
        </p:nvSpPr>
        <p:spPr>
          <a:xfrm>
            <a:off x="4644008" y="555526"/>
            <a:ext cx="4248472" cy="3888433"/>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baseline="-25000" smtClean="0">
                <a:solidFill>
                  <a:schemeClr val="bg1"/>
                </a:solidFill>
              </a:rPr>
              <a:t>Assessment</a:t>
            </a:r>
            <a:endParaRPr lang="en-US" sz="2800" baseline="-25000" dirty="0">
              <a:solidFill>
                <a:schemeClr val="bg1"/>
              </a:solidFill>
            </a:endParaRPr>
          </a:p>
        </p:txBody>
      </p:sp>
      <p:sp>
        <p:nvSpPr>
          <p:cNvPr id="13" name="Rounded Rectangle 17">
            <a:extLst>
              <a:ext uri="{FF2B5EF4-FFF2-40B4-BE49-F238E27FC236}">
                <a16:creationId xmlns:a16="http://schemas.microsoft.com/office/drawing/2014/main" xmlns="" id="{52BC6E8B-AD4E-4E2E-82AF-63ED16A39DF0}"/>
              </a:ext>
            </a:extLst>
          </p:cNvPr>
          <p:cNvSpPr/>
          <p:nvPr/>
        </p:nvSpPr>
        <p:spPr>
          <a:xfrm>
            <a:off x="4788024" y="227432"/>
            <a:ext cx="3799452" cy="616126"/>
          </a:xfrm>
          <a:prstGeom prst="roundRect">
            <a:avLst>
              <a:gd name="adj" fmla="val 50000"/>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rgbClr val="262626"/>
              </a:solidFill>
            </a:endParaRPr>
          </a:p>
        </p:txBody>
      </p:sp>
      <p:sp>
        <p:nvSpPr>
          <p:cNvPr id="14" name="TextBox 13"/>
          <p:cNvSpPr txBox="1"/>
          <p:nvPr/>
        </p:nvSpPr>
        <p:spPr>
          <a:xfrm>
            <a:off x="179512" y="1384196"/>
            <a:ext cx="4015476" cy="2123658"/>
          </a:xfrm>
          <a:prstGeom prst="rect">
            <a:avLst/>
          </a:prstGeom>
          <a:noFill/>
        </p:spPr>
        <p:txBody>
          <a:bodyPr wrap="square" rtlCol="0">
            <a:spAutoFit/>
          </a:bodyPr>
          <a:lstStyle/>
          <a:p>
            <a:pPr lvl="1"/>
            <a:r>
              <a:rPr lang="en-US" sz="1600" b="1" dirty="0"/>
              <a:t>What does bootstrapping mean in regard to entrepreneurship</a:t>
            </a:r>
            <a:r>
              <a:rPr lang="en-US" sz="1600" b="1" dirty="0" smtClean="0"/>
              <a:t>?</a:t>
            </a:r>
          </a:p>
          <a:p>
            <a:pPr lvl="1"/>
            <a:endParaRPr lang="en-US" b="1" dirty="0"/>
          </a:p>
          <a:p>
            <a:pPr lvl="1"/>
            <a:r>
              <a:rPr lang="en-US" sz="1600" b="1" dirty="0"/>
              <a:t>How do entrepreneurs pay estimated taxes</a:t>
            </a:r>
            <a:r>
              <a:rPr lang="en-US" sz="1600" b="1" dirty="0" smtClean="0"/>
              <a:t>?</a:t>
            </a:r>
          </a:p>
          <a:p>
            <a:pPr lvl="1"/>
            <a:endParaRPr lang="en-US" b="1" dirty="0"/>
          </a:p>
          <a:p>
            <a:pPr lvl="1"/>
            <a:r>
              <a:rPr lang="en-US" sz="1600" b="1" dirty="0"/>
              <a:t>What are the components of a start-up investment?</a:t>
            </a:r>
          </a:p>
        </p:txBody>
      </p:sp>
      <p:sp>
        <p:nvSpPr>
          <p:cNvPr id="15" name="Rectangle 14"/>
          <p:cNvSpPr/>
          <p:nvPr/>
        </p:nvSpPr>
        <p:spPr>
          <a:xfrm>
            <a:off x="395536" y="1491630"/>
            <a:ext cx="144016" cy="144016"/>
          </a:xfrm>
          <a:prstGeom prst="rect">
            <a:avLst/>
          </a:prstGeom>
          <a:solidFill>
            <a:srgbClr val="FFDD4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6" name="Rectangle 15"/>
          <p:cNvSpPr/>
          <p:nvPr/>
        </p:nvSpPr>
        <p:spPr>
          <a:xfrm>
            <a:off x="395536" y="2275368"/>
            <a:ext cx="144016" cy="144016"/>
          </a:xfrm>
          <a:prstGeom prst="rect">
            <a:avLst/>
          </a:prstGeom>
          <a:solidFill>
            <a:srgbClr val="FFDD4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7" name="Rectangle 16"/>
          <p:cNvSpPr/>
          <p:nvPr/>
        </p:nvSpPr>
        <p:spPr>
          <a:xfrm>
            <a:off x="414568" y="3003798"/>
            <a:ext cx="144016" cy="144016"/>
          </a:xfrm>
          <a:prstGeom prst="rect">
            <a:avLst/>
          </a:prstGeom>
          <a:solidFill>
            <a:srgbClr val="FFDD4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8" name="TextBox 17"/>
          <p:cNvSpPr txBox="1"/>
          <p:nvPr/>
        </p:nvSpPr>
        <p:spPr>
          <a:xfrm>
            <a:off x="683568" y="282235"/>
            <a:ext cx="3024336" cy="523220"/>
          </a:xfrm>
          <a:prstGeom prst="rect">
            <a:avLst/>
          </a:prstGeom>
          <a:noFill/>
        </p:spPr>
        <p:txBody>
          <a:bodyPr wrap="square" rtlCol="0">
            <a:spAutoFit/>
          </a:bodyPr>
          <a:lstStyle/>
          <a:p>
            <a:pPr algn="ctr"/>
            <a:r>
              <a:rPr lang="en-US" sz="2800" b="1" i="1" dirty="0" smtClean="0">
                <a:solidFill>
                  <a:schemeClr val="bg1"/>
                </a:solidFill>
              </a:rPr>
              <a:t>Assessment</a:t>
            </a:r>
            <a:endParaRPr lang="en-US" sz="2800" dirty="0">
              <a:solidFill>
                <a:schemeClr val="bg1"/>
              </a:solidFill>
            </a:endParaRPr>
          </a:p>
        </p:txBody>
      </p:sp>
      <p:sp>
        <p:nvSpPr>
          <p:cNvPr id="20" name="TextBox 19"/>
          <p:cNvSpPr txBox="1"/>
          <p:nvPr/>
        </p:nvSpPr>
        <p:spPr>
          <a:xfrm>
            <a:off x="4896216" y="1070615"/>
            <a:ext cx="3816424" cy="3108543"/>
          </a:xfrm>
          <a:prstGeom prst="rect">
            <a:avLst/>
          </a:prstGeom>
          <a:noFill/>
        </p:spPr>
        <p:txBody>
          <a:bodyPr wrap="square" rtlCol="0">
            <a:spAutoFit/>
          </a:bodyPr>
          <a:lstStyle/>
          <a:p>
            <a:pPr lvl="0" algn="just"/>
            <a:r>
              <a:rPr lang="en-US" sz="1400" b="1" dirty="0"/>
              <a:t>Prepare a short report on the term “bootstrapping.” Start with the historic origin of the term, and then discuss present-day meanings in areas such as business, computers, and biology</a:t>
            </a:r>
            <a:r>
              <a:rPr lang="en-US" sz="1400" b="1" dirty="0" smtClean="0"/>
              <a:t>.</a:t>
            </a:r>
          </a:p>
          <a:p>
            <a:pPr lvl="0" algn="just"/>
            <a:endParaRPr lang="en-US" sz="1400" b="1" dirty="0"/>
          </a:p>
          <a:p>
            <a:pPr lvl="0" algn="just"/>
            <a:r>
              <a:rPr lang="en-US" sz="1400" b="1" dirty="0"/>
              <a:t>With a partner, identify some concerns that a homeowner might have about a small business opening in the neighborhood—for example, noise and traffic. First identify the type of business that would be opening. Then devise a plan that a business owner could carry out to address the potential problem areas.</a:t>
            </a:r>
          </a:p>
        </p:txBody>
      </p:sp>
      <p:sp>
        <p:nvSpPr>
          <p:cNvPr id="21" name="TextBox 20"/>
          <p:cNvSpPr txBox="1"/>
          <p:nvPr/>
        </p:nvSpPr>
        <p:spPr>
          <a:xfrm>
            <a:off x="5851172" y="273885"/>
            <a:ext cx="2736304" cy="523220"/>
          </a:xfrm>
          <a:prstGeom prst="rect">
            <a:avLst/>
          </a:prstGeom>
          <a:noFill/>
        </p:spPr>
        <p:txBody>
          <a:bodyPr wrap="square" rtlCol="0">
            <a:spAutoFit/>
          </a:bodyPr>
          <a:lstStyle/>
          <a:p>
            <a:r>
              <a:rPr lang="en-US" sz="2800" b="1" i="1" dirty="0" smtClean="0">
                <a:solidFill>
                  <a:schemeClr val="bg1"/>
                </a:solidFill>
              </a:rPr>
              <a:t>Activity</a:t>
            </a:r>
            <a:endParaRPr lang="en-US" dirty="0">
              <a:solidFill>
                <a:schemeClr val="bg1"/>
              </a:solidFill>
            </a:endParaRPr>
          </a:p>
        </p:txBody>
      </p:sp>
      <p:sp>
        <p:nvSpPr>
          <p:cNvPr id="22" name="Rectangle 21"/>
          <p:cNvSpPr/>
          <p:nvPr/>
        </p:nvSpPr>
        <p:spPr>
          <a:xfrm>
            <a:off x="4788024" y="1165536"/>
            <a:ext cx="144016" cy="144016"/>
          </a:xfrm>
          <a:prstGeom prst="rect">
            <a:avLst/>
          </a:prstGeom>
          <a:solidFill>
            <a:srgbClr val="FFDD4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5" name="Rectangle 24"/>
          <p:cNvSpPr/>
          <p:nvPr/>
        </p:nvSpPr>
        <p:spPr>
          <a:xfrm>
            <a:off x="4788024" y="2427734"/>
            <a:ext cx="144016" cy="144016"/>
          </a:xfrm>
          <a:prstGeom prst="rect">
            <a:avLst/>
          </a:prstGeom>
          <a:solidFill>
            <a:srgbClr val="FFDD4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6" name="Rectangle 25"/>
          <p:cNvSpPr/>
          <p:nvPr/>
        </p:nvSpPr>
        <p:spPr>
          <a:xfrm>
            <a:off x="251520" y="4572061"/>
            <a:ext cx="8640960" cy="23803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264484933"/>
      </p:ext>
    </p:extLst>
  </p:cSld>
  <p:clrMapOvr>
    <a:masterClrMapping/>
  </p:clrMapOvr>
</p:sld>
</file>

<file path=ppt/theme/theme1.xml><?xml version="1.0" encoding="utf-8"?>
<a:theme xmlns:a="http://schemas.openxmlformats.org/drawingml/2006/main" name="Contents Slide Master">
  <a:themeElements>
    <a:clrScheme name="ALLPPT-COLOR-A17">
      <a:dk1>
        <a:sysClr val="windowText" lastClr="000000"/>
      </a:dk1>
      <a:lt1>
        <a:sysClr val="window" lastClr="FFFFFF"/>
      </a:lt1>
      <a:dk2>
        <a:srgbClr val="1F497D"/>
      </a:dk2>
      <a:lt2>
        <a:srgbClr val="EEECE1"/>
      </a:lt2>
      <a:accent1>
        <a:srgbClr val="FFCE29"/>
      </a:accent1>
      <a:accent2>
        <a:srgbClr val="F2BF27"/>
      </a:accent2>
      <a:accent3>
        <a:srgbClr val="ED1C24"/>
      </a:accent3>
      <a:accent4>
        <a:srgbClr val="FFCE29"/>
      </a:accent4>
      <a:accent5>
        <a:srgbClr val="F2BF27"/>
      </a:accent5>
      <a:accent6>
        <a:srgbClr val="ED1C24"/>
      </a:accent6>
      <a:hlink>
        <a:srgbClr val="3F3F3F"/>
      </a:hlink>
      <a:folHlink>
        <a:srgbClr val="3F3F3F"/>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lumMod val="75000"/>
            <a:lumOff val="25000"/>
          </a:schemeClr>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Section Break Slide Master">
  <a:themeElements>
    <a:clrScheme name="ALLPPT-COLOR-A17">
      <a:dk1>
        <a:sysClr val="windowText" lastClr="000000"/>
      </a:dk1>
      <a:lt1>
        <a:sysClr val="window" lastClr="FFFFFF"/>
      </a:lt1>
      <a:dk2>
        <a:srgbClr val="1F497D"/>
      </a:dk2>
      <a:lt2>
        <a:srgbClr val="EEECE1"/>
      </a:lt2>
      <a:accent1>
        <a:srgbClr val="FFCE29"/>
      </a:accent1>
      <a:accent2>
        <a:srgbClr val="F2BF27"/>
      </a:accent2>
      <a:accent3>
        <a:srgbClr val="ED1C24"/>
      </a:accent3>
      <a:accent4>
        <a:srgbClr val="FFCE29"/>
      </a:accent4>
      <a:accent5>
        <a:srgbClr val="F2BF27"/>
      </a:accent5>
      <a:accent6>
        <a:srgbClr val="ED1C24"/>
      </a:accent6>
      <a:hlink>
        <a:srgbClr val="3F3F3F"/>
      </a:hlink>
      <a:folHlink>
        <a:srgbClr val="3F3F3F"/>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2531</TotalTime>
  <Words>4807</Words>
  <Application>Microsoft Office PowerPoint</Application>
  <PresentationFormat>On-screen Show (16:9)</PresentationFormat>
  <Paragraphs>499</Paragraphs>
  <Slides>78</Slides>
  <Notes>17</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78</vt:i4>
      </vt:variant>
    </vt:vector>
  </HeadingPairs>
  <TitlesOfParts>
    <vt:vector size="84" baseType="lpstr">
      <vt:lpstr>Arial Unicode MS</vt:lpstr>
      <vt:lpstr>맑은 고딕</vt:lpstr>
      <vt:lpstr>Arial</vt:lpstr>
      <vt:lpstr>Times New Roman</vt:lpstr>
      <vt:lpstr>Contents Slide Master</vt:lpstr>
      <vt:lpstr>Section Break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googleslidesppt.com;allppt.com</dc:creator>
  <cp:lastModifiedBy>Halla Fouad</cp:lastModifiedBy>
  <cp:revision>224</cp:revision>
  <dcterms:created xsi:type="dcterms:W3CDTF">2016-12-05T23:26:54Z</dcterms:created>
  <dcterms:modified xsi:type="dcterms:W3CDTF">2019-03-12T10:36:56Z</dcterms:modified>
</cp:coreProperties>
</file>