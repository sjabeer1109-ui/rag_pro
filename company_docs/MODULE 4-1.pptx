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 id="2147483653" r:id="rId2"/>
  </p:sldMasterIdLst>
  <p:notesMasterIdLst>
    <p:notesMasterId r:id="rId90"/>
  </p:notesMasterIdLst>
  <p:sldIdLst>
    <p:sldId id="256" r:id="rId3"/>
    <p:sldId id="265" r:id="rId4"/>
    <p:sldId id="261" r:id="rId5"/>
    <p:sldId id="268" r:id="rId6"/>
    <p:sldId id="282" r:id="rId7"/>
    <p:sldId id="271" r:id="rId8"/>
    <p:sldId id="329" r:id="rId9"/>
    <p:sldId id="331" r:id="rId10"/>
    <p:sldId id="393" r:id="rId11"/>
    <p:sldId id="394" r:id="rId12"/>
    <p:sldId id="396" r:id="rId13"/>
    <p:sldId id="395" r:id="rId14"/>
    <p:sldId id="397" r:id="rId15"/>
    <p:sldId id="398" r:id="rId16"/>
    <p:sldId id="399" r:id="rId17"/>
    <p:sldId id="400" r:id="rId18"/>
    <p:sldId id="401" r:id="rId19"/>
    <p:sldId id="277" r:id="rId20"/>
    <p:sldId id="336" r:id="rId21"/>
    <p:sldId id="402" r:id="rId22"/>
    <p:sldId id="403" r:id="rId23"/>
    <p:sldId id="281" r:id="rId24"/>
    <p:sldId id="337" r:id="rId25"/>
    <p:sldId id="404" r:id="rId26"/>
    <p:sldId id="405" r:id="rId27"/>
    <p:sldId id="406" r:id="rId28"/>
    <p:sldId id="279" r:id="rId29"/>
    <p:sldId id="338" r:id="rId30"/>
    <p:sldId id="407" r:id="rId31"/>
    <p:sldId id="408" r:id="rId32"/>
    <p:sldId id="284" r:id="rId33"/>
    <p:sldId id="340" r:id="rId34"/>
    <p:sldId id="342" r:id="rId35"/>
    <p:sldId id="339" r:id="rId36"/>
    <p:sldId id="409" r:id="rId37"/>
    <p:sldId id="410" r:id="rId38"/>
    <p:sldId id="412" r:id="rId39"/>
    <p:sldId id="413" r:id="rId40"/>
    <p:sldId id="414" r:id="rId41"/>
    <p:sldId id="415" r:id="rId42"/>
    <p:sldId id="411" r:id="rId43"/>
    <p:sldId id="344" r:id="rId44"/>
    <p:sldId id="416" r:id="rId45"/>
    <p:sldId id="283" r:id="rId46"/>
    <p:sldId id="341" r:id="rId47"/>
    <p:sldId id="417" r:id="rId48"/>
    <p:sldId id="418" r:id="rId49"/>
    <p:sldId id="420" r:id="rId50"/>
    <p:sldId id="421" r:id="rId51"/>
    <p:sldId id="422" r:id="rId52"/>
    <p:sldId id="343" r:id="rId53"/>
    <p:sldId id="345" r:id="rId54"/>
    <p:sldId id="347" r:id="rId55"/>
    <p:sldId id="349" r:id="rId56"/>
    <p:sldId id="346" r:id="rId57"/>
    <p:sldId id="348" r:id="rId58"/>
    <p:sldId id="375" r:id="rId59"/>
    <p:sldId id="364" r:id="rId60"/>
    <p:sldId id="423" r:id="rId61"/>
    <p:sldId id="424" r:id="rId62"/>
    <p:sldId id="425" r:id="rId63"/>
    <p:sldId id="363" r:id="rId64"/>
    <p:sldId id="350" r:id="rId65"/>
    <p:sldId id="427" r:id="rId66"/>
    <p:sldId id="426" r:id="rId67"/>
    <p:sldId id="298" r:id="rId68"/>
    <p:sldId id="351" r:id="rId69"/>
    <p:sldId id="428" r:id="rId70"/>
    <p:sldId id="429" r:id="rId71"/>
    <p:sldId id="302" r:id="rId72"/>
    <p:sldId id="430" r:id="rId73"/>
    <p:sldId id="431" r:id="rId74"/>
    <p:sldId id="301" r:id="rId75"/>
    <p:sldId id="432" r:id="rId76"/>
    <p:sldId id="433" r:id="rId77"/>
    <p:sldId id="434" r:id="rId78"/>
    <p:sldId id="435" r:id="rId79"/>
    <p:sldId id="436" r:id="rId80"/>
    <p:sldId id="438" r:id="rId81"/>
    <p:sldId id="437" r:id="rId82"/>
    <p:sldId id="275" r:id="rId83"/>
    <p:sldId id="317" r:id="rId84"/>
    <p:sldId id="439" r:id="rId85"/>
    <p:sldId id="440" r:id="rId86"/>
    <p:sldId id="441" r:id="rId87"/>
    <p:sldId id="442" r:id="rId88"/>
    <p:sldId id="330" r:id="rId89"/>
  </p:sldIdLst>
  <p:sldSz cx="9144000" cy="5143500" type="screen16x9"/>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BEBF"/>
    <a:srgbClr val="6DA18A"/>
    <a:srgbClr val="53D2FF"/>
    <a:srgbClr val="8FE2FF"/>
    <a:srgbClr val="FF3B3B"/>
    <a:srgbClr val="EF313A"/>
    <a:srgbClr val="ED1C24"/>
    <a:srgbClr val="FFDD4F"/>
    <a:srgbClr val="009D97"/>
    <a:srgbClr val="FFCE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95036" autoAdjust="0"/>
  </p:normalViewPr>
  <p:slideViewPr>
    <p:cSldViewPr>
      <p:cViewPr varScale="1">
        <p:scale>
          <a:sx n="112" d="100"/>
          <a:sy n="112" d="100"/>
        </p:scale>
        <p:origin x="504" y="77"/>
      </p:cViewPr>
      <p:guideLst>
        <p:guide orient="horz" pos="1938"/>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slide" Target="slides/slide61.xml"/><Relationship Id="rId68" Type="http://schemas.openxmlformats.org/officeDocument/2006/relationships/slide" Target="slides/slide66.xml"/><Relationship Id="rId76" Type="http://schemas.openxmlformats.org/officeDocument/2006/relationships/slide" Target="slides/slide74.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35DA3F-ED3A-4897-B8F3-C49A97F730D1}" type="datetimeFigureOut">
              <a:rPr lang="ko-KR" altLang="en-US" smtClean="0"/>
              <a:t>2019-03-20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D9ED4F-90B4-4BD8-A817-6A0A9D03637F}" type="slidenum">
              <a:rPr lang="ko-KR" altLang="en-US" smtClean="0"/>
              <a:t>‹#›</a:t>
            </a:fld>
            <a:endParaRPr lang="ko-KR" altLang="en-US"/>
          </a:p>
        </p:txBody>
      </p:sp>
    </p:spTree>
    <p:extLst>
      <p:ext uri="{BB962C8B-B14F-4D97-AF65-F5344CB8AC3E}">
        <p14:creationId xmlns:p14="http://schemas.microsoft.com/office/powerpoint/2010/main" val="334180048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4</a:t>
            </a:fld>
            <a:endParaRPr lang="ko-KR" altLang="en-US"/>
          </a:p>
        </p:txBody>
      </p:sp>
    </p:spTree>
    <p:extLst>
      <p:ext uri="{BB962C8B-B14F-4D97-AF65-F5344CB8AC3E}">
        <p14:creationId xmlns:p14="http://schemas.microsoft.com/office/powerpoint/2010/main" val="785606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80D9ED4F-90B4-4BD8-A817-6A0A9D03637F}" type="slidenum">
              <a:rPr lang="ko-KR" altLang="en-US" smtClean="0"/>
              <a:t>6</a:t>
            </a:fld>
            <a:endParaRPr lang="ko-KR" altLang="en-US"/>
          </a:p>
        </p:txBody>
      </p:sp>
    </p:spTree>
    <p:extLst>
      <p:ext uri="{BB962C8B-B14F-4D97-AF65-F5344CB8AC3E}">
        <p14:creationId xmlns:p14="http://schemas.microsoft.com/office/powerpoint/2010/main" val="3428476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34</a:t>
            </a:fld>
            <a:endParaRPr lang="ko-KR" altLang="en-US"/>
          </a:p>
        </p:txBody>
      </p:sp>
    </p:spTree>
    <p:extLst>
      <p:ext uri="{BB962C8B-B14F-4D97-AF65-F5344CB8AC3E}">
        <p14:creationId xmlns:p14="http://schemas.microsoft.com/office/powerpoint/2010/main" val="2927940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35</a:t>
            </a:fld>
            <a:endParaRPr lang="ko-KR" altLang="en-US"/>
          </a:p>
        </p:txBody>
      </p:sp>
    </p:spTree>
    <p:extLst>
      <p:ext uri="{BB962C8B-B14F-4D97-AF65-F5344CB8AC3E}">
        <p14:creationId xmlns:p14="http://schemas.microsoft.com/office/powerpoint/2010/main" val="3323382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36</a:t>
            </a:fld>
            <a:endParaRPr lang="ko-KR" altLang="en-US"/>
          </a:p>
        </p:txBody>
      </p:sp>
    </p:spTree>
    <p:extLst>
      <p:ext uri="{BB962C8B-B14F-4D97-AF65-F5344CB8AC3E}">
        <p14:creationId xmlns:p14="http://schemas.microsoft.com/office/powerpoint/2010/main" val="1434690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37</a:t>
            </a:fld>
            <a:endParaRPr lang="ko-KR" altLang="en-US"/>
          </a:p>
        </p:txBody>
      </p:sp>
    </p:spTree>
    <p:extLst>
      <p:ext uri="{BB962C8B-B14F-4D97-AF65-F5344CB8AC3E}">
        <p14:creationId xmlns:p14="http://schemas.microsoft.com/office/powerpoint/2010/main" val="19058876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38</a:t>
            </a:fld>
            <a:endParaRPr lang="ko-KR" altLang="en-US"/>
          </a:p>
        </p:txBody>
      </p:sp>
    </p:spTree>
    <p:extLst>
      <p:ext uri="{BB962C8B-B14F-4D97-AF65-F5344CB8AC3E}">
        <p14:creationId xmlns:p14="http://schemas.microsoft.com/office/powerpoint/2010/main" val="39768528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62</a:t>
            </a:fld>
            <a:endParaRPr lang="ko-KR" altLang="en-US"/>
          </a:p>
        </p:txBody>
      </p:sp>
    </p:spTree>
    <p:extLst>
      <p:ext uri="{BB962C8B-B14F-4D97-AF65-F5344CB8AC3E}">
        <p14:creationId xmlns:p14="http://schemas.microsoft.com/office/powerpoint/2010/main" val="33983664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64</a:t>
            </a:fld>
            <a:endParaRPr lang="ko-KR" altLang="en-US"/>
          </a:p>
        </p:txBody>
      </p:sp>
    </p:spTree>
    <p:extLst>
      <p:ext uri="{BB962C8B-B14F-4D97-AF65-F5344CB8AC3E}">
        <p14:creationId xmlns:p14="http://schemas.microsoft.com/office/powerpoint/2010/main" val="36849392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73</a:t>
            </a:fld>
            <a:endParaRPr lang="ko-KR" altLang="en-US"/>
          </a:p>
        </p:txBody>
      </p:sp>
    </p:spTree>
    <p:extLst>
      <p:ext uri="{BB962C8B-B14F-4D97-AF65-F5344CB8AC3E}">
        <p14:creationId xmlns:p14="http://schemas.microsoft.com/office/powerpoint/2010/main" val="15872517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74</a:t>
            </a:fld>
            <a:endParaRPr lang="ko-KR" altLang="en-US"/>
          </a:p>
        </p:txBody>
      </p:sp>
    </p:spTree>
    <p:extLst>
      <p:ext uri="{BB962C8B-B14F-4D97-AF65-F5344CB8AC3E}">
        <p14:creationId xmlns:p14="http://schemas.microsoft.com/office/powerpoint/2010/main" val="549922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75</a:t>
            </a:fld>
            <a:endParaRPr lang="ko-KR" altLang="en-US"/>
          </a:p>
        </p:txBody>
      </p:sp>
    </p:spTree>
    <p:extLst>
      <p:ext uri="{BB962C8B-B14F-4D97-AF65-F5344CB8AC3E}">
        <p14:creationId xmlns:p14="http://schemas.microsoft.com/office/powerpoint/2010/main" val="35079721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76</a:t>
            </a:fld>
            <a:endParaRPr lang="ko-KR" altLang="en-US"/>
          </a:p>
        </p:txBody>
      </p:sp>
    </p:spTree>
    <p:extLst>
      <p:ext uri="{BB962C8B-B14F-4D97-AF65-F5344CB8AC3E}">
        <p14:creationId xmlns:p14="http://schemas.microsoft.com/office/powerpoint/2010/main" val="13369366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77</a:t>
            </a:fld>
            <a:endParaRPr lang="ko-KR" altLang="en-US"/>
          </a:p>
        </p:txBody>
      </p:sp>
    </p:spTree>
    <p:extLst>
      <p:ext uri="{BB962C8B-B14F-4D97-AF65-F5344CB8AC3E}">
        <p14:creationId xmlns:p14="http://schemas.microsoft.com/office/powerpoint/2010/main" val="529444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78</a:t>
            </a:fld>
            <a:endParaRPr lang="ko-KR" altLang="en-US"/>
          </a:p>
        </p:txBody>
      </p:sp>
    </p:spTree>
    <p:extLst>
      <p:ext uri="{BB962C8B-B14F-4D97-AF65-F5344CB8AC3E}">
        <p14:creationId xmlns:p14="http://schemas.microsoft.com/office/powerpoint/2010/main" val="69950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79</a:t>
            </a:fld>
            <a:endParaRPr lang="ko-KR" altLang="en-US"/>
          </a:p>
        </p:txBody>
      </p:sp>
    </p:spTree>
    <p:extLst>
      <p:ext uri="{BB962C8B-B14F-4D97-AF65-F5344CB8AC3E}">
        <p14:creationId xmlns:p14="http://schemas.microsoft.com/office/powerpoint/2010/main" val="10529628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80</a:t>
            </a:fld>
            <a:endParaRPr lang="ko-KR" altLang="en-US"/>
          </a:p>
        </p:txBody>
      </p:sp>
    </p:spTree>
    <p:extLst>
      <p:ext uri="{BB962C8B-B14F-4D97-AF65-F5344CB8AC3E}">
        <p14:creationId xmlns:p14="http://schemas.microsoft.com/office/powerpoint/2010/main" val="2083930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0D9ED4F-90B4-4BD8-A817-6A0A9D03637F}" type="slidenum">
              <a:rPr lang="ko-KR" altLang="en-US" smtClean="0"/>
              <a:t>87</a:t>
            </a:fld>
            <a:endParaRPr lang="ko-KR" altLang="en-US"/>
          </a:p>
        </p:txBody>
      </p:sp>
    </p:spTree>
    <p:extLst>
      <p:ext uri="{BB962C8B-B14F-4D97-AF65-F5344CB8AC3E}">
        <p14:creationId xmlns:p14="http://schemas.microsoft.com/office/powerpoint/2010/main" val="4226249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75712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4" name="Rectangle 3"/>
          <p:cNvSpPr/>
          <p:nvPr userDrawn="1"/>
        </p:nvSpPr>
        <p:spPr>
          <a:xfrm>
            <a:off x="0" y="4948014"/>
            <a:ext cx="914400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grpSp>
        <p:nvGrpSpPr>
          <p:cNvPr id="6" name="그룹 5">
            <a:extLst>
              <a:ext uri="{FF2B5EF4-FFF2-40B4-BE49-F238E27FC236}">
                <a16:creationId xmlns:a16="http://schemas.microsoft.com/office/drawing/2014/main" xmlns="" id="{3F6939C0-0F9C-4BB0-BE6D-CDFDBD48B8E1}"/>
              </a:ext>
            </a:extLst>
          </p:cNvPr>
          <p:cNvGrpSpPr/>
          <p:nvPr userDrawn="1"/>
        </p:nvGrpSpPr>
        <p:grpSpPr>
          <a:xfrm>
            <a:off x="8001641" y="3940074"/>
            <a:ext cx="1142359" cy="1189066"/>
            <a:chOff x="4572000" y="387072"/>
            <a:chExt cx="4569687" cy="4756528"/>
          </a:xfrm>
        </p:grpSpPr>
        <p:sp>
          <p:nvSpPr>
            <p:cNvPr id="7" name="자유형: 도형 6">
              <a:extLst>
                <a:ext uri="{FF2B5EF4-FFF2-40B4-BE49-F238E27FC236}">
                  <a16:creationId xmlns:a16="http://schemas.microsoft.com/office/drawing/2014/main" xmlns="" id="{D9278269-D816-4377-921A-50AEC083B847}"/>
                </a:ext>
              </a:extLst>
            </p:cNvPr>
            <p:cNvSpPr/>
            <p:nvPr userDrawn="1"/>
          </p:nvSpPr>
          <p:spPr>
            <a:xfrm>
              <a:off x="4572000" y="1408870"/>
              <a:ext cx="4569687" cy="3734730"/>
            </a:xfrm>
            <a:custGeom>
              <a:avLst/>
              <a:gdLst>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63923 w 4569687"/>
                <a:gd name="connsiteY30" fmla="*/ 3304336 h 3734631"/>
                <a:gd name="connsiteX31" fmla="*/ 1334207 w 4569687"/>
                <a:gd name="connsiteY31" fmla="*/ 3340352 h 3734631"/>
                <a:gd name="connsiteX32" fmla="*/ 1046262 w 4569687"/>
                <a:gd name="connsiteY32" fmla="*/ 3459623 h 3734631"/>
                <a:gd name="connsiteX33" fmla="*/ 647319 w 4569687"/>
                <a:gd name="connsiteY33" fmla="*/ 3134475 h 3734631"/>
                <a:gd name="connsiteX34" fmla="*/ 642925 w 4569687"/>
                <a:gd name="connsiteY34" fmla="*/ 3090891 h 3734631"/>
                <a:gd name="connsiteX35" fmla="*/ 634894 w 4569687"/>
                <a:gd name="connsiteY35" fmla="*/ 3098188 h 3734631"/>
                <a:gd name="connsiteX36" fmla="*/ 407216 w 4569687"/>
                <a:gd name="connsiteY36" fmla="*/ 3167734 h 3734631"/>
                <a:gd name="connsiteX37" fmla="*/ 0 w 4569687"/>
                <a:gd name="connsiteY37" fmla="*/ 2760518 h 3734631"/>
                <a:gd name="connsiteX38" fmla="*/ 407216 w 4569687"/>
                <a:gd name="connsiteY38" fmla="*/ 2353302 h 3734631"/>
                <a:gd name="connsiteX39" fmla="*/ 489284 w 4569687"/>
                <a:gd name="connsiteY39" fmla="*/ 2361575 h 3734631"/>
                <a:gd name="connsiteX40" fmla="*/ 508084 w 4569687"/>
                <a:gd name="connsiteY40" fmla="*/ 2367411 h 3734631"/>
                <a:gd name="connsiteX41" fmla="*/ 503849 w 4569687"/>
                <a:gd name="connsiteY41" fmla="*/ 2325400 h 3734631"/>
                <a:gd name="connsiteX42" fmla="*/ 1121688 w 4569687"/>
                <a:gd name="connsiteY42" fmla="*/ 1707561 h 3734631"/>
                <a:gd name="connsiteX43" fmla="*/ 1246204 w 4569687"/>
                <a:gd name="connsiteY43" fmla="*/ 1720113 h 3734631"/>
                <a:gd name="connsiteX44" fmla="*/ 1284356 w 4569687"/>
                <a:gd name="connsiteY44" fmla="*/ 1731957 h 3734631"/>
                <a:gd name="connsiteX45" fmla="*/ 1305976 w 4569687"/>
                <a:gd name="connsiteY45" fmla="*/ 1705754 h 3734631"/>
                <a:gd name="connsiteX46" fmla="*/ 1742854 w 4569687"/>
                <a:gd name="connsiteY46" fmla="*/ 1524793 h 3734631"/>
                <a:gd name="connsiteX47" fmla="*/ 1760288 w 4569687"/>
                <a:gd name="connsiteY47" fmla="*/ 1526551 h 3734631"/>
                <a:gd name="connsiteX48" fmla="*/ 1748032 w 4569687"/>
                <a:gd name="connsiteY48" fmla="*/ 1487068 h 3734631"/>
                <a:gd name="connsiteX49" fmla="*/ 1742854 w 4569687"/>
                <a:gd name="connsiteY49" fmla="*/ 1435701 h 3734631"/>
                <a:gd name="connsiteX50" fmla="*/ 1946367 w 4569687"/>
                <a:gd name="connsiteY50" fmla="*/ 1185999 h 3734631"/>
                <a:gd name="connsiteX51" fmla="*/ 1956892 w 4569687"/>
                <a:gd name="connsiteY51" fmla="*/ 1184938 h 3734631"/>
                <a:gd name="connsiteX52" fmla="*/ 1963928 w 4569687"/>
                <a:gd name="connsiteY52" fmla="*/ 1115143 h 3734631"/>
                <a:gd name="connsiteX53" fmla="*/ 2450363 w 4569687"/>
                <a:gd name="connsiteY53" fmla="*/ 718687 h 3734631"/>
                <a:gd name="connsiteX54" fmla="*/ 2520904 w 4569687"/>
                <a:gd name="connsiteY54" fmla="*/ 725798 h 3734631"/>
                <a:gd name="connsiteX0" fmla="*/ 2611712 w 4569687"/>
                <a:gd name="connsiteY0" fmla="*/ 0 h 3734631"/>
                <a:gd name="connsiteX1" fmla="*/ 2927539 w 4569687"/>
                <a:gd name="connsiteY1" fmla="*/ 0 h 3734631"/>
                <a:gd name="connsiteX2" fmla="*/ 3010471 w 4569687"/>
                <a:gd name="connsiteY2" fmla="*/ 662843 h 3734631"/>
                <a:gd name="connsiteX3" fmla="*/ 3062414 w 4569687"/>
                <a:gd name="connsiteY3" fmla="*/ 672782 h 3734631"/>
                <a:gd name="connsiteX4" fmla="*/ 3375104 w 4569687"/>
                <a:gd name="connsiteY4" fmla="*/ 893768 h 3734631"/>
                <a:gd name="connsiteX5" fmla="*/ 3401966 w 4569687"/>
                <a:gd name="connsiteY5" fmla="*/ 943258 h 3734631"/>
                <a:gd name="connsiteX6" fmla="*/ 3444529 w 4569687"/>
                <a:gd name="connsiteY6" fmla="*/ 938967 h 3734631"/>
                <a:gd name="connsiteX7" fmla="*/ 3941882 w 4569687"/>
                <a:gd name="connsiteY7" fmla="*/ 1268635 h 3734631"/>
                <a:gd name="connsiteX8" fmla="*/ 3950232 w 4569687"/>
                <a:gd name="connsiteY8" fmla="*/ 1295533 h 3734631"/>
                <a:gd name="connsiteX9" fmla="*/ 3968452 w 4569687"/>
                <a:gd name="connsiteY9" fmla="*/ 1289878 h 3734631"/>
                <a:gd name="connsiteX10" fmla="*/ 4041773 w 4569687"/>
                <a:gd name="connsiteY10" fmla="*/ 1282486 h 3734631"/>
                <a:gd name="connsiteX11" fmla="*/ 4398197 w 4569687"/>
                <a:gd name="connsiteY11" fmla="*/ 1572980 h 3734631"/>
                <a:gd name="connsiteX12" fmla="*/ 4401113 w 4569687"/>
                <a:gd name="connsiteY12" fmla="*/ 1601912 h 3734631"/>
                <a:gd name="connsiteX13" fmla="*/ 4509768 w 4569687"/>
                <a:gd name="connsiteY13" fmla="*/ 1612865 h 3734631"/>
                <a:gd name="connsiteX14" fmla="*/ 4569687 w 4569687"/>
                <a:gd name="connsiteY14" fmla="*/ 1630661 h 3734631"/>
                <a:gd name="connsiteX15" fmla="*/ 4569687 w 4569687"/>
                <a:gd name="connsiteY15" fmla="*/ 3685776 h 3734631"/>
                <a:gd name="connsiteX16" fmla="*/ 4479175 w 4569687"/>
                <a:gd name="connsiteY16" fmla="*/ 3694900 h 3734631"/>
                <a:gd name="connsiteX17" fmla="*/ 4083674 w 4569687"/>
                <a:gd name="connsiteY17" fmla="*/ 3574092 h 3734631"/>
                <a:gd name="connsiteX18" fmla="*/ 4051094 w 4569687"/>
                <a:gd name="connsiteY18" fmla="*/ 3547210 h 3734631"/>
                <a:gd name="connsiteX19" fmla="*/ 4009782 w 4569687"/>
                <a:gd name="connsiteY19" fmla="*/ 3581295 h 3734631"/>
                <a:gd name="connsiteX20" fmla="*/ 3782104 w 4569687"/>
                <a:gd name="connsiteY20" fmla="*/ 3650841 h 3734631"/>
                <a:gd name="connsiteX21" fmla="*/ 3494159 w 4569687"/>
                <a:gd name="connsiteY21" fmla="*/ 3531570 h 3734631"/>
                <a:gd name="connsiteX22" fmla="*/ 3452428 w 4569687"/>
                <a:gd name="connsiteY22" fmla="*/ 3480992 h 3734631"/>
                <a:gd name="connsiteX23" fmla="*/ 3441126 w 4569687"/>
                <a:gd name="connsiteY23" fmla="*/ 3501813 h 3734631"/>
                <a:gd name="connsiteX24" fmla="*/ 3103456 w 4569687"/>
                <a:gd name="connsiteY24" fmla="*/ 3681351 h 3734631"/>
                <a:gd name="connsiteX25" fmla="*/ 2815511 w 4569687"/>
                <a:gd name="connsiteY25" fmla="*/ 3562080 h 3734631"/>
                <a:gd name="connsiteX26" fmla="*/ 2772231 w 4569687"/>
                <a:gd name="connsiteY26" fmla="*/ 3509625 h 3734631"/>
                <a:gd name="connsiteX27" fmla="*/ 2697608 w 4569687"/>
                <a:gd name="connsiteY27" fmla="*/ 3571194 h 3734631"/>
                <a:gd name="connsiteX28" fmla="*/ 2162552 w 4569687"/>
                <a:gd name="connsiteY28" fmla="*/ 3734631 h 3734631"/>
                <a:gd name="connsiteX29" fmla="*/ 1369010 w 4569687"/>
                <a:gd name="connsiteY29" fmla="*/ 3312708 h 3734631"/>
                <a:gd name="connsiteX30" fmla="*/ 1334207 w 4569687"/>
                <a:gd name="connsiteY30" fmla="*/ 3340352 h 3734631"/>
                <a:gd name="connsiteX31" fmla="*/ 1046262 w 4569687"/>
                <a:gd name="connsiteY31" fmla="*/ 3459623 h 3734631"/>
                <a:gd name="connsiteX32" fmla="*/ 647319 w 4569687"/>
                <a:gd name="connsiteY32" fmla="*/ 3134475 h 3734631"/>
                <a:gd name="connsiteX33" fmla="*/ 642925 w 4569687"/>
                <a:gd name="connsiteY33" fmla="*/ 3090891 h 3734631"/>
                <a:gd name="connsiteX34" fmla="*/ 634894 w 4569687"/>
                <a:gd name="connsiteY34" fmla="*/ 3098188 h 3734631"/>
                <a:gd name="connsiteX35" fmla="*/ 407216 w 4569687"/>
                <a:gd name="connsiteY35" fmla="*/ 3167734 h 3734631"/>
                <a:gd name="connsiteX36" fmla="*/ 0 w 4569687"/>
                <a:gd name="connsiteY36" fmla="*/ 2760518 h 3734631"/>
                <a:gd name="connsiteX37" fmla="*/ 407216 w 4569687"/>
                <a:gd name="connsiteY37" fmla="*/ 2353302 h 3734631"/>
                <a:gd name="connsiteX38" fmla="*/ 489284 w 4569687"/>
                <a:gd name="connsiteY38" fmla="*/ 2361575 h 3734631"/>
                <a:gd name="connsiteX39" fmla="*/ 508084 w 4569687"/>
                <a:gd name="connsiteY39" fmla="*/ 2367411 h 3734631"/>
                <a:gd name="connsiteX40" fmla="*/ 503849 w 4569687"/>
                <a:gd name="connsiteY40" fmla="*/ 2325400 h 3734631"/>
                <a:gd name="connsiteX41" fmla="*/ 1121688 w 4569687"/>
                <a:gd name="connsiteY41" fmla="*/ 1707561 h 3734631"/>
                <a:gd name="connsiteX42" fmla="*/ 1246204 w 4569687"/>
                <a:gd name="connsiteY42" fmla="*/ 1720113 h 3734631"/>
                <a:gd name="connsiteX43" fmla="*/ 1284356 w 4569687"/>
                <a:gd name="connsiteY43" fmla="*/ 1731957 h 3734631"/>
                <a:gd name="connsiteX44" fmla="*/ 1305976 w 4569687"/>
                <a:gd name="connsiteY44" fmla="*/ 1705754 h 3734631"/>
                <a:gd name="connsiteX45" fmla="*/ 1742854 w 4569687"/>
                <a:gd name="connsiteY45" fmla="*/ 1524793 h 3734631"/>
                <a:gd name="connsiteX46" fmla="*/ 1760288 w 4569687"/>
                <a:gd name="connsiteY46" fmla="*/ 1526551 h 3734631"/>
                <a:gd name="connsiteX47" fmla="*/ 1748032 w 4569687"/>
                <a:gd name="connsiteY47" fmla="*/ 1487068 h 3734631"/>
                <a:gd name="connsiteX48" fmla="*/ 1742854 w 4569687"/>
                <a:gd name="connsiteY48" fmla="*/ 1435701 h 3734631"/>
                <a:gd name="connsiteX49" fmla="*/ 1946367 w 4569687"/>
                <a:gd name="connsiteY49" fmla="*/ 1185999 h 3734631"/>
                <a:gd name="connsiteX50" fmla="*/ 1956892 w 4569687"/>
                <a:gd name="connsiteY50" fmla="*/ 1184938 h 3734631"/>
                <a:gd name="connsiteX51" fmla="*/ 1963928 w 4569687"/>
                <a:gd name="connsiteY51" fmla="*/ 1115143 h 3734631"/>
                <a:gd name="connsiteX52" fmla="*/ 2450363 w 4569687"/>
                <a:gd name="connsiteY52" fmla="*/ 718687 h 3734631"/>
                <a:gd name="connsiteX53" fmla="*/ 2520904 w 4569687"/>
                <a:gd name="connsiteY53" fmla="*/ 725798 h 3734631"/>
                <a:gd name="connsiteX54" fmla="*/ 2611712 w 4569687"/>
                <a:gd name="connsiteY54" fmla="*/ 0 h 3734631"/>
                <a:gd name="connsiteX0" fmla="*/ 2611712 w 4569687"/>
                <a:gd name="connsiteY0" fmla="*/ 0 h 3743131"/>
                <a:gd name="connsiteX1" fmla="*/ 2927539 w 4569687"/>
                <a:gd name="connsiteY1" fmla="*/ 0 h 3743131"/>
                <a:gd name="connsiteX2" fmla="*/ 3010471 w 4569687"/>
                <a:gd name="connsiteY2" fmla="*/ 662843 h 3743131"/>
                <a:gd name="connsiteX3" fmla="*/ 3062414 w 4569687"/>
                <a:gd name="connsiteY3" fmla="*/ 672782 h 3743131"/>
                <a:gd name="connsiteX4" fmla="*/ 3375104 w 4569687"/>
                <a:gd name="connsiteY4" fmla="*/ 893768 h 3743131"/>
                <a:gd name="connsiteX5" fmla="*/ 3401966 w 4569687"/>
                <a:gd name="connsiteY5" fmla="*/ 943258 h 3743131"/>
                <a:gd name="connsiteX6" fmla="*/ 3444529 w 4569687"/>
                <a:gd name="connsiteY6" fmla="*/ 938967 h 3743131"/>
                <a:gd name="connsiteX7" fmla="*/ 3941882 w 4569687"/>
                <a:gd name="connsiteY7" fmla="*/ 1268635 h 3743131"/>
                <a:gd name="connsiteX8" fmla="*/ 3950232 w 4569687"/>
                <a:gd name="connsiteY8" fmla="*/ 1295533 h 3743131"/>
                <a:gd name="connsiteX9" fmla="*/ 3968452 w 4569687"/>
                <a:gd name="connsiteY9" fmla="*/ 1289878 h 3743131"/>
                <a:gd name="connsiteX10" fmla="*/ 4041773 w 4569687"/>
                <a:gd name="connsiteY10" fmla="*/ 1282486 h 3743131"/>
                <a:gd name="connsiteX11" fmla="*/ 4398197 w 4569687"/>
                <a:gd name="connsiteY11" fmla="*/ 1572980 h 3743131"/>
                <a:gd name="connsiteX12" fmla="*/ 4401113 w 4569687"/>
                <a:gd name="connsiteY12" fmla="*/ 1601912 h 3743131"/>
                <a:gd name="connsiteX13" fmla="*/ 4509768 w 4569687"/>
                <a:gd name="connsiteY13" fmla="*/ 1612865 h 3743131"/>
                <a:gd name="connsiteX14" fmla="*/ 4569687 w 4569687"/>
                <a:gd name="connsiteY14" fmla="*/ 1630661 h 3743131"/>
                <a:gd name="connsiteX15" fmla="*/ 4569687 w 4569687"/>
                <a:gd name="connsiteY15" fmla="*/ 3685776 h 3743131"/>
                <a:gd name="connsiteX16" fmla="*/ 4479175 w 4569687"/>
                <a:gd name="connsiteY16" fmla="*/ 3694900 h 3743131"/>
                <a:gd name="connsiteX17" fmla="*/ 4083674 w 4569687"/>
                <a:gd name="connsiteY17" fmla="*/ 3574092 h 3743131"/>
                <a:gd name="connsiteX18" fmla="*/ 4051094 w 4569687"/>
                <a:gd name="connsiteY18" fmla="*/ 3547210 h 3743131"/>
                <a:gd name="connsiteX19" fmla="*/ 4009782 w 4569687"/>
                <a:gd name="connsiteY19" fmla="*/ 3581295 h 3743131"/>
                <a:gd name="connsiteX20" fmla="*/ 3782104 w 4569687"/>
                <a:gd name="connsiteY20" fmla="*/ 3650841 h 3743131"/>
                <a:gd name="connsiteX21" fmla="*/ 3494159 w 4569687"/>
                <a:gd name="connsiteY21" fmla="*/ 3531570 h 3743131"/>
                <a:gd name="connsiteX22" fmla="*/ 3452428 w 4569687"/>
                <a:gd name="connsiteY22" fmla="*/ 3480992 h 3743131"/>
                <a:gd name="connsiteX23" fmla="*/ 3441126 w 4569687"/>
                <a:gd name="connsiteY23" fmla="*/ 3501813 h 3743131"/>
                <a:gd name="connsiteX24" fmla="*/ 3103456 w 4569687"/>
                <a:gd name="connsiteY24" fmla="*/ 3681351 h 3743131"/>
                <a:gd name="connsiteX25" fmla="*/ 2815511 w 4569687"/>
                <a:gd name="connsiteY25" fmla="*/ 3562080 h 3743131"/>
                <a:gd name="connsiteX26" fmla="*/ 2772231 w 4569687"/>
                <a:gd name="connsiteY26" fmla="*/ 3509625 h 3743131"/>
                <a:gd name="connsiteX27" fmla="*/ 2697608 w 4569687"/>
                <a:gd name="connsiteY27" fmla="*/ 3571194 h 3743131"/>
                <a:gd name="connsiteX28" fmla="*/ 2162552 w 4569687"/>
                <a:gd name="connsiteY28" fmla="*/ 3734631 h 3743131"/>
                <a:gd name="connsiteX29" fmla="*/ 1334207 w 4569687"/>
                <a:gd name="connsiteY29" fmla="*/ 3340352 h 3743131"/>
                <a:gd name="connsiteX30" fmla="*/ 1046262 w 4569687"/>
                <a:gd name="connsiteY30" fmla="*/ 3459623 h 3743131"/>
                <a:gd name="connsiteX31" fmla="*/ 647319 w 4569687"/>
                <a:gd name="connsiteY31" fmla="*/ 3134475 h 3743131"/>
                <a:gd name="connsiteX32" fmla="*/ 642925 w 4569687"/>
                <a:gd name="connsiteY32" fmla="*/ 3090891 h 3743131"/>
                <a:gd name="connsiteX33" fmla="*/ 634894 w 4569687"/>
                <a:gd name="connsiteY33" fmla="*/ 3098188 h 3743131"/>
                <a:gd name="connsiteX34" fmla="*/ 407216 w 4569687"/>
                <a:gd name="connsiteY34" fmla="*/ 3167734 h 3743131"/>
                <a:gd name="connsiteX35" fmla="*/ 0 w 4569687"/>
                <a:gd name="connsiteY35" fmla="*/ 2760518 h 3743131"/>
                <a:gd name="connsiteX36" fmla="*/ 407216 w 4569687"/>
                <a:gd name="connsiteY36" fmla="*/ 2353302 h 3743131"/>
                <a:gd name="connsiteX37" fmla="*/ 489284 w 4569687"/>
                <a:gd name="connsiteY37" fmla="*/ 2361575 h 3743131"/>
                <a:gd name="connsiteX38" fmla="*/ 508084 w 4569687"/>
                <a:gd name="connsiteY38" fmla="*/ 2367411 h 3743131"/>
                <a:gd name="connsiteX39" fmla="*/ 503849 w 4569687"/>
                <a:gd name="connsiteY39" fmla="*/ 2325400 h 3743131"/>
                <a:gd name="connsiteX40" fmla="*/ 1121688 w 4569687"/>
                <a:gd name="connsiteY40" fmla="*/ 1707561 h 3743131"/>
                <a:gd name="connsiteX41" fmla="*/ 1246204 w 4569687"/>
                <a:gd name="connsiteY41" fmla="*/ 1720113 h 3743131"/>
                <a:gd name="connsiteX42" fmla="*/ 1284356 w 4569687"/>
                <a:gd name="connsiteY42" fmla="*/ 1731957 h 3743131"/>
                <a:gd name="connsiteX43" fmla="*/ 1305976 w 4569687"/>
                <a:gd name="connsiteY43" fmla="*/ 1705754 h 3743131"/>
                <a:gd name="connsiteX44" fmla="*/ 1742854 w 4569687"/>
                <a:gd name="connsiteY44" fmla="*/ 1524793 h 3743131"/>
                <a:gd name="connsiteX45" fmla="*/ 1760288 w 4569687"/>
                <a:gd name="connsiteY45" fmla="*/ 1526551 h 3743131"/>
                <a:gd name="connsiteX46" fmla="*/ 1748032 w 4569687"/>
                <a:gd name="connsiteY46" fmla="*/ 1487068 h 3743131"/>
                <a:gd name="connsiteX47" fmla="*/ 1742854 w 4569687"/>
                <a:gd name="connsiteY47" fmla="*/ 1435701 h 3743131"/>
                <a:gd name="connsiteX48" fmla="*/ 1946367 w 4569687"/>
                <a:gd name="connsiteY48" fmla="*/ 1185999 h 3743131"/>
                <a:gd name="connsiteX49" fmla="*/ 1956892 w 4569687"/>
                <a:gd name="connsiteY49" fmla="*/ 1184938 h 3743131"/>
                <a:gd name="connsiteX50" fmla="*/ 1963928 w 4569687"/>
                <a:gd name="connsiteY50" fmla="*/ 1115143 h 3743131"/>
                <a:gd name="connsiteX51" fmla="*/ 2450363 w 4569687"/>
                <a:gd name="connsiteY51" fmla="*/ 718687 h 3743131"/>
                <a:gd name="connsiteX52" fmla="*/ 2520904 w 4569687"/>
                <a:gd name="connsiteY52" fmla="*/ 725798 h 3743131"/>
                <a:gd name="connsiteX53" fmla="*/ 2611712 w 4569687"/>
                <a:gd name="connsiteY53" fmla="*/ 0 h 3743131"/>
                <a:gd name="connsiteX0" fmla="*/ 2611712 w 4569687"/>
                <a:gd name="connsiteY0" fmla="*/ 0 h 3741630"/>
                <a:gd name="connsiteX1" fmla="*/ 2927539 w 4569687"/>
                <a:gd name="connsiteY1" fmla="*/ 0 h 3741630"/>
                <a:gd name="connsiteX2" fmla="*/ 3010471 w 4569687"/>
                <a:gd name="connsiteY2" fmla="*/ 662843 h 3741630"/>
                <a:gd name="connsiteX3" fmla="*/ 3062414 w 4569687"/>
                <a:gd name="connsiteY3" fmla="*/ 672782 h 3741630"/>
                <a:gd name="connsiteX4" fmla="*/ 3375104 w 4569687"/>
                <a:gd name="connsiteY4" fmla="*/ 893768 h 3741630"/>
                <a:gd name="connsiteX5" fmla="*/ 3401966 w 4569687"/>
                <a:gd name="connsiteY5" fmla="*/ 943258 h 3741630"/>
                <a:gd name="connsiteX6" fmla="*/ 3444529 w 4569687"/>
                <a:gd name="connsiteY6" fmla="*/ 938967 h 3741630"/>
                <a:gd name="connsiteX7" fmla="*/ 3941882 w 4569687"/>
                <a:gd name="connsiteY7" fmla="*/ 1268635 h 3741630"/>
                <a:gd name="connsiteX8" fmla="*/ 3950232 w 4569687"/>
                <a:gd name="connsiteY8" fmla="*/ 1295533 h 3741630"/>
                <a:gd name="connsiteX9" fmla="*/ 3968452 w 4569687"/>
                <a:gd name="connsiteY9" fmla="*/ 1289878 h 3741630"/>
                <a:gd name="connsiteX10" fmla="*/ 4041773 w 4569687"/>
                <a:gd name="connsiteY10" fmla="*/ 1282486 h 3741630"/>
                <a:gd name="connsiteX11" fmla="*/ 4398197 w 4569687"/>
                <a:gd name="connsiteY11" fmla="*/ 1572980 h 3741630"/>
                <a:gd name="connsiteX12" fmla="*/ 4401113 w 4569687"/>
                <a:gd name="connsiteY12" fmla="*/ 1601912 h 3741630"/>
                <a:gd name="connsiteX13" fmla="*/ 4509768 w 4569687"/>
                <a:gd name="connsiteY13" fmla="*/ 1612865 h 3741630"/>
                <a:gd name="connsiteX14" fmla="*/ 4569687 w 4569687"/>
                <a:gd name="connsiteY14" fmla="*/ 1630661 h 3741630"/>
                <a:gd name="connsiteX15" fmla="*/ 4569687 w 4569687"/>
                <a:gd name="connsiteY15" fmla="*/ 3685776 h 3741630"/>
                <a:gd name="connsiteX16" fmla="*/ 4479175 w 4569687"/>
                <a:gd name="connsiteY16" fmla="*/ 3694900 h 3741630"/>
                <a:gd name="connsiteX17" fmla="*/ 4083674 w 4569687"/>
                <a:gd name="connsiteY17" fmla="*/ 3574092 h 3741630"/>
                <a:gd name="connsiteX18" fmla="*/ 4051094 w 4569687"/>
                <a:gd name="connsiteY18" fmla="*/ 3547210 h 3741630"/>
                <a:gd name="connsiteX19" fmla="*/ 4009782 w 4569687"/>
                <a:gd name="connsiteY19" fmla="*/ 3581295 h 3741630"/>
                <a:gd name="connsiteX20" fmla="*/ 3782104 w 4569687"/>
                <a:gd name="connsiteY20" fmla="*/ 3650841 h 3741630"/>
                <a:gd name="connsiteX21" fmla="*/ 3494159 w 4569687"/>
                <a:gd name="connsiteY21" fmla="*/ 3531570 h 3741630"/>
                <a:gd name="connsiteX22" fmla="*/ 3452428 w 4569687"/>
                <a:gd name="connsiteY22" fmla="*/ 3480992 h 3741630"/>
                <a:gd name="connsiteX23" fmla="*/ 3441126 w 4569687"/>
                <a:gd name="connsiteY23" fmla="*/ 3501813 h 3741630"/>
                <a:gd name="connsiteX24" fmla="*/ 3103456 w 4569687"/>
                <a:gd name="connsiteY24" fmla="*/ 3681351 h 3741630"/>
                <a:gd name="connsiteX25" fmla="*/ 2815511 w 4569687"/>
                <a:gd name="connsiteY25" fmla="*/ 3562080 h 3741630"/>
                <a:gd name="connsiteX26" fmla="*/ 2772231 w 4569687"/>
                <a:gd name="connsiteY26" fmla="*/ 3509625 h 3741630"/>
                <a:gd name="connsiteX27" fmla="*/ 2697608 w 4569687"/>
                <a:gd name="connsiteY27" fmla="*/ 3571194 h 3741630"/>
                <a:gd name="connsiteX28" fmla="*/ 2162552 w 4569687"/>
                <a:gd name="connsiteY28" fmla="*/ 3734631 h 3741630"/>
                <a:gd name="connsiteX29" fmla="*/ 1390478 w 4569687"/>
                <a:gd name="connsiteY29" fmla="*/ 3368488 h 3741630"/>
                <a:gd name="connsiteX30" fmla="*/ 1046262 w 4569687"/>
                <a:gd name="connsiteY30" fmla="*/ 3459623 h 3741630"/>
                <a:gd name="connsiteX31" fmla="*/ 647319 w 4569687"/>
                <a:gd name="connsiteY31" fmla="*/ 3134475 h 3741630"/>
                <a:gd name="connsiteX32" fmla="*/ 642925 w 4569687"/>
                <a:gd name="connsiteY32" fmla="*/ 3090891 h 3741630"/>
                <a:gd name="connsiteX33" fmla="*/ 634894 w 4569687"/>
                <a:gd name="connsiteY33" fmla="*/ 3098188 h 3741630"/>
                <a:gd name="connsiteX34" fmla="*/ 407216 w 4569687"/>
                <a:gd name="connsiteY34" fmla="*/ 3167734 h 3741630"/>
                <a:gd name="connsiteX35" fmla="*/ 0 w 4569687"/>
                <a:gd name="connsiteY35" fmla="*/ 2760518 h 3741630"/>
                <a:gd name="connsiteX36" fmla="*/ 407216 w 4569687"/>
                <a:gd name="connsiteY36" fmla="*/ 2353302 h 3741630"/>
                <a:gd name="connsiteX37" fmla="*/ 489284 w 4569687"/>
                <a:gd name="connsiteY37" fmla="*/ 2361575 h 3741630"/>
                <a:gd name="connsiteX38" fmla="*/ 508084 w 4569687"/>
                <a:gd name="connsiteY38" fmla="*/ 2367411 h 3741630"/>
                <a:gd name="connsiteX39" fmla="*/ 503849 w 4569687"/>
                <a:gd name="connsiteY39" fmla="*/ 2325400 h 3741630"/>
                <a:gd name="connsiteX40" fmla="*/ 1121688 w 4569687"/>
                <a:gd name="connsiteY40" fmla="*/ 1707561 h 3741630"/>
                <a:gd name="connsiteX41" fmla="*/ 1246204 w 4569687"/>
                <a:gd name="connsiteY41" fmla="*/ 1720113 h 3741630"/>
                <a:gd name="connsiteX42" fmla="*/ 1284356 w 4569687"/>
                <a:gd name="connsiteY42" fmla="*/ 1731957 h 3741630"/>
                <a:gd name="connsiteX43" fmla="*/ 1305976 w 4569687"/>
                <a:gd name="connsiteY43" fmla="*/ 1705754 h 3741630"/>
                <a:gd name="connsiteX44" fmla="*/ 1742854 w 4569687"/>
                <a:gd name="connsiteY44" fmla="*/ 1524793 h 3741630"/>
                <a:gd name="connsiteX45" fmla="*/ 1760288 w 4569687"/>
                <a:gd name="connsiteY45" fmla="*/ 1526551 h 3741630"/>
                <a:gd name="connsiteX46" fmla="*/ 1748032 w 4569687"/>
                <a:gd name="connsiteY46" fmla="*/ 1487068 h 3741630"/>
                <a:gd name="connsiteX47" fmla="*/ 1742854 w 4569687"/>
                <a:gd name="connsiteY47" fmla="*/ 1435701 h 3741630"/>
                <a:gd name="connsiteX48" fmla="*/ 1946367 w 4569687"/>
                <a:gd name="connsiteY48" fmla="*/ 1185999 h 3741630"/>
                <a:gd name="connsiteX49" fmla="*/ 1956892 w 4569687"/>
                <a:gd name="connsiteY49" fmla="*/ 1184938 h 3741630"/>
                <a:gd name="connsiteX50" fmla="*/ 1963928 w 4569687"/>
                <a:gd name="connsiteY50" fmla="*/ 1115143 h 3741630"/>
                <a:gd name="connsiteX51" fmla="*/ 2450363 w 4569687"/>
                <a:gd name="connsiteY51" fmla="*/ 718687 h 3741630"/>
                <a:gd name="connsiteX52" fmla="*/ 2520904 w 4569687"/>
                <a:gd name="connsiteY52" fmla="*/ 725798 h 3741630"/>
                <a:gd name="connsiteX53" fmla="*/ 2611712 w 4569687"/>
                <a:gd name="connsiteY53" fmla="*/ 0 h 37416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 name="connsiteX0" fmla="*/ 2611712 w 4569687"/>
                <a:gd name="connsiteY0" fmla="*/ 0 h 3734730"/>
                <a:gd name="connsiteX1" fmla="*/ 2927539 w 4569687"/>
                <a:gd name="connsiteY1" fmla="*/ 0 h 3734730"/>
                <a:gd name="connsiteX2" fmla="*/ 3010471 w 4569687"/>
                <a:gd name="connsiteY2" fmla="*/ 662843 h 3734730"/>
                <a:gd name="connsiteX3" fmla="*/ 3062414 w 4569687"/>
                <a:gd name="connsiteY3" fmla="*/ 672782 h 3734730"/>
                <a:gd name="connsiteX4" fmla="*/ 3375104 w 4569687"/>
                <a:gd name="connsiteY4" fmla="*/ 893768 h 3734730"/>
                <a:gd name="connsiteX5" fmla="*/ 3401966 w 4569687"/>
                <a:gd name="connsiteY5" fmla="*/ 943258 h 3734730"/>
                <a:gd name="connsiteX6" fmla="*/ 3444529 w 4569687"/>
                <a:gd name="connsiteY6" fmla="*/ 938967 h 3734730"/>
                <a:gd name="connsiteX7" fmla="*/ 3941882 w 4569687"/>
                <a:gd name="connsiteY7" fmla="*/ 1268635 h 3734730"/>
                <a:gd name="connsiteX8" fmla="*/ 3950232 w 4569687"/>
                <a:gd name="connsiteY8" fmla="*/ 1295533 h 3734730"/>
                <a:gd name="connsiteX9" fmla="*/ 3968452 w 4569687"/>
                <a:gd name="connsiteY9" fmla="*/ 1289878 h 3734730"/>
                <a:gd name="connsiteX10" fmla="*/ 4041773 w 4569687"/>
                <a:gd name="connsiteY10" fmla="*/ 1282486 h 3734730"/>
                <a:gd name="connsiteX11" fmla="*/ 4398197 w 4569687"/>
                <a:gd name="connsiteY11" fmla="*/ 1572980 h 3734730"/>
                <a:gd name="connsiteX12" fmla="*/ 4401113 w 4569687"/>
                <a:gd name="connsiteY12" fmla="*/ 1601912 h 3734730"/>
                <a:gd name="connsiteX13" fmla="*/ 4509768 w 4569687"/>
                <a:gd name="connsiteY13" fmla="*/ 1612865 h 3734730"/>
                <a:gd name="connsiteX14" fmla="*/ 4569687 w 4569687"/>
                <a:gd name="connsiteY14" fmla="*/ 1630661 h 3734730"/>
                <a:gd name="connsiteX15" fmla="*/ 4569687 w 4569687"/>
                <a:gd name="connsiteY15" fmla="*/ 3685776 h 3734730"/>
                <a:gd name="connsiteX16" fmla="*/ 4479175 w 4569687"/>
                <a:gd name="connsiteY16" fmla="*/ 3694900 h 3734730"/>
                <a:gd name="connsiteX17" fmla="*/ 4083674 w 4569687"/>
                <a:gd name="connsiteY17" fmla="*/ 3574092 h 3734730"/>
                <a:gd name="connsiteX18" fmla="*/ 4051094 w 4569687"/>
                <a:gd name="connsiteY18" fmla="*/ 3547210 h 3734730"/>
                <a:gd name="connsiteX19" fmla="*/ 4009782 w 4569687"/>
                <a:gd name="connsiteY19" fmla="*/ 3581295 h 3734730"/>
                <a:gd name="connsiteX20" fmla="*/ 3782104 w 4569687"/>
                <a:gd name="connsiteY20" fmla="*/ 3650841 h 3734730"/>
                <a:gd name="connsiteX21" fmla="*/ 3494159 w 4569687"/>
                <a:gd name="connsiteY21" fmla="*/ 3531570 h 3734730"/>
                <a:gd name="connsiteX22" fmla="*/ 3452428 w 4569687"/>
                <a:gd name="connsiteY22" fmla="*/ 3480992 h 3734730"/>
                <a:gd name="connsiteX23" fmla="*/ 3441126 w 4569687"/>
                <a:gd name="connsiteY23" fmla="*/ 3501813 h 3734730"/>
                <a:gd name="connsiteX24" fmla="*/ 3103456 w 4569687"/>
                <a:gd name="connsiteY24" fmla="*/ 3681351 h 3734730"/>
                <a:gd name="connsiteX25" fmla="*/ 2815511 w 4569687"/>
                <a:gd name="connsiteY25" fmla="*/ 3562080 h 3734730"/>
                <a:gd name="connsiteX26" fmla="*/ 2772231 w 4569687"/>
                <a:gd name="connsiteY26" fmla="*/ 3509625 h 3734730"/>
                <a:gd name="connsiteX27" fmla="*/ 2697608 w 4569687"/>
                <a:gd name="connsiteY27" fmla="*/ 3571194 h 3734730"/>
                <a:gd name="connsiteX28" fmla="*/ 2162552 w 4569687"/>
                <a:gd name="connsiteY28" fmla="*/ 3734631 h 3734730"/>
                <a:gd name="connsiteX29" fmla="*/ 1390478 w 4569687"/>
                <a:gd name="connsiteY29" fmla="*/ 3368488 h 3734730"/>
                <a:gd name="connsiteX30" fmla="*/ 1046262 w 4569687"/>
                <a:gd name="connsiteY30" fmla="*/ 3459623 h 3734730"/>
                <a:gd name="connsiteX31" fmla="*/ 647319 w 4569687"/>
                <a:gd name="connsiteY31" fmla="*/ 3134475 h 3734730"/>
                <a:gd name="connsiteX32" fmla="*/ 642925 w 4569687"/>
                <a:gd name="connsiteY32" fmla="*/ 3090891 h 3734730"/>
                <a:gd name="connsiteX33" fmla="*/ 634894 w 4569687"/>
                <a:gd name="connsiteY33" fmla="*/ 3098188 h 3734730"/>
                <a:gd name="connsiteX34" fmla="*/ 407216 w 4569687"/>
                <a:gd name="connsiteY34" fmla="*/ 3167734 h 3734730"/>
                <a:gd name="connsiteX35" fmla="*/ 0 w 4569687"/>
                <a:gd name="connsiteY35" fmla="*/ 2760518 h 3734730"/>
                <a:gd name="connsiteX36" fmla="*/ 407216 w 4569687"/>
                <a:gd name="connsiteY36" fmla="*/ 2353302 h 3734730"/>
                <a:gd name="connsiteX37" fmla="*/ 489284 w 4569687"/>
                <a:gd name="connsiteY37" fmla="*/ 2361575 h 3734730"/>
                <a:gd name="connsiteX38" fmla="*/ 508084 w 4569687"/>
                <a:gd name="connsiteY38" fmla="*/ 2367411 h 3734730"/>
                <a:gd name="connsiteX39" fmla="*/ 503849 w 4569687"/>
                <a:gd name="connsiteY39" fmla="*/ 2325400 h 3734730"/>
                <a:gd name="connsiteX40" fmla="*/ 1121688 w 4569687"/>
                <a:gd name="connsiteY40" fmla="*/ 1707561 h 3734730"/>
                <a:gd name="connsiteX41" fmla="*/ 1246204 w 4569687"/>
                <a:gd name="connsiteY41" fmla="*/ 1720113 h 3734730"/>
                <a:gd name="connsiteX42" fmla="*/ 1284356 w 4569687"/>
                <a:gd name="connsiteY42" fmla="*/ 1731957 h 3734730"/>
                <a:gd name="connsiteX43" fmla="*/ 1305976 w 4569687"/>
                <a:gd name="connsiteY43" fmla="*/ 1705754 h 3734730"/>
                <a:gd name="connsiteX44" fmla="*/ 1742854 w 4569687"/>
                <a:gd name="connsiteY44" fmla="*/ 1524793 h 3734730"/>
                <a:gd name="connsiteX45" fmla="*/ 1760288 w 4569687"/>
                <a:gd name="connsiteY45" fmla="*/ 1526551 h 3734730"/>
                <a:gd name="connsiteX46" fmla="*/ 1748032 w 4569687"/>
                <a:gd name="connsiteY46" fmla="*/ 1487068 h 3734730"/>
                <a:gd name="connsiteX47" fmla="*/ 1742854 w 4569687"/>
                <a:gd name="connsiteY47" fmla="*/ 1435701 h 3734730"/>
                <a:gd name="connsiteX48" fmla="*/ 1946367 w 4569687"/>
                <a:gd name="connsiteY48" fmla="*/ 1185999 h 3734730"/>
                <a:gd name="connsiteX49" fmla="*/ 1956892 w 4569687"/>
                <a:gd name="connsiteY49" fmla="*/ 1184938 h 3734730"/>
                <a:gd name="connsiteX50" fmla="*/ 1963928 w 4569687"/>
                <a:gd name="connsiteY50" fmla="*/ 1115143 h 3734730"/>
                <a:gd name="connsiteX51" fmla="*/ 2450363 w 4569687"/>
                <a:gd name="connsiteY51" fmla="*/ 718687 h 3734730"/>
                <a:gd name="connsiteX52" fmla="*/ 2520904 w 4569687"/>
                <a:gd name="connsiteY52" fmla="*/ 725798 h 3734730"/>
                <a:gd name="connsiteX53" fmla="*/ 2611712 w 4569687"/>
                <a:gd name="connsiteY53" fmla="*/ 0 h 3734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569687" h="3734730">
                  <a:moveTo>
                    <a:pt x="2611712" y="0"/>
                  </a:moveTo>
                  <a:lnTo>
                    <a:pt x="2927539" y="0"/>
                  </a:lnTo>
                  <a:lnTo>
                    <a:pt x="3010471" y="662843"/>
                  </a:lnTo>
                  <a:lnTo>
                    <a:pt x="3062414" y="672782"/>
                  </a:lnTo>
                  <a:cubicBezTo>
                    <a:pt x="3191764" y="706062"/>
                    <a:pt x="3302353" y="786083"/>
                    <a:pt x="3375104" y="893768"/>
                  </a:cubicBezTo>
                  <a:lnTo>
                    <a:pt x="3401966" y="943258"/>
                  </a:lnTo>
                  <a:lnTo>
                    <a:pt x="3444529" y="938967"/>
                  </a:lnTo>
                  <a:cubicBezTo>
                    <a:pt x="3668109" y="938967"/>
                    <a:pt x="3859940" y="1074903"/>
                    <a:pt x="3941882" y="1268635"/>
                  </a:cubicBezTo>
                  <a:lnTo>
                    <a:pt x="3950232" y="1295533"/>
                  </a:lnTo>
                  <a:lnTo>
                    <a:pt x="3968452" y="1289878"/>
                  </a:lnTo>
                  <a:cubicBezTo>
                    <a:pt x="3992135" y="1285031"/>
                    <a:pt x="4016657" y="1282486"/>
                    <a:pt x="4041773" y="1282486"/>
                  </a:cubicBezTo>
                  <a:cubicBezTo>
                    <a:pt x="4217586" y="1282486"/>
                    <a:pt x="4364272" y="1407196"/>
                    <a:pt x="4398197" y="1572980"/>
                  </a:cubicBezTo>
                  <a:lnTo>
                    <a:pt x="4401113" y="1601912"/>
                  </a:lnTo>
                  <a:lnTo>
                    <a:pt x="4509768" y="1612865"/>
                  </a:lnTo>
                  <a:lnTo>
                    <a:pt x="4569687" y="1630661"/>
                  </a:lnTo>
                  <a:lnTo>
                    <a:pt x="4569687" y="3685776"/>
                  </a:lnTo>
                  <a:lnTo>
                    <a:pt x="4479175" y="3694900"/>
                  </a:lnTo>
                  <a:cubicBezTo>
                    <a:pt x="4332673" y="3694900"/>
                    <a:pt x="4196572" y="3650364"/>
                    <a:pt x="4083674" y="3574092"/>
                  </a:cubicBezTo>
                  <a:lnTo>
                    <a:pt x="4051094" y="3547210"/>
                  </a:lnTo>
                  <a:lnTo>
                    <a:pt x="4009782" y="3581295"/>
                  </a:lnTo>
                  <a:cubicBezTo>
                    <a:pt x="3944790" y="3625203"/>
                    <a:pt x="3866441" y="3650841"/>
                    <a:pt x="3782104" y="3650841"/>
                  </a:cubicBezTo>
                  <a:cubicBezTo>
                    <a:pt x="3669655" y="3650841"/>
                    <a:pt x="3567851" y="3605262"/>
                    <a:pt x="3494159" y="3531570"/>
                  </a:cubicBezTo>
                  <a:lnTo>
                    <a:pt x="3452428" y="3480992"/>
                  </a:lnTo>
                  <a:lnTo>
                    <a:pt x="3441126" y="3501813"/>
                  </a:lnTo>
                  <a:cubicBezTo>
                    <a:pt x="3367946" y="3610134"/>
                    <a:pt x="3244018" y="3681351"/>
                    <a:pt x="3103456" y="3681351"/>
                  </a:cubicBezTo>
                  <a:cubicBezTo>
                    <a:pt x="2991007" y="3681351"/>
                    <a:pt x="2889203" y="3635772"/>
                    <a:pt x="2815511" y="3562080"/>
                  </a:cubicBezTo>
                  <a:lnTo>
                    <a:pt x="2772231" y="3509625"/>
                  </a:lnTo>
                  <a:lnTo>
                    <a:pt x="2697608" y="3571194"/>
                  </a:lnTo>
                  <a:cubicBezTo>
                    <a:pt x="2544873" y="3674380"/>
                    <a:pt x="2382991" y="3737583"/>
                    <a:pt x="2162552" y="3734631"/>
                  </a:cubicBezTo>
                  <a:cubicBezTo>
                    <a:pt x="1740716" y="3728982"/>
                    <a:pt x="1534323" y="3547967"/>
                    <a:pt x="1390478" y="3368488"/>
                  </a:cubicBezTo>
                  <a:cubicBezTo>
                    <a:pt x="1316786" y="3442180"/>
                    <a:pt x="1170122" y="3498625"/>
                    <a:pt x="1046262" y="3459623"/>
                  </a:cubicBezTo>
                  <a:cubicBezTo>
                    <a:pt x="922402" y="3420621"/>
                    <a:pt x="685290" y="3320037"/>
                    <a:pt x="647319" y="3134475"/>
                  </a:cubicBezTo>
                  <a:lnTo>
                    <a:pt x="642925" y="3090891"/>
                  </a:lnTo>
                  <a:lnTo>
                    <a:pt x="634894" y="3098188"/>
                  </a:lnTo>
                  <a:cubicBezTo>
                    <a:pt x="569902" y="3142096"/>
                    <a:pt x="491553" y="3167734"/>
                    <a:pt x="407216" y="3167734"/>
                  </a:cubicBezTo>
                  <a:cubicBezTo>
                    <a:pt x="182317" y="3167734"/>
                    <a:pt x="0" y="2985417"/>
                    <a:pt x="0" y="2760518"/>
                  </a:cubicBezTo>
                  <a:cubicBezTo>
                    <a:pt x="0" y="2535619"/>
                    <a:pt x="182317" y="2353302"/>
                    <a:pt x="407216" y="2353302"/>
                  </a:cubicBezTo>
                  <a:cubicBezTo>
                    <a:pt x="435328" y="2353302"/>
                    <a:pt x="462775" y="2356151"/>
                    <a:pt x="489284" y="2361575"/>
                  </a:cubicBezTo>
                  <a:lnTo>
                    <a:pt x="508084" y="2367411"/>
                  </a:lnTo>
                  <a:lnTo>
                    <a:pt x="503849" y="2325400"/>
                  </a:lnTo>
                  <a:cubicBezTo>
                    <a:pt x="503849" y="1984177"/>
                    <a:pt x="780465" y="1707561"/>
                    <a:pt x="1121688" y="1707561"/>
                  </a:cubicBezTo>
                  <a:cubicBezTo>
                    <a:pt x="1164341" y="1707561"/>
                    <a:pt x="1205984" y="1711883"/>
                    <a:pt x="1246204" y="1720113"/>
                  </a:cubicBezTo>
                  <a:lnTo>
                    <a:pt x="1284356" y="1731957"/>
                  </a:lnTo>
                  <a:lnTo>
                    <a:pt x="1305976" y="1705754"/>
                  </a:lnTo>
                  <a:cubicBezTo>
                    <a:pt x="1417783" y="1593947"/>
                    <a:pt x="1572242" y="1524793"/>
                    <a:pt x="1742854" y="1524793"/>
                  </a:cubicBezTo>
                  <a:lnTo>
                    <a:pt x="1760288" y="1526551"/>
                  </a:lnTo>
                  <a:lnTo>
                    <a:pt x="1748032" y="1487068"/>
                  </a:lnTo>
                  <a:cubicBezTo>
                    <a:pt x="1744637" y="1470476"/>
                    <a:pt x="1742854" y="1453297"/>
                    <a:pt x="1742854" y="1435701"/>
                  </a:cubicBezTo>
                  <a:cubicBezTo>
                    <a:pt x="1742854" y="1312531"/>
                    <a:pt x="1830222" y="1209766"/>
                    <a:pt x="1946367" y="1185999"/>
                  </a:cubicBezTo>
                  <a:lnTo>
                    <a:pt x="1956892" y="1184938"/>
                  </a:lnTo>
                  <a:lnTo>
                    <a:pt x="1963928" y="1115143"/>
                  </a:lnTo>
                  <a:cubicBezTo>
                    <a:pt x="2010227" y="888886"/>
                    <a:pt x="2210419" y="718687"/>
                    <a:pt x="2450363" y="718687"/>
                  </a:cubicBezTo>
                  <a:lnTo>
                    <a:pt x="2520904" y="725798"/>
                  </a:lnTo>
                  <a:lnTo>
                    <a:pt x="2611712"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8" name="그룹 7">
              <a:extLst>
                <a:ext uri="{FF2B5EF4-FFF2-40B4-BE49-F238E27FC236}">
                  <a16:creationId xmlns:a16="http://schemas.microsoft.com/office/drawing/2014/main" xmlns="" id="{D0429EA9-A20D-4800-80F6-48970138B795}"/>
                </a:ext>
              </a:extLst>
            </p:cNvPr>
            <p:cNvGrpSpPr/>
            <p:nvPr userDrawn="1"/>
          </p:nvGrpSpPr>
          <p:grpSpPr>
            <a:xfrm>
              <a:off x="6992136" y="387072"/>
              <a:ext cx="704897" cy="1355021"/>
              <a:chOff x="5304862" y="-789923"/>
              <a:chExt cx="645890" cy="1241591"/>
            </a:xfrm>
          </p:grpSpPr>
          <p:grpSp>
            <p:nvGrpSpPr>
              <p:cNvPr id="9" name="그룹 8">
                <a:extLst>
                  <a:ext uri="{FF2B5EF4-FFF2-40B4-BE49-F238E27FC236}">
                    <a16:creationId xmlns:a16="http://schemas.microsoft.com/office/drawing/2014/main" xmlns="" id="{4817FF4C-CE41-4E26-9FB9-CB745F3234F3}"/>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xmlns="" id="{688B8353-32F5-4D6E-81D9-D597B60FA9D3}"/>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xmlns="" id="{155478D4-44EA-48AE-860F-E368AD673D0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xmlns="" id="{1861CCC0-CB32-42D2-947D-1907817DDDAE}"/>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xmlns="" id="{E3ED5D5D-DC92-4BF6-B431-CE8E43382FD0}"/>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xmlns="" id="{57F372C6-9816-462E-83F5-DFD56E8AF164}"/>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xmlns="" id="{F07321F0-763D-431A-87E5-1BD5F333CAE1}"/>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xmlns="" id="{D39A1E25-A8B6-4EE4-8AC8-D262A0C0D58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312904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0" y="0"/>
            <a:ext cx="2987824"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ko-KR" altLang="en-US"/>
          </a:p>
        </p:txBody>
      </p:sp>
      <p:sp>
        <p:nvSpPr>
          <p:cNvPr id="10" name="Text Placeholder 9"/>
          <p:cNvSpPr>
            <a:spLocks noGrp="1"/>
          </p:cNvSpPr>
          <p:nvPr>
            <p:ph type="body" sz="quarter" idx="10" hasCustomPrompt="1"/>
          </p:nvPr>
        </p:nvSpPr>
        <p:spPr>
          <a:xfrm>
            <a:off x="467544" y="411510"/>
            <a:ext cx="2303282" cy="1368152"/>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467544" y="1779662"/>
            <a:ext cx="2303282" cy="504056"/>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27" name="그룹 26">
            <a:extLst>
              <a:ext uri="{FF2B5EF4-FFF2-40B4-BE49-F238E27FC236}">
                <a16:creationId xmlns:a16="http://schemas.microsoft.com/office/drawing/2014/main" xmlns="" id="{C5AC382A-C3B5-4BE0-B805-8F9094AFD7DC}"/>
              </a:ext>
            </a:extLst>
          </p:cNvPr>
          <p:cNvGrpSpPr/>
          <p:nvPr userDrawn="1"/>
        </p:nvGrpSpPr>
        <p:grpSpPr>
          <a:xfrm>
            <a:off x="0" y="2571749"/>
            <a:ext cx="2984923" cy="2571751"/>
            <a:chOff x="0" y="2571749"/>
            <a:chExt cx="2984923" cy="2571751"/>
          </a:xfrm>
        </p:grpSpPr>
        <p:grpSp>
          <p:nvGrpSpPr>
            <p:cNvPr id="6" name="Group 5"/>
            <p:cNvGrpSpPr/>
            <p:nvPr userDrawn="1"/>
          </p:nvGrpSpPr>
          <p:grpSpPr>
            <a:xfrm>
              <a:off x="0" y="4032469"/>
              <a:ext cx="2984923" cy="1111031"/>
              <a:chOff x="0" y="4032469"/>
              <a:chExt cx="2984923" cy="1111031"/>
            </a:xfrm>
          </p:grpSpPr>
          <p:sp>
            <p:nvSpPr>
              <p:cNvPr id="2" name="Rectangle 1"/>
              <p:cNvSpPr/>
              <p:nvPr userDrawn="1"/>
            </p:nvSpPr>
            <p:spPr>
              <a:xfrm>
                <a:off x="2527176" y="4443958"/>
                <a:ext cx="457200" cy="6995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3" name="Oval 2"/>
              <p:cNvSpPr/>
              <p:nvPr userDrawn="1"/>
            </p:nvSpPr>
            <p:spPr>
              <a:xfrm>
                <a:off x="2128455" y="4032469"/>
                <a:ext cx="856468" cy="85646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8" name="Rectangle 7"/>
              <p:cNvSpPr/>
              <p:nvPr userDrawn="1"/>
            </p:nvSpPr>
            <p:spPr>
              <a:xfrm>
                <a:off x="0" y="4363963"/>
                <a:ext cx="449249" cy="7795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Oval 8"/>
              <p:cNvSpPr/>
              <p:nvPr userDrawn="1"/>
            </p:nvSpPr>
            <p:spPr>
              <a:xfrm>
                <a:off x="0" y="4117025"/>
                <a:ext cx="457200" cy="4572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26" name="자유형: 도형 25">
              <a:extLst>
                <a:ext uri="{FF2B5EF4-FFF2-40B4-BE49-F238E27FC236}">
                  <a16:creationId xmlns:a16="http://schemas.microsoft.com/office/drawing/2014/main" xmlns="" id="{A909D931-338B-4F68-B73A-DDF2CA17DD12}"/>
                </a:ext>
              </a:extLst>
            </p:cNvPr>
            <p:cNvSpPr/>
            <p:nvPr userDrawn="1"/>
          </p:nvSpPr>
          <p:spPr>
            <a:xfrm>
              <a:off x="0" y="3170955"/>
              <a:ext cx="2544134" cy="1972545"/>
            </a:xfrm>
            <a:custGeom>
              <a:avLst/>
              <a:gdLst>
                <a:gd name="connsiteX0" fmla="*/ 1395974 w 2544134"/>
                <a:gd name="connsiteY0" fmla="*/ 0 h 1972545"/>
                <a:gd name="connsiteX1" fmla="*/ 1581175 w 2544134"/>
                <a:gd name="connsiteY1" fmla="*/ 0 h 1972545"/>
                <a:gd name="connsiteX2" fmla="*/ 1629807 w 2544134"/>
                <a:gd name="connsiteY2" fmla="*/ 388693 h 1972545"/>
                <a:gd name="connsiteX3" fmla="*/ 1660266 w 2544134"/>
                <a:gd name="connsiteY3" fmla="*/ 394521 h 1972545"/>
                <a:gd name="connsiteX4" fmla="*/ 1843628 w 2544134"/>
                <a:gd name="connsiteY4" fmla="*/ 524107 h 1972545"/>
                <a:gd name="connsiteX5" fmla="*/ 1859380 w 2544134"/>
                <a:gd name="connsiteY5" fmla="*/ 553128 h 1972545"/>
                <a:gd name="connsiteX6" fmla="*/ 1884339 w 2544134"/>
                <a:gd name="connsiteY6" fmla="*/ 550612 h 1972545"/>
                <a:gd name="connsiteX7" fmla="*/ 2175988 w 2544134"/>
                <a:gd name="connsiteY7" fmla="*/ 743930 h 1972545"/>
                <a:gd name="connsiteX8" fmla="*/ 2180885 w 2544134"/>
                <a:gd name="connsiteY8" fmla="*/ 759703 h 1972545"/>
                <a:gd name="connsiteX9" fmla="*/ 2191569 w 2544134"/>
                <a:gd name="connsiteY9" fmla="*/ 756387 h 1972545"/>
                <a:gd name="connsiteX10" fmla="*/ 2234564 w 2544134"/>
                <a:gd name="connsiteY10" fmla="*/ 752052 h 1972545"/>
                <a:gd name="connsiteX11" fmla="*/ 2443572 w 2544134"/>
                <a:gd name="connsiteY11" fmla="*/ 922399 h 1972545"/>
                <a:gd name="connsiteX12" fmla="*/ 2445282 w 2544134"/>
                <a:gd name="connsiteY12" fmla="*/ 939364 h 1972545"/>
                <a:gd name="connsiteX13" fmla="*/ 2508998 w 2544134"/>
                <a:gd name="connsiteY13" fmla="*/ 945787 h 1972545"/>
                <a:gd name="connsiteX14" fmla="*/ 2544134 w 2544134"/>
                <a:gd name="connsiteY14" fmla="*/ 956223 h 1972545"/>
                <a:gd name="connsiteX15" fmla="*/ 2544134 w 2544134"/>
                <a:gd name="connsiteY15" fmla="*/ 1972545 h 1972545"/>
                <a:gd name="connsiteX16" fmla="*/ 354884 w 2544134"/>
                <a:gd name="connsiteY16" fmla="*/ 1972545 h 1972545"/>
                <a:gd name="connsiteX17" fmla="*/ 342134 w 2544134"/>
                <a:gd name="connsiteY17" fmla="*/ 1965625 h 1972545"/>
                <a:gd name="connsiteX18" fmla="*/ 244050 w 2544134"/>
                <a:gd name="connsiteY18" fmla="*/ 1838062 h 1972545"/>
                <a:gd name="connsiteX19" fmla="*/ 241474 w 2544134"/>
                <a:gd name="connsiteY19" fmla="*/ 1812505 h 1972545"/>
                <a:gd name="connsiteX20" fmla="*/ 236764 w 2544134"/>
                <a:gd name="connsiteY20" fmla="*/ 1816784 h 1972545"/>
                <a:gd name="connsiteX21" fmla="*/ 103253 w 2544134"/>
                <a:gd name="connsiteY21" fmla="*/ 1857566 h 1972545"/>
                <a:gd name="connsiteX22" fmla="*/ 10304 w 2544134"/>
                <a:gd name="connsiteY22" fmla="*/ 1838801 h 1972545"/>
                <a:gd name="connsiteX23" fmla="*/ 0 w 2544134"/>
                <a:gd name="connsiteY23" fmla="*/ 1833208 h 1972545"/>
                <a:gd name="connsiteX24" fmla="*/ 0 w 2544134"/>
                <a:gd name="connsiteY24" fmla="*/ 1404340 h 1972545"/>
                <a:gd name="connsiteX25" fmla="*/ 10304 w 2544134"/>
                <a:gd name="connsiteY25" fmla="*/ 1398747 h 1972545"/>
                <a:gd name="connsiteX26" fmla="*/ 103253 w 2544134"/>
                <a:gd name="connsiteY26" fmla="*/ 1379981 h 1972545"/>
                <a:gd name="connsiteX27" fmla="*/ 151378 w 2544134"/>
                <a:gd name="connsiteY27" fmla="*/ 1384832 h 1972545"/>
                <a:gd name="connsiteX28" fmla="*/ 162402 w 2544134"/>
                <a:gd name="connsiteY28" fmla="*/ 1388255 h 1972545"/>
                <a:gd name="connsiteX29" fmla="*/ 159919 w 2544134"/>
                <a:gd name="connsiteY29" fmla="*/ 1363619 h 1972545"/>
                <a:gd name="connsiteX30" fmla="*/ 522221 w 2544134"/>
                <a:gd name="connsiteY30" fmla="*/ 1001317 h 1972545"/>
                <a:gd name="connsiteX31" fmla="*/ 595237 w 2544134"/>
                <a:gd name="connsiteY31" fmla="*/ 1008678 h 1972545"/>
                <a:gd name="connsiteX32" fmla="*/ 617610 w 2544134"/>
                <a:gd name="connsiteY32" fmla="*/ 1015623 h 1972545"/>
                <a:gd name="connsiteX33" fmla="*/ 630288 w 2544134"/>
                <a:gd name="connsiteY33" fmla="*/ 1000258 h 1972545"/>
                <a:gd name="connsiteX34" fmla="*/ 886474 w 2544134"/>
                <a:gd name="connsiteY34" fmla="*/ 894142 h 1972545"/>
                <a:gd name="connsiteX35" fmla="*/ 896697 w 2544134"/>
                <a:gd name="connsiteY35" fmla="*/ 895173 h 1972545"/>
                <a:gd name="connsiteX36" fmla="*/ 889510 w 2544134"/>
                <a:gd name="connsiteY36" fmla="*/ 872020 h 1972545"/>
                <a:gd name="connsiteX37" fmla="*/ 886474 w 2544134"/>
                <a:gd name="connsiteY37" fmla="*/ 841898 h 1972545"/>
                <a:gd name="connsiteX38" fmla="*/ 1005814 w 2544134"/>
                <a:gd name="connsiteY38" fmla="*/ 695472 h 1972545"/>
                <a:gd name="connsiteX39" fmla="*/ 1011986 w 2544134"/>
                <a:gd name="connsiteY39" fmla="*/ 694850 h 1972545"/>
                <a:gd name="connsiteX40" fmla="*/ 1016112 w 2544134"/>
                <a:gd name="connsiteY40" fmla="*/ 653922 h 1972545"/>
                <a:gd name="connsiteX41" fmla="*/ 1301359 w 2544134"/>
                <a:gd name="connsiteY41" fmla="*/ 421440 h 1972545"/>
                <a:gd name="connsiteX42" fmla="*/ 1342724 w 2544134"/>
                <a:gd name="connsiteY42" fmla="*/ 425610 h 1972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544134" h="1972545">
                  <a:moveTo>
                    <a:pt x="1395974" y="0"/>
                  </a:moveTo>
                  <a:lnTo>
                    <a:pt x="1581175" y="0"/>
                  </a:lnTo>
                  <a:lnTo>
                    <a:pt x="1629807" y="388693"/>
                  </a:lnTo>
                  <a:lnTo>
                    <a:pt x="1660266" y="394521"/>
                  </a:lnTo>
                  <a:cubicBezTo>
                    <a:pt x="1736117" y="414036"/>
                    <a:pt x="1800967" y="460961"/>
                    <a:pt x="1843628" y="524107"/>
                  </a:cubicBezTo>
                  <a:lnTo>
                    <a:pt x="1859380" y="553128"/>
                  </a:lnTo>
                  <a:lnTo>
                    <a:pt x="1884339" y="550612"/>
                  </a:lnTo>
                  <a:cubicBezTo>
                    <a:pt x="2015447" y="550612"/>
                    <a:pt x="2127937" y="630325"/>
                    <a:pt x="2175988" y="743930"/>
                  </a:cubicBezTo>
                  <a:lnTo>
                    <a:pt x="2180885" y="759703"/>
                  </a:lnTo>
                  <a:lnTo>
                    <a:pt x="2191569" y="756387"/>
                  </a:lnTo>
                  <a:cubicBezTo>
                    <a:pt x="2205457" y="753545"/>
                    <a:pt x="2219836" y="752052"/>
                    <a:pt x="2234564" y="752052"/>
                  </a:cubicBezTo>
                  <a:cubicBezTo>
                    <a:pt x="2337661" y="752052"/>
                    <a:pt x="2423678" y="825183"/>
                    <a:pt x="2443572" y="922399"/>
                  </a:cubicBezTo>
                  <a:lnTo>
                    <a:pt x="2445282" y="939364"/>
                  </a:lnTo>
                  <a:lnTo>
                    <a:pt x="2508998" y="945787"/>
                  </a:lnTo>
                  <a:lnTo>
                    <a:pt x="2544134" y="956223"/>
                  </a:lnTo>
                  <a:lnTo>
                    <a:pt x="2544134" y="1972545"/>
                  </a:lnTo>
                  <a:lnTo>
                    <a:pt x="354884" y="1972545"/>
                  </a:lnTo>
                  <a:lnTo>
                    <a:pt x="342134" y="1965625"/>
                  </a:lnTo>
                  <a:cubicBezTo>
                    <a:pt x="295511" y="1934418"/>
                    <a:pt x="255183" y="1892469"/>
                    <a:pt x="244050" y="1838062"/>
                  </a:cubicBezTo>
                  <a:lnTo>
                    <a:pt x="241474" y="1812505"/>
                  </a:lnTo>
                  <a:lnTo>
                    <a:pt x="236764" y="1816784"/>
                  </a:lnTo>
                  <a:cubicBezTo>
                    <a:pt x="198653" y="1842531"/>
                    <a:pt x="152709" y="1857566"/>
                    <a:pt x="103253" y="1857566"/>
                  </a:cubicBezTo>
                  <a:cubicBezTo>
                    <a:pt x="70283" y="1857566"/>
                    <a:pt x="38873" y="1850884"/>
                    <a:pt x="10304" y="1838801"/>
                  </a:cubicBezTo>
                  <a:lnTo>
                    <a:pt x="0" y="1833208"/>
                  </a:lnTo>
                  <a:lnTo>
                    <a:pt x="0" y="1404340"/>
                  </a:lnTo>
                  <a:lnTo>
                    <a:pt x="10304" y="1398747"/>
                  </a:lnTo>
                  <a:cubicBezTo>
                    <a:pt x="38873" y="1386663"/>
                    <a:pt x="70283" y="1379981"/>
                    <a:pt x="103253" y="1379981"/>
                  </a:cubicBezTo>
                  <a:cubicBezTo>
                    <a:pt x="119738" y="1379981"/>
                    <a:pt x="135833" y="1381652"/>
                    <a:pt x="151378" y="1384832"/>
                  </a:cubicBezTo>
                  <a:lnTo>
                    <a:pt x="162402" y="1388255"/>
                  </a:lnTo>
                  <a:lnTo>
                    <a:pt x="159919" y="1363619"/>
                  </a:lnTo>
                  <a:cubicBezTo>
                    <a:pt x="159919" y="1163525"/>
                    <a:pt x="322127" y="1001317"/>
                    <a:pt x="522221" y="1001317"/>
                  </a:cubicBezTo>
                  <a:cubicBezTo>
                    <a:pt x="547233" y="1001317"/>
                    <a:pt x="571652" y="1003852"/>
                    <a:pt x="595237" y="1008678"/>
                  </a:cubicBezTo>
                  <a:lnTo>
                    <a:pt x="617610" y="1015623"/>
                  </a:lnTo>
                  <a:lnTo>
                    <a:pt x="630288" y="1000258"/>
                  </a:lnTo>
                  <a:cubicBezTo>
                    <a:pt x="695852" y="934694"/>
                    <a:pt x="786427" y="894142"/>
                    <a:pt x="886474" y="894142"/>
                  </a:cubicBezTo>
                  <a:lnTo>
                    <a:pt x="896697" y="895173"/>
                  </a:lnTo>
                  <a:lnTo>
                    <a:pt x="889510" y="872020"/>
                  </a:lnTo>
                  <a:cubicBezTo>
                    <a:pt x="887519" y="862290"/>
                    <a:pt x="886474" y="852216"/>
                    <a:pt x="886474" y="841898"/>
                  </a:cubicBezTo>
                  <a:cubicBezTo>
                    <a:pt x="886474" y="769671"/>
                    <a:pt x="937707" y="709409"/>
                    <a:pt x="1005814" y="695472"/>
                  </a:cubicBezTo>
                  <a:lnTo>
                    <a:pt x="1011986" y="694850"/>
                  </a:lnTo>
                  <a:lnTo>
                    <a:pt x="1016112" y="653922"/>
                  </a:lnTo>
                  <a:cubicBezTo>
                    <a:pt x="1043262" y="521245"/>
                    <a:pt x="1160655" y="421440"/>
                    <a:pt x="1301359" y="421440"/>
                  </a:cubicBezTo>
                  <a:lnTo>
                    <a:pt x="1342724" y="42561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nvGrpSpPr>
            <p:cNvPr id="15" name="그룹 14">
              <a:extLst>
                <a:ext uri="{FF2B5EF4-FFF2-40B4-BE49-F238E27FC236}">
                  <a16:creationId xmlns:a16="http://schemas.microsoft.com/office/drawing/2014/main" xmlns="" id="{835AEBDB-6E77-465B-802B-2411CB9307EC}"/>
                </a:ext>
              </a:extLst>
            </p:cNvPr>
            <p:cNvGrpSpPr/>
            <p:nvPr userDrawn="1"/>
          </p:nvGrpSpPr>
          <p:grpSpPr>
            <a:xfrm>
              <a:off x="1278074" y="2571749"/>
              <a:ext cx="413353" cy="794587"/>
              <a:chOff x="5304862" y="-789923"/>
              <a:chExt cx="645890" cy="1241591"/>
            </a:xfrm>
          </p:grpSpPr>
          <p:grpSp>
            <p:nvGrpSpPr>
              <p:cNvPr id="16" name="그룹 15">
                <a:extLst>
                  <a:ext uri="{FF2B5EF4-FFF2-40B4-BE49-F238E27FC236}">
                    <a16:creationId xmlns:a16="http://schemas.microsoft.com/office/drawing/2014/main" xmlns="" id="{5E76A47E-F7A7-4DA1-9B8C-D7B1A60D5D71}"/>
                  </a:ext>
                </a:extLst>
              </p:cNvPr>
              <p:cNvGrpSpPr/>
              <p:nvPr userDrawn="1"/>
            </p:nvGrpSpPr>
            <p:grpSpPr>
              <a:xfrm>
                <a:off x="5377232" y="-789923"/>
                <a:ext cx="495969" cy="1052585"/>
                <a:chOff x="5868144" y="-857099"/>
                <a:chExt cx="495969" cy="1052585"/>
              </a:xfrm>
            </p:grpSpPr>
            <p:sp>
              <p:nvSpPr>
                <p:cNvPr id="21" name="이등변 삼각형 49">
                  <a:extLst>
                    <a:ext uri="{FF2B5EF4-FFF2-40B4-BE49-F238E27FC236}">
                      <a16:creationId xmlns:a16="http://schemas.microsoft.com/office/drawing/2014/main" xmlns="" id="{67190486-51A1-4AB6-8B4F-B570F9832336}"/>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자유형: 도형 21">
                  <a:extLst>
                    <a:ext uri="{FF2B5EF4-FFF2-40B4-BE49-F238E27FC236}">
                      <a16:creationId xmlns:a16="http://schemas.microsoft.com/office/drawing/2014/main" xmlns="" id="{56F15390-B3DB-4D76-834D-291CE0D12AD3}"/>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자유형: 도형 22">
                  <a:extLst>
                    <a:ext uri="{FF2B5EF4-FFF2-40B4-BE49-F238E27FC236}">
                      <a16:creationId xmlns:a16="http://schemas.microsoft.com/office/drawing/2014/main" xmlns="" id="{3BA87288-70D8-4753-8DAA-8CA1C332EF6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7" name="타원 16">
                <a:extLst>
                  <a:ext uri="{FF2B5EF4-FFF2-40B4-BE49-F238E27FC236}">
                    <a16:creationId xmlns:a16="http://schemas.microsoft.com/office/drawing/2014/main" xmlns="" id="{AD475AD4-CA04-4B61-9BB4-408BA6A11E05}"/>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xmlns="" id="{1B106404-A3F8-4193-8435-FA430BEB5473}"/>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자유형: 도형 18">
                <a:extLst>
                  <a:ext uri="{FF2B5EF4-FFF2-40B4-BE49-F238E27FC236}">
                    <a16:creationId xmlns:a16="http://schemas.microsoft.com/office/drawing/2014/main" xmlns="" id="{9408417A-6F35-4CB8-93DD-4FB5074FE702}"/>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자유형: 도형 19">
                <a:extLst>
                  <a:ext uri="{FF2B5EF4-FFF2-40B4-BE49-F238E27FC236}">
                    <a16:creationId xmlns:a16="http://schemas.microsoft.com/office/drawing/2014/main" xmlns="" id="{3058858D-8ACE-40F2-B778-D2BFBF4553F3}"/>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2" name="Frame 11"/>
          <p:cNvSpPr/>
          <p:nvPr userDrawn="1"/>
        </p:nvSpPr>
        <p:spPr>
          <a:xfrm>
            <a:off x="251520" y="339502"/>
            <a:ext cx="8640960" cy="4464496"/>
          </a:xfrm>
          <a:prstGeom prst="frame">
            <a:avLst>
              <a:gd name="adj1" fmla="val 1236"/>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2340375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llo Slide Layout">
    <p:spTree>
      <p:nvGrpSpPr>
        <p:cNvPr id="1" name=""/>
        <p:cNvGrpSpPr/>
        <p:nvPr/>
      </p:nvGrpSpPr>
      <p:grpSpPr>
        <a:xfrm>
          <a:off x="0" y="0"/>
          <a:ext cx="0" cy="0"/>
          <a:chOff x="0" y="0"/>
          <a:chExt cx="0" cy="0"/>
        </a:xfrm>
      </p:grpSpPr>
      <p:sp>
        <p:nvSpPr>
          <p:cNvPr id="4" name="Rectangle 3"/>
          <p:cNvSpPr/>
          <p:nvPr userDrawn="1"/>
        </p:nvSpPr>
        <p:spPr>
          <a:xfrm>
            <a:off x="0" y="0"/>
            <a:ext cx="9144000" cy="13476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xmlns="" id="{523EB7A4-0598-4887-ACB7-E8220F8DDFED}"/>
              </a:ext>
            </a:extLst>
          </p:cNvPr>
          <p:cNvGrpSpPr/>
          <p:nvPr userDrawn="1"/>
        </p:nvGrpSpPr>
        <p:grpSpPr>
          <a:xfrm>
            <a:off x="1902711" y="232356"/>
            <a:ext cx="5620059" cy="4638441"/>
            <a:chOff x="1902711" y="497586"/>
            <a:chExt cx="5620059" cy="4638441"/>
          </a:xfrm>
        </p:grpSpPr>
        <p:grpSp>
          <p:nvGrpSpPr>
            <p:cNvPr id="53" name="그룹 52">
              <a:extLst>
                <a:ext uri="{FF2B5EF4-FFF2-40B4-BE49-F238E27FC236}">
                  <a16:creationId xmlns:a16="http://schemas.microsoft.com/office/drawing/2014/main" xmlns="" id="{C4167999-582F-4DE1-8524-427663DA86EB}"/>
                </a:ext>
              </a:extLst>
            </p:cNvPr>
            <p:cNvGrpSpPr/>
            <p:nvPr userDrawn="1"/>
          </p:nvGrpSpPr>
          <p:grpSpPr>
            <a:xfrm>
              <a:off x="1902711" y="1537517"/>
              <a:ext cx="5620059" cy="3598510"/>
              <a:chOff x="2401342" y="248706"/>
              <a:chExt cx="5620059" cy="3598510"/>
            </a:xfrm>
            <a:solidFill>
              <a:schemeClr val="bg1"/>
            </a:solidFill>
          </p:grpSpPr>
          <p:sp>
            <p:nvSpPr>
              <p:cNvPr id="54" name="Oval 11">
                <a:extLst>
                  <a:ext uri="{FF2B5EF4-FFF2-40B4-BE49-F238E27FC236}">
                    <a16:creationId xmlns:a16="http://schemas.microsoft.com/office/drawing/2014/main" xmlns="" id="{36E509A3-52CE-4453-9564-E704D9C6F3F0}"/>
                  </a:ext>
                </a:extLst>
              </p:cNvPr>
              <p:cNvSpPr/>
              <p:nvPr userDrawn="1"/>
            </p:nvSpPr>
            <p:spPr>
              <a:xfrm>
                <a:off x="4283968" y="941198"/>
                <a:ext cx="956850" cy="9568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Oval 11">
                <a:extLst>
                  <a:ext uri="{FF2B5EF4-FFF2-40B4-BE49-F238E27FC236}">
                    <a16:creationId xmlns:a16="http://schemas.microsoft.com/office/drawing/2014/main" xmlns="" id="{D8641ACF-24EC-4119-AF47-45C5E6B69718}"/>
                  </a:ext>
                </a:extLst>
              </p:cNvPr>
              <p:cNvSpPr/>
              <p:nvPr userDrawn="1"/>
            </p:nvSpPr>
            <p:spPr>
              <a:xfrm>
                <a:off x="4080672" y="1386488"/>
                <a:ext cx="491180" cy="49118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Oval 11">
                <a:extLst>
                  <a:ext uri="{FF2B5EF4-FFF2-40B4-BE49-F238E27FC236}">
                    <a16:creationId xmlns:a16="http://schemas.microsoft.com/office/drawing/2014/main" xmlns="" id="{3873CDEC-688A-4EE6-8974-D80E43FF9273}"/>
                  </a:ext>
                </a:extLst>
              </p:cNvPr>
              <p:cNvSpPr/>
              <p:nvPr userDrawn="1"/>
            </p:nvSpPr>
            <p:spPr>
              <a:xfrm>
                <a:off x="3485352" y="1717923"/>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7" name="Oval 11">
                <a:extLst>
                  <a:ext uri="{FF2B5EF4-FFF2-40B4-BE49-F238E27FC236}">
                    <a16:creationId xmlns:a16="http://schemas.microsoft.com/office/drawing/2014/main" xmlns="" id="{B93DE707-F71B-42F6-A0EB-DFC85BA873B2}"/>
                  </a:ext>
                </a:extLst>
              </p:cNvPr>
              <p:cNvSpPr/>
              <p:nvPr userDrawn="1"/>
            </p:nvSpPr>
            <p:spPr>
              <a:xfrm>
                <a:off x="2886827" y="1894030"/>
                <a:ext cx="1190640" cy="119064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8" name="Oval 11">
                <a:extLst>
                  <a:ext uri="{FF2B5EF4-FFF2-40B4-BE49-F238E27FC236}">
                    <a16:creationId xmlns:a16="http://schemas.microsoft.com/office/drawing/2014/main" xmlns="" id="{3A7AC84B-9DE8-4557-8141-47C15EEBD952}"/>
                  </a:ext>
                </a:extLst>
              </p:cNvPr>
              <p:cNvSpPr/>
              <p:nvPr userDrawn="1"/>
            </p:nvSpPr>
            <p:spPr>
              <a:xfrm>
                <a:off x="2401342" y="251623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9" name="Oval 11">
                <a:extLst>
                  <a:ext uri="{FF2B5EF4-FFF2-40B4-BE49-F238E27FC236}">
                    <a16:creationId xmlns:a16="http://schemas.microsoft.com/office/drawing/2014/main" xmlns="" id="{F200C86F-3147-4417-909C-8AA712602B15}"/>
                  </a:ext>
                </a:extLst>
              </p:cNvPr>
              <p:cNvSpPr/>
              <p:nvPr userDrawn="1"/>
            </p:nvSpPr>
            <p:spPr>
              <a:xfrm>
                <a:off x="3017096" y="2797485"/>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0" name="Oval 11">
                <a:extLst>
                  <a:ext uri="{FF2B5EF4-FFF2-40B4-BE49-F238E27FC236}">
                    <a16:creationId xmlns:a16="http://schemas.microsoft.com/office/drawing/2014/main" xmlns="" id="{C19D843C-2344-43CD-A232-FDCAF8F43CA5}"/>
                  </a:ext>
                </a:extLst>
              </p:cNvPr>
              <p:cNvSpPr/>
              <p:nvPr userDrawn="1"/>
            </p:nvSpPr>
            <p:spPr>
              <a:xfrm>
                <a:off x="3562974" y="2003019"/>
                <a:ext cx="1844197" cy="184419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1" name="Oval 11">
                <a:extLst>
                  <a:ext uri="{FF2B5EF4-FFF2-40B4-BE49-F238E27FC236}">
                    <a16:creationId xmlns:a16="http://schemas.microsoft.com/office/drawing/2014/main" xmlns="" id="{1D594D95-F75F-4683-A364-E7EFD943F93B}"/>
                  </a:ext>
                </a:extLst>
              </p:cNvPr>
              <p:cNvSpPr/>
              <p:nvPr userDrawn="1"/>
            </p:nvSpPr>
            <p:spPr>
              <a:xfrm>
                <a:off x="4999309" y="3011131"/>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2" name="Oval 11">
                <a:extLst>
                  <a:ext uri="{FF2B5EF4-FFF2-40B4-BE49-F238E27FC236}">
                    <a16:creationId xmlns:a16="http://schemas.microsoft.com/office/drawing/2014/main" xmlns="" id="{95DD39E7-93D6-494C-A36E-247288990A90}"/>
                  </a:ext>
                </a:extLst>
              </p:cNvPr>
              <p:cNvSpPr/>
              <p:nvPr userDrawn="1"/>
            </p:nvSpPr>
            <p:spPr>
              <a:xfrm>
                <a:off x="5653222" y="2981733"/>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3" name="Oval 11">
                <a:extLst>
                  <a:ext uri="{FF2B5EF4-FFF2-40B4-BE49-F238E27FC236}">
                    <a16:creationId xmlns:a16="http://schemas.microsoft.com/office/drawing/2014/main" xmlns="" id="{0724B3EB-D2BA-46AD-9B24-8F61182FFCCE}"/>
                  </a:ext>
                </a:extLst>
              </p:cNvPr>
              <p:cNvSpPr/>
              <p:nvPr userDrawn="1"/>
            </p:nvSpPr>
            <p:spPr>
              <a:xfrm>
                <a:off x="6035666" y="2445747"/>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4" name="Oval 11">
                <a:extLst>
                  <a:ext uri="{FF2B5EF4-FFF2-40B4-BE49-F238E27FC236}">
                    <a16:creationId xmlns:a16="http://schemas.microsoft.com/office/drawing/2014/main" xmlns="" id="{BDBBA2C7-3C34-4968-B283-7486C3E66CD2}"/>
                  </a:ext>
                </a:extLst>
              </p:cNvPr>
              <p:cNvSpPr/>
              <p:nvPr userDrawn="1"/>
            </p:nvSpPr>
            <p:spPr>
              <a:xfrm>
                <a:off x="7037784" y="2729409"/>
                <a:ext cx="784747" cy="78474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5" name="Oval 11">
                <a:extLst>
                  <a:ext uri="{FF2B5EF4-FFF2-40B4-BE49-F238E27FC236}">
                    <a16:creationId xmlns:a16="http://schemas.microsoft.com/office/drawing/2014/main" xmlns="" id="{1D3596EF-83B2-4D77-9900-8FBA5EF934B2}"/>
                  </a:ext>
                </a:extLst>
              </p:cNvPr>
              <p:cNvSpPr/>
              <p:nvPr userDrawn="1"/>
            </p:nvSpPr>
            <p:spPr>
              <a:xfrm>
                <a:off x="6658215" y="1725625"/>
                <a:ext cx="1363186" cy="1363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Oval 11">
                <a:extLst>
                  <a:ext uri="{FF2B5EF4-FFF2-40B4-BE49-F238E27FC236}">
                    <a16:creationId xmlns:a16="http://schemas.microsoft.com/office/drawing/2014/main" xmlns="" id="{478452D7-D34C-4072-B618-5EA4D20571B3}"/>
                  </a:ext>
                </a:extLst>
              </p:cNvPr>
              <p:cNvSpPr/>
              <p:nvPr userDrawn="1"/>
            </p:nvSpPr>
            <p:spPr>
              <a:xfrm>
                <a:off x="4702059" y="880592"/>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7" name="Oval 11">
                <a:extLst>
                  <a:ext uri="{FF2B5EF4-FFF2-40B4-BE49-F238E27FC236}">
                    <a16:creationId xmlns:a16="http://schemas.microsoft.com/office/drawing/2014/main" xmlns="" id="{B67A8B79-3441-4CEE-82A3-001ECBD4DD6C}"/>
                  </a:ext>
                </a:extLst>
              </p:cNvPr>
              <p:cNvSpPr/>
              <p:nvPr userDrawn="1"/>
            </p:nvSpPr>
            <p:spPr>
              <a:xfrm>
                <a:off x="5200227" y="115344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8" name="Oval 11">
                <a:extLst>
                  <a:ext uri="{FF2B5EF4-FFF2-40B4-BE49-F238E27FC236}">
                    <a16:creationId xmlns:a16="http://schemas.microsoft.com/office/drawing/2014/main" xmlns="" id="{39EC19EA-7198-4F0B-A95B-49D0CF19C8F2}"/>
                  </a:ext>
                </a:extLst>
              </p:cNvPr>
              <p:cNvSpPr/>
              <p:nvPr userDrawn="1"/>
            </p:nvSpPr>
            <p:spPr>
              <a:xfrm>
                <a:off x="5945245" y="1484448"/>
                <a:ext cx="701108" cy="70110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9" name="Oval 11">
                <a:extLst>
                  <a:ext uri="{FF2B5EF4-FFF2-40B4-BE49-F238E27FC236}">
                    <a16:creationId xmlns:a16="http://schemas.microsoft.com/office/drawing/2014/main" xmlns="" id="{6F4820F4-E538-4700-880A-FA8685A41A3B}"/>
                  </a:ext>
                </a:extLst>
              </p:cNvPr>
              <p:cNvSpPr/>
              <p:nvPr userDrawn="1"/>
            </p:nvSpPr>
            <p:spPr>
              <a:xfrm>
                <a:off x="6121822" y="1792219"/>
                <a:ext cx="1040194" cy="104019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0" name="Oval 11">
                <a:extLst>
                  <a:ext uri="{FF2B5EF4-FFF2-40B4-BE49-F238E27FC236}">
                    <a16:creationId xmlns:a16="http://schemas.microsoft.com/office/drawing/2014/main" xmlns="" id="{413F6B1E-425D-4873-9467-3AC4066BB2ED}"/>
                  </a:ext>
                </a:extLst>
              </p:cNvPr>
              <p:cNvSpPr/>
              <p:nvPr userDrawn="1"/>
            </p:nvSpPr>
            <p:spPr>
              <a:xfrm>
                <a:off x="4251327" y="1369850"/>
                <a:ext cx="2136016" cy="21360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1" name="사다리꼴 70">
                <a:extLst>
                  <a:ext uri="{FF2B5EF4-FFF2-40B4-BE49-F238E27FC236}">
                    <a16:creationId xmlns:a16="http://schemas.microsoft.com/office/drawing/2014/main" xmlns="" id="{B0CB0B17-591E-4DAC-A92C-EBD6A95CAE9D}"/>
                  </a:ext>
                </a:extLst>
              </p:cNvPr>
              <p:cNvSpPr/>
              <p:nvPr userDrawn="1"/>
            </p:nvSpPr>
            <p:spPr>
              <a:xfrm>
                <a:off x="4765704" y="248706"/>
                <a:ext cx="608632" cy="1216152"/>
              </a:xfrm>
              <a:prstGeom prst="trapezoi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2" name="그룹 71">
              <a:extLst>
                <a:ext uri="{FF2B5EF4-FFF2-40B4-BE49-F238E27FC236}">
                  <a16:creationId xmlns:a16="http://schemas.microsoft.com/office/drawing/2014/main" xmlns="" id="{0273FAE2-233C-451C-ABAD-157761C173D3}"/>
                </a:ext>
              </a:extLst>
            </p:cNvPr>
            <p:cNvGrpSpPr/>
            <p:nvPr userDrawn="1"/>
          </p:nvGrpSpPr>
          <p:grpSpPr>
            <a:xfrm>
              <a:off x="4249055" y="497586"/>
              <a:ext cx="645890" cy="1241591"/>
              <a:chOff x="5304862" y="-789923"/>
              <a:chExt cx="645890" cy="1241591"/>
            </a:xfrm>
          </p:grpSpPr>
          <p:grpSp>
            <p:nvGrpSpPr>
              <p:cNvPr id="73" name="그룹 72">
                <a:extLst>
                  <a:ext uri="{FF2B5EF4-FFF2-40B4-BE49-F238E27FC236}">
                    <a16:creationId xmlns:a16="http://schemas.microsoft.com/office/drawing/2014/main" xmlns="" id="{F294317C-D093-4716-BC39-F4EDB7B37133}"/>
                  </a:ext>
                </a:extLst>
              </p:cNvPr>
              <p:cNvGrpSpPr/>
              <p:nvPr userDrawn="1"/>
            </p:nvGrpSpPr>
            <p:grpSpPr>
              <a:xfrm>
                <a:off x="5377232" y="-789923"/>
                <a:ext cx="495969" cy="1052585"/>
                <a:chOff x="5868144" y="-857099"/>
                <a:chExt cx="495969" cy="1052585"/>
              </a:xfrm>
            </p:grpSpPr>
            <p:sp>
              <p:nvSpPr>
                <p:cNvPr id="78" name="이등변 삼각형 49">
                  <a:extLst>
                    <a:ext uri="{FF2B5EF4-FFF2-40B4-BE49-F238E27FC236}">
                      <a16:creationId xmlns:a16="http://schemas.microsoft.com/office/drawing/2014/main" xmlns="" id="{28122585-D90D-4D44-AC50-0A8C9106EF95}"/>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9" name="자유형: 도형 78">
                  <a:extLst>
                    <a:ext uri="{FF2B5EF4-FFF2-40B4-BE49-F238E27FC236}">
                      <a16:creationId xmlns:a16="http://schemas.microsoft.com/office/drawing/2014/main" xmlns="" id="{CA4A1B48-5DCF-4240-B908-5565A0B620C1}"/>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0" name="자유형: 도형 79">
                  <a:extLst>
                    <a:ext uri="{FF2B5EF4-FFF2-40B4-BE49-F238E27FC236}">
                      <a16:creationId xmlns:a16="http://schemas.microsoft.com/office/drawing/2014/main" xmlns="" id="{28D35705-FE6E-444A-A4F2-216FB36C2D3C}"/>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74" name="타원 73">
                <a:extLst>
                  <a:ext uri="{FF2B5EF4-FFF2-40B4-BE49-F238E27FC236}">
                    <a16:creationId xmlns:a16="http://schemas.microsoft.com/office/drawing/2014/main" xmlns="" id="{833271DD-6F14-4B18-BE97-D6CF7744263D}"/>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직사각형 74">
                <a:extLst>
                  <a:ext uri="{FF2B5EF4-FFF2-40B4-BE49-F238E27FC236}">
                    <a16:creationId xmlns:a16="http://schemas.microsoft.com/office/drawing/2014/main" xmlns="" id="{32141932-F9EE-4187-BBBC-79F2AADC7FB5}"/>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6" name="자유형: 도형 75">
                <a:extLst>
                  <a:ext uri="{FF2B5EF4-FFF2-40B4-BE49-F238E27FC236}">
                    <a16:creationId xmlns:a16="http://schemas.microsoft.com/office/drawing/2014/main" xmlns="" id="{C4A28A23-9A45-480D-9AE0-AC8E03B407E4}"/>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7" name="자유형: 도형 76">
                <a:extLst>
                  <a:ext uri="{FF2B5EF4-FFF2-40B4-BE49-F238E27FC236}">
                    <a16:creationId xmlns:a16="http://schemas.microsoft.com/office/drawing/2014/main" xmlns="" id="{E5282C72-98DB-48D8-88FE-2DFA994D4B88}"/>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10" name="Text Placeholder 9"/>
          <p:cNvSpPr>
            <a:spLocks noGrp="1"/>
          </p:cNvSpPr>
          <p:nvPr>
            <p:ph type="body" sz="quarter" idx="10" hasCustomPrompt="1"/>
          </p:nvPr>
        </p:nvSpPr>
        <p:spPr>
          <a:xfrm>
            <a:off x="2616057" y="2931790"/>
            <a:ext cx="3894936" cy="576063"/>
          </a:xfrm>
          <a:prstGeom prst="rect">
            <a:avLst/>
          </a:prstGeom>
        </p:spPr>
        <p:txBody>
          <a:bodyPr anchor="ctr"/>
          <a:lstStyle>
            <a:lvl1pPr marL="0" indent="0" algn="ctr">
              <a:buNone/>
              <a:defRPr sz="3600" b="1" baseline="0">
                <a:solidFill>
                  <a:schemeClr val="tx1">
                    <a:lumMod val="75000"/>
                    <a:lumOff val="25000"/>
                  </a:schemeClr>
                </a:solidFill>
                <a:latin typeface="+mj-lt"/>
                <a:cs typeface="Arial" pitchFamily="34" charset="0"/>
              </a:defRPr>
            </a:lvl1pPr>
          </a:lstStyle>
          <a:p>
            <a:pPr lvl="0"/>
            <a:r>
              <a:rPr lang="en-US" altLang="ko-KR" dirty="0"/>
              <a:t>Thank you</a:t>
            </a:r>
          </a:p>
        </p:txBody>
      </p:sp>
      <p:sp>
        <p:nvSpPr>
          <p:cNvPr id="11" name="Text Placeholder 9"/>
          <p:cNvSpPr>
            <a:spLocks noGrp="1"/>
          </p:cNvSpPr>
          <p:nvPr>
            <p:ph type="body" sz="quarter" idx="11" hasCustomPrompt="1"/>
          </p:nvPr>
        </p:nvSpPr>
        <p:spPr>
          <a:xfrm>
            <a:off x="2615909" y="3579862"/>
            <a:ext cx="3894936"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grpSp>
        <p:nvGrpSpPr>
          <p:cNvPr id="3" name="Group 2"/>
          <p:cNvGrpSpPr/>
          <p:nvPr userDrawn="1"/>
        </p:nvGrpSpPr>
        <p:grpSpPr>
          <a:xfrm>
            <a:off x="6535596" y="1104508"/>
            <a:ext cx="672848" cy="486211"/>
            <a:chOff x="6495678" y="1779663"/>
            <a:chExt cx="672848" cy="486211"/>
          </a:xfrm>
        </p:grpSpPr>
        <p:sp>
          <p:nvSpPr>
            <p:cNvPr id="17" name="Oval 16"/>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Oval 17"/>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Oval 18"/>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Oval 19"/>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21" name="Group 20"/>
          <p:cNvGrpSpPr/>
          <p:nvPr userDrawn="1"/>
        </p:nvGrpSpPr>
        <p:grpSpPr>
          <a:xfrm>
            <a:off x="2098952" y="2183144"/>
            <a:ext cx="524595" cy="379081"/>
            <a:chOff x="6495678" y="1779663"/>
            <a:chExt cx="672848" cy="486211"/>
          </a:xfrm>
        </p:grpSpPr>
        <p:sp>
          <p:nvSpPr>
            <p:cNvPr id="22" name="Oval 21"/>
            <p:cNvSpPr/>
            <p:nvPr userDrawn="1"/>
          </p:nvSpPr>
          <p:spPr>
            <a:xfrm>
              <a:off x="6588225" y="1779663"/>
              <a:ext cx="432048" cy="43204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Oval 22"/>
            <p:cNvSpPr/>
            <p:nvPr userDrawn="1"/>
          </p:nvSpPr>
          <p:spPr>
            <a:xfrm>
              <a:off x="6872020" y="1913390"/>
              <a:ext cx="296506" cy="29650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Oval 23"/>
            <p:cNvSpPr/>
            <p:nvPr userDrawn="1"/>
          </p:nvSpPr>
          <p:spPr>
            <a:xfrm>
              <a:off x="6495678"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Oval 24"/>
            <p:cNvSpPr/>
            <p:nvPr userDrawn="1"/>
          </p:nvSpPr>
          <p:spPr>
            <a:xfrm>
              <a:off x="6698826" y="1995687"/>
              <a:ext cx="270187" cy="2701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136053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grpSp>
        <p:nvGrpSpPr>
          <p:cNvPr id="13" name="Group 12"/>
          <p:cNvGrpSpPr/>
          <p:nvPr userDrawn="1"/>
        </p:nvGrpSpPr>
        <p:grpSpPr>
          <a:xfrm>
            <a:off x="3707904" y="1203090"/>
            <a:ext cx="1710999" cy="3600908"/>
            <a:chOff x="3797105" y="1404992"/>
            <a:chExt cx="1548895" cy="3471014"/>
          </a:xfrm>
        </p:grpSpPr>
        <p:sp>
          <p:nvSpPr>
            <p:cNvPr id="9" name="Rectangle 8"/>
            <p:cNvSpPr/>
            <p:nvPr userDrawn="1"/>
          </p:nvSpPr>
          <p:spPr>
            <a:xfrm>
              <a:off x="3797105" y="1909048"/>
              <a:ext cx="1548000" cy="246290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2" name="Isosceles Triangle 11"/>
            <p:cNvSpPr/>
            <p:nvPr userDrawn="1"/>
          </p:nvSpPr>
          <p:spPr>
            <a:xfrm>
              <a:off x="3797105" y="1404992"/>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Isosceles Triangle 13"/>
            <p:cNvSpPr/>
            <p:nvPr userDrawn="1"/>
          </p:nvSpPr>
          <p:spPr>
            <a:xfrm rot="10800000">
              <a:off x="3798000" y="4371950"/>
              <a:ext cx="1548000" cy="504056"/>
            </a:xfrm>
            <a:prstGeom prst="triangle">
              <a:avLst>
                <a:gd name="adj" fmla="val 49055"/>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8" name="Picture Placeholder 2"/>
          <p:cNvSpPr>
            <a:spLocks noGrp="1"/>
          </p:cNvSpPr>
          <p:nvPr>
            <p:ph type="pic" idx="1" hasCustomPrompt="1"/>
          </p:nvPr>
        </p:nvSpPr>
        <p:spPr>
          <a:xfrm>
            <a:off x="3787227" y="1312181"/>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2" hasCustomPrompt="1"/>
          </p:nvPr>
        </p:nvSpPr>
        <p:spPr>
          <a:xfrm>
            <a:off x="2059035"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330843"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9" name="Picture Placeholder 2"/>
          <p:cNvSpPr>
            <a:spLocks noGrp="1"/>
          </p:cNvSpPr>
          <p:nvPr>
            <p:ph type="pic" idx="14" hasCustomPrompt="1"/>
          </p:nvPr>
        </p:nvSpPr>
        <p:spPr>
          <a:xfrm>
            <a:off x="7243611"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0" name="Picture Placeholder 2"/>
          <p:cNvSpPr>
            <a:spLocks noGrp="1"/>
          </p:cNvSpPr>
          <p:nvPr>
            <p:ph type="pic" idx="15" hasCustomPrompt="1"/>
          </p:nvPr>
        </p:nvSpPr>
        <p:spPr>
          <a:xfrm>
            <a:off x="5515419" y="1276575"/>
            <a:ext cx="1548000" cy="1800000"/>
          </a:xfrm>
          <a:custGeom>
            <a:avLst/>
            <a:gdLst>
              <a:gd name="connsiteX0" fmla="*/ 0 w 1440160"/>
              <a:gd name="connsiteY0" fmla="*/ 626356 h 1252711"/>
              <a:gd name="connsiteX1" fmla="*/ 313178 w 1440160"/>
              <a:gd name="connsiteY1" fmla="*/ 0 h 1252711"/>
              <a:gd name="connsiteX2" fmla="*/ 1126982 w 1440160"/>
              <a:gd name="connsiteY2" fmla="*/ 0 h 1252711"/>
              <a:gd name="connsiteX3" fmla="*/ 1440160 w 1440160"/>
              <a:gd name="connsiteY3" fmla="*/ 626356 h 1252711"/>
              <a:gd name="connsiteX4" fmla="*/ 1126982 w 1440160"/>
              <a:gd name="connsiteY4" fmla="*/ 1252711 h 1252711"/>
              <a:gd name="connsiteX5" fmla="*/ 313178 w 1440160"/>
              <a:gd name="connsiteY5" fmla="*/ 1252711 h 1252711"/>
              <a:gd name="connsiteX6" fmla="*/ 0 w 1440160"/>
              <a:gd name="connsiteY6" fmla="*/ 626356 h 1252711"/>
              <a:gd name="connsiteX0" fmla="*/ 0 w 1440160"/>
              <a:gd name="connsiteY0" fmla="*/ 745419 h 1371774"/>
              <a:gd name="connsiteX1" fmla="*/ 679890 w 1440160"/>
              <a:gd name="connsiteY1" fmla="*/ 0 h 1371774"/>
              <a:gd name="connsiteX2" fmla="*/ 1126982 w 1440160"/>
              <a:gd name="connsiteY2" fmla="*/ 119063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440160"/>
              <a:gd name="connsiteY0" fmla="*/ 745419 h 1371774"/>
              <a:gd name="connsiteX1" fmla="*/ 679890 w 1440160"/>
              <a:gd name="connsiteY1" fmla="*/ 0 h 1371774"/>
              <a:gd name="connsiteX2" fmla="*/ 1379395 w 1440160"/>
              <a:gd name="connsiteY2" fmla="*/ 409576 h 1371774"/>
              <a:gd name="connsiteX3" fmla="*/ 1440160 w 1440160"/>
              <a:gd name="connsiteY3" fmla="*/ 745419 h 1371774"/>
              <a:gd name="connsiteX4" fmla="*/ 1126982 w 1440160"/>
              <a:gd name="connsiteY4" fmla="*/ 1371774 h 1371774"/>
              <a:gd name="connsiteX5" fmla="*/ 313178 w 1440160"/>
              <a:gd name="connsiteY5" fmla="*/ 1371774 h 1371774"/>
              <a:gd name="connsiteX6" fmla="*/ 0 w 1440160"/>
              <a:gd name="connsiteY6" fmla="*/ 745419 h 1371774"/>
              <a:gd name="connsiteX0" fmla="*/ 0 w 1379395"/>
              <a:gd name="connsiteY0" fmla="*/ 745419 h 1371774"/>
              <a:gd name="connsiteX1" fmla="*/ 679890 w 1379395"/>
              <a:gd name="connsiteY1" fmla="*/ 0 h 1371774"/>
              <a:gd name="connsiteX2" fmla="*/ 1379395 w 1379395"/>
              <a:gd name="connsiteY2" fmla="*/ 409576 h 1371774"/>
              <a:gd name="connsiteX3" fmla="*/ 1340147 w 1379395"/>
              <a:gd name="connsiteY3" fmla="*/ 1102607 h 1371774"/>
              <a:gd name="connsiteX4" fmla="*/ 1126982 w 1379395"/>
              <a:gd name="connsiteY4" fmla="*/ 1371774 h 1371774"/>
              <a:gd name="connsiteX5" fmla="*/ 313178 w 1379395"/>
              <a:gd name="connsiteY5" fmla="*/ 1371774 h 1371774"/>
              <a:gd name="connsiteX6" fmla="*/ 0 w 1379395"/>
              <a:gd name="connsiteY6" fmla="*/ 745419 h 1371774"/>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313178 w 1379395"/>
              <a:gd name="connsiteY5" fmla="*/ 1371774 h 1483692"/>
              <a:gd name="connsiteX6" fmla="*/ 0 w 1379395"/>
              <a:gd name="connsiteY6" fmla="*/ 745419 h 1483692"/>
              <a:gd name="connsiteX0" fmla="*/ 0 w 1379395"/>
              <a:gd name="connsiteY0" fmla="*/ 745419 h 1483692"/>
              <a:gd name="connsiteX1" fmla="*/ 679890 w 1379395"/>
              <a:gd name="connsiteY1" fmla="*/ 0 h 1483692"/>
              <a:gd name="connsiteX2" fmla="*/ 1379395 w 1379395"/>
              <a:gd name="connsiteY2" fmla="*/ 409576 h 1483692"/>
              <a:gd name="connsiteX3" fmla="*/ 1340147 w 1379395"/>
              <a:gd name="connsiteY3" fmla="*/ 1102607 h 1483692"/>
              <a:gd name="connsiteX4" fmla="*/ 757888 w 1379395"/>
              <a:gd name="connsiteY4" fmla="*/ 1483692 h 1483692"/>
              <a:gd name="connsiteX5" fmla="*/ 65528 w 1379395"/>
              <a:gd name="connsiteY5" fmla="*/ 1086024 h 1483692"/>
              <a:gd name="connsiteX6" fmla="*/ 0 w 1379395"/>
              <a:gd name="connsiteY6" fmla="*/ 745419 h 1483692"/>
              <a:gd name="connsiteX0" fmla="*/ 32104 w 1313867"/>
              <a:gd name="connsiteY0" fmla="*/ 385851 h 1483692"/>
              <a:gd name="connsiteX1" fmla="*/ 614362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3692"/>
              <a:gd name="connsiteX1" fmla="*/ 647699 w 1313867"/>
              <a:gd name="connsiteY1" fmla="*/ 0 h 1483692"/>
              <a:gd name="connsiteX2" fmla="*/ 1313867 w 1313867"/>
              <a:gd name="connsiteY2" fmla="*/ 409576 h 1483692"/>
              <a:gd name="connsiteX3" fmla="*/ 1274619 w 1313867"/>
              <a:gd name="connsiteY3" fmla="*/ 1102607 h 1483692"/>
              <a:gd name="connsiteX4" fmla="*/ 692360 w 1313867"/>
              <a:gd name="connsiteY4" fmla="*/ 1483692 h 1483692"/>
              <a:gd name="connsiteX5" fmla="*/ 0 w 1313867"/>
              <a:gd name="connsiteY5" fmla="*/ 1086024 h 1483692"/>
              <a:gd name="connsiteX6" fmla="*/ 32104 w 1313867"/>
              <a:gd name="connsiteY6" fmla="*/ 385851 h 1483692"/>
              <a:gd name="connsiteX0" fmla="*/ 32104 w 1313867"/>
              <a:gd name="connsiteY0" fmla="*/ 385851 h 1488454"/>
              <a:gd name="connsiteX1" fmla="*/ 647699 w 1313867"/>
              <a:gd name="connsiteY1" fmla="*/ 0 h 1488454"/>
              <a:gd name="connsiteX2" fmla="*/ 1313867 w 1313867"/>
              <a:gd name="connsiteY2" fmla="*/ 409576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13867"/>
              <a:gd name="connsiteY0" fmla="*/ 385851 h 1488454"/>
              <a:gd name="connsiteX1" fmla="*/ 647699 w 1313867"/>
              <a:gd name="connsiteY1" fmla="*/ 0 h 1488454"/>
              <a:gd name="connsiteX2" fmla="*/ 1313867 w 1313867"/>
              <a:gd name="connsiteY2" fmla="*/ 397669 h 1488454"/>
              <a:gd name="connsiteX3" fmla="*/ 1274619 w 1313867"/>
              <a:gd name="connsiteY3" fmla="*/ 1102607 h 1488454"/>
              <a:gd name="connsiteX4" fmla="*/ 656641 w 1313867"/>
              <a:gd name="connsiteY4" fmla="*/ 1488454 h 1488454"/>
              <a:gd name="connsiteX5" fmla="*/ 0 w 1313867"/>
              <a:gd name="connsiteY5" fmla="*/ 1086024 h 1488454"/>
              <a:gd name="connsiteX6" fmla="*/ 32104 w 1313867"/>
              <a:gd name="connsiteY6" fmla="*/ 385851 h 1488454"/>
              <a:gd name="connsiteX0" fmla="*/ 32104 w 1329387"/>
              <a:gd name="connsiteY0" fmla="*/ 385851 h 1488454"/>
              <a:gd name="connsiteX1" fmla="*/ 647699 w 1329387"/>
              <a:gd name="connsiteY1" fmla="*/ 0 h 1488454"/>
              <a:gd name="connsiteX2" fmla="*/ 1313867 w 1329387"/>
              <a:gd name="connsiteY2" fmla="*/ 397669 h 1488454"/>
              <a:gd name="connsiteX3" fmla="*/ 1329387 w 1329387"/>
              <a:gd name="connsiteY3" fmla="*/ 1097844 h 1488454"/>
              <a:gd name="connsiteX4" fmla="*/ 656641 w 1329387"/>
              <a:gd name="connsiteY4" fmla="*/ 1488454 h 1488454"/>
              <a:gd name="connsiteX5" fmla="*/ 0 w 1329387"/>
              <a:gd name="connsiteY5" fmla="*/ 1086024 h 1488454"/>
              <a:gd name="connsiteX6" fmla="*/ 32104 w 1329387"/>
              <a:gd name="connsiteY6" fmla="*/ 385851 h 1488454"/>
              <a:gd name="connsiteX0" fmla="*/ 0 w 1297283"/>
              <a:gd name="connsiteY0" fmla="*/ 385851 h 1488454"/>
              <a:gd name="connsiteX1" fmla="*/ 615595 w 1297283"/>
              <a:gd name="connsiteY1" fmla="*/ 0 h 1488454"/>
              <a:gd name="connsiteX2" fmla="*/ 1281763 w 1297283"/>
              <a:gd name="connsiteY2" fmla="*/ 397669 h 1488454"/>
              <a:gd name="connsiteX3" fmla="*/ 1297283 w 1297283"/>
              <a:gd name="connsiteY3" fmla="*/ 1097844 h 1488454"/>
              <a:gd name="connsiteX4" fmla="*/ 624537 w 1297283"/>
              <a:gd name="connsiteY4" fmla="*/ 1488454 h 1488454"/>
              <a:gd name="connsiteX5" fmla="*/ 5996 w 1297283"/>
              <a:gd name="connsiteY5" fmla="*/ 1095549 h 1488454"/>
              <a:gd name="connsiteX6" fmla="*/ 0 w 1297283"/>
              <a:gd name="connsiteY6" fmla="*/ 385851 h 1488454"/>
              <a:gd name="connsiteX0" fmla="*/ 0 w 1281763"/>
              <a:gd name="connsiteY0" fmla="*/ 385851 h 1488454"/>
              <a:gd name="connsiteX1" fmla="*/ 615595 w 1281763"/>
              <a:gd name="connsiteY1" fmla="*/ 0 h 1488454"/>
              <a:gd name="connsiteX2" fmla="*/ 1281763 w 1281763"/>
              <a:gd name="connsiteY2" fmla="*/ 397669 h 1488454"/>
              <a:gd name="connsiteX3" fmla="*/ 1275851 w 1281763"/>
              <a:gd name="connsiteY3" fmla="*/ 1095463 h 1488454"/>
              <a:gd name="connsiteX4" fmla="*/ 624537 w 1281763"/>
              <a:gd name="connsiteY4" fmla="*/ 1488454 h 1488454"/>
              <a:gd name="connsiteX5" fmla="*/ 5996 w 1281763"/>
              <a:gd name="connsiteY5" fmla="*/ 1095549 h 1488454"/>
              <a:gd name="connsiteX6" fmla="*/ 0 w 1281763"/>
              <a:gd name="connsiteY6" fmla="*/ 385851 h 1488454"/>
              <a:gd name="connsiteX0" fmla="*/ 0 w 1281763"/>
              <a:gd name="connsiteY0" fmla="*/ 388233 h 1490836"/>
              <a:gd name="connsiteX1" fmla="*/ 622739 w 1281763"/>
              <a:gd name="connsiteY1" fmla="*/ 0 h 1490836"/>
              <a:gd name="connsiteX2" fmla="*/ 1281763 w 1281763"/>
              <a:gd name="connsiteY2" fmla="*/ 400051 h 1490836"/>
              <a:gd name="connsiteX3" fmla="*/ 1275851 w 1281763"/>
              <a:gd name="connsiteY3" fmla="*/ 1097845 h 1490836"/>
              <a:gd name="connsiteX4" fmla="*/ 624537 w 1281763"/>
              <a:gd name="connsiteY4" fmla="*/ 1490836 h 1490836"/>
              <a:gd name="connsiteX5" fmla="*/ 5996 w 1281763"/>
              <a:gd name="connsiteY5" fmla="*/ 1097931 h 1490836"/>
              <a:gd name="connsiteX6" fmla="*/ 0 w 1281763"/>
              <a:gd name="connsiteY6" fmla="*/ 388233 h 1490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1763" h="1490836">
                <a:moveTo>
                  <a:pt x="0" y="388233"/>
                </a:moveTo>
                <a:lnTo>
                  <a:pt x="622739" y="0"/>
                </a:lnTo>
                <a:lnTo>
                  <a:pt x="1281763" y="400051"/>
                </a:lnTo>
                <a:cubicBezTo>
                  <a:pt x="1279792" y="632649"/>
                  <a:pt x="1277822" y="865247"/>
                  <a:pt x="1275851" y="1097845"/>
                </a:cubicBezTo>
                <a:lnTo>
                  <a:pt x="624537" y="1490836"/>
                </a:lnTo>
                <a:lnTo>
                  <a:pt x="5996" y="1097931"/>
                </a:lnTo>
                <a:cubicBezTo>
                  <a:pt x="3997" y="861365"/>
                  <a:pt x="1999" y="624799"/>
                  <a:pt x="0" y="388233"/>
                </a:cubicBezTo>
                <a:close/>
              </a:path>
            </a:pathLst>
          </a:cu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19330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3507854"/>
            <a:ext cx="9144000" cy="16356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6" name="Picture 2" descr="D:\Fullppt\PNG이미지\핸드폰2.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735225" y="1079005"/>
            <a:ext cx="3373328" cy="4085033"/>
          </a:xfrm>
          <a:prstGeom prst="rect">
            <a:avLst/>
          </a:prstGeom>
          <a:noFill/>
          <a:extLst>
            <a:ext uri="{909E8E84-426E-40DD-AFC4-6F175D3DCCD1}">
              <a14:hiddenFill xmlns:a14="http://schemas.microsoft.com/office/drawing/2010/main">
                <a:solidFill>
                  <a:srgbClr val="FFFFFF"/>
                </a:solidFill>
              </a14:hiddenFill>
            </a:ext>
          </a:extLst>
        </p:spPr>
      </p:pic>
      <p:sp>
        <p:nvSpPr>
          <p:cNvPr id="7" name="Picture Placeholder 2"/>
          <p:cNvSpPr>
            <a:spLocks noGrp="1"/>
          </p:cNvSpPr>
          <p:nvPr>
            <p:ph type="pic" idx="1" hasCustomPrompt="1"/>
          </p:nvPr>
        </p:nvSpPr>
        <p:spPr>
          <a:xfrm>
            <a:off x="3566328" y="1217153"/>
            <a:ext cx="1945465" cy="3005145"/>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252329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123" name="Picture 3" descr="D:\Fullppt\005-PNG이미지\노트북.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8600" y="987574"/>
            <a:ext cx="6438182" cy="327456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userDrawn="1"/>
        </p:nvSpPr>
        <p:spPr>
          <a:xfrm>
            <a:off x="233772" y="4262137"/>
            <a:ext cx="8676456" cy="54186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7" name="Picture Placeholder 2"/>
          <p:cNvSpPr>
            <a:spLocks noGrp="1"/>
          </p:cNvSpPr>
          <p:nvPr>
            <p:ph type="pic" idx="1" hasCustomPrompt="1"/>
          </p:nvPr>
        </p:nvSpPr>
        <p:spPr>
          <a:xfrm>
            <a:off x="910339" y="1404993"/>
            <a:ext cx="3085597" cy="2281868"/>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309192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1" name="그림 개체 틀 10">
            <a:extLst>
              <a:ext uri="{FF2B5EF4-FFF2-40B4-BE49-F238E27FC236}">
                <a16:creationId xmlns:a16="http://schemas.microsoft.com/office/drawing/2014/main" xmlns="" id="{24943D91-C407-41C1-8574-76661B571395}"/>
              </a:ext>
            </a:extLst>
          </p:cNvPr>
          <p:cNvSpPr>
            <a:spLocks noGrp="1"/>
          </p:cNvSpPr>
          <p:nvPr>
            <p:ph type="pic" idx="1" hasCustomPrompt="1"/>
          </p:nvPr>
        </p:nvSpPr>
        <p:spPr>
          <a:xfrm>
            <a:off x="5148065" y="1431235"/>
            <a:ext cx="2568434" cy="2280270"/>
          </a:xfrm>
          <a:custGeom>
            <a:avLst/>
            <a:gdLst>
              <a:gd name="connsiteX0" fmla="*/ 125450 w 2568434"/>
              <a:gd name="connsiteY0" fmla="*/ 111684 h 2280270"/>
              <a:gd name="connsiteX1" fmla="*/ 2442984 w 2568434"/>
              <a:gd name="connsiteY1" fmla="*/ 111684 h 2280270"/>
              <a:gd name="connsiteX2" fmla="*/ 2442984 w 2568434"/>
              <a:gd name="connsiteY2" fmla="*/ 2168586 h 2280270"/>
              <a:gd name="connsiteX3" fmla="*/ 125450 w 2568434"/>
              <a:gd name="connsiteY3" fmla="*/ 2168586 h 2280270"/>
              <a:gd name="connsiteX4" fmla="*/ 96085 w 2568434"/>
              <a:gd name="connsiteY4" fmla="*/ 82319 h 2280270"/>
              <a:gd name="connsiteX5" fmla="*/ 96085 w 2568434"/>
              <a:gd name="connsiteY5" fmla="*/ 2197951 h 2280270"/>
              <a:gd name="connsiteX6" fmla="*/ 2472349 w 2568434"/>
              <a:gd name="connsiteY6" fmla="*/ 2197951 h 2280270"/>
              <a:gd name="connsiteX7" fmla="*/ 2472349 w 2568434"/>
              <a:gd name="connsiteY7" fmla="*/ 82319 h 2280270"/>
              <a:gd name="connsiteX8" fmla="*/ 0 w 2568434"/>
              <a:gd name="connsiteY8" fmla="*/ 0 h 2280270"/>
              <a:gd name="connsiteX9" fmla="*/ 2568434 w 2568434"/>
              <a:gd name="connsiteY9" fmla="*/ 0 h 2280270"/>
              <a:gd name="connsiteX10" fmla="*/ 2568434 w 2568434"/>
              <a:gd name="connsiteY10" fmla="*/ 2280270 h 2280270"/>
              <a:gd name="connsiteX11" fmla="*/ 0 w 2568434"/>
              <a:gd name="connsiteY11" fmla="*/ 2280270 h 2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8434" h="2280270">
                <a:moveTo>
                  <a:pt x="125450" y="111684"/>
                </a:moveTo>
                <a:lnTo>
                  <a:pt x="2442984" y="111684"/>
                </a:lnTo>
                <a:lnTo>
                  <a:pt x="2442984" y="2168586"/>
                </a:lnTo>
                <a:lnTo>
                  <a:pt x="125450" y="2168586"/>
                </a:lnTo>
                <a:close/>
                <a:moveTo>
                  <a:pt x="96085" y="82319"/>
                </a:moveTo>
                <a:lnTo>
                  <a:pt x="96085" y="2197951"/>
                </a:lnTo>
                <a:lnTo>
                  <a:pt x="2472349" y="2197951"/>
                </a:lnTo>
                <a:lnTo>
                  <a:pt x="2472349" y="82319"/>
                </a:lnTo>
                <a:close/>
                <a:moveTo>
                  <a:pt x="0" y="0"/>
                </a:moveTo>
                <a:lnTo>
                  <a:pt x="2568434" y="0"/>
                </a:lnTo>
                <a:lnTo>
                  <a:pt x="2568434" y="2280270"/>
                </a:lnTo>
                <a:lnTo>
                  <a:pt x="0" y="228027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xmlns="" id="{D19E2BEF-0357-4B60-8F97-1B4CBD18E02A}"/>
              </a:ext>
            </a:extLst>
          </p:cNvPr>
          <p:cNvSpPr>
            <a:spLocks noGrp="1"/>
          </p:cNvSpPr>
          <p:nvPr>
            <p:ph type="pic" idx="10" hasCustomPrompt="1"/>
          </p:nvPr>
        </p:nvSpPr>
        <p:spPr>
          <a:xfrm>
            <a:off x="7704000" y="370350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2" name="그림 개체 틀 11">
            <a:extLst>
              <a:ext uri="{FF2B5EF4-FFF2-40B4-BE49-F238E27FC236}">
                <a16:creationId xmlns:a16="http://schemas.microsoft.com/office/drawing/2014/main" xmlns="" id="{C69723CC-367A-47C2-9C98-4E37F9539DBD}"/>
              </a:ext>
            </a:extLst>
          </p:cNvPr>
          <p:cNvSpPr>
            <a:spLocks noGrp="1"/>
          </p:cNvSpPr>
          <p:nvPr>
            <p:ph type="pic" idx="11" hasCustomPrompt="1"/>
          </p:nvPr>
        </p:nvSpPr>
        <p:spPr>
          <a:xfrm>
            <a:off x="3708064" y="0"/>
            <a:ext cx="1440000" cy="1440000"/>
          </a:xfrm>
          <a:custGeom>
            <a:avLst/>
            <a:gdLst>
              <a:gd name="connsiteX0" fmla="*/ 125363 w 1440000"/>
              <a:gd name="connsiteY0" fmla="*/ 124056 h 1440000"/>
              <a:gd name="connsiteX1" fmla="*/ 1314637 w 1440000"/>
              <a:gd name="connsiteY1" fmla="*/ 124056 h 1440000"/>
              <a:gd name="connsiteX2" fmla="*/ 1314637 w 1440000"/>
              <a:gd name="connsiteY2" fmla="*/ 1315945 h 1440000"/>
              <a:gd name="connsiteX3" fmla="*/ 125363 w 1440000"/>
              <a:gd name="connsiteY3" fmla="*/ 1315945 h 1440000"/>
              <a:gd name="connsiteX4" fmla="*/ 92030 w 1440000"/>
              <a:gd name="connsiteY4" fmla="*/ 90723 h 1440000"/>
              <a:gd name="connsiteX5" fmla="*/ 92030 w 1440000"/>
              <a:gd name="connsiteY5" fmla="*/ 1349278 h 1440000"/>
              <a:gd name="connsiteX6" fmla="*/ 1347970 w 1440000"/>
              <a:gd name="connsiteY6" fmla="*/ 1349278 h 1440000"/>
              <a:gd name="connsiteX7" fmla="*/ 1347970 w 1440000"/>
              <a:gd name="connsiteY7" fmla="*/ 90723 h 1440000"/>
              <a:gd name="connsiteX8" fmla="*/ 0 w 1440000"/>
              <a:gd name="connsiteY8" fmla="*/ 0 h 1440000"/>
              <a:gd name="connsiteX9" fmla="*/ 1440000 w 1440000"/>
              <a:gd name="connsiteY9" fmla="*/ 0 h 1440000"/>
              <a:gd name="connsiteX10" fmla="*/ 1440000 w 1440000"/>
              <a:gd name="connsiteY10" fmla="*/ 1440000 h 1440000"/>
              <a:gd name="connsiteX11" fmla="*/ 0 w 1440000"/>
              <a:gd name="connsiteY11" fmla="*/ 1440000 h 14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40000" h="1440000">
                <a:moveTo>
                  <a:pt x="125363" y="124056"/>
                </a:moveTo>
                <a:lnTo>
                  <a:pt x="1314637" y="124056"/>
                </a:lnTo>
                <a:lnTo>
                  <a:pt x="1314637" y="1315945"/>
                </a:lnTo>
                <a:lnTo>
                  <a:pt x="125363" y="1315945"/>
                </a:lnTo>
                <a:close/>
                <a:moveTo>
                  <a:pt x="92030" y="90723"/>
                </a:moveTo>
                <a:lnTo>
                  <a:pt x="92030" y="1349278"/>
                </a:lnTo>
                <a:lnTo>
                  <a:pt x="1347970" y="1349278"/>
                </a:lnTo>
                <a:lnTo>
                  <a:pt x="1347970" y="90723"/>
                </a:lnTo>
                <a:close/>
                <a:moveTo>
                  <a:pt x="0" y="0"/>
                </a:moveTo>
                <a:lnTo>
                  <a:pt x="1440000" y="0"/>
                </a:lnTo>
                <a:lnTo>
                  <a:pt x="1440000" y="1440000"/>
                </a:lnTo>
                <a:lnTo>
                  <a:pt x="0" y="1440000"/>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545435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1"/>
            <a:ext cx="9144000" cy="3076575"/>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8861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9144000" cy="5143501"/>
          </a:xfrm>
          <a:prstGeom prst="rect">
            <a:avLst/>
          </a:prstGeom>
          <a:solidFill>
            <a:schemeClr val="bg1">
              <a:lumMod val="8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2639597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0" y="-1"/>
            <a:ext cx="4572000" cy="514350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790489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2" name="그림 개체 틀 11">
            <a:extLst>
              <a:ext uri="{FF2B5EF4-FFF2-40B4-BE49-F238E27FC236}">
                <a16:creationId xmlns:a16="http://schemas.microsoft.com/office/drawing/2014/main" xmlns="" id="{BC15B180-CBF0-499C-A764-95FA7614ACA6}"/>
              </a:ext>
            </a:extLst>
          </p:cNvPr>
          <p:cNvSpPr>
            <a:spLocks noGrp="1"/>
          </p:cNvSpPr>
          <p:nvPr>
            <p:ph type="pic" idx="1" hasCustomPrompt="1"/>
          </p:nvPr>
        </p:nvSpPr>
        <p:spPr>
          <a:xfrm>
            <a:off x="6984000" y="-1"/>
            <a:ext cx="2160000" cy="5143501"/>
          </a:xfrm>
          <a:custGeom>
            <a:avLst/>
            <a:gdLst>
              <a:gd name="connsiteX0" fmla="*/ 0 w 2160000"/>
              <a:gd name="connsiteY0" fmla="*/ 1425596 h 5143501"/>
              <a:gd name="connsiteX1" fmla="*/ 651889 w 2160000"/>
              <a:gd name="connsiteY1" fmla="*/ 2077485 h 5143501"/>
              <a:gd name="connsiteX2" fmla="*/ 0 w 2160000"/>
              <a:gd name="connsiteY2" fmla="*/ 2729373 h 5143501"/>
              <a:gd name="connsiteX3" fmla="*/ 0 w 2160000"/>
              <a:gd name="connsiteY3" fmla="*/ 0 h 5143501"/>
              <a:gd name="connsiteX4" fmla="*/ 2160000 w 2160000"/>
              <a:gd name="connsiteY4" fmla="*/ 0 h 5143501"/>
              <a:gd name="connsiteX5" fmla="*/ 2160000 w 2160000"/>
              <a:gd name="connsiteY5" fmla="*/ 5143501 h 5143501"/>
              <a:gd name="connsiteX6" fmla="*/ 0 w 2160000"/>
              <a:gd name="connsiteY6" fmla="*/ 5143501 h 5143501"/>
              <a:gd name="connsiteX7" fmla="*/ 0 w 2160000"/>
              <a:gd name="connsiteY7" fmla="*/ 2856759 h 5143501"/>
              <a:gd name="connsiteX8" fmla="*/ 779274 w 2160000"/>
              <a:gd name="connsiteY8" fmla="*/ 2077485 h 5143501"/>
              <a:gd name="connsiteX9" fmla="*/ 0 w 2160000"/>
              <a:gd name="connsiteY9" fmla="*/ 1298211 h 514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160000" h="5143501">
                <a:moveTo>
                  <a:pt x="0" y="1425596"/>
                </a:moveTo>
                <a:lnTo>
                  <a:pt x="651889" y="2077485"/>
                </a:lnTo>
                <a:lnTo>
                  <a:pt x="0" y="2729373"/>
                </a:lnTo>
                <a:close/>
                <a:moveTo>
                  <a:pt x="0" y="0"/>
                </a:moveTo>
                <a:lnTo>
                  <a:pt x="2160000" y="0"/>
                </a:lnTo>
                <a:lnTo>
                  <a:pt x="2160000" y="5143501"/>
                </a:lnTo>
                <a:lnTo>
                  <a:pt x="0" y="5143501"/>
                </a:lnTo>
                <a:lnTo>
                  <a:pt x="0" y="2856759"/>
                </a:lnTo>
                <a:lnTo>
                  <a:pt x="779274" y="2077485"/>
                </a:lnTo>
                <a:lnTo>
                  <a:pt x="0" y="129821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4" name="그림 개체 틀 13">
            <a:extLst>
              <a:ext uri="{FF2B5EF4-FFF2-40B4-BE49-F238E27FC236}">
                <a16:creationId xmlns:a16="http://schemas.microsoft.com/office/drawing/2014/main" xmlns="" id="{1FA03D3A-E0EA-4B8F-B538-58CE5D4DB322}"/>
              </a:ext>
            </a:extLst>
          </p:cNvPr>
          <p:cNvSpPr>
            <a:spLocks noGrp="1"/>
          </p:cNvSpPr>
          <p:nvPr>
            <p:ph type="pic" idx="12" hasCustomPrompt="1"/>
          </p:nvPr>
        </p:nvSpPr>
        <p:spPr>
          <a:xfrm>
            <a:off x="4734004" y="2131318"/>
            <a:ext cx="2160000" cy="3012182"/>
          </a:xfrm>
          <a:custGeom>
            <a:avLst/>
            <a:gdLst>
              <a:gd name="connsiteX0" fmla="*/ 1563187 w 2160000"/>
              <a:gd name="connsiteY0" fmla="*/ 0 h 3012182"/>
              <a:gd name="connsiteX1" fmla="*/ 2160000 w 2160000"/>
              <a:gd name="connsiteY1" fmla="*/ 0 h 3012182"/>
              <a:gd name="connsiteX2" fmla="*/ 2160000 w 2160000"/>
              <a:gd name="connsiteY2" fmla="*/ 596813 h 3012182"/>
              <a:gd name="connsiteX3" fmla="*/ 0 w 2160000"/>
              <a:gd name="connsiteY3" fmla="*/ 0 h 3012182"/>
              <a:gd name="connsiteX4" fmla="*/ 1435802 w 2160000"/>
              <a:gd name="connsiteY4" fmla="*/ 0 h 3012182"/>
              <a:gd name="connsiteX5" fmla="*/ 2160000 w 2160000"/>
              <a:gd name="connsiteY5" fmla="*/ 724199 h 3012182"/>
              <a:gd name="connsiteX6" fmla="*/ 2160000 w 2160000"/>
              <a:gd name="connsiteY6" fmla="*/ 3012182 h 3012182"/>
              <a:gd name="connsiteX7" fmla="*/ 0 w 2160000"/>
              <a:gd name="connsiteY7" fmla="*/ 3012182 h 3012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60000" h="3012182">
                <a:moveTo>
                  <a:pt x="1563187" y="0"/>
                </a:moveTo>
                <a:lnTo>
                  <a:pt x="2160000" y="0"/>
                </a:lnTo>
                <a:lnTo>
                  <a:pt x="2160000" y="596813"/>
                </a:lnTo>
                <a:close/>
                <a:moveTo>
                  <a:pt x="0" y="0"/>
                </a:moveTo>
                <a:lnTo>
                  <a:pt x="1435802" y="0"/>
                </a:lnTo>
                <a:lnTo>
                  <a:pt x="2160000" y="724199"/>
                </a:lnTo>
                <a:lnTo>
                  <a:pt x="2160000" y="3012182"/>
                </a:lnTo>
                <a:lnTo>
                  <a:pt x="0" y="3012182"/>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3492000" y="2131318"/>
            <a:ext cx="1152008" cy="3012182"/>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3" name="그림 개체 틀 12">
            <a:extLst>
              <a:ext uri="{FF2B5EF4-FFF2-40B4-BE49-F238E27FC236}">
                <a16:creationId xmlns:a16="http://schemas.microsoft.com/office/drawing/2014/main" xmlns="" id="{1EBCCB12-3AC7-4A57-8E11-5324E7CB7D04}"/>
              </a:ext>
            </a:extLst>
          </p:cNvPr>
          <p:cNvSpPr>
            <a:spLocks noGrp="1"/>
          </p:cNvSpPr>
          <p:nvPr>
            <p:ph type="pic" idx="14" hasCustomPrompt="1"/>
          </p:nvPr>
        </p:nvSpPr>
        <p:spPr>
          <a:xfrm>
            <a:off x="3492000" y="-1"/>
            <a:ext cx="3393830" cy="2043485"/>
          </a:xfrm>
          <a:custGeom>
            <a:avLst/>
            <a:gdLst>
              <a:gd name="connsiteX0" fmla="*/ 3393830 w 3393830"/>
              <a:gd name="connsiteY0" fmla="*/ 1435011 h 2043485"/>
              <a:gd name="connsiteX1" fmla="*/ 3393830 w 3393830"/>
              <a:gd name="connsiteY1" fmla="*/ 2043485 h 2043485"/>
              <a:gd name="connsiteX2" fmla="*/ 2785356 w 3393830"/>
              <a:gd name="connsiteY2" fmla="*/ 2043485 h 2043485"/>
              <a:gd name="connsiteX3" fmla="*/ 0 w 3393830"/>
              <a:gd name="connsiteY3" fmla="*/ 0 h 2043485"/>
              <a:gd name="connsiteX4" fmla="*/ 3393830 w 3393830"/>
              <a:gd name="connsiteY4" fmla="*/ 0 h 2043485"/>
              <a:gd name="connsiteX5" fmla="*/ 3393830 w 3393830"/>
              <a:gd name="connsiteY5" fmla="*/ 1307626 h 2043485"/>
              <a:gd name="connsiteX6" fmla="*/ 2657971 w 3393830"/>
              <a:gd name="connsiteY6" fmla="*/ 2043485 h 2043485"/>
              <a:gd name="connsiteX7" fmla="*/ 0 w 3393830"/>
              <a:gd name="connsiteY7" fmla="*/ 2043485 h 20434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93830" h="2043485">
                <a:moveTo>
                  <a:pt x="3393830" y="1435011"/>
                </a:moveTo>
                <a:lnTo>
                  <a:pt x="3393830" y="2043485"/>
                </a:lnTo>
                <a:lnTo>
                  <a:pt x="2785356" y="2043485"/>
                </a:lnTo>
                <a:close/>
                <a:moveTo>
                  <a:pt x="0" y="0"/>
                </a:moveTo>
                <a:lnTo>
                  <a:pt x="3393830" y="0"/>
                </a:lnTo>
                <a:lnTo>
                  <a:pt x="3393830" y="1307626"/>
                </a:lnTo>
                <a:lnTo>
                  <a:pt x="2657971" y="2043485"/>
                </a:lnTo>
                <a:lnTo>
                  <a:pt x="0" y="204348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5587796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24" name="그림 개체 틀 23">
            <a:extLst>
              <a:ext uri="{FF2B5EF4-FFF2-40B4-BE49-F238E27FC236}">
                <a16:creationId xmlns:a16="http://schemas.microsoft.com/office/drawing/2014/main" xmlns="" id="{6F099B2E-9C61-4C91-AB24-AB7B70E2D2E0}"/>
              </a:ext>
            </a:extLst>
          </p:cNvPr>
          <p:cNvSpPr>
            <a:spLocks noGrp="1"/>
          </p:cNvSpPr>
          <p:nvPr>
            <p:ph type="pic" idx="18" hasCustomPrompt="1"/>
          </p:nvPr>
        </p:nvSpPr>
        <p:spPr>
          <a:xfrm>
            <a:off x="7301328" y="1495130"/>
            <a:ext cx="1840931" cy="3649326"/>
          </a:xfrm>
          <a:custGeom>
            <a:avLst/>
            <a:gdLst>
              <a:gd name="connsiteX0" fmla="*/ 540722 w 1840931"/>
              <a:gd name="connsiteY0" fmla="*/ 1288720 h 3649326"/>
              <a:gd name="connsiteX1" fmla="*/ 1084110 w 1840931"/>
              <a:gd name="connsiteY1" fmla="*/ 1832108 h 3649326"/>
              <a:gd name="connsiteX2" fmla="*/ 548200 w 1840931"/>
              <a:gd name="connsiteY2" fmla="*/ 2368018 h 3649326"/>
              <a:gd name="connsiteX3" fmla="*/ 0 w 1840931"/>
              <a:gd name="connsiteY3" fmla="*/ 1824663 h 3649326"/>
              <a:gd name="connsiteX4" fmla="*/ 1840931 w 1840931"/>
              <a:gd name="connsiteY4" fmla="*/ 0 h 3649326"/>
              <a:gd name="connsiteX5" fmla="*/ 1840931 w 1840931"/>
              <a:gd name="connsiteY5" fmla="*/ 3649326 h 3649326"/>
              <a:gd name="connsiteX6" fmla="*/ 609809 w 1840931"/>
              <a:gd name="connsiteY6" fmla="*/ 2429083 h 3649326"/>
              <a:gd name="connsiteX7" fmla="*/ 1206783 w 1840931"/>
              <a:gd name="connsiteY7" fmla="*/ 1832108 h 3649326"/>
              <a:gd name="connsiteX8" fmla="*/ 602331 w 1840931"/>
              <a:gd name="connsiteY8" fmla="*/ 1227655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40931" h="3649326">
                <a:moveTo>
                  <a:pt x="540722" y="1288720"/>
                </a:moveTo>
                <a:lnTo>
                  <a:pt x="1084110" y="1832108"/>
                </a:lnTo>
                <a:lnTo>
                  <a:pt x="548200" y="2368018"/>
                </a:lnTo>
                <a:lnTo>
                  <a:pt x="0" y="1824663"/>
                </a:lnTo>
                <a:close/>
                <a:moveTo>
                  <a:pt x="1840931" y="0"/>
                </a:moveTo>
                <a:lnTo>
                  <a:pt x="1840931" y="3649326"/>
                </a:lnTo>
                <a:lnTo>
                  <a:pt x="609809" y="2429083"/>
                </a:lnTo>
                <a:lnTo>
                  <a:pt x="1206783" y="1832108"/>
                </a:lnTo>
                <a:lnTo>
                  <a:pt x="602331" y="1227655"/>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3" name="그림 개체 틀 22">
            <a:extLst>
              <a:ext uri="{FF2B5EF4-FFF2-40B4-BE49-F238E27FC236}">
                <a16:creationId xmlns:a16="http://schemas.microsoft.com/office/drawing/2014/main" xmlns="" id="{02450FB2-6A00-42CF-B869-69B7A802C2C5}"/>
              </a:ext>
            </a:extLst>
          </p:cNvPr>
          <p:cNvSpPr>
            <a:spLocks noGrp="1"/>
          </p:cNvSpPr>
          <p:nvPr>
            <p:ph type="pic" idx="19" hasCustomPrompt="1"/>
          </p:nvPr>
        </p:nvSpPr>
        <p:spPr>
          <a:xfrm>
            <a:off x="5476381" y="3386021"/>
            <a:ext cx="3530788" cy="1769004"/>
          </a:xfrm>
          <a:custGeom>
            <a:avLst/>
            <a:gdLst>
              <a:gd name="connsiteX0" fmla="*/ 2368610 w 3530788"/>
              <a:gd name="connsiteY0" fmla="*/ 604337 h 1769004"/>
              <a:gd name="connsiteX1" fmla="*/ 3530788 w 3530788"/>
              <a:gd name="connsiteY1" fmla="*/ 1761052 h 1769004"/>
              <a:gd name="connsiteX2" fmla="*/ 0 w 3530788"/>
              <a:gd name="connsiteY2" fmla="*/ 1769004 h 1769004"/>
              <a:gd name="connsiteX3" fmla="*/ 1159186 w 3530788"/>
              <a:gd name="connsiteY3" fmla="*/ 604826 h 1769004"/>
              <a:gd name="connsiteX4" fmla="*/ 1763653 w 3530788"/>
              <a:gd name="connsiteY4" fmla="*/ 1209294 h 1769004"/>
              <a:gd name="connsiteX5" fmla="*/ 1761418 w 3530788"/>
              <a:gd name="connsiteY5" fmla="*/ 0 h 1769004"/>
              <a:gd name="connsiteX6" fmla="*/ 2307129 w 3530788"/>
              <a:gd name="connsiteY6" fmla="*/ 543145 h 1769004"/>
              <a:gd name="connsiteX7" fmla="*/ 1763653 w 3530788"/>
              <a:gd name="connsiteY7" fmla="*/ 1086621 h 1769004"/>
              <a:gd name="connsiteX8" fmla="*/ 1220390 w 3530788"/>
              <a:gd name="connsiteY8" fmla="*/ 543358 h 1769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30788" h="1769004">
                <a:moveTo>
                  <a:pt x="2368610" y="604337"/>
                </a:moveTo>
                <a:lnTo>
                  <a:pt x="3530788" y="1761052"/>
                </a:lnTo>
                <a:lnTo>
                  <a:pt x="0" y="1769004"/>
                </a:lnTo>
                <a:lnTo>
                  <a:pt x="1159186" y="604826"/>
                </a:lnTo>
                <a:lnTo>
                  <a:pt x="1763653" y="1209294"/>
                </a:lnTo>
                <a:close/>
                <a:moveTo>
                  <a:pt x="1761418" y="0"/>
                </a:moveTo>
                <a:lnTo>
                  <a:pt x="2307129" y="543145"/>
                </a:lnTo>
                <a:lnTo>
                  <a:pt x="1763653" y="1086621"/>
                </a:lnTo>
                <a:lnTo>
                  <a:pt x="1220390" y="543358"/>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2" name="그림 개체 틀 21">
            <a:extLst>
              <a:ext uri="{FF2B5EF4-FFF2-40B4-BE49-F238E27FC236}">
                <a16:creationId xmlns:a16="http://schemas.microsoft.com/office/drawing/2014/main" xmlns="" id="{818F7804-9A99-482C-9BFA-8B2E895ADDDC}"/>
              </a:ext>
            </a:extLst>
          </p:cNvPr>
          <p:cNvSpPr>
            <a:spLocks noGrp="1"/>
          </p:cNvSpPr>
          <p:nvPr>
            <p:ph type="pic" idx="20" hasCustomPrompt="1"/>
          </p:nvPr>
        </p:nvSpPr>
        <p:spPr>
          <a:xfrm>
            <a:off x="3491431" y="1495130"/>
            <a:ext cx="3681862" cy="3649326"/>
          </a:xfrm>
          <a:custGeom>
            <a:avLst/>
            <a:gdLst>
              <a:gd name="connsiteX0" fmla="*/ 3143876 w 3681862"/>
              <a:gd name="connsiteY0" fmla="*/ 1291431 h 3649326"/>
              <a:gd name="connsiteX1" fmla="*/ 3681862 w 3681862"/>
              <a:gd name="connsiteY1" fmla="*/ 1824663 h 3649326"/>
              <a:gd name="connsiteX2" fmla="*/ 3136398 w 3681862"/>
              <a:gd name="connsiteY2" fmla="*/ 2365307 h 3649326"/>
              <a:gd name="connsiteX3" fmla="*/ 2603199 w 3681862"/>
              <a:gd name="connsiteY3" fmla="*/ 1832108 h 3649326"/>
              <a:gd name="connsiteX4" fmla="*/ 1840931 w 3681862"/>
              <a:gd name="connsiteY4" fmla="*/ 0 h 3649326"/>
              <a:gd name="connsiteX5" fmla="*/ 3082267 w 3681862"/>
              <a:gd name="connsiteY5" fmla="*/ 1230367 h 3649326"/>
              <a:gd name="connsiteX6" fmla="*/ 2480526 w 3681862"/>
              <a:gd name="connsiteY6" fmla="*/ 1832108 h 3649326"/>
              <a:gd name="connsiteX7" fmla="*/ 3074789 w 3681862"/>
              <a:gd name="connsiteY7" fmla="*/ 2426371 h 3649326"/>
              <a:gd name="connsiteX8" fmla="*/ 1840931 w 3681862"/>
              <a:gd name="connsiteY8" fmla="*/ 3649326 h 3649326"/>
              <a:gd name="connsiteX9" fmla="*/ 0 w 3681862"/>
              <a:gd name="connsiteY9" fmla="*/ 1824663 h 36493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81862" h="3649326">
                <a:moveTo>
                  <a:pt x="3143876" y="1291431"/>
                </a:moveTo>
                <a:lnTo>
                  <a:pt x="3681862" y="1824663"/>
                </a:lnTo>
                <a:lnTo>
                  <a:pt x="3136398" y="2365307"/>
                </a:lnTo>
                <a:lnTo>
                  <a:pt x="2603199" y="1832108"/>
                </a:lnTo>
                <a:close/>
                <a:moveTo>
                  <a:pt x="1840931" y="0"/>
                </a:moveTo>
                <a:lnTo>
                  <a:pt x="3082267" y="1230367"/>
                </a:lnTo>
                <a:lnTo>
                  <a:pt x="2480526" y="1832108"/>
                </a:lnTo>
                <a:lnTo>
                  <a:pt x="3074789" y="2426371"/>
                </a:lnTo>
                <a:lnTo>
                  <a:pt x="1840931" y="3649326"/>
                </a:lnTo>
                <a:lnTo>
                  <a:pt x="0" y="1824663"/>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1" name="그림 개체 틀 20">
            <a:extLst>
              <a:ext uri="{FF2B5EF4-FFF2-40B4-BE49-F238E27FC236}">
                <a16:creationId xmlns:a16="http://schemas.microsoft.com/office/drawing/2014/main" xmlns="" id="{59353D25-D7C0-4FC1-88CF-A55DAFC5690D}"/>
              </a:ext>
            </a:extLst>
          </p:cNvPr>
          <p:cNvSpPr>
            <a:spLocks noGrp="1"/>
          </p:cNvSpPr>
          <p:nvPr>
            <p:ph type="pic" idx="21" hasCustomPrompt="1"/>
          </p:nvPr>
        </p:nvSpPr>
        <p:spPr>
          <a:xfrm>
            <a:off x="5396868" y="-11318"/>
            <a:ext cx="3681862" cy="3267664"/>
          </a:xfrm>
          <a:custGeom>
            <a:avLst/>
            <a:gdLst>
              <a:gd name="connsiteX0" fmla="*/ 1843166 w 3681862"/>
              <a:gd name="connsiteY0" fmla="*/ 2193152 h 3267664"/>
              <a:gd name="connsiteX1" fmla="*/ 2381694 w 3681862"/>
              <a:gd name="connsiteY1" fmla="*/ 2731680 h 3267664"/>
              <a:gd name="connsiteX2" fmla="*/ 1840931 w 3681862"/>
              <a:gd name="connsiteY2" fmla="*/ 3267664 h 3267664"/>
              <a:gd name="connsiteX3" fmla="*/ 1302413 w 3681862"/>
              <a:gd name="connsiteY3" fmla="*/ 2733905 h 3267664"/>
              <a:gd name="connsiteX4" fmla="*/ 1467221 w 3681862"/>
              <a:gd name="connsiteY4" fmla="*/ 0 h 3267664"/>
              <a:gd name="connsiteX5" fmla="*/ 2284092 w 3681862"/>
              <a:gd name="connsiteY5" fmla="*/ 19269 h 3267664"/>
              <a:gd name="connsiteX6" fmla="*/ 3681862 w 3681862"/>
              <a:gd name="connsiteY6" fmla="*/ 1443001 h 3267664"/>
              <a:gd name="connsiteX7" fmla="*/ 2443303 w 3681862"/>
              <a:gd name="connsiteY7" fmla="*/ 2670616 h 3267664"/>
              <a:gd name="connsiteX8" fmla="*/ 1843166 w 3681862"/>
              <a:gd name="connsiteY8" fmla="*/ 2070479 h 3267664"/>
              <a:gd name="connsiteX9" fmla="*/ 1240805 w 3681862"/>
              <a:gd name="connsiteY9" fmla="*/ 2672841 h 3267664"/>
              <a:gd name="connsiteX10" fmla="*/ 0 w 3681862"/>
              <a:gd name="connsiteY10" fmla="*/ 1443001 h 3267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1862" h="3267664">
                <a:moveTo>
                  <a:pt x="1843166" y="2193152"/>
                </a:moveTo>
                <a:lnTo>
                  <a:pt x="2381694" y="2731680"/>
                </a:lnTo>
                <a:lnTo>
                  <a:pt x="1840931" y="3267664"/>
                </a:lnTo>
                <a:lnTo>
                  <a:pt x="1302413" y="2733905"/>
                </a:lnTo>
                <a:close/>
                <a:moveTo>
                  <a:pt x="1467221" y="0"/>
                </a:moveTo>
                <a:cubicBezTo>
                  <a:pt x="1832276" y="3773"/>
                  <a:pt x="1919036" y="-406"/>
                  <a:pt x="2284092" y="19269"/>
                </a:cubicBezTo>
                <a:lnTo>
                  <a:pt x="3681862" y="1443001"/>
                </a:lnTo>
                <a:lnTo>
                  <a:pt x="2443303" y="2670616"/>
                </a:lnTo>
                <a:lnTo>
                  <a:pt x="1843166" y="2070479"/>
                </a:lnTo>
                <a:lnTo>
                  <a:pt x="1240805" y="2672841"/>
                </a:lnTo>
                <a:lnTo>
                  <a:pt x="0" y="1443001"/>
                </a:lnTo>
                <a:close/>
              </a:path>
            </a:pathLst>
          </a:custGeom>
          <a:solidFill>
            <a:schemeClr val="bg1">
              <a:lumMod val="95000"/>
            </a:schemeClr>
          </a:solidFill>
        </p:spPr>
        <p:txBody>
          <a:bodyPr wrap="square" anchor="ctr">
            <a:noAutofit/>
          </a:bodyP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313711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699542"/>
            <a:ext cx="9144000" cy="288032"/>
          </a:xfrm>
          <a:prstGeom prst="rect">
            <a:avLst/>
          </a:prstGeom>
        </p:spPr>
        <p:txBody>
          <a:bodyPr anchor="ctr"/>
          <a:lstStyle>
            <a:lvl1pPr marL="0" indent="0" algn="ctr">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Picture Placeholder 2"/>
          <p:cNvSpPr>
            <a:spLocks noGrp="1"/>
          </p:cNvSpPr>
          <p:nvPr>
            <p:ph type="pic" idx="14" hasCustomPrompt="1"/>
          </p:nvPr>
        </p:nvSpPr>
        <p:spPr>
          <a:xfrm>
            <a:off x="395536"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5" hasCustomPrompt="1"/>
          </p:nvPr>
        </p:nvSpPr>
        <p:spPr>
          <a:xfrm>
            <a:off x="395536"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6" hasCustomPrompt="1"/>
          </p:nvPr>
        </p:nvSpPr>
        <p:spPr>
          <a:xfrm>
            <a:off x="1911680"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7" hasCustomPrompt="1"/>
          </p:nvPr>
        </p:nvSpPr>
        <p:spPr>
          <a:xfrm>
            <a:off x="1911680"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5" name="Picture Placeholder 2"/>
          <p:cNvSpPr>
            <a:spLocks noGrp="1"/>
          </p:cNvSpPr>
          <p:nvPr>
            <p:ph type="pic" idx="18" hasCustomPrompt="1"/>
          </p:nvPr>
        </p:nvSpPr>
        <p:spPr>
          <a:xfrm>
            <a:off x="5736054"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6" name="Picture Placeholder 2"/>
          <p:cNvSpPr>
            <a:spLocks noGrp="1"/>
          </p:cNvSpPr>
          <p:nvPr>
            <p:ph type="pic" idx="19" hasCustomPrompt="1"/>
          </p:nvPr>
        </p:nvSpPr>
        <p:spPr>
          <a:xfrm>
            <a:off x="5736055"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7" name="Picture Placeholder 2"/>
          <p:cNvSpPr>
            <a:spLocks noGrp="1"/>
          </p:cNvSpPr>
          <p:nvPr>
            <p:ph type="pic" idx="20" hasCustomPrompt="1"/>
          </p:nvPr>
        </p:nvSpPr>
        <p:spPr>
          <a:xfrm>
            <a:off x="7252198" y="12672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8" name="Picture Placeholder 2"/>
          <p:cNvSpPr>
            <a:spLocks noGrp="1"/>
          </p:cNvSpPr>
          <p:nvPr>
            <p:ph type="pic" idx="21" hasCustomPrompt="1"/>
          </p:nvPr>
        </p:nvSpPr>
        <p:spPr>
          <a:xfrm>
            <a:off x="7252198" y="3075806"/>
            <a:ext cx="1440160" cy="1728191"/>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3427823" y="1275605"/>
            <a:ext cx="2232248" cy="352839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833686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hapes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242646" y="92609"/>
            <a:ext cx="8679898" cy="543185"/>
          </a:xfrm>
          <a:prstGeom prst="rect">
            <a:avLst/>
          </a:prstGeom>
        </p:spPr>
        <p:txBody>
          <a:bodyPr anchor="ctr"/>
          <a:lstStyle>
            <a:lvl1pPr marL="0" indent="0" algn="ctr">
              <a:buNone/>
              <a:defRPr sz="4050" b="0" baseline="0">
                <a:solidFill>
                  <a:schemeClr val="tx1">
                    <a:lumMod val="85000"/>
                    <a:lumOff val="15000"/>
                  </a:schemeClr>
                </a:solidFill>
                <a:latin typeface="+mj-lt"/>
                <a:cs typeface="Arial" pitchFamily="34" charset="0"/>
              </a:defRPr>
            </a:lvl1pPr>
          </a:lstStyle>
          <a:p>
            <a:r>
              <a:rPr lang="en-US" altLang="ko-KR" dirty="0"/>
              <a:t>Fully Editable Shapes</a:t>
            </a:r>
          </a:p>
        </p:txBody>
      </p:sp>
    </p:spTree>
    <p:extLst>
      <p:ext uri="{BB962C8B-B14F-4D97-AF65-F5344CB8AC3E}">
        <p14:creationId xmlns:p14="http://schemas.microsoft.com/office/powerpoint/2010/main" val="12646762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23478"/>
            <a:ext cx="9144000" cy="576064"/>
          </a:xfrm>
          <a:prstGeom prst="rect">
            <a:avLst/>
          </a:prstGeom>
        </p:spPr>
        <p:txBody>
          <a:bodyPr anchor="ctr"/>
          <a:lstStyle>
            <a:lvl1pPr marL="0" indent="0" algn="ctr">
              <a:buNone/>
              <a:defRPr sz="3600" b="0" baseline="0">
                <a:solidFill>
                  <a:schemeClr val="tx1">
                    <a:lumMod val="75000"/>
                    <a:lumOff val="25000"/>
                  </a:schemeClr>
                </a:solidFill>
                <a:latin typeface="+mn-lt"/>
                <a:cs typeface="Arial" pitchFamily="34" charset="0"/>
              </a:defRPr>
            </a:lvl1pPr>
          </a:lstStyle>
          <a:p>
            <a:pPr lvl="0"/>
            <a:r>
              <a:rPr lang="en-US" altLang="ko-KR" dirty="0"/>
              <a:t>ICON SETS LAYOUT</a:t>
            </a:r>
          </a:p>
        </p:txBody>
      </p:sp>
      <p:sp>
        <p:nvSpPr>
          <p:cNvPr id="11" name="Rounded Rectangle 10"/>
          <p:cNvSpPr/>
          <p:nvPr userDrawn="1"/>
        </p:nvSpPr>
        <p:spPr>
          <a:xfrm>
            <a:off x="354008" y="1131589"/>
            <a:ext cx="2849840" cy="364917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Rounded Rectangle 16"/>
          <p:cNvSpPr/>
          <p:nvPr userDrawn="1"/>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bg1"/>
              </a:solidFill>
            </a:endParaRPr>
          </a:p>
        </p:txBody>
      </p:sp>
      <p:sp>
        <p:nvSpPr>
          <p:cNvPr id="18" name="Half Frame 17"/>
          <p:cNvSpPr/>
          <p:nvPr userDrawn="1"/>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Tree>
    <p:extLst>
      <p:ext uri="{BB962C8B-B14F-4D97-AF65-F5344CB8AC3E}">
        <p14:creationId xmlns:p14="http://schemas.microsoft.com/office/powerpoint/2010/main" val="738182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Layout">
    <p:spTree>
      <p:nvGrpSpPr>
        <p:cNvPr id="1" name=""/>
        <p:cNvGrpSpPr/>
        <p:nvPr/>
      </p:nvGrpSpPr>
      <p:grpSpPr>
        <a:xfrm>
          <a:off x="0" y="0"/>
          <a:ext cx="0" cy="0"/>
          <a:chOff x="0" y="0"/>
          <a:chExt cx="0" cy="0"/>
        </a:xfrm>
      </p:grpSpPr>
      <p:grpSp>
        <p:nvGrpSpPr>
          <p:cNvPr id="4" name="그룹 3">
            <a:extLst>
              <a:ext uri="{FF2B5EF4-FFF2-40B4-BE49-F238E27FC236}">
                <a16:creationId xmlns:a16="http://schemas.microsoft.com/office/drawing/2014/main" xmlns="" id="{46628553-F51C-4CE7-A3A6-AB374655DC97}"/>
              </a:ext>
            </a:extLst>
          </p:cNvPr>
          <p:cNvGrpSpPr/>
          <p:nvPr userDrawn="1"/>
        </p:nvGrpSpPr>
        <p:grpSpPr>
          <a:xfrm>
            <a:off x="786525" y="1114965"/>
            <a:ext cx="2320819" cy="2728174"/>
            <a:chOff x="5364088" y="1450891"/>
            <a:chExt cx="2320819" cy="2728174"/>
          </a:xfrm>
        </p:grpSpPr>
        <p:sp>
          <p:nvSpPr>
            <p:cNvPr id="22" name="자유형: 도형 21">
              <a:extLst>
                <a:ext uri="{FF2B5EF4-FFF2-40B4-BE49-F238E27FC236}">
                  <a16:creationId xmlns:a16="http://schemas.microsoft.com/office/drawing/2014/main" xmlns="" id="{B5880087-04C4-411C-AEAA-74B23548761F}"/>
                </a:ext>
              </a:extLst>
            </p:cNvPr>
            <p:cNvSpPr/>
            <p:nvPr userDrawn="1"/>
          </p:nvSpPr>
          <p:spPr>
            <a:xfrm>
              <a:off x="5399290" y="2150906"/>
              <a:ext cx="2261257" cy="2028159"/>
            </a:xfrm>
            <a:custGeom>
              <a:avLst/>
              <a:gdLst>
                <a:gd name="connsiteX0" fmla="*/ 1012851 w 2261257"/>
                <a:gd name="connsiteY0" fmla="*/ 0 h 2028159"/>
                <a:gd name="connsiteX1" fmla="*/ 1226850 w 2261257"/>
                <a:gd name="connsiteY1" fmla="*/ 0 h 2028159"/>
                <a:gd name="connsiteX2" fmla="*/ 1283043 w 2261257"/>
                <a:gd name="connsiteY2" fmla="*/ 449131 h 2028159"/>
                <a:gd name="connsiteX3" fmla="*/ 1318239 w 2261257"/>
                <a:gd name="connsiteY3" fmla="*/ 455866 h 2028159"/>
                <a:gd name="connsiteX4" fmla="*/ 1530113 w 2261257"/>
                <a:gd name="connsiteY4" fmla="*/ 605602 h 2028159"/>
                <a:gd name="connsiteX5" fmla="*/ 1548314 w 2261257"/>
                <a:gd name="connsiteY5" fmla="*/ 639136 h 2028159"/>
                <a:gd name="connsiteX6" fmla="*/ 1577154 w 2261257"/>
                <a:gd name="connsiteY6" fmla="*/ 636229 h 2028159"/>
                <a:gd name="connsiteX7" fmla="*/ 1914152 w 2261257"/>
                <a:gd name="connsiteY7" fmla="*/ 859606 h 2028159"/>
                <a:gd name="connsiteX8" fmla="*/ 1919810 w 2261257"/>
                <a:gd name="connsiteY8" fmla="*/ 877832 h 2028159"/>
                <a:gd name="connsiteX9" fmla="*/ 1932155 w 2261257"/>
                <a:gd name="connsiteY9" fmla="*/ 874000 h 2028159"/>
                <a:gd name="connsiteX10" fmla="*/ 1981836 w 2261257"/>
                <a:gd name="connsiteY10" fmla="*/ 868991 h 2028159"/>
                <a:gd name="connsiteX11" fmla="*/ 2223343 w 2261257"/>
                <a:gd name="connsiteY11" fmla="*/ 1065825 h 2028159"/>
                <a:gd name="connsiteX12" fmla="*/ 2225319 w 2261257"/>
                <a:gd name="connsiteY12" fmla="*/ 1085429 h 2028159"/>
                <a:gd name="connsiteX13" fmla="*/ 2261257 w 2261257"/>
                <a:gd name="connsiteY13" fmla="*/ 1089052 h 2028159"/>
                <a:gd name="connsiteX14" fmla="*/ 2259340 w 2261257"/>
                <a:gd name="connsiteY14" fmla="*/ 1101612 h 2028159"/>
                <a:gd name="connsiteX15" fmla="*/ 1122505 w 2261257"/>
                <a:gd name="connsiteY15" fmla="*/ 2028159 h 2028159"/>
                <a:gd name="connsiteX16" fmla="*/ 14265 w 2261257"/>
                <a:gd name="connsiteY16" fmla="*/ 1212820 h 2028159"/>
                <a:gd name="connsiteX17" fmla="*/ 0 w 2261257"/>
                <a:gd name="connsiteY17" fmla="*/ 1157341 h 2028159"/>
                <a:gd name="connsiteX18" fmla="*/ 3235 w 2261257"/>
                <a:gd name="connsiteY18" fmla="*/ 1157015 h 2028159"/>
                <a:gd name="connsiteX19" fmla="*/ 87605 w 2261257"/>
                <a:gd name="connsiteY19" fmla="*/ 1165520 h 2028159"/>
                <a:gd name="connsiteX20" fmla="*/ 113456 w 2261257"/>
                <a:gd name="connsiteY20" fmla="*/ 1173545 h 2028159"/>
                <a:gd name="connsiteX21" fmla="*/ 128106 w 2261257"/>
                <a:gd name="connsiteY21" fmla="*/ 1155791 h 2028159"/>
                <a:gd name="connsiteX22" fmla="*/ 424127 w 2261257"/>
                <a:gd name="connsiteY22" fmla="*/ 1033175 h 2028159"/>
                <a:gd name="connsiteX23" fmla="*/ 435940 w 2261257"/>
                <a:gd name="connsiteY23" fmla="*/ 1034366 h 2028159"/>
                <a:gd name="connsiteX24" fmla="*/ 427636 w 2261257"/>
                <a:gd name="connsiteY24" fmla="*/ 1007613 h 2028159"/>
                <a:gd name="connsiteX25" fmla="*/ 424127 w 2261257"/>
                <a:gd name="connsiteY25" fmla="*/ 972807 h 2028159"/>
                <a:gd name="connsiteX26" fmla="*/ 562024 w 2261257"/>
                <a:gd name="connsiteY26" fmla="*/ 803613 h 2028159"/>
                <a:gd name="connsiteX27" fmla="*/ 569156 w 2261257"/>
                <a:gd name="connsiteY27" fmla="*/ 802894 h 2028159"/>
                <a:gd name="connsiteX28" fmla="*/ 573923 w 2261257"/>
                <a:gd name="connsiteY28" fmla="*/ 755602 h 2028159"/>
                <a:gd name="connsiteX29" fmla="*/ 903523 w 2261257"/>
                <a:gd name="connsiteY29" fmla="*/ 486970 h 2028159"/>
                <a:gd name="connsiteX30" fmla="*/ 951321 w 2261257"/>
                <a:gd name="connsiteY30" fmla="*/ 491789 h 202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261257" h="2028159">
                  <a:moveTo>
                    <a:pt x="1012851" y="0"/>
                  </a:moveTo>
                  <a:lnTo>
                    <a:pt x="1226850" y="0"/>
                  </a:lnTo>
                  <a:lnTo>
                    <a:pt x="1283043" y="449131"/>
                  </a:lnTo>
                  <a:lnTo>
                    <a:pt x="1318239" y="455866"/>
                  </a:lnTo>
                  <a:cubicBezTo>
                    <a:pt x="1405884" y="478416"/>
                    <a:pt x="1480818" y="532637"/>
                    <a:pt x="1530113" y="605602"/>
                  </a:cubicBezTo>
                  <a:lnTo>
                    <a:pt x="1548314" y="639136"/>
                  </a:lnTo>
                  <a:lnTo>
                    <a:pt x="1577154" y="636229"/>
                  </a:lnTo>
                  <a:cubicBezTo>
                    <a:pt x="1728648" y="636229"/>
                    <a:pt x="1858629" y="728337"/>
                    <a:pt x="1914152" y="859606"/>
                  </a:cubicBezTo>
                  <a:lnTo>
                    <a:pt x="1919810" y="877832"/>
                  </a:lnTo>
                  <a:lnTo>
                    <a:pt x="1932155" y="874000"/>
                  </a:lnTo>
                  <a:cubicBezTo>
                    <a:pt x="1948202" y="870716"/>
                    <a:pt x="1964818" y="868991"/>
                    <a:pt x="1981836" y="868991"/>
                  </a:cubicBezTo>
                  <a:cubicBezTo>
                    <a:pt x="2100964" y="868991"/>
                    <a:pt x="2200356" y="953493"/>
                    <a:pt x="2223343" y="1065825"/>
                  </a:cubicBezTo>
                  <a:lnTo>
                    <a:pt x="2225319" y="1085429"/>
                  </a:lnTo>
                  <a:lnTo>
                    <a:pt x="2261257" y="1089052"/>
                  </a:lnTo>
                  <a:lnTo>
                    <a:pt x="2259340" y="1101612"/>
                  </a:lnTo>
                  <a:cubicBezTo>
                    <a:pt x="2151136" y="1630392"/>
                    <a:pt x="1683273" y="2028159"/>
                    <a:pt x="1122505" y="2028159"/>
                  </a:cubicBezTo>
                  <a:cubicBezTo>
                    <a:pt x="601793" y="2028159"/>
                    <a:pt x="161186" y="1685186"/>
                    <a:pt x="14265" y="1212820"/>
                  </a:cubicBezTo>
                  <a:lnTo>
                    <a:pt x="0" y="1157341"/>
                  </a:lnTo>
                  <a:lnTo>
                    <a:pt x="3235" y="1157015"/>
                  </a:lnTo>
                  <a:cubicBezTo>
                    <a:pt x="32136" y="1157015"/>
                    <a:pt x="60353" y="1159944"/>
                    <a:pt x="87605" y="1165520"/>
                  </a:cubicBezTo>
                  <a:lnTo>
                    <a:pt x="113456" y="1173545"/>
                  </a:lnTo>
                  <a:lnTo>
                    <a:pt x="128106" y="1155791"/>
                  </a:lnTo>
                  <a:cubicBezTo>
                    <a:pt x="203864" y="1080032"/>
                    <a:pt x="308523" y="1033175"/>
                    <a:pt x="424127" y="1033175"/>
                  </a:cubicBezTo>
                  <a:lnTo>
                    <a:pt x="435940" y="1034366"/>
                  </a:lnTo>
                  <a:lnTo>
                    <a:pt x="427636" y="1007613"/>
                  </a:lnTo>
                  <a:cubicBezTo>
                    <a:pt x="425335" y="996370"/>
                    <a:pt x="424127" y="984730"/>
                    <a:pt x="424127" y="972807"/>
                  </a:cubicBezTo>
                  <a:cubicBezTo>
                    <a:pt x="424127" y="889349"/>
                    <a:pt x="483326" y="819717"/>
                    <a:pt x="562024" y="803613"/>
                  </a:cubicBezTo>
                  <a:lnTo>
                    <a:pt x="569156" y="802894"/>
                  </a:lnTo>
                  <a:lnTo>
                    <a:pt x="573923" y="755602"/>
                  </a:lnTo>
                  <a:cubicBezTo>
                    <a:pt x="605295" y="602294"/>
                    <a:pt x="740941" y="486970"/>
                    <a:pt x="903523" y="486970"/>
                  </a:cubicBezTo>
                  <a:lnTo>
                    <a:pt x="951321" y="49178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3" name="타원 2">
              <a:extLst>
                <a:ext uri="{FF2B5EF4-FFF2-40B4-BE49-F238E27FC236}">
                  <a16:creationId xmlns:a16="http://schemas.microsoft.com/office/drawing/2014/main" xmlns="" id="{7EF498E6-9850-42A0-8643-E6250BB46DE0}"/>
                </a:ext>
              </a:extLst>
            </p:cNvPr>
            <p:cNvSpPr/>
            <p:nvPr userDrawn="1"/>
          </p:nvSpPr>
          <p:spPr>
            <a:xfrm>
              <a:off x="5364088" y="1858246"/>
              <a:ext cx="2320819" cy="2320819"/>
            </a:xfrm>
            <a:prstGeom prst="ellipse">
              <a:avLst/>
            </a:prstGeom>
            <a:noFill/>
            <a:ln w="254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8" name="그룹 7">
              <a:extLst>
                <a:ext uri="{FF2B5EF4-FFF2-40B4-BE49-F238E27FC236}">
                  <a16:creationId xmlns:a16="http://schemas.microsoft.com/office/drawing/2014/main" xmlns="" id="{AF789A84-B899-484F-ADA6-1B784064DB8A}"/>
                </a:ext>
              </a:extLst>
            </p:cNvPr>
            <p:cNvGrpSpPr/>
            <p:nvPr userDrawn="1"/>
          </p:nvGrpSpPr>
          <p:grpSpPr>
            <a:xfrm>
              <a:off x="6280305" y="1450891"/>
              <a:ext cx="477626" cy="918140"/>
              <a:chOff x="5304862" y="-789923"/>
              <a:chExt cx="645890" cy="1241591"/>
            </a:xfrm>
          </p:grpSpPr>
          <p:grpSp>
            <p:nvGrpSpPr>
              <p:cNvPr id="9" name="그룹 8">
                <a:extLst>
                  <a:ext uri="{FF2B5EF4-FFF2-40B4-BE49-F238E27FC236}">
                    <a16:creationId xmlns:a16="http://schemas.microsoft.com/office/drawing/2014/main" xmlns="" id="{6DDA03B1-B885-4EB8-9AC5-617A33E28AA0}"/>
                  </a:ext>
                </a:extLst>
              </p:cNvPr>
              <p:cNvGrpSpPr/>
              <p:nvPr userDrawn="1"/>
            </p:nvGrpSpPr>
            <p:grpSpPr>
              <a:xfrm>
                <a:off x="5377232" y="-789923"/>
                <a:ext cx="495969" cy="1052585"/>
                <a:chOff x="5868144" y="-857099"/>
                <a:chExt cx="495969" cy="1052585"/>
              </a:xfrm>
            </p:grpSpPr>
            <p:sp>
              <p:nvSpPr>
                <p:cNvPr id="16" name="이등변 삼각형 49">
                  <a:extLst>
                    <a:ext uri="{FF2B5EF4-FFF2-40B4-BE49-F238E27FC236}">
                      <a16:creationId xmlns:a16="http://schemas.microsoft.com/office/drawing/2014/main" xmlns="" id="{50824863-8B90-4264-9AEB-19AE04C9A70D}"/>
                    </a:ext>
                  </a:extLst>
                </p:cNvPr>
                <p:cNvSpPr/>
                <p:nvPr userDrawn="1"/>
              </p:nvSpPr>
              <p:spPr>
                <a:xfrm>
                  <a:off x="5868144" y="-853769"/>
                  <a:ext cx="495969" cy="1049255"/>
                </a:xfrm>
                <a:custGeom>
                  <a:avLst/>
                  <a:gdLst>
                    <a:gd name="connsiteX0" fmla="*/ 0 w 311344"/>
                    <a:gd name="connsiteY0" fmla="*/ 1049255 h 1049255"/>
                    <a:gd name="connsiteX1" fmla="*/ 155672 w 311344"/>
                    <a:gd name="connsiteY1" fmla="*/ 0 h 1049255"/>
                    <a:gd name="connsiteX2" fmla="*/ 311344 w 311344"/>
                    <a:gd name="connsiteY2" fmla="*/ 1049255 h 1049255"/>
                    <a:gd name="connsiteX3" fmla="*/ 0 w 311344"/>
                    <a:gd name="connsiteY3" fmla="*/ 1049255 h 1049255"/>
                    <a:gd name="connsiteX0" fmla="*/ 45684 w 357028"/>
                    <a:gd name="connsiteY0" fmla="*/ 1049255 h 1049255"/>
                    <a:gd name="connsiteX1" fmla="*/ 201356 w 357028"/>
                    <a:gd name="connsiteY1" fmla="*/ 0 h 1049255"/>
                    <a:gd name="connsiteX2" fmla="*/ 357028 w 357028"/>
                    <a:gd name="connsiteY2" fmla="*/ 1049255 h 1049255"/>
                    <a:gd name="connsiteX3" fmla="*/ 45684 w 357028"/>
                    <a:gd name="connsiteY3" fmla="*/ 1049255 h 1049255"/>
                    <a:gd name="connsiteX0" fmla="*/ 45684 w 416158"/>
                    <a:gd name="connsiteY0" fmla="*/ 1049255 h 1049255"/>
                    <a:gd name="connsiteX1" fmla="*/ 201356 w 416158"/>
                    <a:gd name="connsiteY1" fmla="*/ 0 h 1049255"/>
                    <a:gd name="connsiteX2" fmla="*/ 357028 w 416158"/>
                    <a:gd name="connsiteY2" fmla="*/ 1049255 h 1049255"/>
                    <a:gd name="connsiteX3" fmla="*/ 45684 w 416158"/>
                    <a:gd name="connsiteY3" fmla="*/ 1049255 h 1049255"/>
                    <a:gd name="connsiteX0" fmla="*/ 87161 w 457635"/>
                    <a:gd name="connsiteY0" fmla="*/ 1049255 h 1049255"/>
                    <a:gd name="connsiteX1" fmla="*/ 242833 w 457635"/>
                    <a:gd name="connsiteY1" fmla="*/ 0 h 1049255"/>
                    <a:gd name="connsiteX2" fmla="*/ 398505 w 457635"/>
                    <a:gd name="connsiteY2" fmla="*/ 1049255 h 1049255"/>
                    <a:gd name="connsiteX3" fmla="*/ 87161 w 457635"/>
                    <a:gd name="connsiteY3" fmla="*/ 1049255 h 1049255"/>
                    <a:gd name="connsiteX0" fmla="*/ 87161 w 500627"/>
                    <a:gd name="connsiteY0" fmla="*/ 1049255 h 1049255"/>
                    <a:gd name="connsiteX1" fmla="*/ 242833 w 500627"/>
                    <a:gd name="connsiteY1" fmla="*/ 0 h 1049255"/>
                    <a:gd name="connsiteX2" fmla="*/ 398505 w 500627"/>
                    <a:gd name="connsiteY2" fmla="*/ 1049255 h 1049255"/>
                    <a:gd name="connsiteX3" fmla="*/ 87161 w 500627"/>
                    <a:gd name="connsiteY3" fmla="*/ 1049255 h 1049255"/>
                    <a:gd name="connsiteX0" fmla="*/ 91187 w 504653"/>
                    <a:gd name="connsiteY0" fmla="*/ 1049255 h 1049255"/>
                    <a:gd name="connsiteX1" fmla="*/ 246859 w 504653"/>
                    <a:gd name="connsiteY1" fmla="*/ 0 h 1049255"/>
                    <a:gd name="connsiteX2" fmla="*/ 402531 w 504653"/>
                    <a:gd name="connsiteY2" fmla="*/ 1049255 h 1049255"/>
                    <a:gd name="connsiteX3" fmla="*/ 91187 w 504653"/>
                    <a:gd name="connsiteY3" fmla="*/ 1049255 h 1049255"/>
                    <a:gd name="connsiteX0" fmla="*/ 91187 w 500775"/>
                    <a:gd name="connsiteY0" fmla="*/ 1049255 h 1049255"/>
                    <a:gd name="connsiteX1" fmla="*/ 246859 w 500775"/>
                    <a:gd name="connsiteY1" fmla="*/ 0 h 1049255"/>
                    <a:gd name="connsiteX2" fmla="*/ 402531 w 500775"/>
                    <a:gd name="connsiteY2" fmla="*/ 1049255 h 1049255"/>
                    <a:gd name="connsiteX3" fmla="*/ 91187 w 500775"/>
                    <a:gd name="connsiteY3" fmla="*/ 1049255 h 1049255"/>
                    <a:gd name="connsiteX0" fmla="*/ 91187 w 484758"/>
                    <a:gd name="connsiteY0" fmla="*/ 1049255 h 1049255"/>
                    <a:gd name="connsiteX1" fmla="*/ 246859 w 484758"/>
                    <a:gd name="connsiteY1" fmla="*/ 0 h 1049255"/>
                    <a:gd name="connsiteX2" fmla="*/ 402531 w 484758"/>
                    <a:gd name="connsiteY2" fmla="*/ 1049255 h 1049255"/>
                    <a:gd name="connsiteX3" fmla="*/ 91187 w 484758"/>
                    <a:gd name="connsiteY3" fmla="*/ 1049255 h 1049255"/>
                    <a:gd name="connsiteX0" fmla="*/ 91187 w 488692"/>
                    <a:gd name="connsiteY0" fmla="*/ 1049255 h 1049255"/>
                    <a:gd name="connsiteX1" fmla="*/ 246859 w 488692"/>
                    <a:gd name="connsiteY1" fmla="*/ 0 h 1049255"/>
                    <a:gd name="connsiteX2" fmla="*/ 402531 w 488692"/>
                    <a:gd name="connsiteY2" fmla="*/ 1049255 h 1049255"/>
                    <a:gd name="connsiteX3" fmla="*/ 91187 w 488692"/>
                    <a:gd name="connsiteY3" fmla="*/ 1049255 h 1049255"/>
                    <a:gd name="connsiteX0" fmla="*/ 91187 w 492707"/>
                    <a:gd name="connsiteY0" fmla="*/ 1049255 h 1049255"/>
                    <a:gd name="connsiteX1" fmla="*/ 246859 w 492707"/>
                    <a:gd name="connsiteY1" fmla="*/ 0 h 1049255"/>
                    <a:gd name="connsiteX2" fmla="*/ 402531 w 492707"/>
                    <a:gd name="connsiteY2" fmla="*/ 1049255 h 1049255"/>
                    <a:gd name="connsiteX3" fmla="*/ 91187 w 492707"/>
                    <a:gd name="connsiteY3" fmla="*/ 1049255 h 1049255"/>
                    <a:gd name="connsiteX0" fmla="*/ 95257 w 496777"/>
                    <a:gd name="connsiteY0" fmla="*/ 1049255 h 1049255"/>
                    <a:gd name="connsiteX1" fmla="*/ 250929 w 496777"/>
                    <a:gd name="connsiteY1" fmla="*/ 0 h 1049255"/>
                    <a:gd name="connsiteX2" fmla="*/ 406601 w 496777"/>
                    <a:gd name="connsiteY2" fmla="*/ 1049255 h 1049255"/>
                    <a:gd name="connsiteX3" fmla="*/ 95257 w 496777"/>
                    <a:gd name="connsiteY3" fmla="*/ 1049255 h 1049255"/>
                    <a:gd name="connsiteX0" fmla="*/ 95257 w 485293"/>
                    <a:gd name="connsiteY0" fmla="*/ 1049255 h 1049255"/>
                    <a:gd name="connsiteX1" fmla="*/ 250929 w 485293"/>
                    <a:gd name="connsiteY1" fmla="*/ 0 h 1049255"/>
                    <a:gd name="connsiteX2" fmla="*/ 406601 w 485293"/>
                    <a:gd name="connsiteY2" fmla="*/ 1049255 h 1049255"/>
                    <a:gd name="connsiteX3" fmla="*/ 95257 w 485293"/>
                    <a:gd name="connsiteY3" fmla="*/ 1049255 h 1049255"/>
                    <a:gd name="connsiteX0" fmla="*/ 95257 w 494828"/>
                    <a:gd name="connsiteY0" fmla="*/ 1049255 h 1049255"/>
                    <a:gd name="connsiteX1" fmla="*/ 250929 w 494828"/>
                    <a:gd name="connsiteY1" fmla="*/ 0 h 1049255"/>
                    <a:gd name="connsiteX2" fmla="*/ 406601 w 494828"/>
                    <a:gd name="connsiteY2" fmla="*/ 1049255 h 1049255"/>
                    <a:gd name="connsiteX3" fmla="*/ 95257 w 494828"/>
                    <a:gd name="connsiteY3" fmla="*/ 1049255 h 1049255"/>
                    <a:gd name="connsiteX0" fmla="*/ 95257 w 493814"/>
                    <a:gd name="connsiteY0" fmla="*/ 1049255 h 1049255"/>
                    <a:gd name="connsiteX1" fmla="*/ 250929 w 493814"/>
                    <a:gd name="connsiteY1" fmla="*/ 0 h 1049255"/>
                    <a:gd name="connsiteX2" fmla="*/ 406601 w 493814"/>
                    <a:gd name="connsiteY2" fmla="*/ 1049255 h 1049255"/>
                    <a:gd name="connsiteX3" fmla="*/ 95257 w 493814"/>
                    <a:gd name="connsiteY3" fmla="*/ 1049255 h 1049255"/>
                    <a:gd name="connsiteX0" fmla="*/ 95257 w 496864"/>
                    <a:gd name="connsiteY0" fmla="*/ 1049255 h 1049255"/>
                    <a:gd name="connsiteX1" fmla="*/ 250929 w 496864"/>
                    <a:gd name="connsiteY1" fmla="*/ 0 h 1049255"/>
                    <a:gd name="connsiteX2" fmla="*/ 406601 w 496864"/>
                    <a:gd name="connsiteY2" fmla="*/ 1049255 h 1049255"/>
                    <a:gd name="connsiteX3" fmla="*/ 95257 w 496864"/>
                    <a:gd name="connsiteY3" fmla="*/ 1049255 h 1049255"/>
                    <a:gd name="connsiteX0" fmla="*/ 95257 w 497887"/>
                    <a:gd name="connsiteY0" fmla="*/ 1049255 h 1049255"/>
                    <a:gd name="connsiteX1" fmla="*/ 250929 w 497887"/>
                    <a:gd name="connsiteY1" fmla="*/ 0 h 1049255"/>
                    <a:gd name="connsiteX2" fmla="*/ 406601 w 497887"/>
                    <a:gd name="connsiteY2" fmla="*/ 1049255 h 1049255"/>
                    <a:gd name="connsiteX3" fmla="*/ 95257 w 497887"/>
                    <a:gd name="connsiteY3" fmla="*/ 1049255 h 1049255"/>
                    <a:gd name="connsiteX0" fmla="*/ 95257 w 495969"/>
                    <a:gd name="connsiteY0" fmla="*/ 1049255 h 1049255"/>
                    <a:gd name="connsiteX1" fmla="*/ 250929 w 495969"/>
                    <a:gd name="connsiteY1" fmla="*/ 0 h 1049255"/>
                    <a:gd name="connsiteX2" fmla="*/ 406601 w 495969"/>
                    <a:gd name="connsiteY2" fmla="*/ 1049255 h 1049255"/>
                    <a:gd name="connsiteX3" fmla="*/ 95257 w 495969"/>
                    <a:gd name="connsiteY3" fmla="*/ 1049255 h 1049255"/>
                  </a:gdLst>
                  <a:ahLst/>
                  <a:cxnLst>
                    <a:cxn ang="0">
                      <a:pos x="connsiteX0" y="connsiteY0"/>
                    </a:cxn>
                    <a:cxn ang="0">
                      <a:pos x="connsiteX1" y="connsiteY1"/>
                    </a:cxn>
                    <a:cxn ang="0">
                      <a:pos x="connsiteX2" y="connsiteY2"/>
                    </a:cxn>
                    <a:cxn ang="0">
                      <a:pos x="connsiteX3" y="connsiteY3"/>
                    </a:cxn>
                  </a:cxnLst>
                  <a:rect l="l" t="t" r="r" b="b"/>
                  <a:pathLst>
                    <a:path w="495969" h="1049255">
                      <a:moveTo>
                        <a:pt x="95257" y="1049255"/>
                      </a:moveTo>
                      <a:cubicBezTo>
                        <a:pt x="6676" y="723357"/>
                        <a:pt x="-121664" y="317947"/>
                        <a:pt x="250929" y="0"/>
                      </a:cubicBezTo>
                      <a:cubicBezTo>
                        <a:pt x="612920" y="328549"/>
                        <a:pt x="489882" y="781667"/>
                        <a:pt x="406601" y="1049255"/>
                      </a:cubicBezTo>
                      <a:lnTo>
                        <a:pt x="95257" y="1049255"/>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7" name="자유형: 도형 16">
                  <a:extLst>
                    <a:ext uri="{FF2B5EF4-FFF2-40B4-BE49-F238E27FC236}">
                      <a16:creationId xmlns:a16="http://schemas.microsoft.com/office/drawing/2014/main" xmlns="" id="{3B003EFC-13D2-4BB4-8625-D6DD1D26689C}"/>
                    </a:ext>
                  </a:extLst>
                </p:cNvPr>
                <p:cNvSpPr/>
                <p:nvPr userDrawn="1"/>
              </p:nvSpPr>
              <p:spPr>
                <a:xfrm>
                  <a:off x="5939427" y="102551"/>
                  <a:ext cx="364003" cy="92935"/>
                </a:xfrm>
                <a:custGeom>
                  <a:avLst/>
                  <a:gdLst>
                    <a:gd name="connsiteX0" fmla="*/ 0 w 364003"/>
                    <a:gd name="connsiteY0" fmla="*/ 0 h 92935"/>
                    <a:gd name="connsiteX1" fmla="*/ 364003 w 364003"/>
                    <a:gd name="connsiteY1" fmla="*/ 0 h 92935"/>
                    <a:gd name="connsiteX2" fmla="*/ 336518 w 364003"/>
                    <a:gd name="connsiteY2" fmla="*/ 92935 h 92935"/>
                    <a:gd name="connsiteX3" fmla="*/ 25174 w 364003"/>
                    <a:gd name="connsiteY3" fmla="*/ 92935 h 92935"/>
                  </a:gdLst>
                  <a:ahLst/>
                  <a:cxnLst>
                    <a:cxn ang="0">
                      <a:pos x="connsiteX0" y="connsiteY0"/>
                    </a:cxn>
                    <a:cxn ang="0">
                      <a:pos x="connsiteX1" y="connsiteY1"/>
                    </a:cxn>
                    <a:cxn ang="0">
                      <a:pos x="connsiteX2" y="connsiteY2"/>
                    </a:cxn>
                    <a:cxn ang="0">
                      <a:pos x="connsiteX3" y="connsiteY3"/>
                    </a:cxn>
                  </a:cxnLst>
                  <a:rect l="l" t="t" r="r" b="b"/>
                  <a:pathLst>
                    <a:path w="364003" h="92935">
                      <a:moveTo>
                        <a:pt x="0" y="0"/>
                      </a:moveTo>
                      <a:lnTo>
                        <a:pt x="364003" y="0"/>
                      </a:lnTo>
                      <a:lnTo>
                        <a:pt x="336518" y="92935"/>
                      </a:lnTo>
                      <a:lnTo>
                        <a:pt x="25174" y="92935"/>
                      </a:lnTo>
                      <a:close/>
                    </a:path>
                  </a:pathLst>
                </a:cu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자유형: 도형 17">
                  <a:extLst>
                    <a:ext uri="{FF2B5EF4-FFF2-40B4-BE49-F238E27FC236}">
                      <a16:creationId xmlns:a16="http://schemas.microsoft.com/office/drawing/2014/main" xmlns="" id="{639551A5-A416-4935-A4CA-A8FCF74BAE6A}"/>
                    </a:ext>
                  </a:extLst>
                </p:cNvPr>
                <p:cNvSpPr/>
                <p:nvPr userDrawn="1"/>
              </p:nvSpPr>
              <p:spPr>
                <a:xfrm>
                  <a:off x="5893989" y="-857099"/>
                  <a:ext cx="444279" cy="350537"/>
                </a:xfrm>
                <a:custGeom>
                  <a:avLst/>
                  <a:gdLst>
                    <a:gd name="connsiteX0" fmla="*/ 227272 w 444279"/>
                    <a:gd name="connsiteY0" fmla="*/ 0 h 350537"/>
                    <a:gd name="connsiteX1" fmla="*/ 440556 w 444279"/>
                    <a:gd name="connsiteY1" fmla="*/ 335046 h 350537"/>
                    <a:gd name="connsiteX2" fmla="*/ 444279 w 444279"/>
                    <a:gd name="connsiteY2" fmla="*/ 350537 h 350537"/>
                    <a:gd name="connsiteX3" fmla="*/ 0 w 444279"/>
                    <a:gd name="connsiteY3" fmla="*/ 350537 h 350537"/>
                    <a:gd name="connsiteX4" fmla="*/ 8223 w 444279"/>
                    <a:gd name="connsiteY4" fmla="*/ 318604 h 350537"/>
                    <a:gd name="connsiteX5" fmla="*/ 227272 w 444279"/>
                    <a:gd name="connsiteY5" fmla="*/ 0 h 35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4279" h="350537">
                      <a:moveTo>
                        <a:pt x="227272" y="0"/>
                      </a:moveTo>
                      <a:cubicBezTo>
                        <a:pt x="340394" y="102672"/>
                        <a:pt x="406151" y="217508"/>
                        <a:pt x="440556" y="335046"/>
                      </a:cubicBezTo>
                      <a:lnTo>
                        <a:pt x="444279" y="350537"/>
                      </a:lnTo>
                      <a:lnTo>
                        <a:pt x="0" y="350537"/>
                      </a:lnTo>
                      <a:lnTo>
                        <a:pt x="8223" y="318604"/>
                      </a:lnTo>
                      <a:cubicBezTo>
                        <a:pt x="43321" y="207258"/>
                        <a:pt x="110837" y="99358"/>
                        <a:pt x="227272"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타원 11">
                <a:extLst>
                  <a:ext uri="{FF2B5EF4-FFF2-40B4-BE49-F238E27FC236}">
                    <a16:creationId xmlns:a16="http://schemas.microsoft.com/office/drawing/2014/main" xmlns="" id="{A0F64586-2454-49D0-905D-B01E2B155554}"/>
                  </a:ext>
                </a:extLst>
              </p:cNvPr>
              <p:cNvSpPr/>
              <p:nvPr userDrawn="1"/>
            </p:nvSpPr>
            <p:spPr>
              <a:xfrm>
                <a:off x="5535216" y="-351600"/>
                <a:ext cx="180000" cy="180000"/>
              </a:xfrm>
              <a:prstGeom prst="ellipse">
                <a:avLst/>
              </a:prstGeom>
              <a:solidFill>
                <a:schemeClr val="bg1"/>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xmlns="" id="{90010C14-1AD7-40EC-9EFB-091EB548BC40}"/>
                  </a:ext>
                </a:extLst>
              </p:cNvPr>
              <p:cNvSpPr/>
              <p:nvPr userDrawn="1"/>
            </p:nvSpPr>
            <p:spPr>
              <a:xfrm flipH="1">
                <a:off x="5614416" y="6445"/>
                <a:ext cx="21600" cy="432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xmlns="" id="{54B0A336-7C2F-4F98-ABF5-299D91E12C13}"/>
                  </a:ext>
                </a:extLst>
              </p:cNvPr>
              <p:cNvSpPr/>
              <p:nvPr userDrawn="1"/>
            </p:nvSpPr>
            <p:spPr>
              <a:xfrm>
                <a:off x="5304862"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자유형: 도형 14">
                <a:extLst>
                  <a:ext uri="{FF2B5EF4-FFF2-40B4-BE49-F238E27FC236}">
                    <a16:creationId xmlns:a16="http://schemas.microsoft.com/office/drawing/2014/main" xmlns="" id="{2528A48D-D724-4DF8-B31C-D26E111E5960}"/>
                  </a:ext>
                </a:extLst>
              </p:cNvPr>
              <p:cNvSpPr/>
              <p:nvPr userDrawn="1"/>
            </p:nvSpPr>
            <p:spPr>
              <a:xfrm flipH="1">
                <a:off x="5807099" y="-1556"/>
                <a:ext cx="143653" cy="453224"/>
              </a:xfrm>
              <a:custGeom>
                <a:avLst/>
                <a:gdLst>
                  <a:gd name="connsiteX0" fmla="*/ 71561 w 116619"/>
                  <a:gd name="connsiteY0" fmla="*/ 0 h 453224"/>
                  <a:gd name="connsiteX1" fmla="*/ 116619 w 116619"/>
                  <a:gd name="connsiteY1" fmla="*/ 145774 h 453224"/>
                  <a:gd name="connsiteX2" fmla="*/ 0 w 116619"/>
                  <a:gd name="connsiteY2" fmla="*/ 453224 h 453224"/>
                  <a:gd name="connsiteX3" fmla="*/ 71561 w 116619"/>
                  <a:gd name="connsiteY3" fmla="*/ 0 h 453224"/>
                  <a:gd name="connsiteX0" fmla="*/ 78782 w 123840"/>
                  <a:gd name="connsiteY0" fmla="*/ 0 h 453224"/>
                  <a:gd name="connsiteX1" fmla="*/ 123840 w 123840"/>
                  <a:gd name="connsiteY1" fmla="*/ 145774 h 453224"/>
                  <a:gd name="connsiteX2" fmla="*/ 7221 w 123840"/>
                  <a:gd name="connsiteY2" fmla="*/ 453224 h 453224"/>
                  <a:gd name="connsiteX3" fmla="*/ 78782 w 123840"/>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3711 w 138769"/>
                  <a:gd name="connsiteY0" fmla="*/ 0 h 453224"/>
                  <a:gd name="connsiteX1" fmla="*/ 138769 w 138769"/>
                  <a:gd name="connsiteY1" fmla="*/ 145774 h 453224"/>
                  <a:gd name="connsiteX2" fmla="*/ 22150 w 138769"/>
                  <a:gd name="connsiteY2" fmla="*/ 453224 h 453224"/>
                  <a:gd name="connsiteX3" fmla="*/ 93711 w 138769"/>
                  <a:gd name="connsiteY3" fmla="*/ 0 h 453224"/>
                  <a:gd name="connsiteX0" fmla="*/ 95845 w 140903"/>
                  <a:gd name="connsiteY0" fmla="*/ 0 h 453224"/>
                  <a:gd name="connsiteX1" fmla="*/ 140903 w 140903"/>
                  <a:gd name="connsiteY1" fmla="*/ 145774 h 453224"/>
                  <a:gd name="connsiteX2" fmla="*/ 24284 w 140903"/>
                  <a:gd name="connsiteY2" fmla="*/ 453224 h 453224"/>
                  <a:gd name="connsiteX3" fmla="*/ 95845 w 140903"/>
                  <a:gd name="connsiteY3" fmla="*/ 0 h 453224"/>
                  <a:gd name="connsiteX0" fmla="*/ 98595 w 143653"/>
                  <a:gd name="connsiteY0" fmla="*/ 0 h 453224"/>
                  <a:gd name="connsiteX1" fmla="*/ 143653 w 143653"/>
                  <a:gd name="connsiteY1" fmla="*/ 145774 h 453224"/>
                  <a:gd name="connsiteX2" fmla="*/ 27034 w 143653"/>
                  <a:gd name="connsiteY2" fmla="*/ 453224 h 453224"/>
                  <a:gd name="connsiteX3" fmla="*/ 98595 w 143653"/>
                  <a:gd name="connsiteY3" fmla="*/ 0 h 453224"/>
                </a:gdLst>
                <a:ahLst/>
                <a:cxnLst>
                  <a:cxn ang="0">
                    <a:pos x="connsiteX0" y="connsiteY0"/>
                  </a:cxn>
                  <a:cxn ang="0">
                    <a:pos x="connsiteX1" y="connsiteY1"/>
                  </a:cxn>
                  <a:cxn ang="0">
                    <a:pos x="connsiteX2" y="connsiteY2"/>
                  </a:cxn>
                  <a:cxn ang="0">
                    <a:pos x="connsiteX3" y="connsiteY3"/>
                  </a:cxn>
                </a:cxnLst>
                <a:rect l="l" t="t" r="r" b="b"/>
                <a:pathLst>
                  <a:path w="143653" h="453224">
                    <a:moveTo>
                      <a:pt x="98595" y="0"/>
                    </a:moveTo>
                    <a:lnTo>
                      <a:pt x="143653" y="145774"/>
                    </a:lnTo>
                    <a:cubicBezTo>
                      <a:pt x="38518" y="232356"/>
                      <a:pt x="50005" y="387847"/>
                      <a:pt x="27034" y="453224"/>
                    </a:cubicBezTo>
                    <a:cubicBezTo>
                      <a:pt x="5831" y="365759"/>
                      <a:pt x="-47179" y="100716"/>
                      <a:pt x="98595"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
        <p:nvSpPr>
          <p:cNvPr id="2" name="Rectangle 1"/>
          <p:cNvSpPr/>
          <p:nvPr userDrawn="1"/>
        </p:nvSpPr>
        <p:spPr>
          <a:xfrm>
            <a:off x="3851920" y="1895103"/>
            <a:ext cx="5292080" cy="13681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 Placeholder 9"/>
          <p:cNvSpPr>
            <a:spLocks noGrp="1"/>
          </p:cNvSpPr>
          <p:nvPr>
            <p:ph type="body" sz="quarter" idx="10" hasCustomPrompt="1"/>
          </p:nvPr>
        </p:nvSpPr>
        <p:spPr>
          <a:xfrm>
            <a:off x="4125084" y="2154560"/>
            <a:ext cx="5018916" cy="576064"/>
          </a:xfrm>
          <a:prstGeom prst="rect">
            <a:avLst/>
          </a:prstGeom>
        </p:spPr>
        <p:txBody>
          <a:bodyPr anchor="ctr"/>
          <a:lstStyle>
            <a:lvl1pPr marL="0" indent="0" algn="l">
              <a:buNone/>
              <a:defRPr sz="3600" b="0" baseline="0">
                <a:solidFill>
                  <a:schemeClr val="tx1">
                    <a:lumMod val="75000"/>
                    <a:lumOff val="25000"/>
                  </a:schemeClr>
                </a:solidFill>
                <a:latin typeface="+mj-lt"/>
                <a:cs typeface="Arial" pitchFamily="34" charset="0"/>
              </a:defRPr>
            </a:lvl1pPr>
          </a:lstStyle>
          <a:p>
            <a:pPr lvl="0"/>
            <a:r>
              <a:rPr lang="en-US" altLang="ko-KR" dirty="0"/>
              <a:t>SECTION BREAK</a:t>
            </a:r>
          </a:p>
        </p:txBody>
      </p:sp>
      <p:sp>
        <p:nvSpPr>
          <p:cNvPr id="11" name="Text Placeholder 9"/>
          <p:cNvSpPr>
            <a:spLocks noGrp="1"/>
          </p:cNvSpPr>
          <p:nvPr>
            <p:ph type="body" sz="quarter" idx="11" hasCustomPrompt="1"/>
          </p:nvPr>
        </p:nvSpPr>
        <p:spPr>
          <a:xfrm>
            <a:off x="4125084" y="2730624"/>
            <a:ext cx="5018916" cy="288032"/>
          </a:xfrm>
          <a:prstGeom prst="rect">
            <a:avLst/>
          </a:prstGeom>
        </p:spPr>
        <p:txBody>
          <a:bodyPr anchor="ctr"/>
          <a:lstStyle>
            <a:lvl1pPr marL="0" indent="0" algn="l">
              <a:buNone/>
              <a:defRPr sz="1400"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Tree>
    <p:extLst>
      <p:ext uri="{BB962C8B-B14F-4D97-AF65-F5344CB8AC3E}">
        <p14:creationId xmlns:p14="http://schemas.microsoft.com/office/powerpoint/2010/main" val="173823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6DA18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7555548"/>
      </p:ext>
    </p:extLst>
  </p:cSld>
  <p:clrMap bg1="lt1" tx1="dk1" bg2="lt2" tx2="dk2" accent1="accent1" accent2="accent2" accent3="accent3" accent4="accent4" accent5="accent5" accent6="accent6" hlink="hlink" folHlink="folHlink"/>
  <p:sldLayoutIdLst>
    <p:sldLayoutId id="2147483659" r:id="rId1"/>
    <p:sldLayoutId id="2147483652" r:id="rId2"/>
    <p:sldLayoutId id="2147483660" r:id="rId3"/>
    <p:sldLayoutId id="2147483661" r:id="rId4"/>
    <p:sldLayoutId id="2147483662" r:id="rId5"/>
    <p:sldLayoutId id="2147483663" r:id="rId6"/>
    <p:sldLayoutId id="2147483664" r:id="rId7"/>
    <p:sldLayoutId id="2147483666" r:id="rId8"/>
    <p:sldLayoutId id="2147483667" r:id="rId9"/>
    <p:sldLayoutId id="2147483668" r:id="rId10"/>
    <p:sldLayoutId id="2147483669" r:id="rId11"/>
    <p:sldLayoutId id="2147483670" r:id="rId12"/>
    <p:sldLayoutId id="2147483671" r:id="rId13"/>
    <p:sldLayoutId id="2147483665" r:id="rId14"/>
    <p:sldLayoutId id="2147483672" r:id="rId15"/>
    <p:sldLayoutId id="2147483656" r:id="rId16"/>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6DA18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4710703"/>
      </p:ext>
    </p:extLst>
  </p:cSld>
  <p:clrMap bg1="lt1" tx1="dk1" bg2="lt2" tx2="dk2" accent1="accent1" accent2="accent2" accent3="accent3" accent4="accent4" accent5="accent5" accent6="accent6" hlink="hlink" folHlink="folHlink"/>
  <p:sldLayoutIdLst>
    <p:sldLayoutId id="2147483654" r:id="rId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hyperlink" Target="http://ispatguru.com/wp-content/uploads/2015/08/Five-steps-of-organizing-function.jpg" TargetMode="Externa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79512" y="267494"/>
            <a:ext cx="7984081" cy="1015663"/>
          </a:xfrm>
          <a:prstGeom prst="rect">
            <a:avLst/>
          </a:prstGeom>
          <a:noFill/>
        </p:spPr>
        <p:txBody>
          <a:bodyPr wrap="square" rtlCol="0">
            <a:spAutoFit/>
          </a:bodyPr>
          <a:lstStyle/>
          <a:p>
            <a:r>
              <a:rPr lang="en-US" sz="6000" b="1" dirty="0">
                <a:solidFill>
                  <a:schemeClr val="bg1"/>
                </a:solidFill>
              </a:rPr>
              <a:t>Business Operations</a:t>
            </a:r>
          </a:p>
        </p:txBody>
      </p:sp>
      <p:sp>
        <p:nvSpPr>
          <p:cNvPr id="15" name="Rectangle 14"/>
          <p:cNvSpPr/>
          <p:nvPr/>
        </p:nvSpPr>
        <p:spPr>
          <a:xfrm>
            <a:off x="0" y="4371950"/>
            <a:ext cx="9144000" cy="7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17" name="Picture 16"/>
          <p:cNvPicPr>
            <a:picLocks noChangeAspect="1"/>
          </p:cNvPicPr>
          <p:nvPr/>
        </p:nvPicPr>
        <p:blipFill>
          <a:blip r:embed="rId2"/>
          <a:stretch>
            <a:fillRect/>
          </a:stretch>
        </p:blipFill>
        <p:spPr>
          <a:xfrm>
            <a:off x="179512" y="4596416"/>
            <a:ext cx="2088232" cy="394626"/>
          </a:xfrm>
          <a:prstGeom prst="rect">
            <a:avLst/>
          </a:prstGeom>
        </p:spPr>
      </p:pic>
      <p:sp>
        <p:nvSpPr>
          <p:cNvPr id="22" name="Rectangle 21"/>
          <p:cNvSpPr/>
          <p:nvPr/>
        </p:nvSpPr>
        <p:spPr>
          <a:xfrm>
            <a:off x="329454" y="1308764"/>
            <a:ext cx="7471546"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baseline="-25000" dirty="0">
              <a:solidFill>
                <a:schemeClr val="tx1">
                  <a:lumMod val="50000"/>
                  <a:lumOff val="50000"/>
                </a:schemeClr>
              </a:solidFill>
            </a:endParaRPr>
          </a:p>
        </p:txBody>
      </p:sp>
      <p:sp>
        <p:nvSpPr>
          <p:cNvPr id="23" name="TextBox 22"/>
          <p:cNvSpPr txBox="1"/>
          <p:nvPr/>
        </p:nvSpPr>
        <p:spPr>
          <a:xfrm>
            <a:off x="251520" y="1418940"/>
            <a:ext cx="3378450" cy="369332"/>
          </a:xfrm>
          <a:prstGeom prst="rect">
            <a:avLst/>
          </a:prstGeom>
          <a:noFill/>
        </p:spPr>
        <p:txBody>
          <a:bodyPr wrap="square" rtlCol="0">
            <a:spAutoFit/>
          </a:bodyPr>
          <a:lstStyle/>
          <a:p>
            <a:r>
              <a:rPr lang="en-US" dirty="0" smtClean="0"/>
              <a:t>Module - 4</a:t>
            </a:r>
            <a:endParaRPr lang="en-US" dirty="0"/>
          </a:p>
        </p:txBody>
      </p:sp>
      <p:sp>
        <p:nvSpPr>
          <p:cNvPr id="24" name="Rectangle 23"/>
          <p:cNvSpPr/>
          <p:nvPr/>
        </p:nvSpPr>
        <p:spPr>
          <a:xfrm>
            <a:off x="8183312" y="-638"/>
            <a:ext cx="733381" cy="4948652"/>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07904" y="1490266"/>
            <a:ext cx="5477112" cy="3653234"/>
          </a:xfrm>
          <a:prstGeom prst="rect">
            <a:avLst/>
          </a:prstGeom>
        </p:spPr>
      </p:pic>
    </p:spTree>
    <p:extLst>
      <p:ext uri="{BB962C8B-B14F-4D97-AF65-F5344CB8AC3E}">
        <p14:creationId xmlns:p14="http://schemas.microsoft.com/office/powerpoint/2010/main" val="2971841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cstate="print">
            <a:extLst>
              <a:ext uri="{28A0092B-C50C-407E-A947-70E740481C1C}">
                <a14:useLocalDpi xmlns:a14="http://schemas.microsoft.com/office/drawing/2010/main" val="0"/>
              </a:ext>
            </a:extLst>
          </a:blip>
          <a:srcRect t="11804" b="3205"/>
          <a:stretch/>
        </p:blipFill>
        <p:spPr>
          <a:xfrm>
            <a:off x="-1" y="-20538"/>
            <a:ext cx="9141071" cy="5184576"/>
          </a:xfrm>
          <a:prstGeom prst="rect">
            <a:avLst/>
          </a:prstGeom>
        </p:spPr>
      </p:pic>
      <p:sp>
        <p:nvSpPr>
          <p:cNvPr id="2" name="Text Placeholder 1"/>
          <p:cNvSpPr>
            <a:spLocks noGrp="1"/>
          </p:cNvSpPr>
          <p:nvPr>
            <p:ph type="body" sz="quarter" idx="4294967295"/>
          </p:nvPr>
        </p:nvSpPr>
        <p:spPr>
          <a:xfrm>
            <a:off x="5076056" y="2069772"/>
            <a:ext cx="5019780" cy="1003956"/>
          </a:xfrm>
          <a:prstGeom prst="rect">
            <a:avLst/>
          </a:prstGeom>
        </p:spPr>
        <p:txBody>
          <a:bodyPr/>
          <a:lstStyle/>
          <a:p>
            <a:pPr marL="0" indent="0" algn="ctr">
              <a:buNone/>
            </a:pPr>
            <a:r>
              <a:rPr lang="en-US" altLang="ko-KR" sz="2800" b="1" dirty="0">
                <a:solidFill>
                  <a:schemeClr val="bg1"/>
                </a:solidFill>
              </a:rPr>
              <a:t>Welcome!!</a:t>
            </a:r>
            <a:endParaRPr lang="ko-KR" altLang="en-US" sz="2800" b="1" dirty="0">
              <a:solidFill>
                <a:schemeClr val="bg1"/>
              </a:solidFill>
            </a:endParaRPr>
          </a:p>
        </p:txBody>
      </p:sp>
    </p:spTree>
    <p:extLst>
      <p:ext uri="{BB962C8B-B14F-4D97-AF65-F5344CB8AC3E}">
        <p14:creationId xmlns:p14="http://schemas.microsoft.com/office/powerpoint/2010/main" val="32394066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Block Arc 14"/>
          <p:cNvSpPr/>
          <p:nvPr/>
        </p:nvSpPr>
        <p:spPr>
          <a:xfrm>
            <a:off x="179511" y="2143048"/>
            <a:ext cx="1217198" cy="1217254"/>
          </a:xfrm>
          <a:custGeom>
            <a:avLst/>
            <a:gdLst/>
            <a:ahLst/>
            <a:cxnLst/>
            <a:rect l="l" t="t" r="r" b="b"/>
            <a:pathLst>
              <a:path w="1217198" h="1217254">
                <a:moveTo>
                  <a:pt x="1172073" y="616019"/>
                </a:moveTo>
                <a:lnTo>
                  <a:pt x="1217198" y="616610"/>
                </a:lnTo>
                <a:cubicBezTo>
                  <a:pt x="1216181" y="694136"/>
                  <a:pt x="1200702" y="768120"/>
                  <a:pt x="1172073" y="835497"/>
                </a:cubicBezTo>
                <a:close/>
                <a:moveTo>
                  <a:pt x="592301" y="223"/>
                </a:moveTo>
                <a:cubicBezTo>
                  <a:pt x="925156" y="-8708"/>
                  <a:pt x="1203399" y="251500"/>
                  <a:pt x="1216760" y="584207"/>
                </a:cubicBezTo>
                <a:lnTo>
                  <a:pt x="1025903" y="591872"/>
                </a:lnTo>
                <a:cubicBezTo>
                  <a:pt x="1016735" y="363582"/>
                  <a:pt x="825816" y="185038"/>
                  <a:pt x="597424" y="191166"/>
                </a:cubicBezTo>
                <a:cubicBezTo>
                  <a:pt x="369033" y="197294"/>
                  <a:pt x="187962" y="385820"/>
                  <a:pt x="191049" y="614273"/>
                </a:cubicBezTo>
                <a:cubicBezTo>
                  <a:pt x="194136" y="842726"/>
                  <a:pt x="380235" y="1026290"/>
                  <a:pt x="608708" y="1026244"/>
                </a:cubicBezTo>
                <a:cubicBezTo>
                  <a:pt x="773320" y="1026211"/>
                  <a:pt x="915896" y="930876"/>
                  <a:pt x="982606" y="791527"/>
                </a:cubicBezTo>
                <a:lnTo>
                  <a:pt x="982606" y="1085471"/>
                </a:lnTo>
                <a:cubicBezTo>
                  <a:pt x="880769" y="1168806"/>
                  <a:pt x="750352" y="1217226"/>
                  <a:pt x="608747" y="1217254"/>
                </a:cubicBezTo>
                <a:cubicBezTo>
                  <a:pt x="275773" y="1217320"/>
                  <a:pt x="4555" y="949797"/>
                  <a:pt x="56" y="616853"/>
                </a:cubicBezTo>
                <a:cubicBezTo>
                  <a:pt x="-4443" y="283909"/>
                  <a:pt x="259446" y="9154"/>
                  <a:pt x="592301" y="223"/>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19" name="Rectangle 18"/>
          <p:cNvSpPr/>
          <p:nvPr/>
        </p:nvSpPr>
        <p:spPr>
          <a:xfrm>
            <a:off x="1207294" y="1561169"/>
            <a:ext cx="189467" cy="1040153"/>
          </a:xfrm>
          <a:custGeom>
            <a:avLst/>
            <a:gdLst>
              <a:gd name="connsiteX0" fmla="*/ 0 w 189467"/>
              <a:gd name="connsiteY0" fmla="*/ 0 h 1080346"/>
              <a:gd name="connsiteX1" fmla="*/ 189467 w 189467"/>
              <a:gd name="connsiteY1" fmla="*/ 0 h 1080346"/>
              <a:gd name="connsiteX2" fmla="*/ 189467 w 189467"/>
              <a:gd name="connsiteY2" fmla="*/ 1080346 h 1080346"/>
              <a:gd name="connsiteX3" fmla="*/ 187528 w 189467"/>
              <a:gd name="connsiteY3" fmla="*/ 1040153 h 1080346"/>
              <a:gd name="connsiteX4" fmla="*/ 0 w 189467"/>
              <a:gd name="connsiteY4" fmla="*/ 674512 h 1080346"/>
              <a:gd name="connsiteX5" fmla="*/ 0 w 189467"/>
              <a:gd name="connsiteY5" fmla="*/ 0 h 1080346"/>
              <a:gd name="connsiteX0" fmla="*/ 0 w 189467"/>
              <a:gd name="connsiteY0" fmla="*/ 0 h 1040153"/>
              <a:gd name="connsiteX1" fmla="*/ 189467 w 189467"/>
              <a:gd name="connsiteY1" fmla="*/ 0 h 1040153"/>
              <a:gd name="connsiteX2" fmla="*/ 187528 w 189467"/>
              <a:gd name="connsiteY2" fmla="*/ 1040153 h 1040153"/>
              <a:gd name="connsiteX3" fmla="*/ 0 w 189467"/>
              <a:gd name="connsiteY3" fmla="*/ 674512 h 1040153"/>
              <a:gd name="connsiteX4" fmla="*/ 0 w 189467"/>
              <a:gd name="connsiteY4" fmla="*/ 0 h 10401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9467" h="1040153">
                <a:moveTo>
                  <a:pt x="0" y="0"/>
                </a:moveTo>
                <a:lnTo>
                  <a:pt x="189467" y="0"/>
                </a:lnTo>
                <a:cubicBezTo>
                  <a:pt x="188821" y="346718"/>
                  <a:pt x="188174" y="693435"/>
                  <a:pt x="187528" y="1040153"/>
                </a:cubicBezTo>
                <a:cubicBezTo>
                  <a:pt x="179329" y="879836"/>
                  <a:pt x="108663" y="777233"/>
                  <a:pt x="0" y="674512"/>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 name="Title 2"/>
          <p:cNvSpPr txBox="1">
            <a:spLocks/>
          </p:cNvSpPr>
          <p:nvPr/>
        </p:nvSpPr>
        <p:spPr>
          <a:xfrm rot="16200000">
            <a:off x="-177068" y="920458"/>
            <a:ext cx="2232249" cy="576064"/>
          </a:xfrm>
          <a:prstGeom prst="rect">
            <a:avLst/>
          </a:prstGeom>
        </p:spPr>
        <p:txBody>
          <a:bodyPr anchor="ctr"/>
          <a:lstStyle>
            <a:lvl1pPr algn="ctr" defTabSz="914400" rtl="0" eaLnBrk="1" latinLnBrk="1" hangingPunct="1">
              <a:spcBef>
                <a:spcPct val="0"/>
              </a:spcBef>
              <a:buNone/>
              <a:defRPr sz="4400" kern="1200">
                <a:solidFill>
                  <a:schemeClr val="tx1"/>
                </a:solidFill>
                <a:latin typeface="+mj-lt"/>
                <a:ea typeface="+mj-ea"/>
                <a:cs typeface="+mj-cs"/>
              </a:defRPr>
            </a:lvl1pPr>
          </a:lstStyle>
          <a:p>
            <a:r>
              <a:rPr lang="en-US" sz="3600" dirty="0" smtClean="0"/>
              <a:t>Outlines</a:t>
            </a:r>
            <a:endParaRPr lang="en-US" sz="3600" dirty="0">
              <a:cs typeface="Arial" pitchFamily="34" charset="0"/>
            </a:endParaRPr>
          </a:p>
        </p:txBody>
      </p:sp>
      <p:sp>
        <p:nvSpPr>
          <p:cNvPr id="7" name="Rectangle 6"/>
          <p:cNvSpPr/>
          <p:nvPr/>
        </p:nvSpPr>
        <p:spPr>
          <a:xfrm>
            <a:off x="1783358" y="240297"/>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20" name="Rectangle 19"/>
          <p:cNvSpPr/>
          <p:nvPr/>
        </p:nvSpPr>
        <p:spPr>
          <a:xfrm>
            <a:off x="1207294" y="2703006"/>
            <a:ext cx="189467" cy="24404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TextBox 33"/>
          <p:cNvSpPr txBox="1"/>
          <p:nvPr/>
        </p:nvSpPr>
        <p:spPr bwMode="auto">
          <a:xfrm>
            <a:off x="1817060" y="208534"/>
            <a:ext cx="5764574"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Key positions and human capital needs</a:t>
            </a:r>
          </a:p>
          <a:p>
            <a:endParaRPr lang="en-US" dirty="0"/>
          </a:p>
        </p:txBody>
      </p:sp>
      <p:sp>
        <p:nvSpPr>
          <p:cNvPr id="35" name="Rectangle 34"/>
          <p:cNvSpPr/>
          <p:nvPr/>
        </p:nvSpPr>
        <p:spPr>
          <a:xfrm>
            <a:off x="1774435" y="704108"/>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42" name="TextBox 41"/>
          <p:cNvSpPr txBox="1"/>
          <p:nvPr/>
        </p:nvSpPr>
        <p:spPr bwMode="auto">
          <a:xfrm>
            <a:off x="1808135" y="672345"/>
            <a:ext cx="6469973" cy="613053"/>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sz="1600" dirty="0"/>
              <a:t>What is the Difference between Copyright, Patent and Trademark?</a:t>
            </a:r>
          </a:p>
          <a:p>
            <a:endParaRPr lang="en-US" sz="1600" dirty="0"/>
          </a:p>
        </p:txBody>
      </p:sp>
      <p:sp>
        <p:nvSpPr>
          <p:cNvPr id="49" name="Rectangle 48"/>
          <p:cNvSpPr/>
          <p:nvPr/>
        </p:nvSpPr>
        <p:spPr>
          <a:xfrm>
            <a:off x="1783358" y="1164458"/>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0" name="TextBox 49"/>
          <p:cNvSpPr txBox="1"/>
          <p:nvPr/>
        </p:nvSpPr>
        <p:spPr bwMode="auto">
          <a:xfrm>
            <a:off x="1817060" y="1132695"/>
            <a:ext cx="6931404" cy="387191"/>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Intellectual Property in Egypt</a:t>
            </a:r>
          </a:p>
        </p:txBody>
      </p:sp>
      <p:sp>
        <p:nvSpPr>
          <p:cNvPr id="51" name="Rectangle 50"/>
          <p:cNvSpPr/>
          <p:nvPr/>
        </p:nvSpPr>
        <p:spPr>
          <a:xfrm>
            <a:off x="1774435" y="1656571"/>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2" name="TextBox 51"/>
          <p:cNvSpPr txBox="1"/>
          <p:nvPr/>
        </p:nvSpPr>
        <p:spPr bwMode="auto">
          <a:xfrm>
            <a:off x="1808136" y="162480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Manage and Operate Business</a:t>
            </a:r>
          </a:p>
          <a:p>
            <a:endParaRPr lang="en-US" dirty="0"/>
          </a:p>
        </p:txBody>
      </p:sp>
      <p:sp>
        <p:nvSpPr>
          <p:cNvPr id="53" name="Rectangle 52"/>
          <p:cNvSpPr/>
          <p:nvPr/>
        </p:nvSpPr>
        <p:spPr>
          <a:xfrm>
            <a:off x="1774435" y="2156442"/>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4" name="TextBox 53"/>
          <p:cNvSpPr txBox="1"/>
          <p:nvPr/>
        </p:nvSpPr>
        <p:spPr bwMode="auto">
          <a:xfrm>
            <a:off x="1808136" y="2124679"/>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Corporate Social Responsibility for Startups</a:t>
            </a:r>
          </a:p>
          <a:p>
            <a:endParaRPr lang="en-US" dirty="0"/>
          </a:p>
        </p:txBody>
      </p:sp>
      <p:sp>
        <p:nvSpPr>
          <p:cNvPr id="55" name="Rectangle 54"/>
          <p:cNvSpPr/>
          <p:nvPr/>
        </p:nvSpPr>
        <p:spPr>
          <a:xfrm>
            <a:off x="1774435" y="2656313"/>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6" name="TextBox 55"/>
          <p:cNvSpPr txBox="1"/>
          <p:nvPr/>
        </p:nvSpPr>
        <p:spPr bwMode="auto">
          <a:xfrm>
            <a:off x="1808136" y="2624550"/>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Responsibility to the Environment</a:t>
            </a:r>
          </a:p>
          <a:p>
            <a:endParaRPr lang="en-US" dirty="0"/>
          </a:p>
        </p:txBody>
      </p:sp>
      <p:sp>
        <p:nvSpPr>
          <p:cNvPr id="57" name="Rectangle 56"/>
          <p:cNvSpPr/>
          <p:nvPr/>
        </p:nvSpPr>
        <p:spPr>
          <a:xfrm>
            <a:off x="1774435" y="3180761"/>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58" name="TextBox 57"/>
          <p:cNvSpPr txBox="1"/>
          <p:nvPr/>
        </p:nvSpPr>
        <p:spPr bwMode="auto">
          <a:xfrm>
            <a:off x="1808084" y="3151877"/>
            <a:ext cx="6292256"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Business Sustainability</a:t>
            </a:r>
          </a:p>
          <a:p>
            <a:endParaRPr lang="en-US" dirty="0"/>
          </a:p>
        </p:txBody>
      </p:sp>
      <p:sp>
        <p:nvSpPr>
          <p:cNvPr id="59" name="Rectangle 58"/>
          <p:cNvSpPr/>
          <p:nvPr/>
        </p:nvSpPr>
        <p:spPr>
          <a:xfrm>
            <a:off x="1774435" y="3656055"/>
            <a:ext cx="6469972"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0" name="TextBox 59"/>
          <p:cNvSpPr txBox="1"/>
          <p:nvPr/>
        </p:nvSpPr>
        <p:spPr bwMode="auto">
          <a:xfrm>
            <a:off x="1774435" y="3617025"/>
            <a:ext cx="4741781"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Why R&amp;D is important for small business</a:t>
            </a:r>
          </a:p>
          <a:p>
            <a:endParaRPr lang="en-US" dirty="0"/>
          </a:p>
        </p:txBody>
      </p:sp>
      <p:sp>
        <p:nvSpPr>
          <p:cNvPr id="61" name="Rectangle 60"/>
          <p:cNvSpPr/>
          <p:nvPr/>
        </p:nvSpPr>
        <p:spPr>
          <a:xfrm>
            <a:off x="1783359" y="4155926"/>
            <a:ext cx="6461048"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2" name="TextBox 61"/>
          <p:cNvSpPr txBox="1"/>
          <p:nvPr/>
        </p:nvSpPr>
        <p:spPr bwMode="auto">
          <a:xfrm>
            <a:off x="1783360" y="4108282"/>
            <a:ext cx="5831974"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Assessment</a:t>
            </a:r>
          </a:p>
          <a:p>
            <a:endParaRPr lang="en-US" dirty="0"/>
          </a:p>
        </p:txBody>
      </p:sp>
      <p:sp>
        <p:nvSpPr>
          <p:cNvPr id="63" name="Rectangle 62"/>
          <p:cNvSpPr/>
          <p:nvPr/>
        </p:nvSpPr>
        <p:spPr>
          <a:xfrm>
            <a:off x="1783358" y="4608153"/>
            <a:ext cx="6461049" cy="355428"/>
          </a:xfrm>
          <a:prstGeom prst="rect">
            <a:avLst/>
          </a:prstGeom>
          <a:no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lumMod val="65000"/>
                  <a:lumOff val="35000"/>
                </a:schemeClr>
              </a:solidFill>
              <a:latin typeface="Arial" pitchFamily="34" charset="0"/>
              <a:cs typeface="Arial" pitchFamily="34" charset="0"/>
            </a:endParaRPr>
          </a:p>
        </p:txBody>
      </p:sp>
      <p:sp>
        <p:nvSpPr>
          <p:cNvPr id="64" name="TextBox 63"/>
          <p:cNvSpPr txBox="1"/>
          <p:nvPr/>
        </p:nvSpPr>
        <p:spPr bwMode="auto">
          <a:xfrm>
            <a:off x="1763688" y="4558998"/>
            <a:ext cx="5040560" cy="677585"/>
          </a:xfrm>
          <a:prstGeom prst="round2SameRect">
            <a:avLst/>
          </a:prstGeom>
          <a:noFill/>
          <a:effectLst/>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dirty="0"/>
              <a:t>Activity</a:t>
            </a:r>
          </a:p>
          <a:p>
            <a:endParaRPr lang="en-US" dirty="0"/>
          </a:p>
        </p:txBody>
      </p:sp>
    </p:spTree>
    <p:extLst>
      <p:ext uri="{BB962C8B-B14F-4D97-AF65-F5344CB8AC3E}">
        <p14:creationId xmlns:p14="http://schemas.microsoft.com/office/powerpoint/2010/main" val="109505599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52536" y="2571750"/>
            <a:ext cx="7416824"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 name="Text Placeholder 1"/>
          <p:cNvSpPr>
            <a:spLocks noGrp="1"/>
          </p:cNvSpPr>
          <p:nvPr>
            <p:ph type="body" sz="quarter" idx="4294967295"/>
          </p:nvPr>
        </p:nvSpPr>
        <p:spPr>
          <a:xfrm>
            <a:off x="179512" y="1093674"/>
            <a:ext cx="9144000" cy="1085053"/>
          </a:xfrm>
          <a:prstGeom prst="rect">
            <a:avLst/>
          </a:prstGeom>
        </p:spPr>
        <p:txBody>
          <a:bodyPr/>
          <a:lstStyle/>
          <a:p>
            <a:pPr marL="0" indent="0">
              <a:spcBef>
                <a:spcPts val="0"/>
              </a:spcBef>
              <a:buNone/>
            </a:pPr>
            <a:r>
              <a:rPr lang="en-US" sz="4000" b="1" dirty="0">
                <a:solidFill>
                  <a:schemeClr val="bg1"/>
                </a:solidFill>
              </a:rPr>
              <a:t>Key positions and </a:t>
            </a:r>
            <a:endParaRPr lang="en-US" sz="4000" b="1" dirty="0" smtClean="0">
              <a:solidFill>
                <a:schemeClr val="bg1"/>
              </a:solidFill>
            </a:endParaRPr>
          </a:p>
          <a:p>
            <a:pPr marL="0" indent="0">
              <a:spcBef>
                <a:spcPts val="0"/>
              </a:spcBef>
              <a:buNone/>
            </a:pPr>
            <a:r>
              <a:rPr lang="en-US" sz="4000" b="1" dirty="0" smtClean="0">
                <a:solidFill>
                  <a:schemeClr val="bg1"/>
                </a:solidFill>
              </a:rPr>
              <a:t>Human Capital Needs</a:t>
            </a:r>
            <a:endParaRPr lang="ko-KR" altLang="en-US" sz="4000" dirty="0">
              <a:solidFill>
                <a:schemeClr val="bg1"/>
              </a:solidFill>
            </a:endParaRPr>
          </a:p>
        </p:txBody>
      </p:sp>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b="13201"/>
          <a:stretch/>
        </p:blipFill>
        <p:spPr>
          <a:xfrm>
            <a:off x="4592538" y="679004"/>
            <a:ext cx="5143500" cy="4464496"/>
          </a:xfrm>
          <a:prstGeom prst="rect">
            <a:avLst/>
          </a:prstGeom>
        </p:spPr>
      </p:pic>
    </p:spTree>
    <p:extLst>
      <p:ext uri="{BB962C8B-B14F-4D97-AF65-F5344CB8AC3E}">
        <p14:creationId xmlns:p14="http://schemas.microsoft.com/office/powerpoint/2010/main" val="15088148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1029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 Placeholder 1"/>
          <p:cNvSpPr>
            <a:spLocks noGrp="1"/>
          </p:cNvSpPr>
          <p:nvPr>
            <p:ph type="body" sz="quarter" idx="10"/>
          </p:nvPr>
        </p:nvSpPr>
        <p:spPr>
          <a:xfrm>
            <a:off x="251520" y="283475"/>
            <a:ext cx="9144000" cy="576064"/>
          </a:xfrm>
        </p:spPr>
        <p:txBody>
          <a:bodyPr/>
          <a:lstStyle/>
          <a:p>
            <a:pPr algn="l">
              <a:spcBef>
                <a:spcPts val="0"/>
              </a:spcBef>
            </a:pPr>
            <a:r>
              <a:rPr lang="en-US" b="1" dirty="0">
                <a:solidFill>
                  <a:schemeClr val="accent6">
                    <a:lumMod val="40000"/>
                    <a:lumOff val="60000"/>
                  </a:schemeClr>
                </a:solidFill>
              </a:rPr>
              <a:t>Why startups need some HR functions</a:t>
            </a:r>
            <a:endParaRPr lang="en-US" altLang="ko-KR" b="1" dirty="0">
              <a:solidFill>
                <a:schemeClr val="accent6">
                  <a:lumMod val="40000"/>
                  <a:lumOff val="60000"/>
                </a:schemeClr>
              </a:solidFill>
            </a:endParaRPr>
          </a:p>
        </p:txBody>
      </p:sp>
      <p:sp>
        <p:nvSpPr>
          <p:cNvPr id="12" name="Isosceles Triangle 11"/>
          <p:cNvSpPr/>
          <p:nvPr/>
        </p:nvSpPr>
        <p:spPr>
          <a:xfrm rot="10800000">
            <a:off x="3779912" y="847876"/>
            <a:ext cx="1285659" cy="89760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4" name="TextBox 13"/>
          <p:cNvSpPr txBox="1"/>
          <p:nvPr/>
        </p:nvSpPr>
        <p:spPr>
          <a:xfrm>
            <a:off x="431540" y="1904960"/>
            <a:ext cx="8280920" cy="2800767"/>
          </a:xfrm>
          <a:prstGeom prst="rect">
            <a:avLst/>
          </a:prstGeom>
          <a:noFill/>
        </p:spPr>
        <p:txBody>
          <a:bodyPr wrap="square" rtlCol="0">
            <a:spAutoFit/>
          </a:bodyPr>
          <a:lstStyle/>
          <a:p>
            <a:r>
              <a:rPr lang="en-US" sz="1600" dirty="0">
                <a:solidFill>
                  <a:schemeClr val="bg1"/>
                </a:solidFill>
              </a:rPr>
              <a:t>Startup and SMBs rely on a flexible business culture. They need to be able to fail fast and pivot. Structured HR and recruiting practices aren’t the first things they prioritize because executives see them as dreadful “corporate,” culture-killers that </a:t>
            </a:r>
            <a:r>
              <a:rPr lang="en-US" sz="1600" u="sng" dirty="0">
                <a:solidFill>
                  <a:schemeClr val="bg1"/>
                </a:solidFill>
              </a:rPr>
              <a:t>threaten innovation</a:t>
            </a:r>
            <a:r>
              <a:rPr lang="en-US" sz="1600" dirty="0">
                <a:solidFill>
                  <a:schemeClr val="bg1"/>
                </a:solidFill>
              </a:rPr>
              <a:t> and flexibility. So, developing good HR and recruiting processes usually takes a backseat</a:t>
            </a:r>
            <a:r>
              <a:rPr lang="en-US" sz="1600" dirty="0" smtClean="0">
                <a:solidFill>
                  <a:schemeClr val="bg1"/>
                </a:solidFill>
              </a:rPr>
              <a:t>.</a:t>
            </a:r>
          </a:p>
          <a:p>
            <a:endParaRPr lang="en-US" sz="1600" dirty="0">
              <a:solidFill>
                <a:schemeClr val="bg1"/>
              </a:solidFill>
            </a:endParaRPr>
          </a:p>
          <a:p>
            <a:r>
              <a:rPr lang="en-US" sz="1600" dirty="0" smtClean="0">
                <a:solidFill>
                  <a:schemeClr val="bg1"/>
                </a:solidFill>
              </a:rPr>
              <a:t>Businesses </a:t>
            </a:r>
            <a:r>
              <a:rPr lang="en-US" sz="1600" dirty="0">
                <a:solidFill>
                  <a:schemeClr val="bg1"/>
                </a:solidFill>
              </a:rPr>
              <a:t>that deliberately develop a strong HR function show that they value employees and their business. These companies are better at</a:t>
            </a:r>
            <a:r>
              <a:rPr lang="en-US" sz="1600" dirty="0" smtClean="0">
                <a:solidFill>
                  <a:schemeClr val="bg1"/>
                </a:solidFill>
              </a:rPr>
              <a:t>:</a:t>
            </a:r>
          </a:p>
          <a:p>
            <a:endParaRPr lang="en-US" sz="1600" dirty="0">
              <a:solidFill>
                <a:schemeClr val="bg1"/>
              </a:solidFill>
            </a:endParaRPr>
          </a:p>
          <a:p>
            <a:pPr marL="285750" lvl="0" indent="-285750">
              <a:buFont typeface="Arial" panose="020B0604020202020204" pitchFamily="34" charset="0"/>
              <a:buChar char="•"/>
            </a:pPr>
            <a:r>
              <a:rPr lang="en-US" sz="1600" dirty="0">
                <a:solidFill>
                  <a:schemeClr val="bg1"/>
                </a:solidFill>
              </a:rPr>
              <a:t>Hiring employees</a:t>
            </a:r>
          </a:p>
          <a:p>
            <a:pPr marL="285750" lvl="0" indent="-285750">
              <a:buFont typeface="Arial" panose="020B0604020202020204" pitchFamily="34" charset="0"/>
              <a:buChar char="•"/>
            </a:pPr>
            <a:r>
              <a:rPr lang="en-US" sz="1600" dirty="0" smtClean="0">
                <a:solidFill>
                  <a:schemeClr val="bg1"/>
                </a:solidFill>
              </a:rPr>
              <a:t>Developing </a:t>
            </a:r>
            <a:r>
              <a:rPr lang="en-US" sz="1600" dirty="0">
                <a:solidFill>
                  <a:schemeClr val="bg1"/>
                </a:solidFill>
              </a:rPr>
              <a:t>employees</a:t>
            </a:r>
          </a:p>
          <a:p>
            <a:pPr marL="285750" lvl="0" indent="-285750">
              <a:buFont typeface="Arial" panose="020B0604020202020204" pitchFamily="34" charset="0"/>
              <a:buChar char="•"/>
            </a:pPr>
            <a:r>
              <a:rPr lang="en-US" sz="1600" dirty="0" smtClean="0">
                <a:solidFill>
                  <a:schemeClr val="bg1"/>
                </a:solidFill>
              </a:rPr>
              <a:t>Retaining </a:t>
            </a:r>
            <a:r>
              <a:rPr lang="en-US" sz="1600" dirty="0">
                <a:solidFill>
                  <a:schemeClr val="bg1"/>
                </a:solidFill>
              </a:rPr>
              <a:t>employees</a:t>
            </a:r>
          </a:p>
        </p:txBody>
      </p:sp>
      <p:sp>
        <p:nvSpPr>
          <p:cNvPr id="15" name="Frame 14"/>
          <p:cNvSpPr/>
          <p:nvPr/>
        </p:nvSpPr>
        <p:spPr>
          <a:xfrm>
            <a:off x="188640" y="159482"/>
            <a:ext cx="8766720" cy="4824536"/>
          </a:xfrm>
          <a:prstGeom prst="frame">
            <a:avLst>
              <a:gd name="adj1" fmla="val 1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Tree>
    <p:extLst>
      <p:ext uri="{BB962C8B-B14F-4D97-AF65-F5344CB8AC3E}">
        <p14:creationId xmlns:p14="http://schemas.microsoft.com/office/powerpoint/2010/main" val="368526137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5" name="Group 84"/>
          <p:cNvGrpSpPr/>
          <p:nvPr/>
        </p:nvGrpSpPr>
        <p:grpSpPr>
          <a:xfrm>
            <a:off x="3854258" y="1770622"/>
            <a:ext cx="3332582" cy="2999495"/>
            <a:chOff x="3203848" y="1779662"/>
            <a:chExt cx="3332582" cy="2999495"/>
          </a:xfrm>
          <a:solidFill>
            <a:schemeClr val="tx1">
              <a:lumMod val="75000"/>
              <a:lumOff val="25000"/>
            </a:schemeClr>
          </a:solidFill>
        </p:grpSpPr>
        <p:sp>
          <p:nvSpPr>
            <p:cNvPr id="86" name="Rectangle 85"/>
            <p:cNvSpPr/>
            <p:nvPr/>
          </p:nvSpPr>
          <p:spPr>
            <a:xfrm>
              <a:off x="3203848" y="1779662"/>
              <a:ext cx="108000" cy="2773364"/>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7" name="Block Arc 86"/>
            <p:cNvSpPr/>
            <p:nvPr/>
          </p:nvSpPr>
          <p:spPr>
            <a:xfrm>
              <a:off x="320384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8" name="Rectangle 87"/>
            <p:cNvSpPr/>
            <p:nvPr/>
          </p:nvSpPr>
          <p:spPr>
            <a:xfrm>
              <a:off x="3425216" y="4671157"/>
              <a:ext cx="2916000" cy="108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89" name="Block Arc 88"/>
            <p:cNvSpPr/>
            <p:nvPr/>
          </p:nvSpPr>
          <p:spPr>
            <a:xfrm rot="16200000">
              <a:off x="6084168" y="4326895"/>
              <a:ext cx="452262" cy="452262"/>
            </a:xfrm>
            <a:prstGeom prst="blockArc">
              <a:avLst>
                <a:gd name="adj1" fmla="val 5431834"/>
                <a:gd name="adj2" fmla="val 10817112"/>
                <a:gd name="adj3" fmla="val 24281"/>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0" name="Rectangle 89"/>
            <p:cNvSpPr/>
            <p:nvPr/>
          </p:nvSpPr>
          <p:spPr>
            <a:xfrm>
              <a:off x="6428430" y="3989950"/>
              <a:ext cx="108000" cy="5760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grpSp>
      <p:grpSp>
        <p:nvGrpSpPr>
          <p:cNvPr id="109" name="Group 108"/>
          <p:cNvGrpSpPr/>
          <p:nvPr/>
        </p:nvGrpSpPr>
        <p:grpSpPr>
          <a:xfrm>
            <a:off x="5767918" y="1056963"/>
            <a:ext cx="2758049" cy="2928608"/>
            <a:chOff x="4848046" y="3681671"/>
            <a:chExt cx="2758049" cy="2928608"/>
          </a:xfrm>
        </p:grpSpPr>
        <p:sp>
          <p:nvSpPr>
            <p:cNvPr id="110" name="Teardrop 30"/>
            <p:cNvSpPr/>
            <p:nvPr/>
          </p:nvSpPr>
          <p:spPr>
            <a:xfrm rot="8100000">
              <a:off x="5417737" y="4225696"/>
              <a:ext cx="1602534" cy="1602536"/>
            </a:xfrm>
            <a:custGeom>
              <a:avLst/>
              <a:gdLst>
                <a:gd name="connsiteX0" fmla="*/ 293361 w 2192670"/>
                <a:gd name="connsiteY0" fmla="*/ 1899310 h 2192671"/>
                <a:gd name="connsiteX1" fmla="*/ 0 w 2192670"/>
                <a:gd name="connsiteY1" fmla="*/ 1191074 h 2192671"/>
                <a:gd name="connsiteX2" fmla="*/ 1001597 w 2192670"/>
                <a:gd name="connsiteY2" fmla="*/ 189477 h 2192671"/>
                <a:gd name="connsiteX3" fmla="*/ 1341342 w 2192670"/>
                <a:gd name="connsiteY3" fmla="*/ 189477 h 2192671"/>
                <a:gd name="connsiteX4" fmla="*/ 1530818 w 2192670"/>
                <a:gd name="connsiteY4" fmla="*/ 0 h 2192671"/>
                <a:gd name="connsiteX5" fmla="*/ 1806586 w 2192670"/>
                <a:gd name="connsiteY5" fmla="*/ 0 h 2192671"/>
                <a:gd name="connsiteX6" fmla="*/ 1996062 w 2192670"/>
                <a:gd name="connsiteY6" fmla="*/ 189477 h 2192671"/>
                <a:gd name="connsiteX7" fmla="*/ 2003194 w 2192670"/>
                <a:gd name="connsiteY7" fmla="*/ 189477 h 2192671"/>
                <a:gd name="connsiteX8" fmla="*/ 2003194 w 2192670"/>
                <a:gd name="connsiteY8" fmla="*/ 196609 h 2192671"/>
                <a:gd name="connsiteX9" fmla="*/ 2192670 w 2192670"/>
                <a:gd name="connsiteY9" fmla="*/ 386085 h 2192671"/>
                <a:gd name="connsiteX10" fmla="*/ 2192670 w 2192670"/>
                <a:gd name="connsiteY10" fmla="*/ 661852 h 2192671"/>
                <a:gd name="connsiteX11" fmla="*/ 2003193 w 2192670"/>
                <a:gd name="connsiteY11" fmla="*/ 851329 h 2192671"/>
                <a:gd name="connsiteX12" fmla="*/ 2003194 w 2192670"/>
                <a:gd name="connsiteY12" fmla="*/ 1191074 h 2192671"/>
                <a:gd name="connsiteX13" fmla="*/ 1001597 w 2192670"/>
                <a:gd name="connsiteY13" fmla="*/ 2192671 h 2192671"/>
                <a:gd name="connsiteX14" fmla="*/ 293361 w 2192670"/>
                <a:gd name="connsiteY14" fmla="*/ 1899310 h 2192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92670" h="2192671">
                  <a:moveTo>
                    <a:pt x="293361" y="1899310"/>
                  </a:moveTo>
                  <a:cubicBezTo>
                    <a:pt x="112107" y="1718057"/>
                    <a:pt x="0" y="1467657"/>
                    <a:pt x="0" y="1191074"/>
                  </a:cubicBezTo>
                  <a:cubicBezTo>
                    <a:pt x="0" y="637907"/>
                    <a:pt x="448430" y="189477"/>
                    <a:pt x="1001597" y="189477"/>
                  </a:cubicBezTo>
                  <a:lnTo>
                    <a:pt x="1341342" y="189477"/>
                  </a:lnTo>
                  <a:lnTo>
                    <a:pt x="1530818" y="0"/>
                  </a:lnTo>
                  <a:cubicBezTo>
                    <a:pt x="1606970" y="-76151"/>
                    <a:pt x="1730435" y="-76151"/>
                    <a:pt x="1806586" y="0"/>
                  </a:cubicBezTo>
                  <a:lnTo>
                    <a:pt x="1996062" y="189477"/>
                  </a:lnTo>
                  <a:lnTo>
                    <a:pt x="2003194" y="189477"/>
                  </a:lnTo>
                  <a:lnTo>
                    <a:pt x="2003194" y="196609"/>
                  </a:lnTo>
                  <a:lnTo>
                    <a:pt x="2192670" y="386085"/>
                  </a:lnTo>
                  <a:cubicBezTo>
                    <a:pt x="2268822" y="462236"/>
                    <a:pt x="2268822" y="585701"/>
                    <a:pt x="2192670" y="661852"/>
                  </a:cubicBezTo>
                  <a:lnTo>
                    <a:pt x="2003193" y="851329"/>
                  </a:lnTo>
                  <a:cubicBezTo>
                    <a:pt x="2003193" y="964577"/>
                    <a:pt x="2003194" y="1077826"/>
                    <a:pt x="2003194" y="1191074"/>
                  </a:cubicBezTo>
                  <a:cubicBezTo>
                    <a:pt x="2003194" y="1744241"/>
                    <a:pt x="1554764" y="2192671"/>
                    <a:pt x="1001597" y="2192671"/>
                  </a:cubicBezTo>
                  <a:cubicBezTo>
                    <a:pt x="725014" y="2192671"/>
                    <a:pt x="474614" y="2080563"/>
                    <a:pt x="293361" y="1899310"/>
                  </a:cubicBezTo>
                  <a:close/>
                </a:path>
              </a:pathLst>
            </a:custGeom>
            <a:solidFill>
              <a:schemeClr val="bg1"/>
            </a:solidFill>
            <a:ln w="698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1" name="Rounded Rectangle 110"/>
            <p:cNvSpPr/>
            <p:nvPr/>
          </p:nvSpPr>
          <p:spPr>
            <a:xfrm>
              <a:off x="5903273" y="6071006"/>
              <a:ext cx="631463"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Rounded Rectangle 111"/>
            <p:cNvSpPr/>
            <p:nvPr/>
          </p:nvSpPr>
          <p:spPr>
            <a:xfrm>
              <a:off x="5929584" y="6274865"/>
              <a:ext cx="578841"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Rounded Rectangle 112"/>
            <p:cNvSpPr/>
            <p:nvPr/>
          </p:nvSpPr>
          <p:spPr>
            <a:xfrm>
              <a:off x="5982205" y="6478724"/>
              <a:ext cx="473597" cy="131555"/>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Rounded Rectangle 113"/>
            <p:cNvSpPr/>
            <p:nvPr/>
          </p:nvSpPr>
          <p:spPr>
            <a:xfrm rot="2700000">
              <a:off x="7086448"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5" name="Rounded Rectangle 114"/>
            <p:cNvSpPr/>
            <p:nvPr/>
          </p:nvSpPr>
          <p:spPr>
            <a:xfrm rot="18900000" flipH="1">
              <a:off x="5218102" y="4038815"/>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6" name="Rounded Rectangle 115"/>
            <p:cNvSpPr/>
            <p:nvPr/>
          </p:nvSpPr>
          <p:spPr>
            <a:xfrm>
              <a:off x="6155070" y="3681671"/>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7" name="Rounded Rectangle 116"/>
            <p:cNvSpPr/>
            <p:nvPr/>
          </p:nvSpPr>
          <p:spPr>
            <a:xfrm rot="5400000">
              <a:off x="7354095" y="4745637"/>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18" name="Rounded Rectangle 117"/>
            <p:cNvSpPr/>
            <p:nvPr/>
          </p:nvSpPr>
          <p:spPr>
            <a:xfrm rot="16200000" flipH="1">
              <a:off x="4956046" y="4745638"/>
              <a:ext cx="144000" cy="360000"/>
            </a:xfrm>
            <a:prstGeom prst="roundRect">
              <a:avLst>
                <a:gd name="adj" fmla="val 5000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6" name="TextBox 5"/>
          <p:cNvSpPr txBox="1"/>
          <p:nvPr/>
        </p:nvSpPr>
        <p:spPr>
          <a:xfrm>
            <a:off x="282337" y="288217"/>
            <a:ext cx="6792605" cy="954107"/>
          </a:xfrm>
          <a:prstGeom prst="rect">
            <a:avLst/>
          </a:prstGeom>
          <a:noFill/>
        </p:spPr>
        <p:txBody>
          <a:bodyPr wrap="square" rtlCol="0">
            <a:spAutoFit/>
          </a:bodyPr>
          <a:lstStyle/>
          <a:p>
            <a:r>
              <a:rPr lang="en-US" sz="2800" b="1" dirty="0">
                <a:solidFill>
                  <a:schemeClr val="bg1"/>
                </a:solidFill>
              </a:rPr>
              <a:t>HR </a:t>
            </a:r>
            <a:r>
              <a:rPr lang="en-US" sz="2800" b="1" dirty="0" smtClean="0">
                <a:solidFill>
                  <a:schemeClr val="bg1"/>
                </a:solidFill>
              </a:rPr>
              <a:t>Processes </a:t>
            </a:r>
            <a:r>
              <a:rPr lang="en-US" sz="2800" b="1" dirty="0">
                <a:solidFill>
                  <a:schemeClr val="bg1"/>
                </a:solidFill>
              </a:rPr>
              <a:t>help startups and SMBs </a:t>
            </a:r>
            <a:r>
              <a:rPr lang="en-US" sz="2800" b="1" dirty="0" smtClean="0">
                <a:solidFill>
                  <a:schemeClr val="bg1"/>
                </a:solidFill>
              </a:rPr>
              <a:t>Hire Employees</a:t>
            </a:r>
            <a:endParaRPr lang="en-US" sz="2800" b="1" dirty="0">
              <a:solidFill>
                <a:schemeClr val="bg1"/>
              </a:solidFill>
            </a:endParaRPr>
          </a:p>
        </p:txBody>
      </p:sp>
    </p:spTree>
    <p:extLst>
      <p:ext uri="{BB962C8B-B14F-4D97-AF65-F5344CB8AC3E}">
        <p14:creationId xmlns:p14="http://schemas.microsoft.com/office/powerpoint/2010/main" val="24551108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0" y="4443958"/>
            <a:ext cx="9144000" cy="69954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TextBox 6"/>
          <p:cNvSpPr txBox="1"/>
          <p:nvPr/>
        </p:nvSpPr>
        <p:spPr>
          <a:xfrm>
            <a:off x="107504" y="206514"/>
            <a:ext cx="8784976" cy="4093428"/>
          </a:xfrm>
          <a:prstGeom prst="rect">
            <a:avLst/>
          </a:prstGeom>
          <a:noFill/>
        </p:spPr>
        <p:txBody>
          <a:bodyPr wrap="square" rtlCol="0">
            <a:spAutoFit/>
          </a:bodyPr>
          <a:lstStyle/>
          <a:p>
            <a:pPr marL="285750" lvl="0" indent="-285750" algn="justLow">
              <a:buFont typeface="Arial" panose="020B0604020202020204" pitchFamily="34" charset="0"/>
              <a:buChar char="•"/>
            </a:pPr>
            <a:r>
              <a:rPr lang="en-US" sz="2000" b="1" dirty="0">
                <a:solidFill>
                  <a:schemeClr val="bg1"/>
                </a:solidFill>
              </a:rPr>
              <a:t>Create inclusive job titles and descriptions that aren’t discriminatory</a:t>
            </a:r>
            <a:r>
              <a:rPr lang="en-US" sz="2000" dirty="0">
                <a:solidFill>
                  <a:schemeClr val="bg1"/>
                </a:solidFill>
              </a:rPr>
              <a:t>. HR staff help you come up with accurate job titles and job descriptions to entice qualified candidates to apply. This is key for startups looking to scale and hire diverse teams.</a:t>
            </a:r>
          </a:p>
          <a:p>
            <a:pPr marL="285750" lvl="0" indent="-285750" algn="justLow">
              <a:buFont typeface="Arial" panose="020B0604020202020204" pitchFamily="34" charset="0"/>
              <a:buChar char="•"/>
            </a:pPr>
            <a:endParaRPr lang="en-US" sz="2000" b="1" dirty="0" smtClean="0">
              <a:solidFill>
                <a:schemeClr val="bg1"/>
              </a:solidFill>
            </a:endParaRPr>
          </a:p>
          <a:p>
            <a:pPr marL="285750" lvl="0" indent="-285750" algn="justLow">
              <a:buFont typeface="Arial" panose="020B0604020202020204" pitchFamily="34" charset="0"/>
              <a:buChar char="•"/>
            </a:pPr>
            <a:r>
              <a:rPr lang="en-US" sz="2000" b="1" dirty="0" smtClean="0">
                <a:solidFill>
                  <a:schemeClr val="bg1"/>
                </a:solidFill>
              </a:rPr>
              <a:t>Conduct </a:t>
            </a:r>
            <a:r>
              <a:rPr lang="en-US" sz="2000" b="1" dirty="0">
                <a:solidFill>
                  <a:schemeClr val="bg1"/>
                </a:solidFill>
              </a:rPr>
              <a:t>structured job interviews</a:t>
            </a:r>
            <a:r>
              <a:rPr lang="en-US" sz="2000" dirty="0">
                <a:solidFill>
                  <a:schemeClr val="bg1"/>
                </a:solidFill>
              </a:rPr>
              <a:t>. Hiring the right people is critical for small businesses, and unstructured interviews invite bias into hiring processes. HR and recruiting staff can help startups follow structured interview processes to rate candidates on fair, predetermined criteria.</a:t>
            </a:r>
          </a:p>
          <a:p>
            <a:pPr marL="285750" indent="-285750" algn="justLow">
              <a:buFont typeface="Arial" panose="020B0604020202020204" pitchFamily="34" charset="0"/>
              <a:buChar char="•"/>
            </a:pPr>
            <a:endParaRPr lang="en-US" sz="2000" b="1" dirty="0" smtClean="0">
              <a:solidFill>
                <a:schemeClr val="bg1"/>
              </a:solidFill>
            </a:endParaRPr>
          </a:p>
          <a:p>
            <a:pPr marL="285750" indent="-285750" algn="justLow">
              <a:buFont typeface="Arial" panose="020B0604020202020204" pitchFamily="34" charset="0"/>
              <a:buChar char="•"/>
            </a:pPr>
            <a:r>
              <a:rPr lang="en-US" sz="2000" b="1" dirty="0" smtClean="0">
                <a:solidFill>
                  <a:schemeClr val="bg1"/>
                </a:solidFill>
              </a:rPr>
              <a:t>Protect </a:t>
            </a:r>
            <a:r>
              <a:rPr lang="en-US" sz="2000" b="1" dirty="0">
                <a:solidFill>
                  <a:schemeClr val="bg1"/>
                </a:solidFill>
              </a:rPr>
              <a:t>businesses from lawsuits</a:t>
            </a:r>
            <a:r>
              <a:rPr lang="en-US" sz="2000" dirty="0">
                <a:solidFill>
                  <a:schemeClr val="bg1"/>
                </a:solidFill>
              </a:rPr>
              <a:t>. HR staff are the point-people for legal matters – including state and federal labor laws. HR staff help you understand complex legislation and what it means for your business.</a:t>
            </a:r>
          </a:p>
        </p:txBody>
      </p:sp>
    </p:spTree>
    <p:extLst>
      <p:ext uri="{BB962C8B-B14F-4D97-AF65-F5344CB8AC3E}">
        <p14:creationId xmlns:p14="http://schemas.microsoft.com/office/powerpoint/2010/main" val="34391548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339502"/>
            <a:ext cx="8784976" cy="4370427"/>
          </a:xfrm>
          <a:prstGeom prst="rect">
            <a:avLst/>
          </a:prstGeom>
          <a:noFill/>
        </p:spPr>
        <p:txBody>
          <a:bodyPr wrap="square" rtlCol="0">
            <a:spAutoFit/>
          </a:bodyPr>
          <a:lstStyle/>
          <a:p>
            <a:pPr algn="justLow"/>
            <a:r>
              <a:rPr lang="en-US" sz="2000" b="1" dirty="0">
                <a:solidFill>
                  <a:srgbClr val="FABEBF"/>
                </a:solidFill>
              </a:rPr>
              <a:t>HR processes help startups and SMBs develop and retain </a:t>
            </a:r>
            <a:r>
              <a:rPr lang="en-US" sz="2000" b="1" dirty="0" smtClean="0">
                <a:solidFill>
                  <a:srgbClr val="FABEBF"/>
                </a:solidFill>
              </a:rPr>
              <a:t>employees</a:t>
            </a:r>
          </a:p>
          <a:p>
            <a:pPr algn="justLow"/>
            <a:endParaRPr lang="en-US" sz="1600" b="1" dirty="0">
              <a:solidFill>
                <a:schemeClr val="bg1"/>
              </a:solidFill>
            </a:endParaRPr>
          </a:p>
          <a:p>
            <a:pPr marL="285750" lvl="0" indent="-285750">
              <a:buFont typeface="Arial" panose="020B0604020202020204" pitchFamily="34" charset="0"/>
              <a:buChar char="•"/>
            </a:pPr>
            <a:r>
              <a:rPr lang="en-US" sz="1400" b="1" dirty="0">
                <a:solidFill>
                  <a:schemeClr val="bg1"/>
                </a:solidFill>
              </a:rPr>
              <a:t>Fairly compensate workers</a:t>
            </a:r>
            <a:r>
              <a:rPr lang="en-US" sz="1400" dirty="0">
                <a:solidFill>
                  <a:schemeClr val="bg1"/>
                </a:solidFill>
              </a:rPr>
              <a:t>. Compensation and benefits are a huge part of HR. Without HR professionals, conversations about pay increases are fraught and could come down to how managers ‘feel’ about an employee or position instead of what the fair market value for a role is. </a:t>
            </a:r>
          </a:p>
          <a:p>
            <a:pPr marL="285750" lvl="0" indent="-285750">
              <a:buFont typeface="Arial" panose="020B0604020202020204" pitchFamily="34" charset="0"/>
              <a:buChar char="•"/>
            </a:pPr>
            <a:r>
              <a:rPr lang="en-US" sz="1400" b="1" dirty="0">
                <a:solidFill>
                  <a:schemeClr val="bg1"/>
                </a:solidFill>
              </a:rPr>
              <a:t>Invest in training managers</a:t>
            </a:r>
            <a:r>
              <a:rPr lang="en-US" sz="1400" dirty="0">
                <a:solidFill>
                  <a:schemeClr val="bg1"/>
                </a:solidFill>
              </a:rPr>
              <a:t>. Startups are full of people who are “generalists” – employees who wear a lot of hats. These generalists often find themselves in management roles, without any formal management experience. </a:t>
            </a:r>
            <a:endParaRPr lang="en-US" sz="1400" dirty="0" smtClean="0">
              <a:solidFill>
                <a:schemeClr val="bg1"/>
              </a:solidFill>
            </a:endParaRP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b="1" dirty="0">
                <a:solidFill>
                  <a:schemeClr val="bg1"/>
                </a:solidFill>
              </a:rPr>
              <a:t>Care about workplace culture</a:t>
            </a:r>
            <a:r>
              <a:rPr lang="en-US" sz="1400" dirty="0">
                <a:solidFill>
                  <a:schemeClr val="bg1"/>
                </a:solidFill>
              </a:rPr>
              <a:t>. Good HR and recruiting departments take the pulse of employees in a way that doesn’t feel like policing. They consider their candidate experience, conduct new hire check-ins and meet with employees regularly. </a:t>
            </a:r>
            <a:endParaRPr lang="en-US" sz="1400" dirty="0" smtClean="0">
              <a:solidFill>
                <a:schemeClr val="bg1"/>
              </a:solidFill>
            </a:endParaRPr>
          </a:p>
          <a:p>
            <a:pPr marL="285750" lvl="0" indent="-285750">
              <a:buFont typeface="Arial" panose="020B0604020202020204" pitchFamily="34" charset="0"/>
              <a:buChar char="•"/>
            </a:pPr>
            <a:endParaRPr lang="en-US" sz="1400" dirty="0">
              <a:solidFill>
                <a:schemeClr val="bg1"/>
              </a:solidFill>
            </a:endParaRPr>
          </a:p>
          <a:p>
            <a:pPr marL="285750" lvl="0" indent="-285750">
              <a:buFont typeface="Arial" panose="020B0604020202020204" pitchFamily="34" charset="0"/>
              <a:buChar char="•"/>
            </a:pPr>
            <a:r>
              <a:rPr lang="en-US" sz="1400" b="1" dirty="0">
                <a:solidFill>
                  <a:schemeClr val="bg1"/>
                </a:solidFill>
              </a:rPr>
              <a:t>Recognize the need for policies</a:t>
            </a:r>
            <a:r>
              <a:rPr lang="en-US" sz="1400" dirty="0">
                <a:solidFill>
                  <a:schemeClr val="bg1"/>
                </a:solidFill>
              </a:rPr>
              <a:t>. As businesses grow, new employees may encounter new workplace issues: e.g. how to manage noise, process expenses and manage paid time off. HR departments work with executives to create policies that answer those questions uniformly. </a:t>
            </a:r>
          </a:p>
          <a:p>
            <a:pPr marL="285750" lvl="0" indent="-285750">
              <a:buFont typeface="Arial" panose="020B0604020202020204" pitchFamily="34" charset="0"/>
              <a:buChar char="•"/>
            </a:pPr>
            <a:r>
              <a:rPr lang="en-US" sz="1400" b="1" dirty="0">
                <a:solidFill>
                  <a:schemeClr val="bg1"/>
                </a:solidFill>
              </a:rPr>
              <a:t>Cultivate career paths</a:t>
            </a:r>
            <a:r>
              <a:rPr lang="en-US" sz="1400" dirty="0">
                <a:solidFill>
                  <a:schemeClr val="bg1"/>
                </a:solidFill>
              </a:rPr>
              <a:t>. When companies reach at least 30 employees, figuring out how to develop those employees becomes critical to retaining them</a:t>
            </a:r>
          </a:p>
          <a:p>
            <a:pPr algn="justLow"/>
            <a:endParaRPr lang="en-US" dirty="0">
              <a:solidFill>
                <a:schemeClr val="bg1"/>
              </a:solidFill>
            </a:endParaRPr>
          </a:p>
        </p:txBody>
      </p:sp>
      <p:sp>
        <p:nvSpPr>
          <p:cNvPr id="2" name="Rectangle 1"/>
          <p:cNvSpPr/>
          <p:nvPr/>
        </p:nvSpPr>
        <p:spPr>
          <a:xfrm>
            <a:off x="0" y="4587974"/>
            <a:ext cx="9144000" cy="55552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59547893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339502"/>
            <a:ext cx="8784976" cy="3662541"/>
          </a:xfrm>
          <a:prstGeom prst="rect">
            <a:avLst/>
          </a:prstGeom>
          <a:noFill/>
        </p:spPr>
        <p:txBody>
          <a:bodyPr wrap="square" rtlCol="0">
            <a:spAutoFit/>
          </a:bodyPr>
          <a:lstStyle/>
          <a:p>
            <a:pPr algn="justLow"/>
            <a:r>
              <a:rPr lang="en-US" sz="2000" b="1" dirty="0">
                <a:solidFill>
                  <a:srgbClr val="FABEBF"/>
                </a:solidFill>
              </a:rPr>
              <a:t>what you don’t need to build and run a successful HR department</a:t>
            </a:r>
            <a:r>
              <a:rPr lang="en-US" sz="2000" b="1" dirty="0" smtClean="0">
                <a:solidFill>
                  <a:srgbClr val="FABEBF"/>
                </a:solidFill>
              </a:rPr>
              <a:t>:</a:t>
            </a:r>
          </a:p>
          <a:p>
            <a:pPr algn="justLow"/>
            <a:endParaRPr lang="en-US" b="1" dirty="0">
              <a:solidFill>
                <a:schemeClr val="bg1"/>
              </a:solidFill>
            </a:endParaRPr>
          </a:p>
          <a:p>
            <a:pPr marL="285750" lvl="0" indent="-285750">
              <a:buFont typeface="Arial" panose="020B0604020202020204" pitchFamily="34" charset="0"/>
              <a:buChar char="•"/>
            </a:pPr>
            <a:r>
              <a:rPr lang="en-US" sz="1600" b="1" dirty="0">
                <a:solidFill>
                  <a:schemeClr val="bg1"/>
                </a:solidFill>
              </a:rPr>
              <a:t>Jargon</a:t>
            </a:r>
            <a:r>
              <a:rPr lang="en-US" sz="1600" dirty="0">
                <a:solidFill>
                  <a:schemeClr val="bg1"/>
                </a:solidFill>
              </a:rPr>
              <a:t>. Jargon alienates employees, fosters distrust and </a:t>
            </a:r>
            <a:r>
              <a:rPr lang="en-US" sz="1600" u="sng" dirty="0">
                <a:solidFill>
                  <a:schemeClr val="bg1"/>
                </a:solidFill>
              </a:rPr>
              <a:t>diminishes productivity</a:t>
            </a:r>
            <a:r>
              <a:rPr lang="en-US" sz="1600" dirty="0">
                <a:solidFill>
                  <a:schemeClr val="bg1"/>
                </a:solidFill>
              </a:rPr>
              <a:t>. HR departments should strive to communicate clearly, concisely and in-person, whenever possible</a:t>
            </a:r>
            <a:r>
              <a:rPr lang="en-US" sz="1600" dirty="0" smtClean="0">
                <a:solidFill>
                  <a:schemeClr val="bg1"/>
                </a:solidFill>
              </a:rPr>
              <a:t>.</a:t>
            </a:r>
          </a:p>
          <a:p>
            <a:pPr marL="285750" lvl="0" indent="-285750">
              <a:buFont typeface="Arial" panose="020B0604020202020204" pitchFamily="34" charset="0"/>
              <a:buChar char="•"/>
            </a:pPr>
            <a:endParaRPr lang="en-US" sz="1600" dirty="0">
              <a:solidFill>
                <a:schemeClr val="bg1"/>
              </a:solidFill>
            </a:endParaRPr>
          </a:p>
          <a:p>
            <a:pPr marL="285750" lvl="0" indent="-285750">
              <a:buFont typeface="Arial" panose="020B0604020202020204" pitchFamily="34" charset="0"/>
              <a:buChar char="•"/>
            </a:pPr>
            <a:r>
              <a:rPr lang="en-US" sz="1600" b="1" dirty="0">
                <a:solidFill>
                  <a:schemeClr val="bg1"/>
                </a:solidFill>
              </a:rPr>
              <a:t>Going “by the book” in every case</a:t>
            </a:r>
            <a:r>
              <a:rPr lang="en-US" sz="1600" dirty="0">
                <a:solidFill>
                  <a:schemeClr val="bg1"/>
                </a:solidFill>
              </a:rPr>
              <a:t>. Startups don’t need to have hard and fast rules that govern every aspect of office life (e.g. formal dress codes are out of fashion</a:t>
            </a:r>
            <a:r>
              <a:rPr lang="en-US" sz="1600" dirty="0" smtClean="0">
                <a:solidFill>
                  <a:schemeClr val="bg1"/>
                </a:solidFill>
              </a:rPr>
              <a:t>.)</a:t>
            </a:r>
          </a:p>
          <a:p>
            <a:pPr marL="285750" lvl="0" indent="-285750">
              <a:buFont typeface="Arial" panose="020B0604020202020204" pitchFamily="34" charset="0"/>
              <a:buChar char="•"/>
            </a:pPr>
            <a:endParaRPr lang="en-US" sz="1600" dirty="0">
              <a:solidFill>
                <a:schemeClr val="bg1"/>
              </a:solidFill>
            </a:endParaRPr>
          </a:p>
          <a:p>
            <a:pPr marL="285750" lvl="0" indent="-285750">
              <a:buFont typeface="Arial" panose="020B0604020202020204" pitchFamily="34" charset="0"/>
              <a:buChar char="•"/>
            </a:pPr>
            <a:r>
              <a:rPr lang="en-US" sz="1600" b="1" dirty="0">
                <a:solidFill>
                  <a:schemeClr val="bg1"/>
                </a:solidFill>
              </a:rPr>
              <a:t>A defined set of ‘corporate values.’</a:t>
            </a:r>
            <a:r>
              <a:rPr lang="en-US" sz="1600" dirty="0">
                <a:solidFill>
                  <a:schemeClr val="bg1"/>
                </a:solidFill>
              </a:rPr>
              <a:t> At the corporate level, you might need these – as there are usually many divisions, employees and cultures at bigger companies. </a:t>
            </a:r>
            <a:endParaRPr lang="en-US" sz="1600" dirty="0" smtClean="0">
              <a:solidFill>
                <a:schemeClr val="bg1"/>
              </a:solidFill>
            </a:endParaRPr>
          </a:p>
          <a:p>
            <a:pPr marL="285750" lvl="0" indent="-285750">
              <a:buFont typeface="Arial" panose="020B0604020202020204" pitchFamily="34" charset="0"/>
              <a:buChar char="•"/>
            </a:pPr>
            <a:endParaRPr lang="en-US" sz="1600" dirty="0">
              <a:solidFill>
                <a:schemeClr val="bg1"/>
              </a:solidFill>
            </a:endParaRPr>
          </a:p>
          <a:p>
            <a:pPr marL="285750" lvl="0" indent="-285750">
              <a:buFont typeface="Arial" panose="020B0604020202020204" pitchFamily="34" charset="0"/>
              <a:buChar char="•"/>
            </a:pPr>
            <a:r>
              <a:rPr lang="en-US" sz="1600" b="1" dirty="0">
                <a:solidFill>
                  <a:schemeClr val="bg1"/>
                </a:solidFill>
              </a:rPr>
              <a:t>An employee handbook</a:t>
            </a:r>
            <a:r>
              <a:rPr lang="en-US" sz="1600" dirty="0">
                <a:solidFill>
                  <a:schemeClr val="bg1"/>
                </a:solidFill>
              </a:rPr>
              <a:t>. You need some policies (e.g. </a:t>
            </a:r>
            <a:r>
              <a:rPr lang="en-US" sz="1600" u="sng" dirty="0">
                <a:solidFill>
                  <a:schemeClr val="bg1"/>
                </a:solidFill>
              </a:rPr>
              <a:t>sick time</a:t>
            </a:r>
            <a:r>
              <a:rPr lang="en-US" sz="1600" dirty="0">
                <a:solidFill>
                  <a:schemeClr val="bg1"/>
                </a:solidFill>
              </a:rPr>
              <a:t>, paid time off) but as a startup, you probably don’t need something as exhaustive as an employee handbook. </a:t>
            </a:r>
          </a:p>
          <a:p>
            <a:pPr algn="justLow"/>
            <a:endParaRPr lang="en-US" dirty="0">
              <a:solidFill>
                <a:schemeClr val="bg1"/>
              </a:solidFill>
            </a:endParaRPr>
          </a:p>
        </p:txBody>
      </p:sp>
      <p:sp>
        <p:nvSpPr>
          <p:cNvPr id="2" name="Rectangle 1"/>
          <p:cNvSpPr/>
          <p:nvPr/>
        </p:nvSpPr>
        <p:spPr>
          <a:xfrm>
            <a:off x="0" y="4587974"/>
            <a:ext cx="9144000" cy="55552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4979415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37" y="0"/>
            <a:ext cx="7707181" cy="5143500"/>
          </a:xfrm>
          <a:prstGeom prst="rect">
            <a:avLst/>
          </a:prstGeom>
        </p:spPr>
      </p:pic>
      <p:sp>
        <p:nvSpPr>
          <p:cNvPr id="4" name="Rectangle 3"/>
          <p:cNvSpPr/>
          <p:nvPr/>
        </p:nvSpPr>
        <p:spPr>
          <a:xfrm>
            <a:off x="323528" y="3723878"/>
            <a:ext cx="8820472" cy="1296144"/>
          </a:xfrm>
          <a:prstGeom prst="rect">
            <a:avLst/>
          </a:prstGeom>
          <a:solidFill>
            <a:srgbClr val="6DA18A"/>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6DA18A"/>
              </a:solidFill>
            </a:endParaRPr>
          </a:p>
        </p:txBody>
      </p:sp>
      <p:sp>
        <p:nvSpPr>
          <p:cNvPr id="7" name="TextBox 6"/>
          <p:cNvSpPr txBox="1"/>
          <p:nvPr/>
        </p:nvSpPr>
        <p:spPr>
          <a:xfrm>
            <a:off x="323528" y="3718649"/>
            <a:ext cx="8784976" cy="1877437"/>
          </a:xfrm>
          <a:prstGeom prst="rect">
            <a:avLst/>
          </a:prstGeom>
          <a:noFill/>
        </p:spPr>
        <p:txBody>
          <a:bodyPr wrap="square" rtlCol="0">
            <a:spAutoFit/>
          </a:bodyPr>
          <a:lstStyle/>
          <a:p>
            <a:pPr algn="ctr"/>
            <a:r>
              <a:rPr lang="en-US" sz="4000" b="1" dirty="0">
                <a:solidFill>
                  <a:schemeClr val="bg1"/>
                </a:solidFill>
              </a:rPr>
              <a:t>what you do need to do to develop an innovative HR department</a:t>
            </a:r>
            <a:r>
              <a:rPr lang="en-US" sz="4000" b="1" dirty="0" smtClean="0">
                <a:solidFill>
                  <a:schemeClr val="bg1"/>
                </a:solidFill>
              </a:rPr>
              <a:t>:</a:t>
            </a:r>
          </a:p>
          <a:p>
            <a:pPr algn="justLow"/>
            <a:endParaRPr lang="en-US" b="1" dirty="0">
              <a:solidFill>
                <a:schemeClr val="bg1"/>
              </a:solidFill>
            </a:endParaRPr>
          </a:p>
          <a:p>
            <a:pPr algn="justLow"/>
            <a:endParaRPr lang="en-US" dirty="0">
              <a:solidFill>
                <a:schemeClr val="bg1"/>
              </a:solidFill>
            </a:endParaRPr>
          </a:p>
        </p:txBody>
      </p:sp>
    </p:spTree>
    <p:extLst>
      <p:ext uri="{BB962C8B-B14F-4D97-AF65-F5344CB8AC3E}">
        <p14:creationId xmlns:p14="http://schemas.microsoft.com/office/powerpoint/2010/main" val="426248066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339502"/>
            <a:ext cx="8784976" cy="3970318"/>
          </a:xfrm>
          <a:prstGeom prst="rect">
            <a:avLst/>
          </a:prstGeom>
          <a:noFill/>
        </p:spPr>
        <p:txBody>
          <a:bodyPr wrap="square" rtlCol="0">
            <a:spAutoFit/>
          </a:bodyPr>
          <a:lstStyle/>
          <a:p>
            <a:pPr algn="justLow"/>
            <a:endParaRPr lang="en-US" b="1" dirty="0">
              <a:solidFill>
                <a:schemeClr val="bg1"/>
              </a:solidFill>
            </a:endParaRPr>
          </a:p>
          <a:p>
            <a:r>
              <a:rPr lang="en-US" dirty="0">
                <a:solidFill>
                  <a:schemeClr val="bg1"/>
                </a:solidFill>
              </a:rPr>
              <a:t>1. </a:t>
            </a:r>
            <a:r>
              <a:rPr lang="en-US" b="1" dirty="0">
                <a:solidFill>
                  <a:schemeClr val="bg1"/>
                </a:solidFill>
              </a:rPr>
              <a:t>Hire the right HR staff</a:t>
            </a:r>
            <a:r>
              <a:rPr lang="en-US" dirty="0">
                <a:solidFill>
                  <a:schemeClr val="bg1"/>
                </a:solidFill>
              </a:rPr>
              <a:t>. These employees will be the ambassadors of your company culture, so look for individuals who embody it. Consider hiring people who can serve as both</a:t>
            </a:r>
            <a:r>
              <a:rPr lang="en-US" dirty="0" smtClean="0">
                <a:solidFill>
                  <a:schemeClr val="bg1"/>
                </a:solidFill>
              </a:rPr>
              <a:t>:</a:t>
            </a:r>
          </a:p>
          <a:p>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HR coordinators</a:t>
            </a:r>
            <a:r>
              <a:rPr lang="en-US" dirty="0">
                <a:solidFill>
                  <a:schemeClr val="bg1"/>
                </a:solidFill>
              </a:rPr>
              <a:t>: This person meets with employees on an informal regular basis and encourages managers and employees to resolve issues amongst themselves</a:t>
            </a:r>
            <a:r>
              <a:rPr lang="en-US" dirty="0" smtClean="0">
                <a:solidFill>
                  <a:schemeClr val="bg1"/>
                </a:solidFill>
              </a:rPr>
              <a:t>.</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b="1" dirty="0">
                <a:solidFill>
                  <a:schemeClr val="bg1"/>
                </a:solidFill>
              </a:rPr>
              <a:t>Recruiters</a:t>
            </a:r>
            <a:r>
              <a:rPr lang="en-US" dirty="0">
                <a:solidFill>
                  <a:schemeClr val="bg1"/>
                </a:solidFill>
              </a:rPr>
              <a:t>: This person should meet with managers regularly to gain a sense of what qualities they value in candidates. They should also be able to identify each department’s hiring needs, build talent pipelines and create good candidate experiences.</a:t>
            </a:r>
          </a:p>
          <a:p>
            <a:pPr algn="justLow"/>
            <a:endParaRPr lang="en-US" dirty="0">
              <a:solidFill>
                <a:schemeClr val="bg1"/>
              </a:solidFill>
            </a:endParaRPr>
          </a:p>
        </p:txBody>
      </p:sp>
      <p:sp>
        <p:nvSpPr>
          <p:cNvPr id="2" name="Rectangle 1"/>
          <p:cNvSpPr/>
          <p:nvPr/>
        </p:nvSpPr>
        <p:spPr>
          <a:xfrm>
            <a:off x="0" y="4587974"/>
            <a:ext cx="9144000" cy="55552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75620099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411510"/>
            <a:ext cx="8784976" cy="2585323"/>
          </a:xfrm>
          <a:prstGeom prst="rect">
            <a:avLst/>
          </a:prstGeom>
          <a:noFill/>
        </p:spPr>
        <p:txBody>
          <a:bodyPr wrap="square" rtlCol="0">
            <a:spAutoFit/>
          </a:bodyPr>
          <a:lstStyle/>
          <a:p>
            <a:r>
              <a:rPr lang="en-US" dirty="0">
                <a:solidFill>
                  <a:schemeClr val="bg1"/>
                </a:solidFill>
              </a:rPr>
              <a:t>2. </a:t>
            </a:r>
            <a:r>
              <a:rPr lang="en-US" b="1" dirty="0">
                <a:solidFill>
                  <a:schemeClr val="bg1"/>
                </a:solidFill>
              </a:rPr>
              <a:t>Encourage proactive HR involvement</a:t>
            </a:r>
            <a:r>
              <a:rPr lang="en-US" dirty="0">
                <a:solidFill>
                  <a:schemeClr val="bg1"/>
                </a:solidFill>
              </a:rPr>
              <a:t>. Proactive HR staff do the legwork to meet people face-to-face and learn what drives employee engagement. This fosters trust in HR, instead of fear. Proactive HR employees</a:t>
            </a:r>
            <a:r>
              <a:rPr lang="en-US" dirty="0" smtClean="0">
                <a:solidFill>
                  <a:schemeClr val="bg1"/>
                </a:solidFill>
              </a:rPr>
              <a:t>:</a:t>
            </a:r>
          </a:p>
          <a:p>
            <a:endParaRPr lang="en-US" dirty="0">
              <a:solidFill>
                <a:schemeClr val="bg1"/>
              </a:solidFill>
            </a:endParaRPr>
          </a:p>
          <a:p>
            <a:pPr marL="285750" lvl="0" indent="-285750">
              <a:buFont typeface="Arial" panose="020B0604020202020204" pitchFamily="34" charset="0"/>
              <a:buChar char="•"/>
            </a:pPr>
            <a:r>
              <a:rPr lang="en-US" b="1" dirty="0">
                <a:solidFill>
                  <a:schemeClr val="bg1"/>
                </a:solidFill>
              </a:rPr>
              <a:t>Conduct regular check-ins with employees</a:t>
            </a:r>
          </a:p>
          <a:p>
            <a:pPr marL="285750" lvl="0" indent="-285750">
              <a:buFont typeface="Arial" panose="020B0604020202020204" pitchFamily="34" charset="0"/>
              <a:buChar char="•"/>
            </a:pPr>
            <a:r>
              <a:rPr lang="en-US" b="1" dirty="0">
                <a:solidFill>
                  <a:schemeClr val="bg1"/>
                </a:solidFill>
              </a:rPr>
              <a:t>Meet with passive candidates</a:t>
            </a:r>
          </a:p>
          <a:p>
            <a:pPr marL="285750" lvl="0" indent="-285750">
              <a:buFont typeface="Arial" panose="020B0604020202020204" pitchFamily="34" charset="0"/>
              <a:buChar char="•"/>
            </a:pPr>
            <a:r>
              <a:rPr lang="en-US" b="1" dirty="0">
                <a:solidFill>
                  <a:schemeClr val="bg1"/>
                </a:solidFill>
              </a:rPr>
              <a:t>Welcome new hires with flair</a:t>
            </a:r>
          </a:p>
          <a:p>
            <a:endParaRPr lang="en-US" dirty="0">
              <a:solidFill>
                <a:schemeClr val="bg1"/>
              </a:solidFill>
            </a:endParaRPr>
          </a:p>
          <a:p>
            <a:pPr algn="justLow"/>
            <a:endParaRPr lang="en-US" dirty="0">
              <a:solidFill>
                <a:schemeClr val="bg1"/>
              </a:solidFill>
            </a:endParaRPr>
          </a:p>
        </p:txBody>
      </p:sp>
      <p:sp>
        <p:nvSpPr>
          <p:cNvPr id="2" name="Rectangle 1"/>
          <p:cNvSpPr/>
          <p:nvPr/>
        </p:nvSpPr>
        <p:spPr>
          <a:xfrm>
            <a:off x="0" y="4587974"/>
            <a:ext cx="9144000" cy="55552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0770865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9512" y="411510"/>
            <a:ext cx="8784976" cy="2985433"/>
          </a:xfrm>
          <a:prstGeom prst="rect">
            <a:avLst/>
          </a:prstGeom>
          <a:noFill/>
        </p:spPr>
        <p:txBody>
          <a:bodyPr wrap="square" rtlCol="0">
            <a:spAutoFit/>
          </a:bodyPr>
          <a:lstStyle/>
          <a:p>
            <a:r>
              <a:rPr lang="en-US" dirty="0">
                <a:solidFill>
                  <a:schemeClr val="bg1"/>
                </a:solidFill>
              </a:rPr>
              <a:t>3. </a:t>
            </a:r>
            <a:r>
              <a:rPr lang="en-US" b="1" dirty="0">
                <a:solidFill>
                  <a:schemeClr val="bg1"/>
                </a:solidFill>
              </a:rPr>
              <a:t>Empower your HR staff</a:t>
            </a:r>
            <a:r>
              <a:rPr lang="en-US" dirty="0">
                <a:solidFill>
                  <a:schemeClr val="bg1"/>
                </a:solidFill>
              </a:rPr>
              <a:t>. An empowered HR staff is a group that doesn’t have to run back and forth between executives and employees to gain approval for everything they say. They are free to represent employees and share information with them. Their employee goals might include</a:t>
            </a:r>
            <a:r>
              <a:rPr lang="en-US" dirty="0" smtClean="0">
                <a:solidFill>
                  <a:schemeClr val="bg1"/>
                </a:solidFill>
              </a:rPr>
              <a:t>:</a:t>
            </a:r>
          </a:p>
          <a:p>
            <a:endParaRPr lang="en-US" dirty="0">
              <a:solidFill>
                <a:schemeClr val="bg1"/>
              </a:solidFill>
            </a:endParaRPr>
          </a:p>
          <a:p>
            <a:pPr marL="285750" indent="-285750">
              <a:buFont typeface="Arial" panose="020B0604020202020204" pitchFamily="34" charset="0"/>
              <a:buChar char="•"/>
            </a:pPr>
            <a:r>
              <a:rPr lang="en-US" sz="1600" b="1" dirty="0">
                <a:solidFill>
                  <a:schemeClr val="bg1"/>
                </a:solidFill>
              </a:rPr>
              <a:t>Onboarding employees correctly</a:t>
            </a:r>
          </a:p>
          <a:p>
            <a:pPr marL="285750" indent="-285750">
              <a:buFont typeface="Arial" panose="020B0604020202020204" pitchFamily="34" charset="0"/>
              <a:buChar char="•"/>
            </a:pPr>
            <a:r>
              <a:rPr lang="en-US" sz="1600" b="1" dirty="0">
                <a:solidFill>
                  <a:schemeClr val="bg1"/>
                </a:solidFill>
              </a:rPr>
              <a:t>Measuring employee engagement</a:t>
            </a:r>
          </a:p>
          <a:p>
            <a:pPr marL="285750" indent="-285750">
              <a:buFont typeface="Arial" panose="020B0604020202020204" pitchFamily="34" charset="0"/>
              <a:buChar char="•"/>
            </a:pPr>
            <a:r>
              <a:rPr lang="en-US" sz="1600" b="1" dirty="0">
                <a:solidFill>
                  <a:schemeClr val="bg1"/>
                </a:solidFill>
              </a:rPr>
              <a:t>Communicating with employees about what’s going on at the company</a:t>
            </a:r>
          </a:p>
          <a:p>
            <a:pPr marL="285750" indent="-285750">
              <a:buFont typeface="Arial" panose="020B0604020202020204" pitchFamily="34" charset="0"/>
              <a:buChar char="•"/>
            </a:pPr>
            <a:r>
              <a:rPr lang="en-US" sz="1600" b="1" dirty="0">
                <a:solidFill>
                  <a:schemeClr val="bg1"/>
                </a:solidFill>
              </a:rPr>
              <a:t>Being competitive with compensation and benefits</a:t>
            </a:r>
          </a:p>
          <a:p>
            <a:pPr marL="285750" indent="-285750">
              <a:buFont typeface="Arial" panose="020B0604020202020204" pitchFamily="34" charset="0"/>
              <a:buChar char="•"/>
            </a:pPr>
            <a:r>
              <a:rPr lang="en-US" sz="1600" b="1" dirty="0">
                <a:solidFill>
                  <a:schemeClr val="bg1"/>
                </a:solidFill>
              </a:rPr>
              <a:t>Actively cultivating the culture of the office</a:t>
            </a:r>
          </a:p>
          <a:p>
            <a:endParaRPr lang="en-US" dirty="0">
              <a:solidFill>
                <a:schemeClr val="bg1"/>
              </a:solidFill>
            </a:endParaRPr>
          </a:p>
        </p:txBody>
      </p:sp>
    </p:spTree>
    <p:extLst>
      <p:ext uri="{BB962C8B-B14F-4D97-AF65-F5344CB8AC3E}">
        <p14:creationId xmlns:p14="http://schemas.microsoft.com/office/powerpoint/2010/main" val="31517772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9512" y="411510"/>
            <a:ext cx="8784976" cy="1477328"/>
          </a:xfrm>
          <a:prstGeom prst="rect">
            <a:avLst/>
          </a:prstGeom>
          <a:noFill/>
        </p:spPr>
        <p:txBody>
          <a:bodyPr wrap="square" rtlCol="0">
            <a:spAutoFit/>
          </a:bodyPr>
          <a:lstStyle/>
          <a:p>
            <a:r>
              <a:rPr lang="en-US" dirty="0">
                <a:solidFill>
                  <a:schemeClr val="bg1"/>
                </a:solidFill>
              </a:rPr>
              <a:t>4. </a:t>
            </a:r>
            <a:r>
              <a:rPr lang="en-US" b="1" dirty="0">
                <a:solidFill>
                  <a:schemeClr val="bg1"/>
                </a:solidFill>
              </a:rPr>
              <a:t>Invest in good HR software</a:t>
            </a:r>
            <a:r>
              <a:rPr lang="en-US" dirty="0">
                <a:solidFill>
                  <a:schemeClr val="bg1"/>
                </a:solidFill>
              </a:rPr>
              <a:t>. There’s a lot of HR software to choose from, and much of it can streamline some aspects of HR (e.g. applicant tracking systems, HRIS and sourcing tools.) Keep in mind, though, that even the best HR software isn’t enough to replace human staff.</a:t>
            </a:r>
          </a:p>
          <a:p>
            <a:endParaRPr lang="en-US" dirty="0">
              <a:solidFill>
                <a:schemeClr val="bg1"/>
              </a:solidFill>
            </a:endParaRPr>
          </a:p>
        </p:txBody>
      </p:sp>
    </p:spTree>
    <p:extLst>
      <p:ext uri="{BB962C8B-B14F-4D97-AF65-F5344CB8AC3E}">
        <p14:creationId xmlns:p14="http://schemas.microsoft.com/office/powerpoint/2010/main" val="2101349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114482" y="1945762"/>
            <a:ext cx="5057795" cy="1200329"/>
          </a:xfrm>
          <a:prstGeom prst="rect">
            <a:avLst/>
          </a:prstGeom>
        </p:spPr>
        <p:txBody>
          <a:bodyPr wrap="none">
            <a:spAutoFit/>
          </a:bodyPr>
          <a:lstStyle/>
          <a:p>
            <a:r>
              <a:rPr lang="en-US" sz="3600" b="1" dirty="0">
                <a:solidFill>
                  <a:schemeClr val="bg1"/>
                </a:solidFill>
              </a:rPr>
              <a:t>Startups </a:t>
            </a:r>
            <a:r>
              <a:rPr lang="en-US" sz="3600" b="1" dirty="0" smtClean="0">
                <a:solidFill>
                  <a:schemeClr val="bg1"/>
                </a:solidFill>
              </a:rPr>
              <a:t>Should </a:t>
            </a:r>
          </a:p>
          <a:p>
            <a:r>
              <a:rPr lang="en-US" sz="3600" b="1" dirty="0" smtClean="0">
                <a:solidFill>
                  <a:schemeClr val="bg1"/>
                </a:solidFill>
              </a:rPr>
              <a:t>Consider Outsourcing</a:t>
            </a:r>
            <a:endParaRPr lang="en-US" sz="3600" dirty="0">
              <a:solidFill>
                <a:schemeClr val="bg1"/>
              </a:solidFill>
            </a:endParaRPr>
          </a:p>
        </p:txBody>
      </p:sp>
      <p:pic>
        <p:nvPicPr>
          <p:cNvPr id="11" name="Picture Placeholder 10"/>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4918" r="4918"/>
          <a:stretch>
            <a:fillRect/>
          </a:stretch>
        </p:blipFill>
        <p:spPr/>
      </p:pic>
    </p:spTree>
    <p:extLst>
      <p:ext uri="{BB962C8B-B14F-4D97-AF65-F5344CB8AC3E}">
        <p14:creationId xmlns:p14="http://schemas.microsoft.com/office/powerpoint/2010/main" val="347335511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7544" y="339502"/>
            <a:ext cx="8136904" cy="4524315"/>
          </a:xfrm>
          <a:prstGeom prst="rect">
            <a:avLst/>
          </a:prstGeom>
        </p:spPr>
        <p:txBody>
          <a:bodyPr wrap="square">
            <a:spAutoFit/>
          </a:bodyPr>
          <a:lstStyle/>
          <a:p>
            <a:pPr algn="justLow" fontAlgn="base"/>
            <a:r>
              <a:rPr lang="en-US" sz="2400" dirty="0">
                <a:solidFill>
                  <a:schemeClr val="bg1"/>
                </a:solidFill>
              </a:rPr>
              <a:t>In the competitive world of startups, founders should focus on core business operations without distractions. But at the initial stages of business expansion, funds, and staff are limited. It’s the problem that drives most startup owners to wear too many hats and try to do it all as a way of saving money and time</a:t>
            </a:r>
            <a:r>
              <a:rPr lang="en-US" sz="2400" dirty="0" smtClean="0">
                <a:solidFill>
                  <a:schemeClr val="bg1"/>
                </a:solidFill>
              </a:rPr>
              <a:t>.</a:t>
            </a:r>
          </a:p>
          <a:p>
            <a:pPr algn="justLow" fontAlgn="base"/>
            <a:endParaRPr lang="en-US" sz="2400" dirty="0">
              <a:solidFill>
                <a:schemeClr val="bg1"/>
              </a:solidFill>
            </a:endParaRPr>
          </a:p>
          <a:p>
            <a:pPr algn="justLow" fontAlgn="base"/>
            <a:r>
              <a:rPr lang="en-US" sz="2400" dirty="0">
                <a:solidFill>
                  <a:schemeClr val="bg1"/>
                </a:solidFill>
              </a:rPr>
              <a:t>As a startup founder, you must be careful. Taking on too many tasks can sacrifice quality and accuracy. Alternatively, when entrepreneurs outsource, they’re connecting their startup with expert teams that have the knowledge and skill sets for handling a variety of tasks while avoiding errors.</a:t>
            </a:r>
          </a:p>
        </p:txBody>
      </p:sp>
    </p:spTree>
    <p:extLst>
      <p:ext uri="{BB962C8B-B14F-4D97-AF65-F5344CB8AC3E}">
        <p14:creationId xmlns:p14="http://schemas.microsoft.com/office/powerpoint/2010/main" val="438892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a:extLst>
              <a:ext uri="{FF2B5EF4-FFF2-40B4-BE49-F238E27FC236}">
                <a16:creationId xmlns="" xmlns:a16="http://schemas.microsoft.com/office/drawing/2014/main" id="{C339D065-CC10-4F7A-919F-2BE9C474B109}"/>
              </a:ext>
            </a:extLst>
          </p:cNvPr>
          <p:cNvPicPr>
            <a:picLocks noChangeAspect="1"/>
          </p:cNvPicPr>
          <p:nvPr/>
        </p:nvPicPr>
        <p:blipFill rotWithShape="1">
          <a:blip r:embed="rId2">
            <a:extLst>
              <a:ext uri="{28A0092B-C50C-407E-A947-70E740481C1C}">
                <a14:useLocalDpi xmlns:a14="http://schemas.microsoft.com/office/drawing/2010/main" val="0"/>
              </a:ext>
            </a:extLst>
          </a:blip>
          <a:srcRect r="2153" b="9325"/>
          <a:stretch/>
        </p:blipFill>
        <p:spPr>
          <a:xfrm>
            <a:off x="899592" y="411510"/>
            <a:ext cx="7128792" cy="4404208"/>
          </a:xfrm>
          <a:prstGeom prst="rect">
            <a:avLst/>
          </a:prstGeom>
        </p:spPr>
      </p:pic>
    </p:spTree>
    <p:extLst>
      <p:ext uri="{BB962C8B-B14F-4D97-AF65-F5344CB8AC3E}">
        <p14:creationId xmlns:p14="http://schemas.microsoft.com/office/powerpoint/2010/main" val="23031744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179512" y="3842373"/>
            <a:ext cx="3168353" cy="830997"/>
          </a:xfrm>
          <a:prstGeom prst="rect">
            <a:avLst/>
          </a:prstGeom>
          <a:noFill/>
        </p:spPr>
        <p:txBody>
          <a:bodyPr wrap="square" rtlCol="0">
            <a:spAutoFit/>
          </a:bodyPr>
          <a:lstStyle/>
          <a:p>
            <a:pPr algn="justLow" fontAlgn="base"/>
            <a:r>
              <a:rPr lang="en-US" sz="2400" b="1" smtClean="0">
                <a:solidFill>
                  <a:schemeClr val="bg1"/>
                </a:solidFill>
              </a:rPr>
              <a:t>What should </a:t>
            </a:r>
          </a:p>
          <a:p>
            <a:pPr algn="justLow" fontAlgn="base"/>
            <a:r>
              <a:rPr lang="en-US" sz="2400" b="1" smtClean="0">
                <a:solidFill>
                  <a:schemeClr val="bg1"/>
                </a:solidFill>
              </a:rPr>
              <a:t>startups outsource?</a:t>
            </a:r>
            <a:endParaRPr lang="en-US" sz="2400" b="1" dirty="0">
              <a:solidFill>
                <a:schemeClr val="bg1"/>
              </a:solidFill>
            </a:endParaRPr>
          </a:p>
        </p:txBody>
      </p:sp>
      <p:pic>
        <p:nvPicPr>
          <p:cNvPr id="3" name="Picture Placeholder 2"/>
          <p:cNvPicPr>
            <a:picLocks noGrp="1" noChangeAspect="1"/>
          </p:cNvPicPr>
          <p:nvPr>
            <p:ph type="pic" idx="1"/>
          </p:nvPr>
        </p:nvPicPr>
        <p:blipFill>
          <a:blip r:embed="rId2">
            <a:extLst>
              <a:ext uri="{28A0092B-C50C-407E-A947-70E740481C1C}">
                <a14:useLocalDpi xmlns:a14="http://schemas.microsoft.com/office/drawing/2010/main" val="0"/>
              </a:ext>
            </a:extLst>
          </a:blip>
          <a:srcRect l="17644" r="17644"/>
          <a:stretch>
            <a:fillRect/>
          </a:stretch>
        </p:blipFill>
        <p:spPr>
          <a:xfrm>
            <a:off x="3577829" y="1252727"/>
            <a:ext cx="1945465" cy="3005145"/>
          </a:xfrm>
        </p:spPr>
      </p:pic>
      <p:sp>
        <p:nvSpPr>
          <p:cNvPr id="4" name="TextBox 3"/>
          <p:cNvSpPr txBox="1"/>
          <p:nvPr/>
        </p:nvSpPr>
        <p:spPr>
          <a:xfrm>
            <a:off x="179512" y="411510"/>
            <a:ext cx="8784976" cy="923330"/>
          </a:xfrm>
          <a:prstGeom prst="rect">
            <a:avLst/>
          </a:prstGeom>
          <a:noFill/>
        </p:spPr>
        <p:txBody>
          <a:bodyPr wrap="square" rtlCol="0">
            <a:spAutoFit/>
          </a:bodyPr>
          <a:lstStyle/>
          <a:p>
            <a:r>
              <a:rPr lang="en-US" dirty="0">
                <a:solidFill>
                  <a:schemeClr val="bg1"/>
                </a:solidFill>
              </a:rPr>
              <a:t>If you’re looking for specific suggestions, three tasks that are always beneficial to outsource are:</a:t>
            </a:r>
          </a:p>
          <a:p>
            <a:endParaRPr lang="en-US" dirty="0">
              <a:solidFill>
                <a:schemeClr val="bg1"/>
              </a:solidFill>
            </a:endParaRPr>
          </a:p>
        </p:txBody>
      </p:sp>
      <p:sp>
        <p:nvSpPr>
          <p:cNvPr id="5" name="TextBox 4"/>
          <p:cNvSpPr txBox="1"/>
          <p:nvPr/>
        </p:nvSpPr>
        <p:spPr>
          <a:xfrm>
            <a:off x="5803381" y="2093579"/>
            <a:ext cx="3096344" cy="1323439"/>
          </a:xfrm>
          <a:prstGeom prst="rect">
            <a:avLst/>
          </a:prstGeom>
          <a:noFill/>
        </p:spPr>
        <p:txBody>
          <a:bodyPr wrap="square" rtlCol="0">
            <a:spAutoFit/>
          </a:bodyPr>
          <a:lstStyle/>
          <a:p>
            <a:pPr marL="285750" lvl="0" indent="-285750" fontAlgn="base">
              <a:buFont typeface="Arial" panose="020B0604020202020204" pitchFamily="34" charset="0"/>
              <a:buChar char="•"/>
            </a:pPr>
            <a:r>
              <a:rPr lang="en-US" sz="2000" b="1" dirty="0"/>
              <a:t>Administrative duties</a:t>
            </a:r>
          </a:p>
          <a:p>
            <a:pPr marL="285750" lvl="0" indent="-285750" fontAlgn="base">
              <a:buFont typeface="Arial" panose="020B0604020202020204" pitchFamily="34" charset="0"/>
              <a:buChar char="•"/>
            </a:pPr>
            <a:r>
              <a:rPr lang="en-US" sz="2000" b="1" dirty="0"/>
              <a:t>IT services</a:t>
            </a:r>
          </a:p>
          <a:p>
            <a:pPr marL="285750" lvl="0" indent="-285750" fontAlgn="base">
              <a:buFont typeface="Arial" panose="020B0604020202020204" pitchFamily="34" charset="0"/>
              <a:buChar char="•"/>
            </a:pPr>
            <a:r>
              <a:rPr lang="en-US" sz="2000" b="1" dirty="0"/>
              <a:t>Payroll</a:t>
            </a:r>
          </a:p>
          <a:p>
            <a:pPr marL="285750" indent="-285750">
              <a:buFont typeface="Arial" panose="020B0604020202020204" pitchFamily="34" charset="0"/>
              <a:buChar char="•"/>
            </a:pPr>
            <a:endParaRPr lang="en-US" sz="2000" b="1" dirty="0"/>
          </a:p>
        </p:txBody>
      </p:sp>
    </p:spTree>
    <p:extLst>
      <p:ext uri="{BB962C8B-B14F-4D97-AF65-F5344CB8AC3E}">
        <p14:creationId xmlns:p14="http://schemas.microsoft.com/office/powerpoint/2010/main" val="5796130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39502"/>
            <a:ext cx="8568952" cy="707886"/>
          </a:xfrm>
          <a:prstGeom prst="rect">
            <a:avLst/>
          </a:prstGeom>
          <a:noFill/>
        </p:spPr>
        <p:txBody>
          <a:bodyPr wrap="square" rtlCol="0">
            <a:spAutoFit/>
          </a:bodyPr>
          <a:lstStyle/>
          <a:p>
            <a:pPr fontAlgn="base"/>
            <a:r>
              <a:rPr lang="en-US" sz="4000" b="1" dirty="0">
                <a:solidFill>
                  <a:schemeClr val="bg1"/>
                </a:solidFill>
              </a:rPr>
              <a:t>Administrative </a:t>
            </a:r>
            <a:r>
              <a:rPr lang="en-US" sz="4000" b="1" dirty="0" smtClean="0">
                <a:solidFill>
                  <a:schemeClr val="bg1"/>
                </a:solidFill>
              </a:rPr>
              <a:t>Duties</a:t>
            </a:r>
            <a:endParaRPr lang="en-US" sz="3600" dirty="0">
              <a:solidFill>
                <a:schemeClr val="bg1"/>
              </a:solidFill>
            </a:endParaRPr>
          </a:p>
        </p:txBody>
      </p:sp>
      <p:sp>
        <p:nvSpPr>
          <p:cNvPr id="2" name="TextBox 1"/>
          <p:cNvSpPr txBox="1"/>
          <p:nvPr/>
        </p:nvSpPr>
        <p:spPr>
          <a:xfrm>
            <a:off x="395536" y="1275606"/>
            <a:ext cx="8352928" cy="3170099"/>
          </a:xfrm>
          <a:prstGeom prst="rect">
            <a:avLst/>
          </a:prstGeom>
          <a:noFill/>
        </p:spPr>
        <p:txBody>
          <a:bodyPr wrap="square" rtlCol="0">
            <a:spAutoFit/>
          </a:bodyPr>
          <a:lstStyle/>
          <a:p>
            <a:pPr fontAlgn="base"/>
            <a:r>
              <a:rPr lang="en-US" sz="2000" dirty="0"/>
              <a:t>Outsourcing administrative duties passes the responsibilities of taking notes and answering emails to outsourced workers. Important scheduling matters such as employee work hours and meetings can also be outsourced, which is especially beneficial when there’s no HR department</a:t>
            </a:r>
            <a:r>
              <a:rPr lang="en-US" sz="2000" dirty="0" smtClean="0"/>
              <a:t>.</a:t>
            </a:r>
          </a:p>
          <a:p>
            <a:pPr fontAlgn="base"/>
            <a:endParaRPr lang="en-US" sz="2000" dirty="0"/>
          </a:p>
          <a:p>
            <a:pPr fontAlgn="base"/>
            <a:r>
              <a:rPr lang="en-US" sz="2000" dirty="0"/>
              <a:t>As you and your staff work on more pressing projects, you can be confident that your outsourced assistants aren’t missing a beat when it comes to keeping your company organized while promptly communicating with clientele, potential business partners, and investors.</a:t>
            </a:r>
          </a:p>
          <a:p>
            <a:endParaRPr lang="en-US" sz="2000" dirty="0"/>
          </a:p>
        </p:txBody>
      </p:sp>
    </p:spTree>
    <p:extLst>
      <p:ext uri="{BB962C8B-B14F-4D97-AF65-F5344CB8AC3E}">
        <p14:creationId xmlns:p14="http://schemas.microsoft.com/office/powerpoint/2010/main" val="99711227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39502"/>
            <a:ext cx="8568952" cy="707886"/>
          </a:xfrm>
          <a:prstGeom prst="rect">
            <a:avLst/>
          </a:prstGeom>
          <a:noFill/>
        </p:spPr>
        <p:txBody>
          <a:bodyPr wrap="square" rtlCol="0">
            <a:spAutoFit/>
          </a:bodyPr>
          <a:lstStyle/>
          <a:p>
            <a:pPr fontAlgn="base"/>
            <a:r>
              <a:rPr lang="en-US" sz="4000" b="1" dirty="0">
                <a:solidFill>
                  <a:schemeClr val="bg1"/>
                </a:solidFill>
              </a:rPr>
              <a:t>IT </a:t>
            </a:r>
            <a:r>
              <a:rPr lang="en-US" sz="4000" b="1" dirty="0" smtClean="0">
                <a:solidFill>
                  <a:schemeClr val="bg1"/>
                </a:solidFill>
              </a:rPr>
              <a:t>Services</a:t>
            </a:r>
            <a:endParaRPr lang="en-US" sz="3600" dirty="0">
              <a:solidFill>
                <a:schemeClr val="bg1"/>
              </a:solidFill>
            </a:endParaRPr>
          </a:p>
        </p:txBody>
      </p:sp>
      <p:sp>
        <p:nvSpPr>
          <p:cNvPr id="2" name="TextBox 1"/>
          <p:cNvSpPr txBox="1"/>
          <p:nvPr/>
        </p:nvSpPr>
        <p:spPr>
          <a:xfrm>
            <a:off x="395536" y="1275606"/>
            <a:ext cx="8352928" cy="2246769"/>
          </a:xfrm>
          <a:prstGeom prst="rect">
            <a:avLst/>
          </a:prstGeom>
          <a:noFill/>
        </p:spPr>
        <p:txBody>
          <a:bodyPr wrap="square" rtlCol="0">
            <a:spAutoFit/>
          </a:bodyPr>
          <a:lstStyle/>
          <a:p>
            <a:pPr algn="justLow"/>
            <a:r>
              <a:rPr lang="en-US" sz="2000" dirty="0"/>
              <a:t>Outsourcing to tech providers is one of the more obvious routes to keep your company competitive. You can work with a larger talent pool than in house and the team will already have whatever specialized equipment they need. Indeed, what makes IT outsourcing providers stand out is their emphasis on cutting-edge technology that will support the deployment of the highest quality products.</a:t>
            </a:r>
          </a:p>
          <a:p>
            <a:pPr algn="justLow"/>
            <a:endParaRPr lang="en-US" sz="2000" dirty="0"/>
          </a:p>
        </p:txBody>
      </p:sp>
    </p:spTree>
    <p:extLst>
      <p:ext uri="{BB962C8B-B14F-4D97-AF65-F5344CB8AC3E}">
        <p14:creationId xmlns:p14="http://schemas.microsoft.com/office/powerpoint/2010/main" val="192085571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95536" y="339502"/>
            <a:ext cx="8568952" cy="707886"/>
          </a:xfrm>
          <a:prstGeom prst="rect">
            <a:avLst/>
          </a:prstGeom>
          <a:noFill/>
        </p:spPr>
        <p:txBody>
          <a:bodyPr wrap="square" rtlCol="0">
            <a:spAutoFit/>
          </a:bodyPr>
          <a:lstStyle/>
          <a:p>
            <a:pPr fontAlgn="base"/>
            <a:r>
              <a:rPr lang="en-US" sz="4000" b="1" dirty="0">
                <a:solidFill>
                  <a:schemeClr val="bg1"/>
                </a:solidFill>
              </a:rPr>
              <a:t>Payroll</a:t>
            </a:r>
            <a:endParaRPr lang="en-US" sz="3600" dirty="0">
              <a:solidFill>
                <a:schemeClr val="bg1"/>
              </a:solidFill>
            </a:endParaRPr>
          </a:p>
        </p:txBody>
      </p:sp>
      <p:sp>
        <p:nvSpPr>
          <p:cNvPr id="2" name="TextBox 1"/>
          <p:cNvSpPr txBox="1"/>
          <p:nvPr/>
        </p:nvSpPr>
        <p:spPr>
          <a:xfrm>
            <a:off x="395536" y="1275606"/>
            <a:ext cx="8352928" cy="3477875"/>
          </a:xfrm>
          <a:prstGeom prst="rect">
            <a:avLst/>
          </a:prstGeom>
          <a:noFill/>
        </p:spPr>
        <p:txBody>
          <a:bodyPr wrap="square" rtlCol="0">
            <a:spAutoFit/>
          </a:bodyPr>
          <a:lstStyle/>
          <a:p>
            <a:pPr algn="justLow" fontAlgn="base"/>
            <a:r>
              <a:rPr lang="en-US" sz="2000" dirty="0"/>
              <a:t>Consider the fact that small businesses have paid billions in fines annually due to incorrect payroll information. Outsourcing payroll protects you and your staff because it provides the accuracy needed to prevent legal punishments and pay your team accordingly</a:t>
            </a:r>
            <a:r>
              <a:rPr lang="en-US" sz="2000" dirty="0" smtClean="0"/>
              <a:t>.</a:t>
            </a:r>
          </a:p>
          <a:p>
            <a:pPr algn="justLow" fontAlgn="base"/>
            <a:endParaRPr lang="en-US" sz="2000" dirty="0"/>
          </a:p>
          <a:p>
            <a:pPr algn="justLow" fontAlgn="base"/>
            <a:r>
              <a:rPr lang="en-US" sz="2000" dirty="0" err="1"/>
              <a:t>Bottomline</a:t>
            </a:r>
            <a:r>
              <a:rPr lang="en-US" sz="2000" dirty="0"/>
              <a:t>, startups owners must be driven to succeed while utilizing cost-effective solutions to build their business and reach consumers in competitive markets. To ensure that your business is functional while avoiding critical errors that can damage your brand’s reputation, outsourcing is the way to go.</a:t>
            </a:r>
          </a:p>
          <a:p>
            <a:pPr algn="justLow"/>
            <a:endParaRPr lang="en-US" sz="2000" dirty="0"/>
          </a:p>
        </p:txBody>
      </p:sp>
    </p:spTree>
    <p:extLst>
      <p:ext uri="{BB962C8B-B14F-4D97-AF65-F5344CB8AC3E}">
        <p14:creationId xmlns:p14="http://schemas.microsoft.com/office/powerpoint/2010/main" val="32715641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059582"/>
            <a:ext cx="9144000" cy="314781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1" name="Frame 10"/>
          <p:cNvSpPr/>
          <p:nvPr/>
        </p:nvSpPr>
        <p:spPr>
          <a:xfrm>
            <a:off x="188640" y="1311609"/>
            <a:ext cx="8694712" cy="2700301"/>
          </a:xfrm>
          <a:prstGeom prst="frame">
            <a:avLst>
              <a:gd name="adj1" fmla="val 1002"/>
            </a:avLst>
          </a:prstGeom>
          <a:solidFill>
            <a:srgbClr val="8FE2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 name="TextBox 3"/>
          <p:cNvSpPr txBox="1"/>
          <p:nvPr/>
        </p:nvSpPr>
        <p:spPr>
          <a:xfrm>
            <a:off x="395536" y="1779662"/>
            <a:ext cx="8280920" cy="1446550"/>
          </a:xfrm>
          <a:prstGeom prst="rect">
            <a:avLst/>
          </a:prstGeom>
          <a:noFill/>
        </p:spPr>
        <p:txBody>
          <a:bodyPr wrap="square" rtlCol="0">
            <a:spAutoFit/>
          </a:bodyPr>
          <a:lstStyle/>
          <a:p>
            <a:pPr algn="ctr"/>
            <a:r>
              <a:rPr lang="en-US" sz="4400" b="1" dirty="0">
                <a:solidFill>
                  <a:schemeClr val="bg1"/>
                </a:solidFill>
              </a:rPr>
              <a:t>Difference between Copyright, Patent and Trademark?</a:t>
            </a:r>
            <a:endParaRPr lang="en-US" sz="4400" dirty="0">
              <a:solidFill>
                <a:schemeClr val="bg1"/>
              </a:solidFill>
            </a:endParaRPr>
          </a:p>
        </p:txBody>
      </p:sp>
    </p:spTree>
    <p:extLst>
      <p:ext uri="{BB962C8B-B14F-4D97-AF65-F5344CB8AC3E}">
        <p14:creationId xmlns:p14="http://schemas.microsoft.com/office/powerpoint/2010/main" val="25348202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24644" y="3454717"/>
            <a:ext cx="8739844" cy="400110"/>
          </a:xfrm>
          <a:prstGeom prst="rect">
            <a:avLst/>
          </a:prstGeom>
          <a:noFill/>
        </p:spPr>
        <p:txBody>
          <a:bodyPr wrap="square" rtlCol="0">
            <a:spAutoFit/>
          </a:bodyPr>
          <a:lstStyle/>
          <a:p>
            <a:endParaRPr lang="en-US" sz="2000" dirty="0"/>
          </a:p>
        </p:txBody>
      </p:sp>
      <p:sp>
        <p:nvSpPr>
          <p:cNvPr id="3" name="Rectangle 2"/>
          <p:cNvSpPr/>
          <p:nvPr/>
        </p:nvSpPr>
        <p:spPr>
          <a:xfrm>
            <a:off x="224644" y="195486"/>
            <a:ext cx="8595828" cy="4524315"/>
          </a:xfrm>
          <a:prstGeom prst="rect">
            <a:avLst/>
          </a:prstGeom>
        </p:spPr>
        <p:txBody>
          <a:bodyPr wrap="square">
            <a:spAutoFit/>
          </a:bodyPr>
          <a:lstStyle/>
          <a:p>
            <a:r>
              <a:rPr lang="en-US" sz="2400" b="1" u="sng" dirty="0">
                <a:solidFill>
                  <a:schemeClr val="tx1">
                    <a:lumMod val="95000"/>
                    <a:lumOff val="5000"/>
                  </a:schemeClr>
                </a:solidFill>
              </a:rPr>
              <a:t>A copyright </a:t>
            </a:r>
            <a:r>
              <a:rPr lang="en-US" sz="2400" dirty="0">
                <a:solidFill>
                  <a:schemeClr val="bg1"/>
                </a:solidFill>
              </a:rPr>
              <a:t>is a collection of rights automatically vested to you once you have created an original work. To understand how these rights can be used or licensed, it is helpful to analogize them to a bundle of sticks, where each stick represents a separate right vested to you as the owner. These rights include the right to reproduce the work, to prepare derivative works, to distribute copies, to perform the work publicly, and to display the work publicly</a:t>
            </a:r>
            <a:r>
              <a:rPr lang="en-US" sz="2400" dirty="0" smtClean="0">
                <a:solidFill>
                  <a:schemeClr val="bg1"/>
                </a:solidFill>
              </a:rPr>
              <a:t>.</a:t>
            </a:r>
          </a:p>
          <a:p>
            <a:r>
              <a:rPr lang="en-US" sz="2400" dirty="0">
                <a:solidFill>
                  <a:schemeClr val="bg1"/>
                </a:solidFill>
              </a:rPr>
              <a:t/>
            </a:r>
            <a:br>
              <a:rPr lang="en-US" sz="2400" dirty="0">
                <a:solidFill>
                  <a:schemeClr val="bg1"/>
                </a:solidFill>
              </a:rPr>
            </a:br>
            <a:r>
              <a:rPr lang="en-US" sz="2400" dirty="0">
                <a:solidFill>
                  <a:schemeClr val="bg1"/>
                </a:solidFill>
              </a:rPr>
              <a:t>As the copyright owner, you have the authority to keep each “stick,” to transfer them individually to one or more people, or to transfer them collectively to one or more people. </a:t>
            </a:r>
          </a:p>
        </p:txBody>
      </p:sp>
      <p:sp>
        <p:nvSpPr>
          <p:cNvPr id="5" name="Rectangle 4"/>
          <p:cNvSpPr/>
          <p:nvPr/>
        </p:nvSpPr>
        <p:spPr>
          <a:xfrm>
            <a:off x="0" y="4881154"/>
            <a:ext cx="9144000" cy="2623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2785567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24644" y="3454717"/>
            <a:ext cx="8739844" cy="400110"/>
          </a:xfrm>
          <a:prstGeom prst="rect">
            <a:avLst/>
          </a:prstGeom>
          <a:noFill/>
        </p:spPr>
        <p:txBody>
          <a:bodyPr wrap="square" rtlCol="0">
            <a:spAutoFit/>
          </a:bodyPr>
          <a:lstStyle/>
          <a:p>
            <a:endParaRPr lang="en-US" sz="2000" dirty="0"/>
          </a:p>
        </p:txBody>
      </p:sp>
      <p:sp>
        <p:nvSpPr>
          <p:cNvPr id="3" name="Rectangle 2"/>
          <p:cNvSpPr/>
          <p:nvPr/>
        </p:nvSpPr>
        <p:spPr>
          <a:xfrm>
            <a:off x="224644" y="267494"/>
            <a:ext cx="8595828" cy="4154984"/>
          </a:xfrm>
          <a:prstGeom prst="rect">
            <a:avLst/>
          </a:prstGeom>
        </p:spPr>
        <p:txBody>
          <a:bodyPr wrap="square">
            <a:spAutoFit/>
          </a:bodyPr>
          <a:lstStyle/>
          <a:p>
            <a:r>
              <a:rPr lang="en-US" sz="2400" b="1" u="sng" dirty="0"/>
              <a:t>The primary </a:t>
            </a:r>
            <a:r>
              <a:rPr lang="en-US" sz="2400" dirty="0">
                <a:solidFill>
                  <a:schemeClr val="bg1"/>
                </a:solidFill>
              </a:rPr>
              <a:t>goal of the patent law is to encourage innovation and commercialization of technological advances. Patent law incentivizes inventors to publicly disclose their inventions in exchange for certain exclusive rights. A patent protects inventions. These inventions can include new and useful processes, machines, manufactures, compositions of matter as well as improvements to these. Certain computer programs may fall within the subject matter protected by both patents and copyrights. In this respect the patent system compliments copyright protection by providing protection for functional aspects of the software, which are not protected by copyright.</a:t>
            </a:r>
          </a:p>
        </p:txBody>
      </p:sp>
      <p:sp>
        <p:nvSpPr>
          <p:cNvPr id="5" name="Rectangle 4"/>
          <p:cNvSpPr/>
          <p:nvPr/>
        </p:nvSpPr>
        <p:spPr>
          <a:xfrm>
            <a:off x="0" y="4881154"/>
            <a:ext cx="9144000" cy="2623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3004523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24644" y="3454717"/>
            <a:ext cx="8739844" cy="400110"/>
          </a:xfrm>
          <a:prstGeom prst="rect">
            <a:avLst/>
          </a:prstGeom>
          <a:noFill/>
        </p:spPr>
        <p:txBody>
          <a:bodyPr wrap="square" rtlCol="0">
            <a:spAutoFit/>
          </a:bodyPr>
          <a:lstStyle/>
          <a:p>
            <a:endParaRPr lang="en-US" sz="2000" dirty="0"/>
          </a:p>
        </p:txBody>
      </p:sp>
      <p:sp>
        <p:nvSpPr>
          <p:cNvPr id="3" name="Rectangle 2"/>
          <p:cNvSpPr/>
          <p:nvPr/>
        </p:nvSpPr>
        <p:spPr>
          <a:xfrm>
            <a:off x="224644" y="267494"/>
            <a:ext cx="8595828" cy="2308324"/>
          </a:xfrm>
          <a:prstGeom prst="rect">
            <a:avLst/>
          </a:prstGeom>
        </p:spPr>
        <p:txBody>
          <a:bodyPr wrap="square">
            <a:spAutoFit/>
          </a:bodyPr>
          <a:lstStyle/>
          <a:p>
            <a:r>
              <a:rPr lang="en-US" sz="2400" b="1" u="sng" dirty="0"/>
              <a:t>A trademark </a:t>
            </a:r>
            <a:r>
              <a:rPr lang="en-US" sz="2400" dirty="0">
                <a:solidFill>
                  <a:schemeClr val="bg1"/>
                </a:solidFill>
              </a:rPr>
              <a:t>is a word, phrase, symbol, and/or design that identifies and distinguishes the source of the goods of one party from those of others. A service mark is a word, phrase, symbol, and/or design that identifies and distinguishes the source of a service rather than goods. Examples include brand names, slogans, and logos.</a:t>
            </a:r>
          </a:p>
        </p:txBody>
      </p:sp>
      <p:sp>
        <p:nvSpPr>
          <p:cNvPr id="5" name="Rectangle 4"/>
          <p:cNvSpPr/>
          <p:nvPr/>
        </p:nvSpPr>
        <p:spPr>
          <a:xfrm>
            <a:off x="0" y="4881154"/>
            <a:ext cx="9144000" cy="26234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5000639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182A6A57-6E3E-4D21-91C2-B53B84E49FCE}"/>
              </a:ext>
            </a:extLst>
          </p:cNvPr>
          <p:cNvPicPr>
            <a:picLocks/>
          </p:cNvPicPr>
          <p:nvPr/>
        </p:nvPicPr>
        <p:blipFill rotWithShape="1">
          <a:blip r:embed="rId2">
            <a:extLst>
              <a:ext uri="{28A0092B-C50C-407E-A947-70E740481C1C}">
                <a14:useLocalDpi xmlns:a14="http://schemas.microsoft.com/office/drawing/2010/main" val="0"/>
              </a:ext>
            </a:extLst>
          </a:blip>
          <a:srcRect l="29648" t="23374" r="3685" b="16478"/>
          <a:stretch/>
        </p:blipFill>
        <p:spPr bwMode="auto">
          <a:xfrm>
            <a:off x="314164" y="339502"/>
            <a:ext cx="8578316" cy="4351338"/>
          </a:xfrm>
          <a:prstGeom prst="rect">
            <a:avLst/>
          </a:prstGeom>
          <a:solidFill>
            <a:schemeClr val="bg1">
              <a:lumMod val="85000"/>
            </a:schemeClr>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0287536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p:cNvSpPr txBox="1"/>
          <p:nvPr/>
        </p:nvSpPr>
        <p:spPr>
          <a:xfrm>
            <a:off x="4283968" y="1945762"/>
            <a:ext cx="4680520" cy="1200329"/>
          </a:xfrm>
          <a:prstGeom prst="rect">
            <a:avLst/>
          </a:prstGeom>
          <a:noFill/>
        </p:spPr>
        <p:txBody>
          <a:bodyPr wrap="square" rtlCol="0">
            <a:spAutoFit/>
          </a:bodyPr>
          <a:lstStyle/>
          <a:p>
            <a:r>
              <a:rPr lang="en-US" sz="3600" b="1" dirty="0">
                <a:solidFill>
                  <a:schemeClr val="bg1"/>
                </a:solidFill>
              </a:rPr>
              <a:t>Intellectual Property in Egypt</a:t>
            </a:r>
            <a:endParaRPr lang="en-US" sz="4400" b="1" dirty="0">
              <a:solidFill>
                <a:schemeClr val="bg1"/>
              </a:solidFill>
            </a:endParaRP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t="7272" b="7272"/>
          <a:stretch>
            <a:fillRect/>
          </a:stretch>
        </p:blipFill>
        <p:spPr/>
      </p:pic>
    </p:spTree>
    <p:extLst>
      <p:ext uri="{BB962C8B-B14F-4D97-AF65-F5344CB8AC3E}">
        <p14:creationId xmlns:p14="http://schemas.microsoft.com/office/powerpoint/2010/main" val="321097052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555526"/>
            <a:ext cx="8640960" cy="4247317"/>
          </a:xfrm>
          <a:prstGeom prst="rect">
            <a:avLst/>
          </a:prstGeom>
          <a:noFill/>
        </p:spPr>
        <p:txBody>
          <a:bodyPr wrap="square" rtlCol="0">
            <a:spAutoFit/>
          </a:bodyPr>
          <a:lstStyle/>
          <a:p>
            <a:pPr algn="justLow"/>
            <a:r>
              <a:rPr lang="en-US" b="1" dirty="0">
                <a:solidFill>
                  <a:schemeClr val="bg1"/>
                </a:solidFill>
              </a:rPr>
              <a:t>The </a:t>
            </a:r>
            <a:r>
              <a:rPr lang="en-US" b="1" u="sng" dirty="0"/>
              <a:t>Copyright</a:t>
            </a:r>
            <a:r>
              <a:rPr lang="en-US" b="1" dirty="0">
                <a:solidFill>
                  <a:schemeClr val="bg1"/>
                </a:solidFill>
              </a:rPr>
              <a:t> Law, No. 354 of 1954, provides copyright protection for, inter alia, written works, paintings, sculpture and architecture, theater and musical pieces, photographs and cinematographic films, television and radio works for publication, maps, and speeches. A 1992 amendment to the Copyright Law stiffened the penalties available under the Copyright Law and also provides for protection of video tapes</a:t>
            </a:r>
            <a:r>
              <a:rPr lang="en-US" b="1" dirty="0" smtClean="0">
                <a:solidFill>
                  <a:schemeClr val="bg1"/>
                </a:solidFill>
              </a:rPr>
              <a:t>.</a:t>
            </a:r>
          </a:p>
          <a:p>
            <a:pPr algn="justLow"/>
            <a:endParaRPr lang="en-US" b="1" dirty="0">
              <a:solidFill>
                <a:schemeClr val="bg1"/>
              </a:solidFill>
            </a:endParaRPr>
          </a:p>
          <a:p>
            <a:pPr algn="justLow"/>
            <a:r>
              <a:rPr lang="en-US" b="1" dirty="0">
                <a:solidFill>
                  <a:schemeClr val="bg1"/>
                </a:solidFill>
              </a:rPr>
              <a:t>A 1994 amendment to the Copyright Law treats computer software as a literary work and guarantees it a fifty year term of protection. Protection under the Copyright Law terminates fifty years following the demise of the author. Should the copyrighted material be owned by a legal entity rather than a natural person, then the fifty year protection period begins on the date the material was first published. The author may assign the rights granted to him by the law to other persons, subject to certain limitations set by the law.</a:t>
            </a:r>
          </a:p>
          <a:p>
            <a:pPr algn="justLow"/>
            <a:endParaRPr lang="en-US" b="1" dirty="0">
              <a:solidFill>
                <a:schemeClr val="bg1"/>
              </a:solidFill>
            </a:endParaRPr>
          </a:p>
        </p:txBody>
      </p:sp>
    </p:spTree>
    <p:extLst>
      <p:ext uri="{BB962C8B-B14F-4D97-AF65-F5344CB8AC3E}">
        <p14:creationId xmlns:p14="http://schemas.microsoft.com/office/powerpoint/2010/main" val="33590200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555526"/>
            <a:ext cx="8640960" cy="3139321"/>
          </a:xfrm>
          <a:prstGeom prst="rect">
            <a:avLst/>
          </a:prstGeom>
          <a:noFill/>
        </p:spPr>
        <p:txBody>
          <a:bodyPr wrap="square" rtlCol="0">
            <a:spAutoFit/>
          </a:bodyPr>
          <a:lstStyle/>
          <a:p>
            <a:r>
              <a:rPr lang="en-US" b="1" dirty="0">
                <a:solidFill>
                  <a:schemeClr val="bg1"/>
                </a:solidFill>
              </a:rPr>
              <a:t>The law on </a:t>
            </a:r>
            <a:r>
              <a:rPr lang="en-US" b="1" u="sng" dirty="0"/>
              <a:t>Patents</a:t>
            </a:r>
            <a:r>
              <a:rPr lang="en-US" b="1" dirty="0">
                <a:solidFill>
                  <a:schemeClr val="bg1"/>
                </a:solidFill>
              </a:rPr>
              <a:t> and Industrial Designs, Law No. 132, of 1949, as amended, grants inventors fifteen years of patent protection from the date of application. In some cases, it may be extended for an additional five year term. The patent holder has exclusive rights to the invention and may license, assign, pledge or in any other way act with regard to the patent. At the end of the patent protection period, the invention enters the public domain</a:t>
            </a:r>
            <a:r>
              <a:rPr lang="en-US" b="1" dirty="0" smtClean="0">
                <a:solidFill>
                  <a:schemeClr val="bg1"/>
                </a:solidFill>
              </a:rPr>
              <a:t>.</a:t>
            </a:r>
          </a:p>
          <a:p>
            <a:endParaRPr lang="en-US" b="1" dirty="0">
              <a:solidFill>
                <a:schemeClr val="bg1"/>
              </a:solidFill>
            </a:endParaRPr>
          </a:p>
          <a:p>
            <a:r>
              <a:rPr lang="en-US" b="1" dirty="0">
                <a:solidFill>
                  <a:schemeClr val="bg1"/>
                </a:solidFill>
              </a:rPr>
              <a:t>Egypt has adopted the Paris Convention, and, accordingly, a patent application filed in a member country entitles the applicants to apply for a patent in Egypt within one year.</a:t>
            </a:r>
          </a:p>
          <a:p>
            <a:endParaRPr lang="en-US" b="1" dirty="0">
              <a:solidFill>
                <a:schemeClr val="bg1"/>
              </a:solidFill>
            </a:endParaRPr>
          </a:p>
        </p:txBody>
      </p:sp>
    </p:spTree>
    <p:extLst>
      <p:ext uri="{BB962C8B-B14F-4D97-AF65-F5344CB8AC3E}">
        <p14:creationId xmlns:p14="http://schemas.microsoft.com/office/powerpoint/2010/main" val="38404020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51520" y="555526"/>
            <a:ext cx="8640960" cy="1477328"/>
          </a:xfrm>
          <a:prstGeom prst="rect">
            <a:avLst/>
          </a:prstGeom>
          <a:noFill/>
        </p:spPr>
        <p:txBody>
          <a:bodyPr wrap="square" rtlCol="0">
            <a:spAutoFit/>
          </a:bodyPr>
          <a:lstStyle/>
          <a:p>
            <a:r>
              <a:rPr lang="en-US" b="1" dirty="0">
                <a:solidFill>
                  <a:schemeClr val="bg1"/>
                </a:solidFill>
              </a:rPr>
              <a:t>The </a:t>
            </a:r>
            <a:r>
              <a:rPr lang="en-US" b="1" u="sng" dirty="0"/>
              <a:t>Trademarks</a:t>
            </a:r>
            <a:r>
              <a:rPr lang="en-US" b="1" dirty="0">
                <a:solidFill>
                  <a:schemeClr val="bg1"/>
                </a:solidFill>
              </a:rPr>
              <a:t> Law, No. 47 of 1939, as amended, grants a ten year protection period to trademark holders from the date of application. The trademark is renewable for similar periods without restriction; an application must be filed for each renewal period.</a:t>
            </a:r>
          </a:p>
          <a:p>
            <a:endParaRPr lang="en-US" b="1" dirty="0">
              <a:solidFill>
                <a:schemeClr val="bg1"/>
              </a:solidFill>
            </a:endParaRPr>
          </a:p>
        </p:txBody>
      </p:sp>
    </p:spTree>
    <p:extLst>
      <p:ext uri="{BB962C8B-B14F-4D97-AF65-F5344CB8AC3E}">
        <p14:creationId xmlns:p14="http://schemas.microsoft.com/office/powerpoint/2010/main" val="31032622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107504" y="771550"/>
            <a:ext cx="8559944" cy="646331"/>
          </a:xfrm>
          <a:prstGeom prst="rect">
            <a:avLst/>
          </a:prstGeom>
          <a:noFill/>
        </p:spPr>
        <p:txBody>
          <a:bodyPr wrap="square" rtlCol="0">
            <a:spAutoFit/>
          </a:bodyPr>
          <a:lstStyle/>
          <a:p>
            <a:pPr algn="ctr" fontAlgn="base"/>
            <a:r>
              <a:rPr lang="en-US" sz="3600" b="1" dirty="0">
                <a:solidFill>
                  <a:schemeClr val="bg1"/>
                </a:solidFill>
              </a:rPr>
              <a:t>Manage and Operate Business</a:t>
            </a:r>
          </a:p>
        </p:txBody>
      </p:sp>
      <p:pic>
        <p:nvPicPr>
          <p:cNvPr id="8" name="Content Placeholder 4">
            <a:extLst>
              <a:ext uri="{FF2B5EF4-FFF2-40B4-BE49-F238E27FC236}">
                <a16:creationId xmlns="" xmlns:a16="http://schemas.microsoft.com/office/drawing/2014/main" id="{7C35418F-D87B-4789-B8A2-46F5F37C82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512" y="2067694"/>
            <a:ext cx="8707715" cy="1777243"/>
          </a:xfrm>
          <a:prstGeom prst="rect">
            <a:avLst/>
          </a:prstGeom>
        </p:spPr>
      </p:pic>
    </p:spTree>
    <p:extLst>
      <p:ext uri="{BB962C8B-B14F-4D97-AF65-F5344CB8AC3E}">
        <p14:creationId xmlns:p14="http://schemas.microsoft.com/office/powerpoint/2010/main" val="383696151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392488"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3547564" y="1563638"/>
            <a:ext cx="5344916" cy="3139321"/>
          </a:xfrm>
          <a:prstGeom prst="rect">
            <a:avLst/>
          </a:prstGeom>
          <a:noFill/>
        </p:spPr>
        <p:txBody>
          <a:bodyPr wrap="square" rtlCol="0">
            <a:spAutoFit/>
          </a:bodyPr>
          <a:lstStyle/>
          <a:p>
            <a:pPr algn="justLow"/>
            <a:r>
              <a:rPr lang="en-US" dirty="0"/>
              <a:t>Management is a process with a social element. It requires the efficient use of resources combined with the guidance of people in order to reach a specific organizational objective. It involves responsibility to achieve the objectives and to fulfill specific organizational purposes through economical and effective planning and regulation. It’s about taking charge and ensuring focus is placed on the things and aspects of the business that help achieve the vision and the goals.</a:t>
            </a:r>
          </a:p>
          <a:p>
            <a:pPr algn="justLow"/>
            <a:endParaRPr lang="en-US" dirty="0"/>
          </a:p>
        </p:txBody>
      </p:sp>
      <p:sp>
        <p:nvSpPr>
          <p:cNvPr id="7" name="TextBox 6"/>
          <p:cNvSpPr txBox="1"/>
          <p:nvPr/>
        </p:nvSpPr>
        <p:spPr>
          <a:xfrm>
            <a:off x="3518917" y="987574"/>
            <a:ext cx="4392488" cy="461665"/>
          </a:xfrm>
          <a:prstGeom prst="rect">
            <a:avLst/>
          </a:prstGeom>
          <a:noFill/>
        </p:spPr>
        <p:txBody>
          <a:bodyPr wrap="square" rtlCol="0">
            <a:spAutoFit/>
          </a:bodyPr>
          <a:lstStyle/>
          <a:p>
            <a:r>
              <a:rPr lang="en-US" sz="2400" b="1" dirty="0">
                <a:solidFill>
                  <a:schemeClr val="bg1"/>
                </a:solidFill>
              </a:rPr>
              <a:t>DEFINING MANAGEMENT</a:t>
            </a:r>
            <a:endParaRPr lang="en-US" sz="2400" dirty="0">
              <a:solidFill>
                <a:schemeClr val="bg1"/>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 y="0"/>
            <a:ext cx="3429000" cy="5143500"/>
          </a:xfrm>
          <a:prstGeom prst="rect">
            <a:avLst/>
          </a:prstGeom>
        </p:spPr>
      </p:pic>
    </p:spTree>
    <p:extLst>
      <p:ext uri="{BB962C8B-B14F-4D97-AF65-F5344CB8AC3E}">
        <p14:creationId xmlns:p14="http://schemas.microsoft.com/office/powerpoint/2010/main" val="261903271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67544" y="483518"/>
            <a:ext cx="8352928" cy="43204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xmlns="" id="{D3E5E83E-B048-4088-A5D1-F328DADD82CE}"/>
              </a:ext>
            </a:extLst>
          </p:cNvPr>
          <p:cNvSpPr/>
          <p:nvPr/>
        </p:nvSpPr>
        <p:spPr>
          <a:xfrm>
            <a:off x="179512" y="195486"/>
            <a:ext cx="2594505" cy="2819742"/>
          </a:xfrm>
          <a:prstGeom prst="rect">
            <a:avLst/>
          </a:prstGeom>
          <a:no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Placeholder 13"/>
          <p:cNvPicPr>
            <a:picLocks noGrp="1" noChangeAspect="1"/>
          </p:cNvPicPr>
          <p:nvPr>
            <p:ph type="pic" sz="quarter" idx="4294967295"/>
          </p:nvPr>
        </p:nvPicPr>
        <p:blipFill rotWithShape="1">
          <a:blip r:embed="rId2">
            <a:extLst>
              <a:ext uri="{28A0092B-C50C-407E-A947-70E740481C1C}">
                <a14:useLocalDpi xmlns:a14="http://schemas.microsoft.com/office/drawing/2010/main" val="0"/>
              </a:ext>
            </a:extLst>
          </a:blip>
          <a:srcRect l="31829" t="-12" r="711" b="12"/>
          <a:stretch/>
        </p:blipFill>
        <p:spPr>
          <a:xfrm>
            <a:off x="251520" y="267494"/>
            <a:ext cx="2593975" cy="2819400"/>
          </a:xfrm>
          <a:prstGeom prst="rect">
            <a:avLst/>
          </a:prstGeom>
          <a:ln>
            <a:solidFill>
              <a:schemeClr val="bg1"/>
            </a:solidFill>
          </a:ln>
        </p:spPr>
      </p:pic>
      <p:sp>
        <p:nvSpPr>
          <p:cNvPr id="16" name="TextBox 15"/>
          <p:cNvSpPr txBox="1"/>
          <p:nvPr/>
        </p:nvSpPr>
        <p:spPr>
          <a:xfrm>
            <a:off x="2953193" y="1151772"/>
            <a:ext cx="5616624" cy="1384995"/>
          </a:xfrm>
          <a:prstGeom prst="rect">
            <a:avLst/>
          </a:prstGeom>
          <a:noFill/>
        </p:spPr>
        <p:txBody>
          <a:bodyPr wrap="square" rtlCol="0">
            <a:spAutoFit/>
          </a:bodyPr>
          <a:lstStyle/>
          <a:p>
            <a:r>
              <a:rPr lang="en-US" sz="4000" b="1" dirty="0"/>
              <a:t>FUNCTIONS OF </a:t>
            </a:r>
            <a:endParaRPr lang="en-US" sz="4000" b="1" dirty="0" smtClean="0"/>
          </a:p>
          <a:p>
            <a:r>
              <a:rPr lang="en-US" sz="4400" b="1" dirty="0" smtClean="0">
                <a:solidFill>
                  <a:srgbClr val="FABEBF"/>
                </a:solidFill>
              </a:rPr>
              <a:t>MANAGEMENT</a:t>
            </a:r>
            <a:endParaRPr lang="en-US" sz="4400" dirty="0">
              <a:solidFill>
                <a:srgbClr val="FABEBF"/>
              </a:solidFill>
            </a:endParaRPr>
          </a:p>
        </p:txBody>
      </p:sp>
      <p:sp>
        <p:nvSpPr>
          <p:cNvPr id="17" name="TextBox 16"/>
          <p:cNvSpPr txBox="1"/>
          <p:nvPr/>
        </p:nvSpPr>
        <p:spPr>
          <a:xfrm>
            <a:off x="628875" y="3326670"/>
            <a:ext cx="8030265" cy="1477328"/>
          </a:xfrm>
          <a:prstGeom prst="rect">
            <a:avLst/>
          </a:prstGeom>
          <a:noFill/>
        </p:spPr>
        <p:txBody>
          <a:bodyPr wrap="square" rtlCol="0">
            <a:spAutoFit/>
          </a:bodyPr>
          <a:lstStyle/>
          <a:p>
            <a:pPr algn="justLow"/>
            <a:r>
              <a:rPr lang="en-US" dirty="0"/>
              <a:t>While there are slight variations in how the functions are named and the different management theories might combine or divide certain functions into smaller chunks, the consensus points to four core functions. What do these functions entail, why are they important and how to utilize them?</a:t>
            </a:r>
          </a:p>
          <a:p>
            <a:pPr algn="justLow"/>
            <a:endParaRPr lang="en-US" dirty="0"/>
          </a:p>
        </p:txBody>
      </p:sp>
    </p:spTree>
    <p:extLst>
      <p:ext uri="{BB962C8B-B14F-4D97-AF65-F5344CB8AC3E}">
        <p14:creationId xmlns:p14="http://schemas.microsoft.com/office/powerpoint/2010/main" val="27659812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568" y="555526"/>
            <a:ext cx="8640960" cy="769441"/>
          </a:xfrm>
          <a:prstGeom prst="rect">
            <a:avLst/>
          </a:prstGeom>
          <a:noFill/>
        </p:spPr>
        <p:txBody>
          <a:bodyPr wrap="square" rtlCol="0">
            <a:spAutoFit/>
          </a:bodyPr>
          <a:lstStyle/>
          <a:p>
            <a:pPr fontAlgn="base"/>
            <a:r>
              <a:rPr lang="en-US" sz="4400" b="1" dirty="0">
                <a:solidFill>
                  <a:schemeClr val="bg1"/>
                </a:solidFill>
              </a:rPr>
              <a:t>Planning</a:t>
            </a:r>
            <a:endParaRPr lang="en-US" sz="4400" dirty="0">
              <a:solidFill>
                <a:schemeClr val="bg1"/>
              </a:solidFill>
            </a:endParaRPr>
          </a:p>
        </p:txBody>
      </p:sp>
      <p:sp>
        <p:nvSpPr>
          <p:cNvPr id="2" name="TextBox 1"/>
          <p:cNvSpPr txBox="1"/>
          <p:nvPr/>
        </p:nvSpPr>
        <p:spPr>
          <a:xfrm>
            <a:off x="271568" y="1419622"/>
            <a:ext cx="8352928" cy="2215991"/>
          </a:xfrm>
          <a:prstGeom prst="rect">
            <a:avLst/>
          </a:prstGeom>
          <a:noFill/>
        </p:spPr>
        <p:txBody>
          <a:bodyPr wrap="square" rtlCol="0">
            <a:spAutoFit/>
          </a:bodyPr>
          <a:lstStyle/>
          <a:p>
            <a:r>
              <a:rPr lang="en-US" sz="2000" b="1" dirty="0"/>
              <a:t>The first managerial function involves planning. The function is about creating a detailed plan towards achieving a specific organizational objective. When you are planning, you are identifying the tasks, which are required to achieve the desired goals, outlining how the tasks should be performed, and identifying when and by whom they must be performed. </a:t>
            </a:r>
          </a:p>
          <a:p>
            <a:endParaRPr lang="en-US" b="1" i="1" dirty="0"/>
          </a:p>
        </p:txBody>
      </p:sp>
    </p:spTree>
    <p:extLst>
      <p:ext uri="{BB962C8B-B14F-4D97-AF65-F5344CB8AC3E}">
        <p14:creationId xmlns:p14="http://schemas.microsoft.com/office/powerpoint/2010/main" val="30440887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1568" y="555526"/>
            <a:ext cx="8640960" cy="1446550"/>
          </a:xfrm>
          <a:prstGeom prst="rect">
            <a:avLst/>
          </a:prstGeom>
          <a:noFill/>
        </p:spPr>
        <p:txBody>
          <a:bodyPr wrap="square" rtlCol="0">
            <a:spAutoFit/>
          </a:bodyPr>
          <a:lstStyle/>
          <a:p>
            <a:pPr fontAlgn="base"/>
            <a:r>
              <a:rPr lang="en-US" sz="4400" b="1" dirty="0">
                <a:solidFill>
                  <a:schemeClr val="bg1"/>
                </a:solidFill>
              </a:rPr>
              <a:t>Why is planning essential?</a:t>
            </a:r>
            <a:endParaRPr lang="en-US" sz="4400" dirty="0">
              <a:solidFill>
                <a:schemeClr val="bg1"/>
              </a:solidFill>
            </a:endParaRPr>
          </a:p>
          <a:p>
            <a:pPr fontAlgn="base"/>
            <a:endParaRPr lang="en-US" sz="4400" dirty="0">
              <a:solidFill>
                <a:schemeClr val="bg1"/>
              </a:solidFill>
            </a:endParaRPr>
          </a:p>
        </p:txBody>
      </p:sp>
      <p:sp>
        <p:nvSpPr>
          <p:cNvPr id="2" name="TextBox 1"/>
          <p:cNvSpPr txBox="1"/>
          <p:nvPr/>
        </p:nvSpPr>
        <p:spPr>
          <a:xfrm>
            <a:off x="271568" y="1419622"/>
            <a:ext cx="8352928" cy="3308598"/>
          </a:xfrm>
          <a:prstGeom prst="rect">
            <a:avLst/>
          </a:prstGeom>
          <a:noFill/>
        </p:spPr>
        <p:txBody>
          <a:bodyPr wrap="square" rtlCol="0">
            <a:spAutoFit/>
          </a:bodyPr>
          <a:lstStyle/>
          <a:p>
            <a:r>
              <a:rPr lang="en-US" sz="1900" b="1" dirty="0"/>
              <a:t>Why is planning important? Planning provides the organization a better sense of what it wants to achieve and how it can achieve this. You essentially have more focus when you plan for things. Think what would happen if you went into a big job interview without any planning</a:t>
            </a:r>
            <a:r>
              <a:rPr lang="en-US" sz="1900" b="1" dirty="0" smtClean="0"/>
              <a:t>.</a:t>
            </a:r>
          </a:p>
          <a:p>
            <a:endParaRPr lang="en-US" sz="1900" b="1" dirty="0"/>
          </a:p>
          <a:p>
            <a:r>
              <a:rPr lang="en-US" sz="1900" b="1" dirty="0"/>
              <a:t>A key part of planning is also the vital role it plays in reducing risks. When management plans for the tasks ahead, they are looking at the situation and detailing the possible pitfalls ahead. As with your interview, the risk of not knowing anything about the company or giving an incoherent answer is higher than if you had planned your answers a little.</a:t>
            </a:r>
          </a:p>
          <a:p>
            <a:endParaRPr lang="en-US" sz="1900" b="1" dirty="0"/>
          </a:p>
        </p:txBody>
      </p:sp>
    </p:spTree>
    <p:extLst>
      <p:ext uri="{BB962C8B-B14F-4D97-AF65-F5344CB8AC3E}">
        <p14:creationId xmlns:p14="http://schemas.microsoft.com/office/powerpoint/2010/main" val="389818010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70805"/>
            <a:ext cx="8640960" cy="769441"/>
          </a:xfrm>
          <a:prstGeom prst="rect">
            <a:avLst/>
          </a:prstGeom>
          <a:noFill/>
        </p:spPr>
        <p:txBody>
          <a:bodyPr wrap="square" rtlCol="0">
            <a:spAutoFit/>
          </a:bodyPr>
          <a:lstStyle/>
          <a:p>
            <a:pPr fontAlgn="base"/>
            <a:r>
              <a:rPr lang="en-US" sz="4400" b="1" dirty="0">
                <a:solidFill>
                  <a:schemeClr val="bg1"/>
                </a:solidFill>
              </a:rPr>
              <a:t>How to plan?</a:t>
            </a:r>
            <a:endParaRPr lang="en-US" sz="4400" dirty="0">
              <a:solidFill>
                <a:schemeClr val="bg1"/>
              </a:solidFill>
            </a:endParaRPr>
          </a:p>
        </p:txBody>
      </p:sp>
      <p:sp>
        <p:nvSpPr>
          <p:cNvPr id="2" name="TextBox 1"/>
          <p:cNvSpPr txBox="1"/>
          <p:nvPr/>
        </p:nvSpPr>
        <p:spPr>
          <a:xfrm>
            <a:off x="323528" y="940246"/>
            <a:ext cx="8424936" cy="4031873"/>
          </a:xfrm>
          <a:prstGeom prst="rect">
            <a:avLst/>
          </a:prstGeom>
          <a:noFill/>
        </p:spPr>
        <p:txBody>
          <a:bodyPr wrap="square" rtlCol="0">
            <a:spAutoFit/>
          </a:bodyPr>
          <a:lstStyle/>
          <a:p>
            <a:pPr algn="justLow"/>
            <a:r>
              <a:rPr lang="en-US" sz="1600" dirty="0"/>
              <a:t>When you need to come engage in planning, you should focus on the following steps</a:t>
            </a:r>
            <a:r>
              <a:rPr lang="en-US" sz="1600" dirty="0" smtClean="0"/>
              <a:t>:</a:t>
            </a:r>
          </a:p>
          <a:p>
            <a:pPr algn="justLow"/>
            <a:endParaRPr lang="en-US" sz="1600" dirty="0"/>
          </a:p>
          <a:p>
            <a:pPr lvl="0" algn="justLow"/>
            <a:r>
              <a:rPr lang="en-US" sz="1600" b="1" dirty="0"/>
              <a:t>Gain knowledge of the issues</a:t>
            </a:r>
            <a:r>
              <a:rPr lang="en-US" sz="1600" dirty="0"/>
              <a:t> – You need to understand the organizational objectives, the different components they involve, and the available resources you and the team have</a:t>
            </a:r>
            <a:r>
              <a:rPr lang="en-US" sz="1600" dirty="0" smtClean="0"/>
              <a:t>.</a:t>
            </a:r>
          </a:p>
          <a:p>
            <a:pPr lvl="0" algn="justLow"/>
            <a:r>
              <a:rPr lang="en-US" sz="1600" dirty="0" smtClean="0"/>
              <a:t> </a:t>
            </a:r>
            <a:endParaRPr lang="en-US" sz="1600" dirty="0"/>
          </a:p>
          <a:p>
            <a:pPr lvl="0" algn="justLow"/>
            <a:r>
              <a:rPr lang="en-US" sz="1600" b="1" dirty="0"/>
              <a:t>Look into the future</a:t>
            </a:r>
            <a:r>
              <a:rPr lang="en-US" sz="1600" dirty="0"/>
              <a:t> – The function is about understanding the short- and long-term objectives the organization wants to achieve. You need to consider not just these different elements, but also be able to make predictions about the future conditions for achieving </a:t>
            </a:r>
            <a:r>
              <a:rPr lang="en-US" sz="1600" dirty="0" smtClean="0"/>
              <a:t>these</a:t>
            </a:r>
          </a:p>
          <a:p>
            <a:pPr lvl="0" algn="justLow"/>
            <a:endParaRPr lang="en-US" sz="1600" dirty="0"/>
          </a:p>
          <a:p>
            <a:pPr lvl="0" algn="justLow"/>
            <a:r>
              <a:rPr lang="en-US" sz="1600" b="1" dirty="0"/>
              <a:t>Determine the objectives</a:t>
            </a:r>
            <a:r>
              <a:rPr lang="en-US" sz="1600" dirty="0"/>
              <a:t> – Once you are aware of the organizational objective, the resources available, and the future outlook to achieving the objectives, you need to identify the specific processes and detailed goals that are required to achieve the bigger goal. </a:t>
            </a:r>
            <a:endParaRPr lang="en-US" sz="1600" dirty="0" smtClean="0"/>
          </a:p>
          <a:p>
            <a:pPr lvl="0" algn="justLow"/>
            <a:endParaRPr lang="en-US" sz="1600" dirty="0"/>
          </a:p>
          <a:p>
            <a:pPr lvl="0" algn="justLow"/>
            <a:r>
              <a:rPr lang="en-US" sz="1600" b="1" dirty="0"/>
              <a:t>Create flexible structures</a:t>
            </a:r>
            <a:r>
              <a:rPr lang="en-US" sz="1600" dirty="0"/>
              <a:t> – However, your planning needs to be flexible and take into account things don’t always go according to plan. Your management plan must take into account the other departments and their specific organizational goals</a:t>
            </a:r>
          </a:p>
        </p:txBody>
      </p:sp>
    </p:spTree>
    <p:extLst>
      <p:ext uri="{BB962C8B-B14F-4D97-AF65-F5344CB8AC3E}">
        <p14:creationId xmlns:p14="http://schemas.microsoft.com/office/powerpoint/2010/main" val="408479903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70805"/>
            <a:ext cx="8640960" cy="769441"/>
          </a:xfrm>
          <a:prstGeom prst="rect">
            <a:avLst/>
          </a:prstGeom>
          <a:noFill/>
        </p:spPr>
        <p:txBody>
          <a:bodyPr wrap="square" rtlCol="0">
            <a:spAutoFit/>
          </a:bodyPr>
          <a:lstStyle/>
          <a:p>
            <a:pPr fontAlgn="base"/>
            <a:r>
              <a:rPr lang="en-US" sz="4400" b="1" dirty="0">
                <a:solidFill>
                  <a:schemeClr val="bg1"/>
                </a:solidFill>
              </a:rPr>
              <a:t>Organizing</a:t>
            </a:r>
            <a:endParaRPr lang="en-US" sz="4400" dirty="0">
              <a:solidFill>
                <a:schemeClr val="bg1"/>
              </a:solidFill>
            </a:endParaRPr>
          </a:p>
        </p:txBody>
      </p:sp>
      <p:sp>
        <p:nvSpPr>
          <p:cNvPr id="2" name="TextBox 1"/>
          <p:cNvSpPr txBox="1"/>
          <p:nvPr/>
        </p:nvSpPr>
        <p:spPr>
          <a:xfrm>
            <a:off x="323528" y="1131590"/>
            <a:ext cx="8424936" cy="1077218"/>
          </a:xfrm>
          <a:prstGeom prst="rect">
            <a:avLst/>
          </a:prstGeom>
          <a:noFill/>
        </p:spPr>
        <p:txBody>
          <a:bodyPr wrap="square" rtlCol="0">
            <a:spAutoFit/>
          </a:bodyPr>
          <a:lstStyle/>
          <a:p>
            <a:r>
              <a:rPr lang="en-US" sz="1600" dirty="0"/>
              <a:t>Organizing is the function of management which follows planning. It is the process of establishing orderly uses for all resources within the management system of the organization. It is a function in which the synchronization and combination of human, physical, financial, and information resources takes place for the achievement of the results. </a:t>
            </a:r>
          </a:p>
        </p:txBody>
      </p:sp>
    </p:spTree>
    <p:extLst>
      <p:ext uri="{BB962C8B-B14F-4D97-AF65-F5344CB8AC3E}">
        <p14:creationId xmlns:p14="http://schemas.microsoft.com/office/powerpoint/2010/main" val="11944488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23528" y="170805"/>
            <a:ext cx="8640960" cy="769441"/>
          </a:xfrm>
          <a:prstGeom prst="rect">
            <a:avLst/>
          </a:prstGeom>
          <a:noFill/>
        </p:spPr>
        <p:txBody>
          <a:bodyPr wrap="square" rtlCol="0">
            <a:spAutoFit/>
          </a:bodyPr>
          <a:lstStyle/>
          <a:p>
            <a:pPr fontAlgn="base"/>
            <a:r>
              <a:rPr lang="en-US" sz="4400" b="1" dirty="0">
                <a:solidFill>
                  <a:schemeClr val="bg1"/>
                </a:solidFill>
              </a:rPr>
              <a:t>Organizing</a:t>
            </a:r>
            <a:endParaRPr lang="en-US" sz="4400" dirty="0">
              <a:solidFill>
                <a:schemeClr val="bg1"/>
              </a:solidFill>
            </a:endParaRPr>
          </a:p>
        </p:txBody>
      </p:sp>
      <p:sp>
        <p:nvSpPr>
          <p:cNvPr id="2" name="TextBox 1"/>
          <p:cNvSpPr txBox="1"/>
          <p:nvPr/>
        </p:nvSpPr>
        <p:spPr>
          <a:xfrm>
            <a:off x="323528" y="1131590"/>
            <a:ext cx="8424936" cy="2893100"/>
          </a:xfrm>
          <a:prstGeom prst="rect">
            <a:avLst/>
          </a:prstGeom>
          <a:noFill/>
        </p:spPr>
        <p:txBody>
          <a:bodyPr wrap="square" rtlCol="0">
            <a:spAutoFit/>
          </a:bodyPr>
          <a:lstStyle/>
          <a:p>
            <a:r>
              <a:rPr lang="en-US" sz="1600" dirty="0"/>
              <a:t>Organizing is the function of management which follows planning. It is the process of establishing orderly uses for all resources within the management system of the organization. It is a function in which the synchronization and combination of human, physical, financial, and information resources takes place for the achievement of the results. </a:t>
            </a:r>
            <a:endParaRPr lang="en-US" sz="1600" dirty="0" smtClean="0"/>
          </a:p>
          <a:p>
            <a:endParaRPr lang="en-US" sz="1600" dirty="0"/>
          </a:p>
          <a:p>
            <a:pPr marL="285750" indent="-285750" fontAlgn="base">
              <a:buFont typeface="Arial" panose="020B0604020202020204" pitchFamily="34" charset="0"/>
              <a:buChar char="•"/>
            </a:pPr>
            <a:r>
              <a:rPr lang="en-US" sz="1400" dirty="0">
                <a:solidFill>
                  <a:schemeClr val="bg1"/>
                </a:solidFill>
              </a:rPr>
              <a:t>Organizing refers to the following process.</a:t>
            </a:r>
          </a:p>
          <a:p>
            <a:pPr marL="285750" indent="-285750" fontAlgn="base">
              <a:buFont typeface="Arial" panose="020B0604020202020204" pitchFamily="34" charset="0"/>
              <a:buChar char="•"/>
            </a:pPr>
            <a:r>
              <a:rPr lang="en-US" sz="1400" dirty="0">
                <a:solidFill>
                  <a:schemeClr val="bg1"/>
                </a:solidFill>
              </a:rPr>
              <a:t>Identifying and grouping of the work to be performed.</a:t>
            </a:r>
          </a:p>
          <a:p>
            <a:pPr marL="285750" indent="-285750" fontAlgn="base">
              <a:buFont typeface="Arial" panose="020B0604020202020204" pitchFamily="34" charset="0"/>
              <a:buChar char="•"/>
            </a:pPr>
            <a:r>
              <a:rPr lang="en-US" sz="1400" dirty="0">
                <a:solidFill>
                  <a:schemeClr val="bg1"/>
                </a:solidFill>
              </a:rPr>
              <a:t>Defining and determining responsibility and authority for each job position.</a:t>
            </a:r>
          </a:p>
          <a:p>
            <a:pPr marL="285750" indent="-285750" fontAlgn="base">
              <a:buFont typeface="Arial" panose="020B0604020202020204" pitchFamily="34" charset="0"/>
              <a:buChar char="•"/>
            </a:pPr>
            <a:r>
              <a:rPr lang="en-US" sz="1400" dirty="0">
                <a:solidFill>
                  <a:schemeClr val="bg1"/>
                </a:solidFill>
              </a:rPr>
              <a:t>Establishing relationship among various job positions.</a:t>
            </a:r>
          </a:p>
          <a:p>
            <a:pPr marL="285750" indent="-285750" fontAlgn="base">
              <a:buFont typeface="Arial" panose="020B0604020202020204" pitchFamily="34" charset="0"/>
              <a:buChar char="•"/>
            </a:pPr>
            <a:r>
              <a:rPr lang="en-US" sz="1400" dirty="0">
                <a:solidFill>
                  <a:schemeClr val="bg1"/>
                </a:solidFill>
              </a:rPr>
              <a:t>Determining detailed rules and regulations of working for individuals and groups in organization.</a:t>
            </a:r>
          </a:p>
          <a:p>
            <a:endParaRPr lang="en-US" sz="1600" dirty="0"/>
          </a:p>
          <a:p>
            <a:endParaRPr lang="en-US" sz="1600" dirty="0"/>
          </a:p>
        </p:txBody>
      </p:sp>
    </p:spTree>
    <p:extLst>
      <p:ext uri="{BB962C8B-B14F-4D97-AF65-F5344CB8AC3E}">
        <p14:creationId xmlns:p14="http://schemas.microsoft.com/office/powerpoint/2010/main" val="18171303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309593"/>
            <a:ext cx="8640960" cy="4339650"/>
          </a:xfrm>
          <a:prstGeom prst="rect">
            <a:avLst/>
          </a:prstGeom>
        </p:spPr>
        <p:txBody>
          <a:bodyPr wrap="square">
            <a:spAutoFit/>
          </a:bodyPr>
          <a:lstStyle/>
          <a:p>
            <a:pPr fontAlgn="base"/>
            <a:r>
              <a:rPr lang="en-US" sz="3600" b="1" dirty="0">
                <a:solidFill>
                  <a:schemeClr val="bg1"/>
                </a:solidFill>
              </a:rPr>
              <a:t>Importance of </a:t>
            </a:r>
            <a:r>
              <a:rPr lang="en-US" sz="3600" b="1" dirty="0" smtClean="0">
                <a:solidFill>
                  <a:schemeClr val="bg1"/>
                </a:solidFill>
              </a:rPr>
              <a:t>organizing</a:t>
            </a:r>
          </a:p>
          <a:p>
            <a:pPr fontAlgn="base"/>
            <a:endParaRPr lang="en-US" sz="2000" dirty="0"/>
          </a:p>
          <a:p>
            <a:pPr fontAlgn="base"/>
            <a:r>
              <a:rPr lang="en-US" sz="2000" dirty="0"/>
              <a:t>Organizing function follows the planning function. Plans prepared under the function of planning govern all aspects of organizing function. Since the organizing follows planning it is closely related to it. The organizing begins after the plans are prepared and is governed by the prepared plans. While the plans state where the organization is to go, organizing helps the organization how to get there.  </a:t>
            </a:r>
            <a:endParaRPr lang="en-US" sz="2000" dirty="0" smtClean="0"/>
          </a:p>
          <a:p>
            <a:pPr fontAlgn="base"/>
            <a:endParaRPr lang="en-US" sz="2000" dirty="0"/>
          </a:p>
          <a:p>
            <a:pPr fontAlgn="base"/>
            <a:r>
              <a:rPr lang="en-US" sz="2000" dirty="0" smtClean="0"/>
              <a:t>Organizing </a:t>
            </a:r>
            <a:r>
              <a:rPr lang="en-US" sz="2000" dirty="0"/>
              <a:t>function shows the management how the organization is to be built or how the existing one is modified to ensure that the goals set in the plans are achieved.</a:t>
            </a:r>
          </a:p>
          <a:p>
            <a:endParaRPr lang="en-US" sz="2000" dirty="0"/>
          </a:p>
        </p:txBody>
      </p:sp>
    </p:spTree>
    <p:extLst>
      <p:ext uri="{BB962C8B-B14F-4D97-AF65-F5344CB8AC3E}">
        <p14:creationId xmlns:p14="http://schemas.microsoft.com/office/powerpoint/2010/main" val="40558193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309593"/>
            <a:ext cx="8640960" cy="3108543"/>
          </a:xfrm>
          <a:prstGeom prst="rect">
            <a:avLst/>
          </a:prstGeom>
        </p:spPr>
        <p:txBody>
          <a:bodyPr wrap="square">
            <a:spAutoFit/>
          </a:bodyPr>
          <a:lstStyle/>
          <a:p>
            <a:pPr fontAlgn="base"/>
            <a:r>
              <a:rPr lang="en-US" sz="3600" b="1" dirty="0">
                <a:solidFill>
                  <a:schemeClr val="bg1"/>
                </a:solidFill>
              </a:rPr>
              <a:t>Process of organizing</a:t>
            </a:r>
          </a:p>
          <a:p>
            <a:pPr fontAlgn="base"/>
            <a:endParaRPr lang="en-US" sz="2000" dirty="0"/>
          </a:p>
          <a:p>
            <a:pPr fontAlgn="base"/>
            <a:r>
              <a:rPr lang="en-US" sz="2000" dirty="0"/>
              <a:t>Organizing, like planning, is a process which is to be carefully worked out and applied. This process involves determining what work is needed, assigning those tasks, and arranging them in a decision-making framework (organizational structure). If this process is not conducted well, the results may be confusion, frustration, loss of efficiency, and limited effectiveness. The process of </a:t>
            </a:r>
            <a:r>
              <a:rPr lang="en-US" sz="2000" dirty="0" err="1"/>
              <a:t>organising</a:t>
            </a:r>
            <a:r>
              <a:rPr lang="en-US" sz="2000" dirty="0"/>
              <a:t> consists of the following five steps.</a:t>
            </a:r>
          </a:p>
          <a:p>
            <a:endParaRPr lang="en-US" sz="2000" dirty="0"/>
          </a:p>
        </p:txBody>
      </p:sp>
    </p:spTree>
    <p:extLst>
      <p:ext uri="{BB962C8B-B14F-4D97-AF65-F5344CB8AC3E}">
        <p14:creationId xmlns:p14="http://schemas.microsoft.com/office/powerpoint/2010/main" val="34543763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ive steps of organizing function">
            <a:hlinkClick r:id="rId2"/>
            <a:extLst>
              <a:ext uri="{FF2B5EF4-FFF2-40B4-BE49-F238E27FC236}">
                <a16:creationId xmlns="" xmlns:a16="http://schemas.microsoft.com/office/drawing/2014/main" id="{7244979F-5C54-40C6-8237-4E9394704CD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51520" y="267494"/>
            <a:ext cx="4297515" cy="4608512"/>
          </a:xfrm>
          <a:prstGeom prst="rect">
            <a:avLst/>
          </a:prstGeom>
          <a:noFill/>
          <a:ln>
            <a:noFill/>
          </a:ln>
        </p:spPr>
      </p:pic>
      <p:sp>
        <p:nvSpPr>
          <p:cNvPr id="5" name="TextBox 4"/>
          <p:cNvSpPr txBox="1"/>
          <p:nvPr/>
        </p:nvSpPr>
        <p:spPr>
          <a:xfrm>
            <a:off x="4644008" y="339502"/>
            <a:ext cx="4248472" cy="4575035"/>
          </a:xfrm>
          <a:prstGeom prst="rect">
            <a:avLst/>
          </a:prstGeom>
          <a:noFill/>
        </p:spPr>
        <p:txBody>
          <a:bodyPr wrap="square" rtlCol="0">
            <a:spAutoFit/>
          </a:bodyPr>
          <a:lstStyle/>
          <a:p>
            <a:pPr marL="285750" indent="-285750">
              <a:lnSpc>
                <a:spcPct val="250000"/>
              </a:lnSpc>
              <a:buFont typeface="Arial" panose="020B0604020202020204" pitchFamily="34" charset="0"/>
              <a:buChar char="•"/>
            </a:pPr>
            <a:r>
              <a:rPr lang="en-US" sz="2000" b="1" dirty="0">
                <a:solidFill>
                  <a:schemeClr val="bg1"/>
                </a:solidFill>
              </a:rPr>
              <a:t>Identification of activities </a:t>
            </a:r>
          </a:p>
          <a:p>
            <a:pPr marL="285750" indent="-285750">
              <a:lnSpc>
                <a:spcPct val="250000"/>
              </a:lnSpc>
              <a:buFont typeface="Arial" panose="020B0604020202020204" pitchFamily="34" charset="0"/>
              <a:buChar char="•"/>
            </a:pPr>
            <a:r>
              <a:rPr lang="en-US" sz="2000" b="1" dirty="0">
                <a:solidFill>
                  <a:schemeClr val="bg1"/>
                </a:solidFill>
              </a:rPr>
              <a:t>Grouping of activities</a:t>
            </a:r>
          </a:p>
          <a:p>
            <a:pPr marL="285750" indent="-285750">
              <a:lnSpc>
                <a:spcPct val="250000"/>
              </a:lnSpc>
              <a:buFont typeface="Arial" panose="020B0604020202020204" pitchFamily="34" charset="0"/>
              <a:buChar char="•"/>
            </a:pPr>
            <a:r>
              <a:rPr lang="en-US" sz="2000" b="1" dirty="0">
                <a:solidFill>
                  <a:schemeClr val="bg1"/>
                </a:solidFill>
              </a:rPr>
              <a:t>Assignment of responsibilities </a:t>
            </a:r>
          </a:p>
          <a:p>
            <a:pPr marL="285750" indent="-285750">
              <a:lnSpc>
                <a:spcPct val="250000"/>
              </a:lnSpc>
              <a:buFont typeface="Arial" panose="020B0604020202020204" pitchFamily="34" charset="0"/>
              <a:buChar char="•"/>
            </a:pPr>
            <a:r>
              <a:rPr lang="en-US" sz="2000" b="1" dirty="0">
                <a:solidFill>
                  <a:schemeClr val="bg1"/>
                </a:solidFill>
              </a:rPr>
              <a:t>Granting authority </a:t>
            </a:r>
          </a:p>
          <a:p>
            <a:pPr marL="285750" indent="-285750">
              <a:lnSpc>
                <a:spcPct val="250000"/>
              </a:lnSpc>
              <a:buFont typeface="Arial" panose="020B0604020202020204" pitchFamily="34" charset="0"/>
              <a:buChar char="•"/>
            </a:pPr>
            <a:r>
              <a:rPr lang="en-US" sz="2000" b="1" dirty="0">
                <a:solidFill>
                  <a:schemeClr val="bg1"/>
                </a:solidFill>
              </a:rPr>
              <a:t>Establishing relationship </a:t>
            </a:r>
          </a:p>
          <a:p>
            <a:pPr marL="285750" indent="-285750">
              <a:lnSpc>
                <a:spcPct val="250000"/>
              </a:lnSpc>
              <a:buFont typeface="Arial" panose="020B0604020202020204" pitchFamily="34" charset="0"/>
              <a:buChar char="•"/>
            </a:pPr>
            <a:endParaRPr lang="en-US" sz="2000" b="1" dirty="0">
              <a:solidFill>
                <a:schemeClr val="bg1"/>
              </a:solidFill>
            </a:endParaRPr>
          </a:p>
        </p:txBody>
      </p:sp>
    </p:spTree>
    <p:extLst>
      <p:ext uri="{BB962C8B-B14F-4D97-AF65-F5344CB8AC3E}">
        <p14:creationId xmlns:p14="http://schemas.microsoft.com/office/powerpoint/2010/main" val="3000185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55526"/>
            <a:ext cx="8604448" cy="45879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179512" y="1563638"/>
            <a:ext cx="8136904" cy="3416320"/>
          </a:xfrm>
          <a:prstGeom prst="rect">
            <a:avLst/>
          </a:prstGeom>
          <a:noFill/>
        </p:spPr>
        <p:txBody>
          <a:bodyPr wrap="square" rtlCol="0">
            <a:spAutoFit/>
          </a:bodyPr>
          <a:lstStyle/>
          <a:p>
            <a:pPr algn="justLow"/>
            <a:r>
              <a:rPr lang="en-US" dirty="0"/>
              <a:t>Organizing function is effective only if the management follows some guiding principles in order to make important decisions and act upon them. For an efficient organizing function the following are the guiding principles</a:t>
            </a:r>
            <a:r>
              <a:rPr lang="en-US" dirty="0" smtClean="0"/>
              <a:t>.</a:t>
            </a:r>
          </a:p>
          <a:p>
            <a:endParaRPr lang="en-US" sz="2400" dirty="0">
              <a:solidFill>
                <a:srgbClr val="6DA18A"/>
              </a:solidFill>
            </a:endParaRPr>
          </a:p>
          <a:p>
            <a:pPr marL="285750" indent="-285750">
              <a:buFont typeface="Arial" panose="020B0604020202020204" pitchFamily="34" charset="0"/>
              <a:buChar char="•"/>
            </a:pPr>
            <a:r>
              <a:rPr lang="en-US" sz="2400" dirty="0">
                <a:solidFill>
                  <a:srgbClr val="6DA18A"/>
                </a:solidFill>
              </a:rPr>
              <a:t>Principle of specialization </a:t>
            </a:r>
          </a:p>
          <a:p>
            <a:pPr marL="285750" indent="-285750">
              <a:buFont typeface="Arial" panose="020B0604020202020204" pitchFamily="34" charset="0"/>
              <a:buChar char="•"/>
            </a:pPr>
            <a:r>
              <a:rPr lang="en-US" sz="2400" dirty="0">
                <a:solidFill>
                  <a:srgbClr val="6DA18A"/>
                </a:solidFill>
              </a:rPr>
              <a:t>Principle of functional definition </a:t>
            </a:r>
          </a:p>
          <a:p>
            <a:pPr marL="285750" indent="-285750">
              <a:buFont typeface="Arial" panose="020B0604020202020204" pitchFamily="34" charset="0"/>
              <a:buChar char="•"/>
            </a:pPr>
            <a:r>
              <a:rPr lang="en-US" sz="2400" dirty="0">
                <a:solidFill>
                  <a:srgbClr val="6DA18A"/>
                </a:solidFill>
              </a:rPr>
              <a:t>Principles of supervision or span of control </a:t>
            </a:r>
          </a:p>
          <a:p>
            <a:pPr marL="285750" indent="-285750">
              <a:buFont typeface="Arial" panose="020B0604020202020204" pitchFamily="34" charset="0"/>
              <a:buChar char="•"/>
            </a:pPr>
            <a:r>
              <a:rPr lang="en-US" sz="2400" dirty="0">
                <a:solidFill>
                  <a:srgbClr val="6DA18A"/>
                </a:solidFill>
              </a:rPr>
              <a:t>Principle of scalar chain </a:t>
            </a:r>
          </a:p>
          <a:p>
            <a:pPr marL="285750" indent="-285750">
              <a:buFont typeface="Arial" panose="020B0604020202020204" pitchFamily="34" charset="0"/>
              <a:buChar char="•"/>
            </a:pPr>
            <a:r>
              <a:rPr lang="en-US" sz="2400" dirty="0">
                <a:solidFill>
                  <a:srgbClr val="6DA18A"/>
                </a:solidFill>
              </a:rPr>
              <a:t>Principle of unity of command </a:t>
            </a:r>
          </a:p>
          <a:p>
            <a:endParaRPr lang="en-US" dirty="0"/>
          </a:p>
        </p:txBody>
      </p:sp>
      <p:sp>
        <p:nvSpPr>
          <p:cNvPr id="3" name="TextBox 2"/>
          <p:cNvSpPr txBox="1"/>
          <p:nvPr/>
        </p:nvSpPr>
        <p:spPr>
          <a:xfrm>
            <a:off x="251520" y="843558"/>
            <a:ext cx="8208912" cy="523220"/>
          </a:xfrm>
          <a:prstGeom prst="rect">
            <a:avLst/>
          </a:prstGeom>
          <a:noFill/>
        </p:spPr>
        <p:txBody>
          <a:bodyPr wrap="square" rtlCol="0">
            <a:spAutoFit/>
          </a:bodyPr>
          <a:lstStyle/>
          <a:p>
            <a:r>
              <a:rPr lang="en-US" sz="2800" b="1" dirty="0"/>
              <a:t>Organizing principles</a:t>
            </a:r>
            <a:endParaRPr lang="en-US" sz="2800" dirty="0"/>
          </a:p>
        </p:txBody>
      </p:sp>
    </p:spTree>
    <p:extLst>
      <p:ext uri="{BB962C8B-B14F-4D97-AF65-F5344CB8AC3E}">
        <p14:creationId xmlns:p14="http://schemas.microsoft.com/office/powerpoint/2010/main" val="7248453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555526"/>
            <a:ext cx="8604448" cy="45879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179512" y="1563638"/>
            <a:ext cx="8136904" cy="2800767"/>
          </a:xfrm>
          <a:prstGeom prst="rect">
            <a:avLst/>
          </a:prstGeom>
          <a:noFill/>
        </p:spPr>
        <p:txBody>
          <a:bodyPr wrap="square" rtlCol="0">
            <a:spAutoFit/>
          </a:bodyPr>
          <a:lstStyle/>
          <a:p>
            <a:pPr marL="285750" lvl="0" indent="-285750" fontAlgn="base">
              <a:buFont typeface="Arial" panose="020B0604020202020204" pitchFamily="34" charset="0"/>
              <a:buChar char="•"/>
            </a:pPr>
            <a:r>
              <a:rPr lang="en-US" sz="1600" b="1" dirty="0">
                <a:solidFill>
                  <a:srgbClr val="6DA18A"/>
                </a:solidFill>
              </a:rPr>
              <a:t>The end result of the organizing process is an organization which is whole consisting of unified parts (a system) acting in harmony to execute tasks to achieve goals, both effectively and efficiently</a:t>
            </a:r>
            <a:r>
              <a:rPr lang="en-US" sz="1600" b="1" dirty="0" smtClean="0">
                <a:solidFill>
                  <a:srgbClr val="6DA18A"/>
                </a:solidFill>
              </a:rPr>
              <a:t>.</a:t>
            </a:r>
          </a:p>
          <a:p>
            <a:pPr marL="285750" lvl="0" indent="-285750" fontAlgn="base">
              <a:buFont typeface="Arial" panose="020B0604020202020204" pitchFamily="34" charset="0"/>
              <a:buChar char="•"/>
            </a:pPr>
            <a:endParaRPr lang="en-US" sz="1600" b="1" dirty="0">
              <a:solidFill>
                <a:srgbClr val="6DA18A"/>
              </a:solidFill>
            </a:endParaRPr>
          </a:p>
          <a:p>
            <a:pPr marL="285750" lvl="0" indent="-285750" fontAlgn="base">
              <a:buFont typeface="Arial" panose="020B0604020202020204" pitchFamily="34" charset="0"/>
              <a:buChar char="•"/>
            </a:pPr>
            <a:r>
              <a:rPr lang="en-US" sz="1600" b="1" dirty="0">
                <a:solidFill>
                  <a:srgbClr val="6DA18A"/>
                </a:solidFill>
              </a:rPr>
              <a:t>A properly implemented organizing process results in a clarified work environment. Everyone in the organization knows what to do</a:t>
            </a:r>
            <a:r>
              <a:rPr lang="en-US" sz="1600" b="1" dirty="0" smtClean="0">
                <a:solidFill>
                  <a:srgbClr val="6DA18A"/>
                </a:solidFill>
              </a:rPr>
              <a:t>..</a:t>
            </a:r>
          </a:p>
          <a:p>
            <a:pPr marL="285750" lvl="0" indent="-285750" fontAlgn="base">
              <a:buFont typeface="Arial" panose="020B0604020202020204" pitchFamily="34" charset="0"/>
              <a:buChar char="•"/>
            </a:pPr>
            <a:endParaRPr lang="en-US" sz="1600" b="1" dirty="0">
              <a:solidFill>
                <a:srgbClr val="6DA18A"/>
              </a:solidFill>
            </a:endParaRPr>
          </a:p>
          <a:p>
            <a:pPr marL="285750" lvl="0" indent="-285750" fontAlgn="base">
              <a:buFont typeface="Arial" panose="020B0604020202020204" pitchFamily="34" charset="0"/>
              <a:buChar char="•"/>
            </a:pPr>
            <a:r>
              <a:rPr lang="en-US" sz="1600" b="1" dirty="0">
                <a:solidFill>
                  <a:srgbClr val="6DA18A"/>
                </a:solidFill>
              </a:rPr>
              <a:t>There is an environment of coordination and cooperation in the organization. The interrelationships of the various work units gets </a:t>
            </a:r>
            <a:r>
              <a:rPr lang="en-US" sz="1600" b="1" dirty="0" smtClean="0">
                <a:solidFill>
                  <a:srgbClr val="6DA18A"/>
                </a:solidFill>
              </a:rPr>
              <a:t>developed</a:t>
            </a:r>
          </a:p>
          <a:p>
            <a:pPr marL="285750" lvl="0" indent="-285750" fontAlgn="base">
              <a:buFont typeface="Arial" panose="020B0604020202020204" pitchFamily="34" charset="0"/>
              <a:buChar char="•"/>
            </a:pPr>
            <a:endParaRPr lang="en-US" sz="1600" b="1" dirty="0">
              <a:solidFill>
                <a:srgbClr val="6DA18A"/>
              </a:solidFill>
            </a:endParaRPr>
          </a:p>
          <a:p>
            <a:pPr marL="285750" lvl="0" indent="-285750" fontAlgn="base">
              <a:buFont typeface="Arial" panose="020B0604020202020204" pitchFamily="34" charset="0"/>
              <a:buChar char="•"/>
            </a:pPr>
            <a:r>
              <a:rPr lang="en-US" sz="1600" b="1" dirty="0">
                <a:solidFill>
                  <a:srgbClr val="6DA18A"/>
                </a:solidFill>
              </a:rPr>
              <a:t>A formal decision-making structure gets established in the organization. </a:t>
            </a:r>
          </a:p>
        </p:txBody>
      </p:sp>
      <p:sp>
        <p:nvSpPr>
          <p:cNvPr id="3" name="TextBox 2"/>
          <p:cNvSpPr txBox="1"/>
          <p:nvPr/>
        </p:nvSpPr>
        <p:spPr>
          <a:xfrm>
            <a:off x="251520" y="843558"/>
            <a:ext cx="8208912" cy="523220"/>
          </a:xfrm>
          <a:prstGeom prst="rect">
            <a:avLst/>
          </a:prstGeom>
          <a:noFill/>
        </p:spPr>
        <p:txBody>
          <a:bodyPr wrap="square" rtlCol="0">
            <a:spAutoFit/>
          </a:bodyPr>
          <a:lstStyle/>
          <a:p>
            <a:pPr fontAlgn="base"/>
            <a:r>
              <a:rPr lang="en-US" sz="2800" b="1" dirty="0"/>
              <a:t>Benefits of organizing</a:t>
            </a:r>
            <a:endParaRPr lang="en-US" sz="2800" dirty="0"/>
          </a:p>
        </p:txBody>
      </p:sp>
    </p:spTree>
    <p:extLst>
      <p:ext uri="{BB962C8B-B14F-4D97-AF65-F5344CB8AC3E}">
        <p14:creationId xmlns:p14="http://schemas.microsoft.com/office/powerpoint/2010/main" val="21391995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3376" r="3376"/>
          <a:stretch>
            <a:fillRect/>
          </a:stretch>
        </p:blipFill>
        <p:spPr/>
      </p:pic>
      <p:sp>
        <p:nvSpPr>
          <p:cNvPr id="6" name="Frame 5"/>
          <p:cNvSpPr/>
          <p:nvPr/>
        </p:nvSpPr>
        <p:spPr>
          <a:xfrm>
            <a:off x="197768" y="159481"/>
            <a:ext cx="4176464" cy="4824536"/>
          </a:xfrm>
          <a:prstGeom prst="frame">
            <a:avLst>
              <a:gd name="adj1" fmla="val 1002"/>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9" name="Text Placeholder 1"/>
          <p:cNvSpPr txBox="1">
            <a:spLocks/>
          </p:cNvSpPr>
          <p:nvPr/>
        </p:nvSpPr>
        <p:spPr>
          <a:xfrm>
            <a:off x="4860032" y="1059582"/>
            <a:ext cx="4104456" cy="1239908"/>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Directing</a:t>
            </a:r>
            <a:endParaRPr lang="ko-KR" altLang="en-US" b="1" dirty="0">
              <a:solidFill>
                <a:schemeClr val="bg1"/>
              </a:solidFill>
              <a:latin typeface="+mj-lt"/>
              <a:cs typeface="Arial" pitchFamily="34" charset="0"/>
            </a:endParaRPr>
          </a:p>
        </p:txBody>
      </p:sp>
      <p:sp>
        <p:nvSpPr>
          <p:cNvPr id="10" name="TextBox 9"/>
          <p:cNvSpPr txBox="1"/>
          <p:nvPr/>
        </p:nvSpPr>
        <p:spPr>
          <a:xfrm>
            <a:off x="4860032" y="2172801"/>
            <a:ext cx="4104456" cy="1815882"/>
          </a:xfrm>
          <a:prstGeom prst="rect">
            <a:avLst/>
          </a:prstGeom>
          <a:noFill/>
        </p:spPr>
        <p:txBody>
          <a:bodyPr wrap="square" rtlCol="0">
            <a:spAutoFit/>
          </a:bodyPr>
          <a:lstStyle/>
          <a:p>
            <a:r>
              <a:rPr lang="en-US" sz="1600" dirty="0"/>
              <a:t>Directing can be defined as that function of management, which helps in guiding and leading people to work in such a manner so as to perform efficiently and effectively for the attainment of organizational objectives. Directing is the managerial function, which initiates organized action.</a:t>
            </a:r>
          </a:p>
        </p:txBody>
      </p:sp>
    </p:spTree>
    <p:extLst>
      <p:ext uri="{BB962C8B-B14F-4D97-AF65-F5344CB8AC3E}">
        <p14:creationId xmlns:p14="http://schemas.microsoft.com/office/powerpoint/2010/main" val="3912643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2616101"/>
          </a:xfrm>
          <a:prstGeom prst="rect">
            <a:avLst/>
          </a:prstGeom>
          <a:noFill/>
        </p:spPr>
        <p:txBody>
          <a:bodyPr wrap="square" rtlCol="0">
            <a:spAutoFit/>
          </a:bodyPr>
          <a:lstStyle/>
          <a:p>
            <a:r>
              <a:rPr lang="en-US" sz="2000" b="1" dirty="0" smtClean="0"/>
              <a:t> </a:t>
            </a:r>
            <a:r>
              <a:rPr lang="en-US" sz="2000" b="1" dirty="0"/>
              <a:t>Issuing Orders and Instructions to </a:t>
            </a:r>
            <a:r>
              <a:rPr lang="en-US" sz="2000" b="1" dirty="0" smtClean="0"/>
              <a:t>Subordinates</a:t>
            </a:r>
          </a:p>
          <a:p>
            <a:endParaRPr lang="en-US" sz="1600" dirty="0"/>
          </a:p>
          <a:p>
            <a:r>
              <a:rPr lang="en-US" sz="1600" dirty="0"/>
              <a:t>An order should serve the following characteristics</a:t>
            </a:r>
            <a:r>
              <a:rPr lang="en-US" sz="1600" dirty="0" smtClean="0"/>
              <a:t>:</a:t>
            </a:r>
          </a:p>
          <a:p>
            <a:endParaRPr lang="en-US" sz="1600" dirty="0"/>
          </a:p>
          <a:p>
            <a:pPr marL="285750" lvl="0" indent="-285750">
              <a:buFont typeface="Arial" panose="020B0604020202020204" pitchFamily="34" charset="0"/>
              <a:buChar char="•"/>
            </a:pPr>
            <a:r>
              <a:rPr lang="en-US" sz="1600" dirty="0">
                <a:solidFill>
                  <a:schemeClr val="bg1"/>
                </a:solidFill>
              </a:rPr>
              <a:t>The order should be clear and complete.</a:t>
            </a:r>
          </a:p>
          <a:p>
            <a:pPr marL="285750" lvl="0" indent="-285750">
              <a:buFont typeface="Arial" panose="020B0604020202020204" pitchFamily="34" charset="0"/>
              <a:buChar char="•"/>
            </a:pPr>
            <a:r>
              <a:rPr lang="en-US" sz="1600" dirty="0">
                <a:solidFill>
                  <a:schemeClr val="bg1"/>
                </a:solidFill>
              </a:rPr>
              <a:t>It should be reasonable and attainable.</a:t>
            </a:r>
          </a:p>
          <a:p>
            <a:pPr marL="285750" lvl="0" indent="-285750">
              <a:buFont typeface="Arial" panose="020B0604020202020204" pitchFamily="34" charset="0"/>
              <a:buChar char="•"/>
            </a:pPr>
            <a:r>
              <a:rPr lang="en-US" sz="1600" dirty="0">
                <a:solidFill>
                  <a:schemeClr val="bg1"/>
                </a:solidFill>
              </a:rPr>
              <a:t>The order must be in tune with the various other objectives of the organization and also for the interests of the subordinates.</a:t>
            </a:r>
          </a:p>
          <a:p>
            <a:pPr marL="285750" lvl="0" indent="-285750">
              <a:buFont typeface="Arial" panose="020B0604020202020204" pitchFamily="34" charset="0"/>
              <a:buChar char="•"/>
            </a:pPr>
            <a:r>
              <a:rPr lang="en-US" sz="1600" dirty="0">
                <a:solidFill>
                  <a:schemeClr val="bg1"/>
                </a:solidFill>
              </a:rPr>
              <a:t>All order should follow the chain of command.</a:t>
            </a:r>
          </a:p>
          <a:p>
            <a:pPr marL="285750" lvl="0" indent="-285750">
              <a:buFont typeface="Arial" panose="020B0604020202020204" pitchFamily="34" charset="0"/>
              <a:buChar char="•"/>
            </a:pPr>
            <a:r>
              <a:rPr lang="en-US" sz="1600" dirty="0">
                <a:solidFill>
                  <a:schemeClr val="bg1"/>
                </a:solidFill>
              </a:rPr>
              <a:t>Face-to-face suggestions are preferable to long­ distance orders.</a:t>
            </a:r>
          </a:p>
        </p:txBody>
      </p:sp>
    </p:spTree>
    <p:extLst>
      <p:ext uri="{BB962C8B-B14F-4D97-AF65-F5344CB8AC3E}">
        <p14:creationId xmlns:p14="http://schemas.microsoft.com/office/powerpoint/2010/main" val="335348951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3785652"/>
          </a:xfrm>
          <a:prstGeom prst="rect">
            <a:avLst/>
          </a:prstGeom>
          <a:noFill/>
        </p:spPr>
        <p:txBody>
          <a:bodyPr wrap="square" rtlCol="0">
            <a:spAutoFit/>
          </a:bodyPr>
          <a:lstStyle/>
          <a:p>
            <a:r>
              <a:rPr lang="en-US" sz="2000" b="1" dirty="0" smtClean="0">
                <a:solidFill>
                  <a:schemeClr val="bg1"/>
                </a:solidFill>
              </a:rPr>
              <a:t>Supervision </a:t>
            </a:r>
            <a:r>
              <a:rPr lang="en-US" sz="2000" b="1" dirty="0">
                <a:solidFill>
                  <a:schemeClr val="bg1"/>
                </a:solidFill>
              </a:rPr>
              <a:t>in an overall manner</a:t>
            </a:r>
          </a:p>
          <a:p>
            <a:endParaRPr lang="en-US" sz="2000" dirty="0"/>
          </a:p>
          <a:p>
            <a:r>
              <a:rPr lang="en-US" sz="2000" dirty="0"/>
              <a:t>It refers to monitor the progress of routine work of one’s subordinates and guiding them properly. Supervision is an important element of the directing function of management. </a:t>
            </a:r>
            <a:endParaRPr lang="en-US" sz="2000" dirty="0" smtClean="0"/>
          </a:p>
          <a:p>
            <a:endParaRPr lang="en-US" sz="2000" dirty="0"/>
          </a:p>
          <a:p>
            <a:r>
              <a:rPr lang="en-US" sz="2000" dirty="0" smtClean="0"/>
              <a:t>Supervision </a:t>
            </a:r>
            <a:r>
              <a:rPr lang="en-US" sz="2000" dirty="0"/>
              <a:t>has an important feature which includes face-to-face interaction between the supervisor and his subordinates.</a:t>
            </a:r>
          </a:p>
          <a:p>
            <a:r>
              <a:rPr lang="en-US" sz="2000" dirty="0"/>
              <a:t>It involves direct personal contact with subordinates. Supervision converts plans into action. Thus supervision is considered as an essential step in the process of directing.</a:t>
            </a:r>
          </a:p>
          <a:p>
            <a:endParaRPr lang="en-US" sz="2000" dirty="0"/>
          </a:p>
        </p:txBody>
      </p:sp>
    </p:spTree>
    <p:extLst>
      <p:ext uri="{BB962C8B-B14F-4D97-AF65-F5344CB8AC3E}">
        <p14:creationId xmlns:p14="http://schemas.microsoft.com/office/powerpoint/2010/main" val="305149746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4401205"/>
          </a:xfrm>
          <a:prstGeom prst="rect">
            <a:avLst/>
          </a:prstGeom>
          <a:noFill/>
        </p:spPr>
        <p:txBody>
          <a:bodyPr wrap="square" rtlCol="0">
            <a:spAutoFit/>
          </a:bodyPr>
          <a:lstStyle/>
          <a:p>
            <a:r>
              <a:rPr lang="en-US" sz="2000" b="1" dirty="0" smtClean="0">
                <a:solidFill>
                  <a:schemeClr val="bg1"/>
                </a:solidFill>
              </a:rPr>
              <a:t>Motivating Subordinates</a:t>
            </a:r>
          </a:p>
          <a:p>
            <a:endParaRPr lang="en-US" sz="2000" dirty="0"/>
          </a:p>
          <a:p>
            <a:r>
              <a:rPr lang="en-US" sz="2000" dirty="0"/>
              <a:t>The term motivation can be referred to as that process which excites people to work for the attainment of the desired objective. Among the various factors of production, it is only the human factor which is dynamic and provides mobility to other physical resources</a:t>
            </a:r>
            <a:r>
              <a:rPr lang="en-US" sz="2000" dirty="0" smtClean="0"/>
              <a:t>.</a:t>
            </a:r>
          </a:p>
          <a:p>
            <a:endParaRPr lang="en-US" sz="2000" dirty="0"/>
          </a:p>
          <a:p>
            <a:r>
              <a:rPr lang="en-US" sz="2000" dirty="0"/>
              <a:t>Thus, in an overall sense, it becomes essential so as to motivate the human resources so as to keep the employees dynamic, aware and eager to perform their duty. Both the monetary and non-monetary incentives are given to the employees for motivation. Thus through motivation, the employees will perform better. Hence, it will help to achieve the organizational goals and objectives.</a:t>
            </a:r>
          </a:p>
          <a:p>
            <a:endParaRPr lang="en-US" sz="2000" dirty="0"/>
          </a:p>
        </p:txBody>
      </p:sp>
    </p:spTree>
    <p:extLst>
      <p:ext uri="{BB962C8B-B14F-4D97-AF65-F5344CB8AC3E}">
        <p14:creationId xmlns:p14="http://schemas.microsoft.com/office/powerpoint/2010/main" val="24870299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2862322"/>
          </a:xfrm>
          <a:prstGeom prst="rect">
            <a:avLst/>
          </a:prstGeom>
          <a:noFill/>
        </p:spPr>
        <p:txBody>
          <a:bodyPr wrap="square" rtlCol="0">
            <a:spAutoFit/>
          </a:bodyPr>
          <a:lstStyle/>
          <a:p>
            <a:r>
              <a:rPr lang="en-US" sz="2000" b="1" dirty="0" smtClean="0">
                <a:solidFill>
                  <a:schemeClr val="bg1"/>
                </a:solidFill>
              </a:rPr>
              <a:t>Providing Leadership</a:t>
            </a:r>
          </a:p>
          <a:p>
            <a:endParaRPr lang="en-US" sz="2000" dirty="0"/>
          </a:p>
          <a:p>
            <a:r>
              <a:rPr lang="en-US" sz="2000" dirty="0"/>
              <a:t>The term Leadership defines as to influence others in such a manner as to guide them to do what the leader wants them to do. Leadership plays an important role in directing. Only through this leadership skill, a manager can develop trust and zeal among his subordinates. Therefore it leads to guide and provide overall counselling to subordinates in the best way for achieving their objectives and also for the organization.</a:t>
            </a:r>
          </a:p>
          <a:p>
            <a:endParaRPr lang="en-US" sz="2000" dirty="0"/>
          </a:p>
        </p:txBody>
      </p:sp>
    </p:spTree>
    <p:extLst>
      <p:ext uri="{BB962C8B-B14F-4D97-AF65-F5344CB8AC3E}">
        <p14:creationId xmlns:p14="http://schemas.microsoft.com/office/powerpoint/2010/main" val="314428315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4093428"/>
          </a:xfrm>
          <a:prstGeom prst="rect">
            <a:avLst/>
          </a:prstGeom>
          <a:noFill/>
        </p:spPr>
        <p:txBody>
          <a:bodyPr wrap="square" rtlCol="0">
            <a:spAutoFit/>
          </a:bodyPr>
          <a:lstStyle/>
          <a:p>
            <a:r>
              <a:rPr lang="en-US" sz="2000" b="1" dirty="0">
                <a:solidFill>
                  <a:schemeClr val="bg1"/>
                </a:solidFill>
              </a:rPr>
              <a:t>Communicating with Subordinates</a:t>
            </a:r>
          </a:p>
          <a:p>
            <a:endParaRPr lang="en-US" sz="2000" dirty="0"/>
          </a:p>
          <a:p>
            <a:r>
              <a:rPr lang="en-US" sz="2000" dirty="0"/>
              <a:t>It refers to an act of transferring facts, ideas, feeling, etc. from one person to another and making him understand them. A manager has to continuously t guides and also at the same time, monitors his subordinates about what to do, how to do, and when to do various things</a:t>
            </a:r>
            <a:r>
              <a:rPr lang="en-US" sz="2000" dirty="0" smtClean="0"/>
              <a:t>.</a:t>
            </a:r>
          </a:p>
          <a:p>
            <a:endParaRPr lang="en-US" sz="2000" dirty="0"/>
          </a:p>
          <a:p>
            <a:r>
              <a:rPr lang="en-US" sz="2000" dirty="0"/>
              <a:t>Also, it is very essential to know their reactions. To do all this it becomes essential to develop effective telecommunication facilities. Therefore, the essential feature is to communicate with itself can be called by developing mutual understanding inculcates a sense of cooperation which builds an environment of coordination in the organization.</a:t>
            </a:r>
          </a:p>
          <a:p>
            <a:endParaRPr lang="en-US" sz="2000" dirty="0"/>
          </a:p>
        </p:txBody>
      </p:sp>
    </p:spTree>
    <p:extLst>
      <p:ext uri="{BB962C8B-B14F-4D97-AF65-F5344CB8AC3E}">
        <p14:creationId xmlns:p14="http://schemas.microsoft.com/office/powerpoint/2010/main" val="399361055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538"/>
            <a:ext cx="9144000" cy="864096"/>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155326" y="196066"/>
            <a:ext cx="8833348" cy="430887"/>
          </a:xfrm>
          <a:prstGeom prst="rect">
            <a:avLst/>
          </a:prstGeom>
          <a:noFill/>
        </p:spPr>
        <p:txBody>
          <a:bodyPr wrap="square" rtlCol="0">
            <a:spAutoFit/>
          </a:bodyPr>
          <a:lstStyle/>
          <a:p>
            <a:pPr algn="ctr"/>
            <a:r>
              <a:rPr lang="en-US" sz="2200" b="1" dirty="0"/>
              <a:t>There are various elements involved in direction are as </a:t>
            </a:r>
            <a:r>
              <a:rPr lang="en-US" sz="2200" b="1" dirty="0" smtClean="0"/>
              <a:t>follows</a:t>
            </a:r>
            <a:endParaRPr lang="en-US" sz="2200" b="1" dirty="0"/>
          </a:p>
        </p:txBody>
      </p:sp>
      <p:sp>
        <p:nvSpPr>
          <p:cNvPr id="6" name="TextBox 5"/>
          <p:cNvSpPr txBox="1"/>
          <p:nvPr/>
        </p:nvSpPr>
        <p:spPr>
          <a:xfrm>
            <a:off x="251520" y="987574"/>
            <a:ext cx="8640960" cy="3477875"/>
          </a:xfrm>
          <a:prstGeom prst="rect">
            <a:avLst/>
          </a:prstGeom>
          <a:noFill/>
        </p:spPr>
        <p:txBody>
          <a:bodyPr wrap="square" rtlCol="0">
            <a:spAutoFit/>
          </a:bodyPr>
          <a:lstStyle/>
          <a:p>
            <a:r>
              <a:rPr lang="en-US" sz="2000" b="1" dirty="0" smtClean="0">
                <a:solidFill>
                  <a:schemeClr val="bg1"/>
                </a:solidFill>
              </a:rPr>
              <a:t>Maintaining </a:t>
            </a:r>
            <a:r>
              <a:rPr lang="en-US" sz="2000" b="1" dirty="0">
                <a:solidFill>
                  <a:schemeClr val="bg1"/>
                </a:solidFill>
              </a:rPr>
              <a:t>discipline and Rewarding Effective People</a:t>
            </a:r>
          </a:p>
          <a:p>
            <a:endParaRPr lang="en-US" sz="2000" dirty="0"/>
          </a:p>
          <a:p>
            <a:r>
              <a:rPr lang="en-US" sz="2000" dirty="0"/>
              <a:t>By maintaining an atmosphere of discipline and trust in the organization, the manager can easily give directions. So that the work done by his employees is in most efficient and effective manner</a:t>
            </a:r>
            <a:r>
              <a:rPr lang="en-US" sz="2000" dirty="0" smtClean="0"/>
              <a:t>.</a:t>
            </a:r>
          </a:p>
          <a:p>
            <a:endParaRPr lang="en-US" sz="2000" dirty="0"/>
          </a:p>
          <a:p>
            <a:r>
              <a:rPr lang="en-US" sz="2000" dirty="0"/>
              <a:t>In return, the employees will get a reward in the form of bonus, incentives and other perks so as to get themselves associated with the organization on a long-term basis.  Therefore, this element of direction also plays a very important role in achieving overall objectives of an organization.</a:t>
            </a:r>
          </a:p>
          <a:p>
            <a:endParaRPr lang="en-US" sz="2000" dirty="0"/>
          </a:p>
        </p:txBody>
      </p:sp>
    </p:spTree>
    <p:extLst>
      <p:ext uri="{BB962C8B-B14F-4D97-AF65-F5344CB8AC3E}">
        <p14:creationId xmlns:p14="http://schemas.microsoft.com/office/powerpoint/2010/main" val="395432804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2067694"/>
            <a:ext cx="9144000" cy="30758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287524" y="411510"/>
            <a:ext cx="8568952" cy="1015663"/>
          </a:xfrm>
          <a:prstGeom prst="rect">
            <a:avLst/>
          </a:prstGeom>
          <a:noFill/>
        </p:spPr>
        <p:txBody>
          <a:bodyPr wrap="square" rtlCol="0">
            <a:spAutoFit/>
          </a:bodyPr>
          <a:lstStyle/>
          <a:p>
            <a:r>
              <a:rPr lang="en-US" sz="6000" b="1" dirty="0">
                <a:solidFill>
                  <a:schemeClr val="bg1"/>
                </a:solidFill>
              </a:rPr>
              <a:t>Controlling</a:t>
            </a:r>
          </a:p>
        </p:txBody>
      </p:sp>
      <p:sp>
        <p:nvSpPr>
          <p:cNvPr id="2" name="TextBox 1"/>
          <p:cNvSpPr txBox="1"/>
          <p:nvPr/>
        </p:nvSpPr>
        <p:spPr>
          <a:xfrm>
            <a:off x="287524" y="2355726"/>
            <a:ext cx="8568952" cy="2308324"/>
          </a:xfrm>
          <a:prstGeom prst="rect">
            <a:avLst/>
          </a:prstGeom>
          <a:noFill/>
        </p:spPr>
        <p:txBody>
          <a:bodyPr wrap="square" rtlCol="0">
            <a:spAutoFit/>
          </a:bodyPr>
          <a:lstStyle/>
          <a:p>
            <a:pPr algn="justLow"/>
            <a:r>
              <a:rPr lang="en-US" dirty="0"/>
              <a:t>The final function of management is </a:t>
            </a:r>
            <a:r>
              <a:rPr lang="en-US" b="1" dirty="0"/>
              <a:t>controlling</a:t>
            </a:r>
            <a:r>
              <a:rPr lang="en-US" dirty="0"/>
              <a:t>. The function ensures the other </a:t>
            </a:r>
            <a:r>
              <a:rPr lang="en-US" dirty="0" err="1"/>
              <a:t>thrree</a:t>
            </a:r>
            <a:r>
              <a:rPr lang="en-US" dirty="0"/>
              <a:t> functions are followed correctly and the flow of work is moving the organization towards the objectives it has set itself. </a:t>
            </a:r>
          </a:p>
          <a:p>
            <a:pPr algn="justLow"/>
            <a:r>
              <a:rPr lang="en-US" dirty="0"/>
              <a:t>Controlling is</a:t>
            </a:r>
          </a:p>
          <a:p>
            <a:pPr algn="justLow"/>
            <a:endParaRPr lang="en-US" dirty="0"/>
          </a:p>
          <a:p>
            <a:pPr algn="justLow"/>
            <a:r>
              <a:rPr lang="en-US" dirty="0"/>
              <a:t>“the process of checking whether or not proper progress is being made towards the objectives and goals and acting if necessary, to correct any deviation“.</a:t>
            </a:r>
          </a:p>
          <a:p>
            <a:pPr algn="justLow"/>
            <a:endParaRPr lang="en-US" dirty="0"/>
          </a:p>
        </p:txBody>
      </p:sp>
    </p:spTree>
    <p:extLst>
      <p:ext uri="{BB962C8B-B14F-4D97-AF65-F5344CB8AC3E}">
        <p14:creationId xmlns:p14="http://schemas.microsoft.com/office/powerpoint/2010/main" val="190738616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6372200" y="987574"/>
            <a:ext cx="2664296" cy="3744416"/>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4" name="Text Placeholder 1"/>
          <p:cNvSpPr txBox="1">
            <a:spLocks/>
          </p:cNvSpPr>
          <p:nvPr/>
        </p:nvSpPr>
        <p:spPr>
          <a:xfrm>
            <a:off x="251520" y="3629186"/>
            <a:ext cx="5571118" cy="1944464"/>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endParaRPr lang="ko-KR" altLang="en-US" b="1" dirty="0">
              <a:solidFill>
                <a:schemeClr val="tx1">
                  <a:lumMod val="75000"/>
                  <a:lumOff val="25000"/>
                </a:schemeClr>
              </a:solidFill>
              <a:latin typeface="+mj-lt"/>
              <a:cs typeface="Arial" pitchFamily="34" charset="0"/>
            </a:endParaRPr>
          </a:p>
        </p:txBody>
      </p:sp>
      <p:sp>
        <p:nvSpPr>
          <p:cNvPr id="26" name="Frame 25"/>
          <p:cNvSpPr/>
          <p:nvPr/>
        </p:nvSpPr>
        <p:spPr>
          <a:xfrm>
            <a:off x="5244150" y="1513554"/>
            <a:ext cx="2376264" cy="2115632"/>
          </a:xfrm>
          <a:prstGeom prst="frame">
            <a:avLst>
              <a:gd name="adj1" fmla="val 1388"/>
            </a:avLst>
          </a:prstGeom>
          <a:solidFill>
            <a:schemeClr val="accent1"/>
          </a:solidFill>
          <a:ln>
            <a:solidFill>
              <a:srgbClr val="FABEB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8" name="TextBox 7"/>
          <p:cNvSpPr txBox="1"/>
          <p:nvPr/>
        </p:nvSpPr>
        <p:spPr>
          <a:xfrm>
            <a:off x="222474" y="843558"/>
            <a:ext cx="6048672" cy="584775"/>
          </a:xfrm>
          <a:prstGeom prst="rect">
            <a:avLst/>
          </a:prstGeom>
          <a:noFill/>
        </p:spPr>
        <p:txBody>
          <a:bodyPr wrap="square" rtlCol="0">
            <a:spAutoFit/>
          </a:bodyPr>
          <a:lstStyle/>
          <a:p>
            <a:r>
              <a:rPr lang="en-US" sz="3200" b="1" dirty="0">
                <a:solidFill>
                  <a:schemeClr val="bg1"/>
                </a:solidFill>
              </a:rPr>
              <a:t>Why is controlling essential?</a:t>
            </a:r>
            <a:endParaRPr lang="en-US" sz="3200" dirty="0">
              <a:solidFill>
                <a:schemeClr val="bg1"/>
              </a:solidFill>
            </a:endParaRPr>
          </a:p>
        </p:txBody>
      </p:sp>
      <p:sp>
        <p:nvSpPr>
          <p:cNvPr id="11" name="TextBox 10"/>
          <p:cNvSpPr txBox="1"/>
          <p:nvPr/>
        </p:nvSpPr>
        <p:spPr>
          <a:xfrm>
            <a:off x="-4212976" y="-596602"/>
            <a:ext cx="9217024" cy="369332"/>
          </a:xfrm>
          <a:prstGeom prst="rect">
            <a:avLst/>
          </a:prstGeom>
          <a:noFill/>
        </p:spPr>
        <p:txBody>
          <a:bodyPr wrap="square" rtlCol="0">
            <a:spAutoFit/>
          </a:bodyPr>
          <a:lstStyle/>
          <a:p>
            <a:r>
              <a:rPr lang="en-US" dirty="0" smtClean="0"/>
              <a:t> </a:t>
            </a:r>
            <a:endParaRPr lang="en-US" dirty="0"/>
          </a:p>
        </p:txBody>
      </p:sp>
      <p:sp>
        <p:nvSpPr>
          <p:cNvPr id="12" name="TextBox 11"/>
          <p:cNvSpPr txBox="1"/>
          <p:nvPr/>
        </p:nvSpPr>
        <p:spPr>
          <a:xfrm>
            <a:off x="251520" y="1769874"/>
            <a:ext cx="4608512" cy="2062103"/>
          </a:xfrm>
          <a:prstGeom prst="rect">
            <a:avLst/>
          </a:prstGeom>
          <a:noFill/>
        </p:spPr>
        <p:txBody>
          <a:bodyPr wrap="square" rtlCol="0">
            <a:spAutoFit/>
          </a:bodyPr>
          <a:lstStyle/>
          <a:p>
            <a:r>
              <a:rPr lang="en-US" sz="1600" dirty="0"/>
              <a:t>Controlling’s most important function is the risk-reduction ability. Since you are essentially monitoring the performance of the team and comparing it against the objectives you’ve set, you can react to problems more easily. Instead of realizing at the end of the month that you’ve missed your sales target by a huge margin, you can keep on eye on the situation during the process.</a:t>
            </a:r>
          </a:p>
        </p:txBody>
      </p:sp>
      <p:pic>
        <p:nvPicPr>
          <p:cNvPr id="3" name="Picture Placeholder 2"/>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7372" r="7372"/>
          <a:stretch>
            <a:fillRect/>
          </a:stretch>
        </p:blipFill>
        <p:spPr/>
      </p:pic>
    </p:spTree>
    <p:extLst>
      <p:ext uri="{BB962C8B-B14F-4D97-AF65-F5344CB8AC3E}">
        <p14:creationId xmlns:p14="http://schemas.microsoft.com/office/powerpoint/2010/main" val="397194165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Diagonal Corner Rectangle 3"/>
          <p:cNvSpPr/>
          <p:nvPr/>
        </p:nvSpPr>
        <p:spPr>
          <a:xfrm>
            <a:off x="251520" y="267494"/>
            <a:ext cx="8640960" cy="4608512"/>
          </a:xfrm>
          <a:prstGeom prst="snip2Diag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smtClean="0">
                <a:solidFill>
                  <a:schemeClr val="tx1"/>
                </a:solidFill>
              </a:rPr>
              <a:t> </a:t>
            </a:r>
            <a:endParaRPr lang="en-US" dirty="0">
              <a:solidFill>
                <a:schemeClr val="tx1"/>
              </a:solidFill>
            </a:endParaRPr>
          </a:p>
        </p:txBody>
      </p:sp>
      <p:sp>
        <p:nvSpPr>
          <p:cNvPr id="5" name="TextBox 4"/>
          <p:cNvSpPr txBox="1"/>
          <p:nvPr/>
        </p:nvSpPr>
        <p:spPr>
          <a:xfrm>
            <a:off x="467544" y="555526"/>
            <a:ext cx="8064896" cy="707886"/>
          </a:xfrm>
          <a:prstGeom prst="rect">
            <a:avLst/>
          </a:prstGeom>
          <a:noFill/>
        </p:spPr>
        <p:txBody>
          <a:bodyPr wrap="square" rtlCol="0">
            <a:spAutoFit/>
          </a:bodyPr>
          <a:lstStyle/>
          <a:p>
            <a:r>
              <a:rPr lang="en-US" sz="4000" b="1" dirty="0">
                <a:solidFill>
                  <a:schemeClr val="bg1"/>
                </a:solidFill>
              </a:rPr>
              <a:t>How to control?</a:t>
            </a:r>
          </a:p>
        </p:txBody>
      </p:sp>
      <p:sp>
        <p:nvSpPr>
          <p:cNvPr id="6" name="TextBox 5"/>
          <p:cNvSpPr txBox="1"/>
          <p:nvPr/>
        </p:nvSpPr>
        <p:spPr>
          <a:xfrm>
            <a:off x="-8461448" y="-2252786"/>
            <a:ext cx="15985776" cy="369332"/>
          </a:xfrm>
          <a:prstGeom prst="rect">
            <a:avLst/>
          </a:prstGeom>
          <a:noFill/>
        </p:spPr>
        <p:txBody>
          <a:bodyPr wrap="square" rtlCol="0">
            <a:spAutoFit/>
          </a:bodyPr>
          <a:lstStyle/>
          <a:p>
            <a:r>
              <a:rPr lang="en-US" dirty="0" smtClean="0"/>
              <a:t>  </a:t>
            </a:r>
            <a:endParaRPr lang="en-US" dirty="0"/>
          </a:p>
        </p:txBody>
      </p:sp>
      <p:sp>
        <p:nvSpPr>
          <p:cNvPr id="7" name="TextBox 6"/>
          <p:cNvSpPr txBox="1"/>
          <p:nvPr/>
        </p:nvSpPr>
        <p:spPr>
          <a:xfrm>
            <a:off x="467544" y="1419622"/>
            <a:ext cx="8064896" cy="2616101"/>
          </a:xfrm>
          <a:prstGeom prst="rect">
            <a:avLst/>
          </a:prstGeom>
          <a:noFill/>
        </p:spPr>
        <p:txBody>
          <a:bodyPr wrap="square" rtlCol="0">
            <a:spAutoFit/>
          </a:bodyPr>
          <a:lstStyle/>
          <a:p>
            <a:pPr marL="342900" indent="-342900">
              <a:buFont typeface="Arial" panose="020B0604020202020204" pitchFamily="34" charset="0"/>
              <a:buChar char="•"/>
            </a:pPr>
            <a:r>
              <a:rPr lang="en-US" sz="2000" b="1" dirty="0">
                <a:solidFill>
                  <a:srgbClr val="FABEBF"/>
                </a:solidFill>
              </a:rPr>
              <a:t>Establish standards of </a:t>
            </a:r>
            <a:r>
              <a:rPr lang="en-US" sz="2000" b="1" dirty="0" smtClean="0">
                <a:solidFill>
                  <a:srgbClr val="FABEBF"/>
                </a:solidFill>
              </a:rPr>
              <a:t>performance</a:t>
            </a:r>
          </a:p>
          <a:p>
            <a:pPr marL="342900" indent="-342900">
              <a:buFont typeface="Arial" panose="020B0604020202020204" pitchFamily="34" charset="0"/>
              <a:buChar char="•"/>
            </a:pPr>
            <a:r>
              <a:rPr lang="en-US" sz="2000" b="1" dirty="0">
                <a:solidFill>
                  <a:srgbClr val="FABEBF"/>
                </a:solidFill>
              </a:rPr>
              <a:t> </a:t>
            </a:r>
            <a:endParaRPr lang="en-US" sz="2000" dirty="0">
              <a:solidFill>
                <a:srgbClr val="FABEBF"/>
              </a:solidFill>
            </a:endParaRPr>
          </a:p>
          <a:p>
            <a:pPr marL="342900" indent="-342900">
              <a:buFont typeface="Arial" panose="020B0604020202020204" pitchFamily="34" charset="0"/>
              <a:buChar char="•"/>
            </a:pPr>
            <a:r>
              <a:rPr lang="en-US" sz="2000" b="1" dirty="0">
                <a:solidFill>
                  <a:srgbClr val="FABEBF"/>
                </a:solidFill>
              </a:rPr>
              <a:t>Measure the actual performance</a:t>
            </a:r>
            <a:r>
              <a:rPr lang="en-US" sz="2000" dirty="0">
                <a:solidFill>
                  <a:srgbClr val="FABEBF"/>
                </a:solidFill>
              </a:rPr>
              <a:t> </a:t>
            </a:r>
            <a:endParaRPr lang="en-US" sz="2000" dirty="0" smtClean="0">
              <a:solidFill>
                <a:srgbClr val="FABEBF"/>
              </a:solidFill>
            </a:endParaRPr>
          </a:p>
          <a:p>
            <a:pPr marL="342900" indent="-342900">
              <a:buFont typeface="Arial" panose="020B0604020202020204" pitchFamily="34" charset="0"/>
              <a:buChar char="•"/>
            </a:pPr>
            <a:endParaRPr lang="en-US" sz="2000" dirty="0">
              <a:solidFill>
                <a:srgbClr val="FABEBF"/>
              </a:solidFill>
            </a:endParaRPr>
          </a:p>
          <a:p>
            <a:pPr marL="342900" indent="-342900">
              <a:buFont typeface="Arial" panose="020B0604020202020204" pitchFamily="34" charset="0"/>
              <a:buChar char="•"/>
            </a:pPr>
            <a:r>
              <a:rPr lang="en-US" sz="2000" b="1" dirty="0">
                <a:solidFill>
                  <a:srgbClr val="FABEBF"/>
                </a:solidFill>
              </a:rPr>
              <a:t>Compare the actual performance with the expected standards</a:t>
            </a:r>
            <a:r>
              <a:rPr lang="en-US" sz="2000" dirty="0">
                <a:solidFill>
                  <a:srgbClr val="FABEBF"/>
                </a:solidFill>
              </a:rPr>
              <a:t> </a:t>
            </a:r>
            <a:endParaRPr lang="en-US" sz="2000" dirty="0" smtClean="0">
              <a:solidFill>
                <a:srgbClr val="FABEBF"/>
              </a:solidFill>
            </a:endParaRPr>
          </a:p>
          <a:p>
            <a:pPr marL="342900" indent="-342900">
              <a:buFont typeface="Arial" panose="020B0604020202020204" pitchFamily="34" charset="0"/>
              <a:buChar char="•"/>
            </a:pPr>
            <a:endParaRPr lang="en-US" sz="2000" dirty="0">
              <a:solidFill>
                <a:srgbClr val="FABEBF"/>
              </a:solidFill>
            </a:endParaRPr>
          </a:p>
          <a:p>
            <a:pPr marL="342900" indent="-342900">
              <a:buFont typeface="Arial" panose="020B0604020202020204" pitchFamily="34" charset="0"/>
              <a:buChar char="•"/>
            </a:pPr>
            <a:r>
              <a:rPr lang="en-US" sz="2000" b="1" dirty="0">
                <a:solidFill>
                  <a:srgbClr val="FABEBF"/>
                </a:solidFill>
              </a:rPr>
              <a:t>Take corrective action</a:t>
            </a:r>
            <a:r>
              <a:rPr lang="en-US" sz="2000" dirty="0">
                <a:solidFill>
                  <a:srgbClr val="FABEBF"/>
                </a:solidFill>
              </a:rPr>
              <a:t> </a:t>
            </a:r>
          </a:p>
          <a:p>
            <a:endParaRPr lang="en-US" sz="2400" dirty="0">
              <a:solidFill>
                <a:srgbClr val="FABEBF"/>
              </a:solidFill>
            </a:endParaRPr>
          </a:p>
        </p:txBody>
      </p:sp>
    </p:spTree>
    <p:extLst>
      <p:ext uri="{BB962C8B-B14F-4D97-AF65-F5344CB8AC3E}">
        <p14:creationId xmlns:p14="http://schemas.microsoft.com/office/powerpoint/2010/main" val="332274446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Off-page Connector 3"/>
          <p:cNvSpPr/>
          <p:nvPr/>
        </p:nvSpPr>
        <p:spPr>
          <a:xfrm>
            <a:off x="1691680" y="0"/>
            <a:ext cx="6048672" cy="2736304"/>
          </a:xfrm>
          <a:prstGeom prst="flowChartOffpage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Rectangle 5"/>
          <p:cNvSpPr/>
          <p:nvPr/>
        </p:nvSpPr>
        <p:spPr>
          <a:xfrm>
            <a:off x="2005978" y="699542"/>
            <a:ext cx="5420075" cy="1077218"/>
          </a:xfrm>
          <a:prstGeom prst="rect">
            <a:avLst/>
          </a:prstGeom>
        </p:spPr>
        <p:txBody>
          <a:bodyPr wrap="none">
            <a:spAutoFit/>
          </a:bodyPr>
          <a:lstStyle/>
          <a:p>
            <a:pPr algn="ctr"/>
            <a:r>
              <a:rPr lang="en-US" sz="3200" b="1" dirty="0">
                <a:solidFill>
                  <a:srgbClr val="6DA18A"/>
                </a:solidFill>
              </a:rPr>
              <a:t>Corporate Social </a:t>
            </a:r>
            <a:endParaRPr lang="en-US" sz="3200" b="1" dirty="0" smtClean="0">
              <a:solidFill>
                <a:srgbClr val="6DA18A"/>
              </a:solidFill>
            </a:endParaRPr>
          </a:p>
          <a:p>
            <a:pPr algn="ctr"/>
            <a:r>
              <a:rPr lang="en-US" sz="3200" b="1" dirty="0" smtClean="0">
                <a:solidFill>
                  <a:srgbClr val="6DA18A"/>
                </a:solidFill>
              </a:rPr>
              <a:t>Responsibility for </a:t>
            </a:r>
            <a:r>
              <a:rPr lang="en-US" sz="3200" b="1" dirty="0">
                <a:solidFill>
                  <a:srgbClr val="6DA18A"/>
                </a:solidFill>
              </a:rPr>
              <a:t>Startups</a:t>
            </a:r>
            <a:endParaRPr lang="en-US" sz="3200" dirty="0">
              <a:solidFill>
                <a:srgbClr val="6DA18A"/>
              </a:solidFill>
            </a:endParaRPr>
          </a:p>
        </p:txBody>
      </p:sp>
    </p:spTree>
    <p:extLst>
      <p:ext uri="{BB962C8B-B14F-4D97-AF65-F5344CB8AC3E}">
        <p14:creationId xmlns:p14="http://schemas.microsoft.com/office/powerpoint/2010/main" val="16104802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323528" y="411510"/>
            <a:ext cx="8424936" cy="5078313"/>
          </a:xfrm>
          <a:prstGeom prst="rect">
            <a:avLst/>
          </a:prstGeom>
          <a:noFill/>
        </p:spPr>
        <p:txBody>
          <a:bodyPr wrap="square" rtlCol="0">
            <a:spAutoFit/>
          </a:bodyPr>
          <a:lstStyle/>
          <a:p>
            <a:pPr algn="justLow"/>
            <a:r>
              <a:rPr lang="en-US" dirty="0">
                <a:solidFill>
                  <a:schemeClr val="bg1"/>
                </a:solidFill>
              </a:rPr>
              <a:t>As we move further into the 21st century and become more aware of how our actions affect our environment and societies, a lot of words keep popping up that were not even in our vocabulary a few decades ago. Things like sustainability, having a green building, </a:t>
            </a:r>
            <a:r>
              <a:rPr lang="en-US" i="1" dirty="0">
                <a:solidFill>
                  <a:schemeClr val="bg1"/>
                </a:solidFill>
              </a:rPr>
              <a:t>reducing our carbon footprint</a:t>
            </a:r>
            <a:r>
              <a:rPr lang="en-US" dirty="0">
                <a:solidFill>
                  <a:schemeClr val="bg1"/>
                </a:solidFill>
              </a:rPr>
              <a:t>, and of course, Corporate Social Responsibility (CSR), are all things that companies around the world are doing their best to achieve</a:t>
            </a:r>
            <a:r>
              <a:rPr lang="en-US" dirty="0" smtClean="0">
                <a:solidFill>
                  <a:schemeClr val="bg1"/>
                </a:solidFill>
              </a:rPr>
              <a:t>.</a:t>
            </a:r>
          </a:p>
          <a:p>
            <a:pPr algn="justLow"/>
            <a:endParaRPr lang="en-US" dirty="0">
              <a:solidFill>
                <a:schemeClr val="bg1"/>
              </a:solidFill>
            </a:endParaRPr>
          </a:p>
          <a:p>
            <a:pPr fontAlgn="base"/>
            <a:r>
              <a:rPr lang="en-US" dirty="0">
                <a:solidFill>
                  <a:schemeClr val="bg1"/>
                </a:solidFill>
              </a:rPr>
              <a:t>Defining CSR is almost impossible to do in one simple sentence since there are many activities that contribute to this movement, including:</a:t>
            </a:r>
          </a:p>
          <a:p>
            <a:pPr fontAlgn="base"/>
            <a:endParaRPr lang="en-US" dirty="0">
              <a:solidFill>
                <a:schemeClr val="bg1"/>
              </a:solidFill>
            </a:endParaRPr>
          </a:p>
          <a:p>
            <a:pPr lvl="0" fontAlgn="base"/>
            <a:r>
              <a:rPr lang="en-US" dirty="0">
                <a:solidFill>
                  <a:schemeClr val="bg1"/>
                </a:solidFill>
              </a:rPr>
              <a:t>Protecting the environment and having a sustainable work environment</a:t>
            </a:r>
          </a:p>
          <a:p>
            <a:pPr lvl="0" fontAlgn="base"/>
            <a:r>
              <a:rPr lang="en-US" dirty="0">
                <a:solidFill>
                  <a:schemeClr val="bg1"/>
                </a:solidFill>
              </a:rPr>
              <a:t>Working with local charities and communities to improve the lives of others</a:t>
            </a:r>
          </a:p>
          <a:p>
            <a:pPr lvl="0" fontAlgn="base"/>
            <a:r>
              <a:rPr lang="en-US" dirty="0">
                <a:solidFill>
                  <a:schemeClr val="bg1"/>
                </a:solidFill>
              </a:rPr>
              <a:t>Creating fulfilling relationships with both customers and employees and providing a safe and supportive work environment</a:t>
            </a:r>
          </a:p>
          <a:p>
            <a:pPr lvl="0" fontAlgn="base"/>
            <a:r>
              <a:rPr lang="en-US" dirty="0">
                <a:solidFill>
                  <a:schemeClr val="bg1"/>
                </a:solidFill>
              </a:rPr>
              <a:t>Socially responsible investment – i.e. green or ethical investing</a:t>
            </a:r>
          </a:p>
          <a:p>
            <a:endParaRPr lang="en-US" dirty="0">
              <a:solidFill>
                <a:schemeClr val="bg1"/>
              </a:solidFill>
            </a:endParaRPr>
          </a:p>
          <a:p>
            <a:pPr algn="justLow"/>
            <a:endParaRPr lang="en-US" dirty="0">
              <a:solidFill>
                <a:schemeClr val="bg1"/>
              </a:solidFill>
            </a:endParaRPr>
          </a:p>
          <a:p>
            <a:pPr algn="justLow"/>
            <a:endParaRPr lang="en-US" dirty="0">
              <a:solidFill>
                <a:schemeClr val="bg1"/>
              </a:solidFill>
            </a:endParaRPr>
          </a:p>
        </p:txBody>
      </p:sp>
    </p:spTree>
    <p:extLst>
      <p:ext uri="{BB962C8B-B14F-4D97-AF65-F5344CB8AC3E}">
        <p14:creationId xmlns:p14="http://schemas.microsoft.com/office/powerpoint/2010/main" val="2973807188"/>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9552" y="195486"/>
            <a:ext cx="8784976" cy="646331"/>
          </a:xfrm>
          <a:prstGeom prst="rect">
            <a:avLst/>
          </a:prstGeom>
          <a:noFill/>
        </p:spPr>
        <p:txBody>
          <a:bodyPr wrap="square" rtlCol="0">
            <a:spAutoFit/>
          </a:bodyPr>
          <a:lstStyle/>
          <a:p>
            <a:r>
              <a:rPr lang="en-US" sz="3600" b="1" dirty="0">
                <a:solidFill>
                  <a:schemeClr val="bg1"/>
                </a:solidFill>
              </a:rPr>
              <a:t>Why is CSR important for startups?</a:t>
            </a:r>
            <a:endParaRPr lang="en-US" sz="3600" dirty="0">
              <a:solidFill>
                <a:schemeClr val="bg1"/>
              </a:solidFill>
            </a:endParaRPr>
          </a:p>
        </p:txBody>
      </p:sp>
      <p:sp>
        <p:nvSpPr>
          <p:cNvPr id="5" name="Round Same Side Corner Rectangle 4"/>
          <p:cNvSpPr/>
          <p:nvPr/>
        </p:nvSpPr>
        <p:spPr>
          <a:xfrm flipV="1">
            <a:off x="323528" y="913822"/>
            <a:ext cx="8496944" cy="3890173"/>
          </a:xfrm>
          <a:prstGeom prst="round2Same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539552" y="1203598"/>
            <a:ext cx="7992888" cy="3416320"/>
          </a:xfrm>
          <a:prstGeom prst="rect">
            <a:avLst/>
          </a:prstGeom>
          <a:noFill/>
        </p:spPr>
        <p:txBody>
          <a:bodyPr wrap="square" rtlCol="0">
            <a:spAutoFit/>
          </a:bodyPr>
          <a:lstStyle/>
          <a:p>
            <a:pPr fontAlgn="base"/>
            <a:r>
              <a:rPr lang="en-US" sz="2400" dirty="0"/>
              <a:t>Not only do CSR initiatives benefit society in more ways than one, it can also be a beneficial factor in terms of your overall marketing strategy. Being known as a startup that is sustainable and contributes to society gives you greater brand perception and helps build loyalty and trust</a:t>
            </a:r>
            <a:r>
              <a:rPr lang="en-US" sz="2400" dirty="0" smtClean="0"/>
              <a:t>.</a:t>
            </a:r>
          </a:p>
          <a:p>
            <a:pPr fontAlgn="base"/>
            <a:r>
              <a:rPr lang="en-US" sz="2400" dirty="0"/>
              <a:t> </a:t>
            </a:r>
          </a:p>
          <a:p>
            <a:r>
              <a:rPr lang="en-US" sz="2400" dirty="0"/>
              <a:t>Initiating and maintaining CSR in your startup will give you more transparency as a business and give you an edge over competitors. </a:t>
            </a:r>
          </a:p>
        </p:txBody>
      </p:sp>
    </p:spTree>
    <p:extLst>
      <p:ext uri="{BB962C8B-B14F-4D97-AF65-F5344CB8AC3E}">
        <p14:creationId xmlns:p14="http://schemas.microsoft.com/office/powerpoint/2010/main" val="125044664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rame 17"/>
          <p:cNvSpPr/>
          <p:nvPr/>
        </p:nvSpPr>
        <p:spPr>
          <a:xfrm rot="18900000">
            <a:off x="6343368" y="2430572"/>
            <a:ext cx="1793332" cy="1793332"/>
          </a:xfrm>
          <a:prstGeom prst="frame">
            <a:avLst>
              <a:gd name="adj1" fmla="val 483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9" name="Text Placeholder 1"/>
          <p:cNvSpPr txBox="1">
            <a:spLocks/>
          </p:cNvSpPr>
          <p:nvPr/>
        </p:nvSpPr>
        <p:spPr>
          <a:xfrm>
            <a:off x="251520" y="1203598"/>
            <a:ext cx="4248472" cy="1944464"/>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solidFill>
                  <a:schemeClr val="bg1"/>
                </a:solidFill>
              </a:rPr>
              <a:t>How can startups do their part?</a:t>
            </a:r>
            <a:endParaRPr lang="ko-KR" altLang="en-US" b="1" dirty="0">
              <a:solidFill>
                <a:schemeClr val="bg1"/>
              </a:solidFill>
              <a:latin typeface="+mj-lt"/>
              <a:cs typeface="Arial" pitchFamily="34" charset="0"/>
            </a:endParaRPr>
          </a:p>
        </p:txBody>
      </p:sp>
      <p:sp>
        <p:nvSpPr>
          <p:cNvPr id="5" name="그림 개체 틀 4">
            <a:extLst>
              <a:ext uri="{FF2B5EF4-FFF2-40B4-BE49-F238E27FC236}">
                <a16:creationId xmlns:a16="http://schemas.microsoft.com/office/drawing/2014/main" xmlns="" id="{5E9D2E2D-36E6-460B-B2E6-9B3BF0EF6074}"/>
              </a:ext>
            </a:extLst>
          </p:cNvPr>
          <p:cNvSpPr>
            <a:spLocks noGrp="1"/>
          </p:cNvSpPr>
          <p:nvPr>
            <p:ph type="pic" idx="21"/>
          </p:nvPr>
        </p:nvSpPr>
        <p:spPr>
          <a:solidFill>
            <a:schemeClr val="bg1"/>
          </a:solidFill>
        </p:spPr>
      </p:sp>
      <p:sp>
        <p:nvSpPr>
          <p:cNvPr id="9" name="그림 개체 틀 8">
            <a:extLst>
              <a:ext uri="{FF2B5EF4-FFF2-40B4-BE49-F238E27FC236}">
                <a16:creationId xmlns:a16="http://schemas.microsoft.com/office/drawing/2014/main" xmlns="" id="{FC01822E-DC72-472E-BAF0-9CCBB8D77A9C}"/>
              </a:ext>
            </a:extLst>
          </p:cNvPr>
          <p:cNvSpPr>
            <a:spLocks noGrp="1"/>
          </p:cNvSpPr>
          <p:nvPr>
            <p:ph type="pic" idx="19"/>
          </p:nvPr>
        </p:nvSpPr>
        <p:spPr>
          <a:solidFill>
            <a:schemeClr val="bg1"/>
          </a:solidFill>
        </p:spPr>
      </p:sp>
      <p:pic>
        <p:nvPicPr>
          <p:cNvPr id="13" name="Picture Placeholder 12"/>
          <p:cNvPicPr>
            <a:picLocks noGrp="1" noChangeAspect="1"/>
          </p:cNvPicPr>
          <p:nvPr>
            <p:ph type="pic" idx="20"/>
          </p:nvPr>
        </p:nvPicPr>
        <p:blipFill>
          <a:blip r:embed="rId2" cstate="print">
            <a:extLst>
              <a:ext uri="{28A0092B-C50C-407E-A947-70E740481C1C}">
                <a14:useLocalDpi xmlns:a14="http://schemas.microsoft.com/office/drawing/2010/main" val="0"/>
              </a:ext>
            </a:extLst>
          </a:blip>
          <a:srcRect l="16313" r="16313"/>
          <a:stretch>
            <a:fillRect/>
          </a:stretch>
        </p:blipFill>
        <p:spPr/>
      </p:pic>
    </p:spTree>
    <p:extLst>
      <p:ext uri="{BB962C8B-B14F-4D97-AF65-F5344CB8AC3E}">
        <p14:creationId xmlns:p14="http://schemas.microsoft.com/office/powerpoint/2010/main" val="47738142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2283718"/>
            <a:ext cx="9144000" cy="2859782"/>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359532" y="547232"/>
            <a:ext cx="8424936" cy="1969770"/>
          </a:xfrm>
          <a:prstGeom prst="rect">
            <a:avLst/>
          </a:prstGeom>
          <a:noFill/>
        </p:spPr>
        <p:txBody>
          <a:bodyPr wrap="square" rtlCol="0">
            <a:spAutoFit/>
          </a:bodyPr>
          <a:lstStyle/>
          <a:p>
            <a:r>
              <a:rPr lang="en-US" sz="3200" b="1" cap="all" dirty="0">
                <a:solidFill>
                  <a:schemeClr val="bg1"/>
                </a:solidFill>
              </a:rPr>
              <a:t>SUPPORT </a:t>
            </a:r>
            <a:r>
              <a:rPr lang="en-US" sz="3200" b="1" cap="all" dirty="0" smtClean="0">
                <a:solidFill>
                  <a:schemeClr val="bg1"/>
                </a:solidFill>
              </a:rPr>
              <a:t>EQUALITY</a:t>
            </a:r>
          </a:p>
          <a:p>
            <a:pPr algn="justLow"/>
            <a:r>
              <a:rPr lang="en-US" dirty="0" smtClean="0"/>
              <a:t>Providing </a:t>
            </a:r>
            <a:r>
              <a:rPr lang="en-US" dirty="0"/>
              <a:t>a safe and supportive environment is one of the key activities of corporate social responsibility, so ensuring that your business is fair to everyone regardless of age, sex, or race is crucial.</a:t>
            </a:r>
          </a:p>
          <a:p>
            <a:endParaRPr lang="en-US" dirty="0"/>
          </a:p>
          <a:p>
            <a:endParaRPr lang="en-US" dirty="0"/>
          </a:p>
        </p:txBody>
      </p:sp>
      <p:sp>
        <p:nvSpPr>
          <p:cNvPr id="3" name="TextBox 2"/>
          <p:cNvSpPr txBox="1"/>
          <p:nvPr/>
        </p:nvSpPr>
        <p:spPr>
          <a:xfrm>
            <a:off x="323528" y="2591489"/>
            <a:ext cx="8388932" cy="3508653"/>
          </a:xfrm>
          <a:prstGeom prst="rect">
            <a:avLst/>
          </a:prstGeom>
          <a:noFill/>
        </p:spPr>
        <p:txBody>
          <a:bodyPr wrap="square" rtlCol="0">
            <a:spAutoFit/>
          </a:bodyPr>
          <a:lstStyle/>
          <a:p>
            <a:r>
              <a:rPr lang="en-US" sz="2400" b="1" cap="all" dirty="0">
                <a:solidFill>
                  <a:schemeClr val="bg1"/>
                </a:solidFill>
              </a:rPr>
              <a:t>CONNECT WITH THE COMMUNITY</a:t>
            </a:r>
          </a:p>
          <a:p>
            <a:pPr fontAlgn="base"/>
            <a:endParaRPr lang="en-US" dirty="0"/>
          </a:p>
          <a:p>
            <a:pPr fontAlgn="base"/>
            <a:r>
              <a:rPr lang="en-US" dirty="0"/>
              <a:t>There are several ways that you can help:</a:t>
            </a:r>
          </a:p>
          <a:p>
            <a:pPr lvl="0" fontAlgn="base"/>
            <a:r>
              <a:rPr lang="en-US" dirty="0" smtClean="0"/>
              <a:t>Take </a:t>
            </a:r>
            <a:r>
              <a:rPr lang="en-US" dirty="0"/>
              <a:t>part in volunteering days – even if it’s once a month.</a:t>
            </a:r>
          </a:p>
          <a:p>
            <a:pPr lvl="0" fontAlgn="base"/>
            <a:r>
              <a:rPr lang="en-US" dirty="0"/>
              <a:t>Hold a fundraising event to raise money – this can be great PR for both you and the organization.</a:t>
            </a:r>
          </a:p>
          <a:p>
            <a:pPr lvl="0" fontAlgn="base"/>
            <a:r>
              <a:rPr lang="en-US" dirty="0"/>
              <a:t>Dedicate a percentage of your profits that go directly toward the charity every month.</a:t>
            </a:r>
          </a:p>
          <a:p>
            <a:endParaRPr lang="en-US" b="1" dirty="0"/>
          </a:p>
          <a:p>
            <a:endParaRPr lang="en-US" dirty="0"/>
          </a:p>
          <a:p>
            <a:endParaRPr lang="en-US" dirty="0"/>
          </a:p>
          <a:p>
            <a:endParaRPr lang="en-US" dirty="0"/>
          </a:p>
        </p:txBody>
      </p:sp>
    </p:spTree>
    <p:extLst>
      <p:ext uri="{BB962C8B-B14F-4D97-AF65-F5344CB8AC3E}">
        <p14:creationId xmlns:p14="http://schemas.microsoft.com/office/powerpoint/2010/main" val="4179502357"/>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299942"/>
            <a:ext cx="9144000" cy="843558"/>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359532" y="547232"/>
            <a:ext cx="8424936" cy="4031873"/>
          </a:xfrm>
          <a:prstGeom prst="rect">
            <a:avLst/>
          </a:prstGeom>
          <a:noFill/>
        </p:spPr>
        <p:txBody>
          <a:bodyPr wrap="square" rtlCol="0">
            <a:spAutoFit/>
          </a:bodyPr>
          <a:lstStyle/>
          <a:p>
            <a:pPr fontAlgn="base"/>
            <a:r>
              <a:rPr lang="en-US" sz="2800" b="1" cap="all" dirty="0">
                <a:solidFill>
                  <a:schemeClr val="bg1"/>
                </a:solidFill>
              </a:rPr>
              <a:t>BUILD ETHICAL </a:t>
            </a:r>
            <a:r>
              <a:rPr lang="en-US" sz="2800" b="1" cap="all" dirty="0" smtClean="0">
                <a:solidFill>
                  <a:schemeClr val="bg1"/>
                </a:solidFill>
              </a:rPr>
              <a:t>NETWORKS</a:t>
            </a:r>
          </a:p>
          <a:p>
            <a:pPr fontAlgn="base"/>
            <a:endParaRPr lang="en-US" sz="2800" b="1" dirty="0">
              <a:solidFill>
                <a:schemeClr val="bg1"/>
              </a:solidFill>
            </a:endParaRPr>
          </a:p>
          <a:p>
            <a:pPr fontAlgn="base"/>
            <a:r>
              <a:rPr lang="en-US" sz="2000" dirty="0"/>
              <a:t>With the strain our natural resources and environment are under in order to meet the needs of manufacturing for a growing population, it’s important to your CSR to only work with ethical suppliers who are environmentally sustainable. This means aligning yourself with partners and other businesses who share the same corporate social responsibility views so you can honestly share where your products are coming from with the public. You don’t want to get down the line and realize that you are losing customers, all because the items used to make your products are sourced unethically. </a:t>
            </a:r>
          </a:p>
          <a:p>
            <a:endParaRPr lang="en-US" sz="2000" dirty="0"/>
          </a:p>
        </p:txBody>
      </p:sp>
    </p:spTree>
    <p:extLst>
      <p:ext uri="{BB962C8B-B14F-4D97-AF65-F5344CB8AC3E}">
        <p14:creationId xmlns:p14="http://schemas.microsoft.com/office/powerpoint/2010/main" val="41440752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299942"/>
            <a:ext cx="9144000" cy="843558"/>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359532" y="547232"/>
            <a:ext cx="8424936" cy="3600986"/>
          </a:xfrm>
          <a:prstGeom prst="rect">
            <a:avLst/>
          </a:prstGeom>
          <a:noFill/>
        </p:spPr>
        <p:txBody>
          <a:bodyPr wrap="square" rtlCol="0">
            <a:spAutoFit/>
          </a:bodyPr>
          <a:lstStyle/>
          <a:p>
            <a:pPr fontAlgn="base"/>
            <a:r>
              <a:rPr lang="en-US" sz="2400" b="1" cap="all" dirty="0">
                <a:solidFill>
                  <a:schemeClr val="bg1"/>
                </a:solidFill>
              </a:rPr>
              <a:t>USE A SUSTAINABLE </a:t>
            </a:r>
            <a:r>
              <a:rPr lang="en-US" sz="2400" b="1" cap="all" dirty="0" smtClean="0">
                <a:solidFill>
                  <a:schemeClr val="bg1"/>
                </a:solidFill>
              </a:rPr>
              <a:t>WORKSPACE</a:t>
            </a:r>
          </a:p>
          <a:p>
            <a:pPr fontAlgn="base"/>
            <a:endParaRPr lang="en-US" sz="2400" dirty="0">
              <a:solidFill>
                <a:schemeClr val="bg1"/>
              </a:solidFill>
            </a:endParaRPr>
          </a:p>
          <a:p>
            <a:pPr fontAlgn="base"/>
            <a:r>
              <a:rPr lang="en-US" sz="2000" dirty="0"/>
              <a:t>Having a sustainable workspace for your startup goes beyond adding a </a:t>
            </a:r>
            <a:r>
              <a:rPr lang="en-US" sz="2000" i="1" dirty="0"/>
              <a:t>few plants</a:t>
            </a:r>
            <a:r>
              <a:rPr lang="en-US" sz="2000" dirty="0"/>
              <a:t> to make a green office, you need to think about the overall environmental impact. Also, how the office is designed can be a big factor in the overall health and productivity of your staff. </a:t>
            </a:r>
          </a:p>
          <a:p>
            <a:pPr fontAlgn="base"/>
            <a:r>
              <a:rPr lang="en-US" sz="2000" dirty="0"/>
              <a:t>Rather than renting out an office space that could be a waste of valuable resources, a </a:t>
            </a:r>
            <a:r>
              <a:rPr lang="en-US" sz="2000" dirty="0" err="1"/>
              <a:t>coworking</a:t>
            </a:r>
            <a:r>
              <a:rPr lang="en-US" sz="2000" dirty="0"/>
              <a:t> space like Garage Society is a great solution. Not only are the workspaces set up in a sustainable way, they also promote creativity and collaboration.</a:t>
            </a:r>
          </a:p>
          <a:p>
            <a:endParaRPr lang="en-US" sz="2000" dirty="0"/>
          </a:p>
        </p:txBody>
      </p:sp>
    </p:spTree>
    <p:extLst>
      <p:ext uri="{BB962C8B-B14F-4D97-AF65-F5344CB8AC3E}">
        <p14:creationId xmlns:p14="http://schemas.microsoft.com/office/powerpoint/2010/main" val="278931928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4299942"/>
            <a:ext cx="9144000" cy="843558"/>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359532" y="547232"/>
            <a:ext cx="8424936" cy="3600986"/>
          </a:xfrm>
          <a:prstGeom prst="rect">
            <a:avLst/>
          </a:prstGeom>
          <a:noFill/>
        </p:spPr>
        <p:txBody>
          <a:bodyPr wrap="square" rtlCol="0">
            <a:spAutoFit/>
          </a:bodyPr>
          <a:lstStyle/>
          <a:p>
            <a:pPr fontAlgn="base"/>
            <a:r>
              <a:rPr lang="en-US" sz="2400" b="1" cap="all" dirty="0">
                <a:solidFill>
                  <a:schemeClr val="bg1"/>
                </a:solidFill>
              </a:rPr>
              <a:t>USE A SUSTAINABLE </a:t>
            </a:r>
            <a:r>
              <a:rPr lang="en-US" sz="2400" b="1" cap="all" dirty="0" smtClean="0">
                <a:solidFill>
                  <a:schemeClr val="bg1"/>
                </a:solidFill>
              </a:rPr>
              <a:t>WORKSPACE</a:t>
            </a:r>
          </a:p>
          <a:p>
            <a:pPr fontAlgn="base"/>
            <a:endParaRPr lang="en-US" sz="2400" dirty="0">
              <a:solidFill>
                <a:schemeClr val="bg1"/>
              </a:solidFill>
            </a:endParaRPr>
          </a:p>
          <a:p>
            <a:pPr fontAlgn="base"/>
            <a:r>
              <a:rPr lang="en-US" sz="2000" dirty="0"/>
              <a:t>Having a sustainable workspace for your startup goes beyond adding a </a:t>
            </a:r>
            <a:r>
              <a:rPr lang="en-US" sz="2000" i="1" dirty="0"/>
              <a:t>few plants</a:t>
            </a:r>
            <a:r>
              <a:rPr lang="en-US" sz="2000" dirty="0"/>
              <a:t> to make a green office, you need to think about the overall environmental impact. Also, how the office is designed can be a big factor in the overall health and productivity of your staff. </a:t>
            </a:r>
          </a:p>
          <a:p>
            <a:pPr fontAlgn="base"/>
            <a:r>
              <a:rPr lang="en-US" sz="2000" dirty="0"/>
              <a:t>Rather than renting out an office space that could be a waste of valuable resources, a </a:t>
            </a:r>
            <a:r>
              <a:rPr lang="en-US" sz="2000" dirty="0" err="1"/>
              <a:t>coworking</a:t>
            </a:r>
            <a:r>
              <a:rPr lang="en-US" sz="2000" dirty="0"/>
              <a:t> space like Garage Society is a great solution. Not only are the workspaces set up in a sustainable way, they also promote creativity and collaboration.</a:t>
            </a:r>
          </a:p>
          <a:p>
            <a:endParaRPr lang="en-US" sz="2000" dirty="0"/>
          </a:p>
        </p:txBody>
      </p:sp>
    </p:spTree>
    <p:extLst>
      <p:ext uri="{BB962C8B-B14F-4D97-AF65-F5344CB8AC3E}">
        <p14:creationId xmlns:p14="http://schemas.microsoft.com/office/powerpoint/2010/main" val="458145152"/>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Same Side Corner Rectangle 3"/>
          <p:cNvSpPr/>
          <p:nvPr/>
        </p:nvSpPr>
        <p:spPr>
          <a:xfrm>
            <a:off x="4788024" y="3795885"/>
            <a:ext cx="3888432" cy="1347614"/>
          </a:xfrm>
          <a:prstGeom prst="snip2Same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5004048" y="3931083"/>
            <a:ext cx="3456384" cy="1077218"/>
          </a:xfrm>
          <a:prstGeom prst="rect">
            <a:avLst/>
          </a:prstGeom>
          <a:noFill/>
        </p:spPr>
        <p:txBody>
          <a:bodyPr wrap="square" rtlCol="0">
            <a:spAutoFit/>
          </a:bodyPr>
          <a:lstStyle/>
          <a:p>
            <a:pPr algn="ctr"/>
            <a:r>
              <a:rPr lang="en-US" sz="3200" b="1" dirty="0"/>
              <a:t>Responsibility to the Environment</a:t>
            </a:r>
            <a:endParaRPr lang="en-US" sz="3200" dirty="0">
              <a:solidFill>
                <a:srgbClr val="53D2FF"/>
              </a:solidFill>
            </a:endParaRPr>
          </a:p>
        </p:txBody>
      </p:sp>
    </p:spTree>
    <p:extLst>
      <p:ext uri="{BB962C8B-B14F-4D97-AF65-F5344CB8AC3E}">
        <p14:creationId xmlns:p14="http://schemas.microsoft.com/office/powerpoint/2010/main" val="299580268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51520" y="499482"/>
            <a:ext cx="8640960" cy="4016484"/>
          </a:xfrm>
          <a:prstGeom prst="rect">
            <a:avLst/>
          </a:prstGeom>
          <a:noFill/>
        </p:spPr>
        <p:txBody>
          <a:bodyPr wrap="square" rtlCol="0">
            <a:spAutoFit/>
          </a:bodyPr>
          <a:lstStyle/>
          <a:p>
            <a:pPr marL="285750" indent="-285750">
              <a:buFont typeface="Arial" panose="020B0604020202020204" pitchFamily="34" charset="0"/>
              <a:buChar char="•"/>
            </a:pPr>
            <a:r>
              <a:rPr lang="en-US" sz="1500" b="1" dirty="0" smtClean="0">
                <a:solidFill>
                  <a:schemeClr val="bg1"/>
                </a:solidFill>
              </a:rPr>
              <a:t>Sustainable </a:t>
            </a:r>
            <a:r>
              <a:rPr lang="en-US" sz="1500" b="1" dirty="0">
                <a:solidFill>
                  <a:schemeClr val="bg1"/>
                </a:solidFill>
              </a:rPr>
              <a:t>Design. </a:t>
            </a:r>
            <a:r>
              <a:rPr lang="en-US" sz="1500" dirty="0">
                <a:solidFill>
                  <a:schemeClr val="bg1"/>
                </a:solidFill>
              </a:rPr>
              <a:t>Traditionally, products were made and used without much thought for their long-term impact on people or the planet. In contrast, design that is sustainable meets the planet’s current needs while preserving resources for future generations. </a:t>
            </a:r>
            <a:endParaRPr lang="en-US" sz="1500" dirty="0" smtClean="0">
              <a:solidFill>
                <a:schemeClr val="bg1"/>
              </a:solidFill>
            </a:endParaRPr>
          </a:p>
          <a:p>
            <a:pPr marL="285750" indent="-285750">
              <a:buFont typeface="Arial" panose="020B0604020202020204" pitchFamily="34" charset="0"/>
              <a:buChar char="•"/>
            </a:pPr>
            <a:endParaRPr lang="en-US" sz="1500" dirty="0">
              <a:solidFill>
                <a:schemeClr val="bg1"/>
              </a:solidFill>
            </a:endParaRPr>
          </a:p>
          <a:p>
            <a:pPr marL="285750" indent="-285750">
              <a:buFont typeface="Arial" panose="020B0604020202020204" pitchFamily="34" charset="0"/>
              <a:buChar char="•"/>
            </a:pPr>
            <a:r>
              <a:rPr lang="en-US" sz="1500" b="1" dirty="0" smtClean="0">
                <a:solidFill>
                  <a:schemeClr val="bg1"/>
                </a:solidFill>
              </a:rPr>
              <a:t>Alternative </a:t>
            </a:r>
            <a:r>
              <a:rPr lang="en-US" sz="1500" b="1" dirty="0">
                <a:solidFill>
                  <a:schemeClr val="bg1"/>
                </a:solidFill>
              </a:rPr>
              <a:t>Energy. </a:t>
            </a:r>
            <a:r>
              <a:rPr lang="en-US" sz="1500" dirty="0">
                <a:solidFill>
                  <a:schemeClr val="bg1"/>
                </a:solidFill>
              </a:rPr>
              <a:t>Researchers are working to make alternatives to oil and coal—such as solar, wind, and hydrogen power—more efficient. They’re testing newer forms of biofuels extracted from corn, sugar cane, and even vegetable oil left over from frying </a:t>
            </a:r>
            <a:r>
              <a:rPr lang="en-US" sz="1500" dirty="0" smtClean="0">
                <a:solidFill>
                  <a:schemeClr val="bg1"/>
                </a:solidFill>
              </a:rPr>
              <a:t>foods</a:t>
            </a:r>
          </a:p>
          <a:p>
            <a:pPr marL="285750" indent="-285750">
              <a:buFont typeface="Arial" panose="020B0604020202020204" pitchFamily="34" charset="0"/>
              <a:buChar char="•"/>
            </a:pPr>
            <a:endParaRPr lang="en-US" sz="1500" dirty="0">
              <a:solidFill>
                <a:schemeClr val="bg1"/>
              </a:solidFill>
            </a:endParaRPr>
          </a:p>
          <a:p>
            <a:pPr marL="285750" indent="-285750">
              <a:buFont typeface="Arial" panose="020B0604020202020204" pitchFamily="34" charset="0"/>
              <a:buChar char="•"/>
            </a:pPr>
            <a:r>
              <a:rPr lang="en-US" sz="1500" b="1" dirty="0" smtClean="0">
                <a:solidFill>
                  <a:schemeClr val="bg1"/>
                </a:solidFill>
              </a:rPr>
              <a:t>Organics</a:t>
            </a:r>
            <a:r>
              <a:rPr lang="en-US" sz="1500" b="1" dirty="0">
                <a:solidFill>
                  <a:schemeClr val="bg1"/>
                </a:solidFill>
              </a:rPr>
              <a:t>. </a:t>
            </a:r>
            <a:r>
              <a:rPr lang="en-US" sz="1500" dirty="0">
                <a:solidFill>
                  <a:schemeClr val="bg1"/>
                </a:solidFill>
              </a:rPr>
              <a:t>Concerns about personal health, as well as the environment, have increased interest in organic products, those made from crops and animals that are raised without manufactured chemicals. Organic produce, grains, and meats make up a small but steadily growing segment of the food </a:t>
            </a:r>
            <a:r>
              <a:rPr lang="en-US" sz="1500" dirty="0" smtClean="0">
                <a:solidFill>
                  <a:schemeClr val="bg1"/>
                </a:solidFill>
              </a:rPr>
              <a:t>market</a:t>
            </a:r>
          </a:p>
          <a:p>
            <a:pPr marL="285750" indent="-285750">
              <a:buFont typeface="Arial" panose="020B0604020202020204" pitchFamily="34" charset="0"/>
              <a:buChar char="•"/>
            </a:pPr>
            <a:endParaRPr lang="en-US" sz="1500" dirty="0">
              <a:solidFill>
                <a:schemeClr val="bg1"/>
              </a:solidFill>
            </a:endParaRPr>
          </a:p>
          <a:p>
            <a:pPr marL="285750" indent="-285750">
              <a:buFont typeface="Arial" panose="020B0604020202020204" pitchFamily="34" charset="0"/>
              <a:buChar char="•"/>
            </a:pPr>
            <a:r>
              <a:rPr lang="en-US" sz="1500" b="1" dirty="0" smtClean="0">
                <a:solidFill>
                  <a:schemeClr val="bg1"/>
                </a:solidFill>
              </a:rPr>
              <a:t>Fair </a:t>
            </a:r>
            <a:r>
              <a:rPr lang="en-US" sz="1500" b="1" dirty="0">
                <a:solidFill>
                  <a:schemeClr val="bg1"/>
                </a:solidFill>
              </a:rPr>
              <a:t>Trade. </a:t>
            </a:r>
            <a:r>
              <a:rPr lang="en-US" sz="1500" dirty="0">
                <a:solidFill>
                  <a:schemeClr val="bg1"/>
                </a:solidFill>
              </a:rPr>
              <a:t>As you learned in Chapter 2, fair trade is a way of doing business that is based on principles of social and environmental responsibility and promoting sustainable growth. Most producers involved in fair trade are small farmers and skilled crafters in developing countries. These micro entrepreneurs form cooperatives to set prices and product standards</a:t>
            </a:r>
          </a:p>
        </p:txBody>
      </p:sp>
    </p:spTree>
    <p:extLst>
      <p:ext uri="{BB962C8B-B14F-4D97-AF65-F5344CB8AC3E}">
        <p14:creationId xmlns:p14="http://schemas.microsoft.com/office/powerpoint/2010/main" val="74261773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nip Same Side Corner Rectangle 3"/>
          <p:cNvSpPr/>
          <p:nvPr/>
        </p:nvSpPr>
        <p:spPr>
          <a:xfrm>
            <a:off x="4788024" y="3795885"/>
            <a:ext cx="3888432" cy="1347614"/>
          </a:xfrm>
          <a:prstGeom prst="snip2Same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5" name="TextBox 4"/>
          <p:cNvSpPr txBox="1"/>
          <p:nvPr/>
        </p:nvSpPr>
        <p:spPr>
          <a:xfrm>
            <a:off x="4644008" y="3931083"/>
            <a:ext cx="4032448" cy="954107"/>
          </a:xfrm>
          <a:prstGeom prst="rect">
            <a:avLst/>
          </a:prstGeom>
          <a:noFill/>
        </p:spPr>
        <p:txBody>
          <a:bodyPr wrap="square" rtlCol="0">
            <a:spAutoFit/>
          </a:bodyPr>
          <a:lstStyle/>
          <a:p>
            <a:pPr algn="ctr"/>
            <a:r>
              <a:rPr lang="en-US" sz="2800" b="1" dirty="0"/>
              <a:t>The </a:t>
            </a:r>
            <a:r>
              <a:rPr lang="en-US" sz="2800" b="1" dirty="0" smtClean="0"/>
              <a:t>Energy-</a:t>
            </a:r>
          </a:p>
          <a:p>
            <a:pPr algn="ctr"/>
            <a:r>
              <a:rPr lang="en-US" sz="2800" b="1" dirty="0" smtClean="0"/>
              <a:t>Efficient </a:t>
            </a:r>
            <a:r>
              <a:rPr lang="en-US" sz="2800" b="1" dirty="0"/>
              <a:t>Workplace</a:t>
            </a:r>
            <a:endParaRPr lang="en-US" sz="2800" dirty="0">
              <a:solidFill>
                <a:srgbClr val="53D2FF"/>
              </a:solidFill>
            </a:endParaRPr>
          </a:p>
        </p:txBody>
      </p:sp>
    </p:spTree>
    <p:extLst>
      <p:ext uri="{BB962C8B-B14F-4D97-AF65-F5344CB8AC3E}">
        <p14:creationId xmlns:p14="http://schemas.microsoft.com/office/powerpoint/2010/main" val="59316618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411510"/>
            <a:ext cx="8784976" cy="4478149"/>
          </a:xfrm>
          <a:prstGeom prst="rect">
            <a:avLst/>
          </a:prstGeom>
        </p:spPr>
        <p:txBody>
          <a:bodyPr wrap="square">
            <a:spAutoFit/>
          </a:bodyPr>
          <a:lstStyle/>
          <a:p>
            <a:r>
              <a:rPr lang="en-US" sz="1500" dirty="0">
                <a:solidFill>
                  <a:schemeClr val="bg1"/>
                </a:solidFill>
              </a:rPr>
              <a:t>Here are five ways that a business can lower its expenses, while also helping the environment</a:t>
            </a:r>
            <a:r>
              <a:rPr lang="en-US" sz="1500" dirty="0" smtClean="0">
                <a:solidFill>
                  <a:schemeClr val="bg1"/>
                </a:solidFill>
              </a:rPr>
              <a:t>:</a:t>
            </a:r>
          </a:p>
          <a:p>
            <a:endParaRPr lang="en-US" sz="1500" dirty="0">
              <a:solidFill>
                <a:schemeClr val="bg1"/>
              </a:solidFill>
            </a:endParaRPr>
          </a:p>
          <a:p>
            <a:r>
              <a:rPr lang="en-US" sz="1500" dirty="0" smtClean="0">
                <a:solidFill>
                  <a:schemeClr val="bg1"/>
                </a:solidFill>
              </a:rPr>
              <a:t>- </a:t>
            </a:r>
            <a:r>
              <a:rPr lang="en-US" sz="1500" b="1" dirty="0">
                <a:solidFill>
                  <a:schemeClr val="bg1"/>
                </a:solidFill>
              </a:rPr>
              <a:t>Get into the recycling loop. </a:t>
            </a:r>
            <a:r>
              <a:rPr lang="en-US" sz="1500" dirty="0">
                <a:solidFill>
                  <a:schemeClr val="bg1"/>
                </a:solidFill>
              </a:rPr>
              <a:t>First, recycle everything your community has facilities for. Most localities have paper and plastic recycling programs. Your community also might have businesses that recondition older computers and other office equipment. </a:t>
            </a:r>
            <a:endParaRPr lang="en-US" sz="1500" dirty="0" smtClean="0">
              <a:solidFill>
                <a:schemeClr val="bg1"/>
              </a:solidFill>
            </a:endParaRPr>
          </a:p>
          <a:p>
            <a:endParaRPr lang="en-US" sz="1500" dirty="0">
              <a:solidFill>
                <a:schemeClr val="bg1"/>
              </a:solidFill>
            </a:endParaRPr>
          </a:p>
          <a:p>
            <a:r>
              <a:rPr lang="en-US" sz="1500" dirty="0" smtClean="0">
                <a:solidFill>
                  <a:schemeClr val="bg1"/>
                </a:solidFill>
              </a:rPr>
              <a:t>-  </a:t>
            </a:r>
            <a:r>
              <a:rPr lang="en-US" sz="1500" b="1" dirty="0">
                <a:solidFill>
                  <a:schemeClr val="bg1"/>
                </a:solidFill>
              </a:rPr>
              <a:t>Do business electronically. </a:t>
            </a:r>
            <a:r>
              <a:rPr lang="en-US" sz="1500" dirty="0">
                <a:solidFill>
                  <a:schemeClr val="bg1"/>
                </a:solidFill>
              </a:rPr>
              <a:t>Reduce paper as much as possible. Take advantage of vendors’ toll-free telephone numbers and Websites to place orders. If you send out newsletters to regular customers, encourage them to take an e-mail version instead of paper</a:t>
            </a:r>
            <a:r>
              <a:rPr lang="en-US" sz="1500" dirty="0" smtClean="0">
                <a:solidFill>
                  <a:schemeClr val="bg1"/>
                </a:solidFill>
              </a:rPr>
              <a:t>.</a:t>
            </a:r>
          </a:p>
          <a:p>
            <a:endParaRPr lang="en-US" sz="1500" dirty="0">
              <a:solidFill>
                <a:schemeClr val="bg1"/>
              </a:solidFill>
            </a:endParaRPr>
          </a:p>
          <a:p>
            <a:r>
              <a:rPr lang="en-US" sz="1500" dirty="0" smtClean="0">
                <a:solidFill>
                  <a:schemeClr val="bg1"/>
                </a:solidFill>
              </a:rPr>
              <a:t>-  </a:t>
            </a:r>
            <a:r>
              <a:rPr lang="en-US" sz="1500" b="1" dirty="0">
                <a:solidFill>
                  <a:schemeClr val="bg1"/>
                </a:solidFill>
              </a:rPr>
              <a:t>Buy supplies in bulk. </a:t>
            </a:r>
            <a:r>
              <a:rPr lang="en-US" sz="1500" dirty="0">
                <a:solidFill>
                  <a:schemeClr val="bg1"/>
                </a:solidFill>
              </a:rPr>
              <a:t>Items sold in large quantities usually cost less per piece and may use less packaging</a:t>
            </a:r>
            <a:r>
              <a:rPr lang="en-US" sz="1500" dirty="0" smtClean="0">
                <a:solidFill>
                  <a:schemeClr val="bg1"/>
                </a:solidFill>
              </a:rPr>
              <a:t>.</a:t>
            </a:r>
          </a:p>
          <a:p>
            <a:endParaRPr lang="en-US" sz="1500" dirty="0">
              <a:solidFill>
                <a:schemeClr val="bg1"/>
              </a:solidFill>
            </a:endParaRPr>
          </a:p>
          <a:p>
            <a:r>
              <a:rPr lang="en-US" sz="1500" dirty="0" smtClean="0">
                <a:solidFill>
                  <a:schemeClr val="bg1"/>
                </a:solidFill>
              </a:rPr>
              <a:t>-  </a:t>
            </a:r>
            <a:r>
              <a:rPr lang="en-US" sz="1500" b="1" dirty="0">
                <a:solidFill>
                  <a:schemeClr val="bg1"/>
                </a:solidFill>
              </a:rPr>
              <a:t>Replace incandescent light bulbs with fluorescent ones. </a:t>
            </a:r>
            <a:r>
              <a:rPr lang="en-US" sz="1500" dirty="0">
                <a:solidFill>
                  <a:schemeClr val="bg1"/>
                </a:solidFill>
              </a:rPr>
              <a:t>Compact fluorescent light bulbs have a longer life and greater efficiency and will save money in the long run</a:t>
            </a:r>
            <a:r>
              <a:rPr lang="en-US" sz="1500" dirty="0" smtClean="0">
                <a:solidFill>
                  <a:schemeClr val="bg1"/>
                </a:solidFill>
              </a:rPr>
              <a:t>.</a:t>
            </a:r>
          </a:p>
          <a:p>
            <a:endParaRPr lang="en-US" sz="1500" dirty="0">
              <a:solidFill>
                <a:schemeClr val="bg1"/>
              </a:solidFill>
            </a:endParaRPr>
          </a:p>
          <a:p>
            <a:r>
              <a:rPr lang="en-US" sz="1500" dirty="0" smtClean="0">
                <a:solidFill>
                  <a:schemeClr val="bg1"/>
                </a:solidFill>
              </a:rPr>
              <a:t>-  </a:t>
            </a:r>
            <a:r>
              <a:rPr lang="en-US" sz="1500" b="1" dirty="0">
                <a:solidFill>
                  <a:schemeClr val="bg1"/>
                </a:solidFill>
              </a:rPr>
              <a:t>Use environmentally friendly transportation. </a:t>
            </a:r>
            <a:r>
              <a:rPr lang="en-US" sz="1500" dirty="0">
                <a:solidFill>
                  <a:schemeClr val="bg1"/>
                </a:solidFill>
              </a:rPr>
              <a:t>You might adjust schedules or business hours to take advantage of carpooling or public transportation. Offer employees low-cost incentives, such as a gift card from a bicycle shop for those who ride to work. </a:t>
            </a:r>
          </a:p>
        </p:txBody>
      </p:sp>
    </p:spTree>
    <p:extLst>
      <p:ext uri="{BB962C8B-B14F-4D97-AF65-F5344CB8AC3E}">
        <p14:creationId xmlns:p14="http://schemas.microsoft.com/office/powerpoint/2010/main" val="365840581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3"/>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5211" r="5211"/>
          <a:stretch>
            <a:fillRect/>
          </a:stretch>
        </p:blipFill>
        <p:spPr/>
      </p:pic>
      <p:sp>
        <p:nvSpPr>
          <p:cNvPr id="6" name="Frame 5"/>
          <p:cNvSpPr/>
          <p:nvPr/>
        </p:nvSpPr>
        <p:spPr>
          <a:xfrm>
            <a:off x="197768" y="159481"/>
            <a:ext cx="4176464" cy="4824536"/>
          </a:xfrm>
          <a:prstGeom prst="frame">
            <a:avLst>
              <a:gd name="adj1" fmla="val 1002"/>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rgbClr val="FABEBF"/>
              </a:solidFill>
            </a:endParaRPr>
          </a:p>
        </p:txBody>
      </p:sp>
      <p:sp>
        <p:nvSpPr>
          <p:cNvPr id="10" name="TextBox 9"/>
          <p:cNvSpPr txBox="1"/>
          <p:nvPr/>
        </p:nvSpPr>
        <p:spPr>
          <a:xfrm>
            <a:off x="4716016" y="2077837"/>
            <a:ext cx="4208717" cy="1446550"/>
          </a:xfrm>
          <a:prstGeom prst="rect">
            <a:avLst/>
          </a:prstGeom>
          <a:noFill/>
        </p:spPr>
        <p:txBody>
          <a:bodyPr wrap="square" rtlCol="0">
            <a:spAutoFit/>
          </a:bodyPr>
          <a:lstStyle/>
          <a:p>
            <a:pPr algn="just"/>
            <a:r>
              <a:rPr lang="en-US" sz="4400" b="1" dirty="0">
                <a:solidFill>
                  <a:schemeClr val="bg1"/>
                </a:solidFill>
              </a:rPr>
              <a:t>Business </a:t>
            </a:r>
            <a:endParaRPr lang="en-US" sz="4400" b="1" dirty="0" smtClean="0">
              <a:solidFill>
                <a:schemeClr val="bg1"/>
              </a:solidFill>
            </a:endParaRPr>
          </a:p>
          <a:p>
            <a:pPr algn="just"/>
            <a:r>
              <a:rPr lang="en-US" sz="4400" b="1" dirty="0" smtClean="0">
                <a:solidFill>
                  <a:schemeClr val="bg1"/>
                </a:solidFill>
              </a:rPr>
              <a:t>Sustainability</a:t>
            </a:r>
            <a:endParaRPr lang="en-US" sz="4400" dirty="0">
              <a:solidFill>
                <a:schemeClr val="bg1"/>
              </a:solidFill>
            </a:endParaRPr>
          </a:p>
        </p:txBody>
      </p:sp>
    </p:spTree>
    <p:extLst>
      <p:ext uri="{BB962C8B-B14F-4D97-AF65-F5344CB8AC3E}">
        <p14:creationId xmlns:p14="http://schemas.microsoft.com/office/powerpoint/2010/main" val="373517520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6AB7739A-20F5-45FB-9E04-846B5BA600D4}"/>
              </a:ext>
            </a:extLst>
          </p:cNvPr>
          <p:cNvSpPr txBox="1">
            <a:spLocks/>
          </p:cNvSpPr>
          <p:nvPr/>
        </p:nvSpPr>
        <p:spPr>
          <a:xfrm>
            <a:off x="251520" y="339502"/>
            <a:ext cx="5976664" cy="1325563"/>
          </a:xfrm>
          <a:prstGeom prst="rect">
            <a:avLst/>
          </a:prstGeom>
        </p:spPr>
        <p:txBody>
          <a:bodyP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b="1" dirty="0" smtClean="0">
                <a:solidFill>
                  <a:schemeClr val="bg1"/>
                </a:solidFill>
              </a:rPr>
              <a:t>Develop a Small Business Sustainability Plan</a:t>
            </a:r>
            <a:endParaRPr lang="en-US" sz="3600" dirty="0">
              <a:solidFill>
                <a:schemeClr val="bg1"/>
              </a:solidFill>
            </a:endParaRPr>
          </a:p>
        </p:txBody>
      </p:sp>
      <p:sp>
        <p:nvSpPr>
          <p:cNvPr id="2" name="TextBox 1"/>
          <p:cNvSpPr txBox="1"/>
          <p:nvPr/>
        </p:nvSpPr>
        <p:spPr>
          <a:xfrm>
            <a:off x="251520" y="1665065"/>
            <a:ext cx="8496944" cy="1754326"/>
          </a:xfrm>
          <a:prstGeom prst="rect">
            <a:avLst/>
          </a:prstGeom>
          <a:noFill/>
        </p:spPr>
        <p:txBody>
          <a:bodyPr wrap="square" rtlCol="0">
            <a:spAutoFit/>
          </a:bodyPr>
          <a:lstStyle/>
          <a:p>
            <a:r>
              <a:rPr lang="en-US" dirty="0"/>
              <a:t>If you’re a small business owner, you may be wondering what you’ll gain by adopting a small business sustainability plan. In a word, plenty! Regardless of your industry, adopting sustainable business practices can improve your bottom line—in both the traditional and the environmental sense.</a:t>
            </a:r>
          </a:p>
          <a:p>
            <a:endParaRPr lang="en-US" dirty="0"/>
          </a:p>
          <a:p>
            <a:endParaRPr lang="en-US" dirty="0"/>
          </a:p>
        </p:txBody>
      </p:sp>
    </p:spTree>
    <p:extLst>
      <p:ext uri="{BB962C8B-B14F-4D97-AF65-F5344CB8AC3E}">
        <p14:creationId xmlns:p14="http://schemas.microsoft.com/office/powerpoint/2010/main" val="4112906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6AB7739A-20F5-45FB-9E04-846B5BA600D4}"/>
              </a:ext>
            </a:extLst>
          </p:cNvPr>
          <p:cNvSpPr txBox="1">
            <a:spLocks/>
          </p:cNvSpPr>
          <p:nvPr/>
        </p:nvSpPr>
        <p:spPr>
          <a:xfrm>
            <a:off x="251520" y="339502"/>
            <a:ext cx="5976664" cy="1325563"/>
          </a:xfrm>
          <a:prstGeom prst="rect">
            <a:avLst/>
          </a:prstGeom>
        </p:spPr>
        <p:txBody>
          <a:bodyP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rPr>
              <a:t>What Is a Business Sustainability Plan?</a:t>
            </a:r>
          </a:p>
        </p:txBody>
      </p:sp>
      <p:sp>
        <p:nvSpPr>
          <p:cNvPr id="2" name="TextBox 1"/>
          <p:cNvSpPr txBox="1"/>
          <p:nvPr/>
        </p:nvSpPr>
        <p:spPr>
          <a:xfrm>
            <a:off x="251520" y="1665065"/>
            <a:ext cx="8496944" cy="1477328"/>
          </a:xfrm>
          <a:prstGeom prst="rect">
            <a:avLst/>
          </a:prstGeom>
          <a:noFill/>
        </p:spPr>
        <p:txBody>
          <a:bodyPr wrap="square" rtlCol="0">
            <a:spAutoFit/>
          </a:bodyPr>
          <a:lstStyle/>
          <a:p>
            <a:pPr algn="justLow"/>
            <a:r>
              <a:rPr lang="en-US" dirty="0"/>
              <a:t>A business sustainability plan is simply something an organization develops to achieve goals that create financial, societal and environmental sustainability. A business impacts communities and resources, so taking these steps to sustainability is in the best interests of the environment, the business owner and the consumer.</a:t>
            </a:r>
          </a:p>
          <a:p>
            <a:pPr algn="justLow"/>
            <a:endParaRPr lang="en-US" dirty="0"/>
          </a:p>
        </p:txBody>
      </p:sp>
    </p:spTree>
    <p:extLst>
      <p:ext uri="{BB962C8B-B14F-4D97-AF65-F5344CB8AC3E}">
        <p14:creationId xmlns:p14="http://schemas.microsoft.com/office/powerpoint/2010/main" val="25444243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 xmlns:a16="http://schemas.microsoft.com/office/drawing/2014/main" id="{6AB7739A-20F5-45FB-9E04-846B5BA600D4}"/>
              </a:ext>
            </a:extLst>
          </p:cNvPr>
          <p:cNvSpPr txBox="1">
            <a:spLocks/>
          </p:cNvSpPr>
          <p:nvPr/>
        </p:nvSpPr>
        <p:spPr>
          <a:xfrm>
            <a:off x="251520" y="339502"/>
            <a:ext cx="5976664" cy="1325563"/>
          </a:xfrm>
          <a:prstGeom prst="rect">
            <a:avLst/>
          </a:prstGeom>
        </p:spPr>
        <p:txBody>
          <a:bodyPr/>
          <a:lstStyle>
            <a:lvl1pPr algn="ctr" defTabSz="914400" rtl="0" eaLnBrk="1" latinLnBrk="1" hangingPunct="1">
              <a:spcBef>
                <a:spcPct val="0"/>
              </a:spcBef>
              <a:buNone/>
              <a:defRPr sz="4400" kern="1200">
                <a:solidFill>
                  <a:schemeClr val="tx1"/>
                </a:solidFill>
                <a:latin typeface="+mj-lt"/>
                <a:ea typeface="+mj-ea"/>
                <a:cs typeface="+mj-cs"/>
              </a:defRPr>
            </a:lvl1pPr>
          </a:lstStyle>
          <a:p>
            <a:pPr algn="l"/>
            <a:r>
              <a:rPr lang="en-US" sz="3600" b="1" dirty="0">
                <a:solidFill>
                  <a:schemeClr val="bg1"/>
                </a:solidFill>
              </a:rPr>
              <a:t>Reasons to Build a Sustainable Business</a:t>
            </a:r>
          </a:p>
        </p:txBody>
      </p:sp>
      <p:sp>
        <p:nvSpPr>
          <p:cNvPr id="2" name="TextBox 1"/>
          <p:cNvSpPr txBox="1"/>
          <p:nvPr/>
        </p:nvSpPr>
        <p:spPr>
          <a:xfrm>
            <a:off x="251520" y="1665065"/>
            <a:ext cx="8496944" cy="923330"/>
          </a:xfrm>
          <a:prstGeom prst="rect">
            <a:avLst/>
          </a:prstGeom>
          <a:noFill/>
        </p:spPr>
        <p:txBody>
          <a:bodyPr wrap="square" rtlCol="0">
            <a:spAutoFit/>
          </a:bodyPr>
          <a:lstStyle/>
          <a:p>
            <a:r>
              <a:rPr lang="en-US" dirty="0"/>
              <a:t>Making the case for a sustainable business is simple: an environmentally friendly business can be a profitable one. You can decrease your business’s negative impact on the </a:t>
            </a:r>
          </a:p>
        </p:txBody>
      </p:sp>
    </p:spTree>
    <p:extLst>
      <p:ext uri="{BB962C8B-B14F-4D97-AF65-F5344CB8AC3E}">
        <p14:creationId xmlns:p14="http://schemas.microsoft.com/office/powerpoint/2010/main" val="84507166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268073" y="2499484"/>
            <a:ext cx="3602481" cy="954107"/>
          </a:xfrm>
          <a:prstGeom prst="rect">
            <a:avLst/>
          </a:prstGeom>
          <a:noFill/>
        </p:spPr>
        <p:txBody>
          <a:bodyPr wrap="square" rtlCol="0">
            <a:spAutoFit/>
          </a:bodyPr>
          <a:lstStyle/>
          <a:p>
            <a:r>
              <a:rPr lang="en-US" sz="2800" b="1" dirty="0"/>
              <a:t>Planning for </a:t>
            </a:r>
            <a:endParaRPr lang="en-US" sz="2800" b="1" dirty="0" smtClean="0"/>
          </a:p>
          <a:p>
            <a:r>
              <a:rPr lang="en-US" sz="2800" b="1" dirty="0" smtClean="0"/>
              <a:t>Business </a:t>
            </a:r>
            <a:r>
              <a:rPr lang="en-US" sz="2800" b="1" dirty="0"/>
              <a:t>Growth</a:t>
            </a:r>
          </a:p>
        </p:txBody>
      </p:sp>
      <p:sp>
        <p:nvSpPr>
          <p:cNvPr id="7" name="TextBox 6"/>
          <p:cNvSpPr txBox="1"/>
          <p:nvPr/>
        </p:nvSpPr>
        <p:spPr>
          <a:xfrm>
            <a:off x="3707904" y="2555485"/>
            <a:ext cx="5184576" cy="2339102"/>
          </a:xfrm>
          <a:prstGeom prst="rect">
            <a:avLst/>
          </a:prstGeom>
          <a:noFill/>
        </p:spPr>
        <p:txBody>
          <a:bodyPr wrap="square" rtlCol="0">
            <a:spAutoFit/>
          </a:bodyPr>
          <a:lstStyle/>
          <a:p>
            <a:r>
              <a:rPr lang="en-US" sz="1600" dirty="0">
                <a:solidFill>
                  <a:schemeClr val="bg1"/>
                </a:solidFill>
              </a:rPr>
              <a:t>To grow a business means to make changes that result in greater sales. A business grows, or expands, in two ways: internally and externally. Organic growth is growth achieved by expanding a business internally—for example, adding new products or services for sale. External growth is achieved by buying other businesses or merging with them. Most small businesses experience organic growth rather than acquiring other companies.</a:t>
            </a:r>
          </a:p>
          <a:p>
            <a:endParaRPr lang="en-US" sz="1600" dirty="0">
              <a:solidFill>
                <a:schemeClr val="bg1"/>
              </a:solidFill>
            </a:endParaRP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pic>
        <p:nvPicPr>
          <p:cNvPr id="9" name="Content Placeholder 4">
            <a:extLst>
              <a:ext uri="{FF2B5EF4-FFF2-40B4-BE49-F238E27FC236}">
                <a16:creationId xmlns="" xmlns:a16="http://schemas.microsoft.com/office/drawing/2014/main" id="{3A4C521B-BFAB-403C-9B46-AFC4E42C24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520" y="135922"/>
            <a:ext cx="5843269" cy="2147796"/>
          </a:xfrm>
          <a:prstGeom prst="rect">
            <a:avLst/>
          </a:prstGeom>
        </p:spPr>
      </p:pic>
    </p:spTree>
    <p:extLst>
      <p:ext uri="{BB962C8B-B14F-4D97-AF65-F5344CB8AC3E}">
        <p14:creationId xmlns:p14="http://schemas.microsoft.com/office/powerpoint/2010/main" val="91817952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395536" y="1859798"/>
            <a:ext cx="3602481" cy="954107"/>
          </a:xfrm>
          <a:prstGeom prst="rect">
            <a:avLst/>
          </a:prstGeom>
          <a:noFill/>
        </p:spPr>
        <p:txBody>
          <a:bodyPr wrap="square" rtlCol="0">
            <a:spAutoFit/>
          </a:bodyPr>
          <a:lstStyle/>
          <a:p>
            <a:r>
              <a:rPr lang="en-US" sz="2800" b="1" dirty="0"/>
              <a:t>What Is Business </a:t>
            </a:r>
            <a:endParaRPr lang="en-US" sz="2800" b="1" dirty="0" smtClean="0"/>
          </a:p>
          <a:p>
            <a:r>
              <a:rPr lang="en-US" sz="2800" b="1" dirty="0" smtClean="0"/>
              <a:t>Growth</a:t>
            </a:r>
            <a:r>
              <a:rPr lang="en-US" sz="2800" b="1" dirty="0"/>
              <a:t>?</a:t>
            </a:r>
          </a:p>
        </p:txBody>
      </p:sp>
      <p:sp>
        <p:nvSpPr>
          <p:cNvPr id="7" name="TextBox 6"/>
          <p:cNvSpPr txBox="1"/>
          <p:nvPr/>
        </p:nvSpPr>
        <p:spPr>
          <a:xfrm>
            <a:off x="3688914" y="1995686"/>
            <a:ext cx="5184576" cy="2339102"/>
          </a:xfrm>
          <a:prstGeom prst="rect">
            <a:avLst/>
          </a:prstGeom>
          <a:noFill/>
        </p:spPr>
        <p:txBody>
          <a:bodyPr wrap="square" rtlCol="0">
            <a:spAutoFit/>
          </a:bodyPr>
          <a:lstStyle/>
          <a:p>
            <a:pPr algn="justLow"/>
            <a:r>
              <a:rPr lang="en-US" sz="1600" dirty="0">
                <a:solidFill>
                  <a:schemeClr val="bg1"/>
                </a:solidFill>
              </a:rPr>
              <a:t>To grow a business means to make changes that result in greater sales. A business grows, or expands, in two ways: internally and externally. Organic growth is growth achieved by expanding a business internally—for example, adding new products or services for sale. External growth is achieved by buying other businesses or merging with them. Most small businesses experience organic growth rather than acquiring other companies.</a:t>
            </a:r>
          </a:p>
          <a:p>
            <a:pPr algn="justLow"/>
            <a:endParaRPr lang="en-US" sz="1600" dirty="0">
              <a:solidFill>
                <a:schemeClr val="bg1"/>
              </a:solidFill>
            </a:endParaRPr>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55401579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3563888" cy="5143500"/>
          </a:xfrm>
          <a:prstGeom prst="rect">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6" name="TextBox 5"/>
          <p:cNvSpPr txBox="1"/>
          <p:nvPr/>
        </p:nvSpPr>
        <p:spPr>
          <a:xfrm>
            <a:off x="395536" y="1859798"/>
            <a:ext cx="3602481" cy="954107"/>
          </a:xfrm>
          <a:prstGeom prst="rect">
            <a:avLst/>
          </a:prstGeom>
          <a:noFill/>
        </p:spPr>
        <p:txBody>
          <a:bodyPr wrap="square" rtlCol="0">
            <a:spAutoFit/>
          </a:bodyPr>
          <a:lstStyle/>
          <a:p>
            <a:r>
              <a:rPr lang="en-US" sz="2800" b="1" dirty="0"/>
              <a:t>Deciding </a:t>
            </a:r>
            <a:endParaRPr lang="en-US" sz="2800" b="1" dirty="0" smtClean="0"/>
          </a:p>
          <a:p>
            <a:r>
              <a:rPr lang="en-US" sz="2800" b="1" dirty="0" smtClean="0"/>
              <a:t>When </a:t>
            </a:r>
            <a:r>
              <a:rPr lang="en-US" sz="2800" b="1" dirty="0"/>
              <a:t>to Grow</a:t>
            </a:r>
          </a:p>
        </p:txBody>
      </p:sp>
      <p:sp>
        <p:nvSpPr>
          <p:cNvPr id="7" name="TextBox 6"/>
          <p:cNvSpPr txBox="1"/>
          <p:nvPr/>
        </p:nvSpPr>
        <p:spPr>
          <a:xfrm>
            <a:off x="3707904" y="444025"/>
            <a:ext cx="5184576" cy="4278094"/>
          </a:xfrm>
          <a:prstGeom prst="rect">
            <a:avLst/>
          </a:prstGeom>
          <a:noFill/>
        </p:spPr>
        <p:txBody>
          <a:bodyPr wrap="square" rtlCol="0">
            <a:spAutoFit/>
          </a:bodyPr>
          <a:lstStyle/>
          <a:p>
            <a:r>
              <a:rPr lang="en-US" sz="1600" dirty="0"/>
              <a:t>Three factors affect the decision to grow a business</a:t>
            </a:r>
            <a:r>
              <a:rPr lang="en-US" sz="1600" dirty="0" smtClean="0"/>
              <a:t>:</a:t>
            </a:r>
          </a:p>
          <a:p>
            <a:endParaRPr lang="en-US" sz="1600" dirty="0"/>
          </a:p>
          <a:p>
            <a:r>
              <a:rPr lang="en-US" sz="1600" dirty="0" smtClean="0"/>
              <a:t>-  </a:t>
            </a:r>
            <a:r>
              <a:rPr lang="en-US" sz="1600" b="1" dirty="0"/>
              <a:t>Condition of the Business</a:t>
            </a:r>
            <a:r>
              <a:rPr lang="en-US" sz="1600" dirty="0"/>
              <a:t>. A business is ready to grow when it has a solid base of customers and makes sales that meet or exceed forecasts and contribute to a satisfactory net profit. </a:t>
            </a:r>
            <a:endParaRPr lang="en-US" sz="1600" dirty="0" smtClean="0"/>
          </a:p>
          <a:p>
            <a:endParaRPr lang="en-US" sz="1600" dirty="0"/>
          </a:p>
          <a:p>
            <a:r>
              <a:rPr lang="en-US" sz="1600" dirty="0" smtClean="0"/>
              <a:t>-  </a:t>
            </a:r>
            <a:r>
              <a:rPr lang="en-US" sz="1600" b="1" dirty="0"/>
              <a:t>Economic Climate. The economic climate in which the business operates is also important</a:t>
            </a:r>
            <a:r>
              <a:rPr lang="en-US" sz="1600" dirty="0"/>
              <a:t>. Owners planning for growth must consider economic conditions at the local, national, and perhaps even global levels. </a:t>
            </a:r>
            <a:endParaRPr lang="en-US" sz="1600" dirty="0" smtClean="0"/>
          </a:p>
          <a:p>
            <a:endParaRPr lang="en-US" sz="1600" dirty="0"/>
          </a:p>
          <a:p>
            <a:r>
              <a:rPr lang="en-US" sz="1600" b="1" dirty="0" smtClean="0"/>
              <a:t>-  </a:t>
            </a:r>
            <a:r>
              <a:rPr lang="en-US" sz="1600" b="1" dirty="0"/>
              <a:t>Life Goals of the Business Owner</a:t>
            </a:r>
            <a:r>
              <a:rPr lang="en-US" sz="1600" dirty="0"/>
              <a:t>. Growing a business is not only an economic move, it’s a personal one as well. An owner who decides to grow a business takes on new pressures and demands.  </a:t>
            </a:r>
          </a:p>
          <a:p>
            <a:endParaRPr lang="en-US" sz="1600" dirty="0"/>
          </a:p>
        </p:txBody>
      </p:sp>
      <p:sp>
        <p:nvSpPr>
          <p:cNvPr id="8" name="Rectangle 7"/>
          <p:cNvSpPr/>
          <p:nvPr/>
        </p:nvSpPr>
        <p:spPr>
          <a:xfrm>
            <a:off x="251520" y="123478"/>
            <a:ext cx="8640960" cy="468052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1341358019"/>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539552" y="699542"/>
            <a:ext cx="7704856" cy="769441"/>
          </a:xfrm>
          <a:prstGeom prst="rect">
            <a:avLst/>
          </a:prstGeom>
          <a:noFill/>
        </p:spPr>
        <p:txBody>
          <a:bodyPr wrap="square" rtlCol="0">
            <a:spAutoFit/>
          </a:bodyPr>
          <a:lstStyle/>
          <a:p>
            <a:pPr algn="ctr"/>
            <a:r>
              <a:rPr lang="en-US" sz="4400" b="1" dirty="0">
                <a:solidFill>
                  <a:srgbClr val="6DA18A"/>
                </a:solidFill>
              </a:rPr>
              <a:t>Product Life Cycles</a:t>
            </a:r>
            <a:endParaRPr lang="en-US" sz="4400" dirty="0">
              <a:solidFill>
                <a:srgbClr val="6DA18A"/>
              </a:solidFill>
            </a:endParaRPr>
          </a:p>
        </p:txBody>
      </p:sp>
      <p:pic>
        <p:nvPicPr>
          <p:cNvPr id="6" name="Content Placeholder 4">
            <a:extLst>
              <a:ext uri="{FF2B5EF4-FFF2-40B4-BE49-F238E27FC236}">
                <a16:creationId xmlns="" xmlns:a16="http://schemas.microsoft.com/office/drawing/2014/main" id="{74EC3791-AED2-49B0-ACFF-1CBD7C1A08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1707654"/>
            <a:ext cx="6151872" cy="2808312"/>
          </a:xfrm>
          <a:custGeom>
            <a:avLst/>
            <a:gdLst>
              <a:gd name="connsiteX0" fmla="*/ 125450 w 2568434"/>
              <a:gd name="connsiteY0" fmla="*/ 111684 h 2280270"/>
              <a:gd name="connsiteX1" fmla="*/ 2442984 w 2568434"/>
              <a:gd name="connsiteY1" fmla="*/ 111684 h 2280270"/>
              <a:gd name="connsiteX2" fmla="*/ 2442984 w 2568434"/>
              <a:gd name="connsiteY2" fmla="*/ 2168586 h 2280270"/>
              <a:gd name="connsiteX3" fmla="*/ 125450 w 2568434"/>
              <a:gd name="connsiteY3" fmla="*/ 2168586 h 2280270"/>
              <a:gd name="connsiteX4" fmla="*/ 96085 w 2568434"/>
              <a:gd name="connsiteY4" fmla="*/ 82319 h 2280270"/>
              <a:gd name="connsiteX5" fmla="*/ 96085 w 2568434"/>
              <a:gd name="connsiteY5" fmla="*/ 2197951 h 2280270"/>
              <a:gd name="connsiteX6" fmla="*/ 2472349 w 2568434"/>
              <a:gd name="connsiteY6" fmla="*/ 2197951 h 2280270"/>
              <a:gd name="connsiteX7" fmla="*/ 2472349 w 2568434"/>
              <a:gd name="connsiteY7" fmla="*/ 82319 h 2280270"/>
              <a:gd name="connsiteX8" fmla="*/ 0 w 2568434"/>
              <a:gd name="connsiteY8" fmla="*/ 0 h 2280270"/>
              <a:gd name="connsiteX9" fmla="*/ 2568434 w 2568434"/>
              <a:gd name="connsiteY9" fmla="*/ 0 h 2280270"/>
              <a:gd name="connsiteX10" fmla="*/ 2568434 w 2568434"/>
              <a:gd name="connsiteY10" fmla="*/ 2280270 h 2280270"/>
              <a:gd name="connsiteX11" fmla="*/ 0 w 2568434"/>
              <a:gd name="connsiteY11" fmla="*/ 2280270 h 2280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68434" h="2280270">
                <a:moveTo>
                  <a:pt x="125450" y="111684"/>
                </a:moveTo>
                <a:lnTo>
                  <a:pt x="2442984" y="111684"/>
                </a:lnTo>
                <a:lnTo>
                  <a:pt x="2442984" y="2168586"/>
                </a:lnTo>
                <a:lnTo>
                  <a:pt x="125450" y="2168586"/>
                </a:lnTo>
                <a:close/>
                <a:moveTo>
                  <a:pt x="96085" y="82319"/>
                </a:moveTo>
                <a:lnTo>
                  <a:pt x="96085" y="2197951"/>
                </a:lnTo>
                <a:lnTo>
                  <a:pt x="2472349" y="2197951"/>
                </a:lnTo>
                <a:lnTo>
                  <a:pt x="2472349" y="82319"/>
                </a:lnTo>
                <a:close/>
                <a:moveTo>
                  <a:pt x="0" y="0"/>
                </a:moveTo>
                <a:lnTo>
                  <a:pt x="2568434" y="0"/>
                </a:lnTo>
                <a:lnTo>
                  <a:pt x="2568434" y="2280270"/>
                </a:lnTo>
                <a:lnTo>
                  <a:pt x="0" y="2280270"/>
                </a:lnTo>
                <a:close/>
              </a:path>
            </a:pathLst>
          </a:custGeom>
          <a:solidFill>
            <a:schemeClr val="bg1">
              <a:lumMod val="95000"/>
            </a:schemeClr>
          </a:solidFill>
        </p:spPr>
      </p:pic>
    </p:spTree>
    <p:extLst>
      <p:ext uri="{BB962C8B-B14F-4D97-AF65-F5344CB8AC3E}">
        <p14:creationId xmlns:p14="http://schemas.microsoft.com/office/powerpoint/2010/main" val="157429370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539552" y="665274"/>
            <a:ext cx="7704856" cy="769441"/>
          </a:xfrm>
          <a:prstGeom prst="rect">
            <a:avLst/>
          </a:prstGeom>
          <a:noFill/>
        </p:spPr>
        <p:txBody>
          <a:bodyPr wrap="square" rtlCol="0">
            <a:spAutoFit/>
          </a:bodyPr>
          <a:lstStyle/>
          <a:p>
            <a:pPr algn="ctr"/>
            <a:r>
              <a:rPr lang="en-US" sz="4400" b="1" dirty="0">
                <a:solidFill>
                  <a:srgbClr val="6DA18A"/>
                </a:solidFill>
              </a:rPr>
              <a:t>Product Life Cycles</a:t>
            </a:r>
            <a:endParaRPr lang="en-US" sz="4400" dirty="0">
              <a:solidFill>
                <a:srgbClr val="6DA18A"/>
              </a:solidFill>
            </a:endParaRPr>
          </a:p>
        </p:txBody>
      </p:sp>
      <p:pic>
        <p:nvPicPr>
          <p:cNvPr id="5" name="Content Placeholder 3">
            <a:extLst>
              <a:ext uri="{FF2B5EF4-FFF2-40B4-BE49-F238E27FC236}">
                <a16:creationId xmlns="" xmlns:a16="http://schemas.microsoft.com/office/drawing/2014/main" id="{46743495-AEC9-4BAB-BA90-84AE7FB589AB}"/>
              </a:ext>
            </a:extLst>
          </p:cNvPr>
          <p:cNvPicPr>
            <a:picLocks/>
          </p:cNvPicPr>
          <p:nvPr/>
        </p:nvPicPr>
        <p:blipFill rotWithShape="1">
          <a:blip r:embed="rId3">
            <a:extLst>
              <a:ext uri="{28A0092B-C50C-407E-A947-70E740481C1C}">
                <a14:useLocalDpi xmlns:a14="http://schemas.microsoft.com/office/drawing/2010/main" val="0"/>
              </a:ext>
            </a:extLst>
          </a:blip>
          <a:srcRect l="25160" t="29932" r="35416" b="15336"/>
          <a:stretch/>
        </p:blipFill>
        <p:spPr bwMode="auto">
          <a:xfrm>
            <a:off x="2195736" y="1447206"/>
            <a:ext cx="4131014" cy="3224392"/>
          </a:xfrm>
          <a:prstGeom prst="rect">
            <a:avLst/>
          </a:prstGeom>
          <a:solidFill>
            <a:schemeClr val="bg1">
              <a:lumMod val="95000"/>
            </a:schemeClr>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24458531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p:cNvSpPr txBox="1"/>
          <p:nvPr/>
        </p:nvSpPr>
        <p:spPr>
          <a:xfrm>
            <a:off x="539552" y="665274"/>
            <a:ext cx="7704856" cy="769441"/>
          </a:xfrm>
          <a:prstGeom prst="rect">
            <a:avLst/>
          </a:prstGeom>
          <a:noFill/>
        </p:spPr>
        <p:txBody>
          <a:bodyPr wrap="square" rtlCol="0">
            <a:spAutoFit/>
          </a:bodyPr>
          <a:lstStyle/>
          <a:p>
            <a:pPr algn="ctr"/>
            <a:r>
              <a:rPr lang="en-US" sz="4400" b="1" dirty="0">
                <a:solidFill>
                  <a:srgbClr val="6DA18A"/>
                </a:solidFill>
              </a:rPr>
              <a:t>Product Life Cycles</a:t>
            </a:r>
            <a:endParaRPr lang="en-US" sz="4400" dirty="0">
              <a:solidFill>
                <a:srgbClr val="6DA18A"/>
              </a:solidFill>
            </a:endParaRPr>
          </a:p>
        </p:txBody>
      </p:sp>
      <p:sp>
        <p:nvSpPr>
          <p:cNvPr id="3" name="Rectangle 2"/>
          <p:cNvSpPr/>
          <p:nvPr/>
        </p:nvSpPr>
        <p:spPr>
          <a:xfrm>
            <a:off x="467544" y="1347614"/>
            <a:ext cx="7776864" cy="3046988"/>
          </a:xfrm>
          <a:prstGeom prst="rect">
            <a:avLst/>
          </a:prstGeom>
        </p:spPr>
        <p:txBody>
          <a:bodyPr wrap="square">
            <a:spAutoFit/>
          </a:bodyPr>
          <a:lstStyle/>
          <a:p>
            <a:r>
              <a:rPr lang="en-US" sz="1600" dirty="0" smtClean="0"/>
              <a:t>- Introduction</a:t>
            </a:r>
            <a:r>
              <a:rPr lang="en-US" sz="1600" dirty="0"/>
              <a:t>. When a product is introduced, the marketing effort is devoted to building product awareness—that is, making consumers aware of the product. </a:t>
            </a:r>
            <a:endParaRPr lang="en-US" sz="1600" dirty="0" smtClean="0"/>
          </a:p>
          <a:p>
            <a:endParaRPr lang="en-US" sz="1600" dirty="0"/>
          </a:p>
          <a:p>
            <a:r>
              <a:rPr lang="en-US" sz="1600" dirty="0" smtClean="0"/>
              <a:t>-  </a:t>
            </a:r>
            <a:r>
              <a:rPr lang="en-US" sz="1600" dirty="0"/>
              <a:t>Growth. Sales and profit increase steadily as the product is embraced by consumers. </a:t>
            </a:r>
            <a:endParaRPr lang="en-US" sz="1600" dirty="0" smtClean="0"/>
          </a:p>
          <a:p>
            <a:endParaRPr lang="en-US" sz="1600" dirty="0"/>
          </a:p>
          <a:p>
            <a:r>
              <a:rPr lang="en-US" sz="1600" dirty="0" smtClean="0"/>
              <a:t>- </a:t>
            </a:r>
            <a:r>
              <a:rPr lang="en-US" sz="1600" dirty="0"/>
              <a:t>Maturity. This is the stage during which sales and profits stop growing. They level off and may begin to decline. </a:t>
            </a:r>
            <a:endParaRPr lang="en-US" sz="1600" dirty="0" smtClean="0"/>
          </a:p>
          <a:p>
            <a:endParaRPr lang="en-US" sz="1600" dirty="0"/>
          </a:p>
          <a:p>
            <a:r>
              <a:rPr lang="en-US" sz="1600" dirty="0" smtClean="0"/>
              <a:t>-  </a:t>
            </a:r>
            <a:r>
              <a:rPr lang="en-US" sz="1600" dirty="0"/>
              <a:t>Decline. During the decline stage, product sales and profits fall steeply and don’t recover. The product loses its appeal to consumers. In some cases, the decline is due to technological advances or governmental regulations. </a:t>
            </a:r>
          </a:p>
        </p:txBody>
      </p:sp>
    </p:spTree>
    <p:extLst>
      <p:ext uri="{BB962C8B-B14F-4D97-AF65-F5344CB8AC3E}">
        <p14:creationId xmlns:p14="http://schemas.microsoft.com/office/powerpoint/2010/main" val="240975039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Rectangle 2"/>
          <p:cNvSpPr/>
          <p:nvPr/>
        </p:nvSpPr>
        <p:spPr>
          <a:xfrm>
            <a:off x="539552" y="950696"/>
            <a:ext cx="7776864" cy="3170099"/>
          </a:xfrm>
          <a:prstGeom prst="rect">
            <a:avLst/>
          </a:prstGeom>
        </p:spPr>
        <p:txBody>
          <a:bodyPr wrap="square">
            <a:spAutoFit/>
          </a:bodyPr>
          <a:lstStyle/>
          <a:p>
            <a:r>
              <a:rPr lang="en-US" sz="4000" b="1" dirty="0">
                <a:solidFill>
                  <a:srgbClr val="6DA18A"/>
                </a:solidFill>
              </a:rPr>
              <a:t>Growth </a:t>
            </a:r>
            <a:r>
              <a:rPr lang="en-US" sz="4000" b="1" dirty="0" smtClean="0">
                <a:solidFill>
                  <a:srgbClr val="6DA18A"/>
                </a:solidFill>
              </a:rPr>
              <a:t>Strategies</a:t>
            </a:r>
          </a:p>
          <a:p>
            <a:endParaRPr lang="en-US" sz="1600" b="1" dirty="0"/>
          </a:p>
          <a:p>
            <a:pPr algn="justLow"/>
            <a:r>
              <a:rPr lang="en-US" sz="1600" dirty="0"/>
              <a:t>Businesses can follow many growth strategies when they wish to expand. These strategies typically focus on new products and/or new markets. (In this discussion, services are referred to as the products of a service business.) Three broad categories of growth strategies are</a:t>
            </a:r>
            <a:r>
              <a:rPr lang="en-US" sz="1600" dirty="0" smtClean="0"/>
              <a:t>:</a:t>
            </a:r>
          </a:p>
          <a:p>
            <a:endParaRPr lang="en-US" sz="1600" dirty="0"/>
          </a:p>
          <a:p>
            <a:pPr marL="285750" indent="-285750">
              <a:buFont typeface="Arial" panose="020B0604020202020204" pitchFamily="34" charset="0"/>
              <a:buChar char="•"/>
            </a:pPr>
            <a:r>
              <a:rPr lang="en-US" sz="1600" dirty="0" smtClean="0"/>
              <a:t>Intensive </a:t>
            </a:r>
            <a:r>
              <a:rPr lang="en-US" sz="1600" dirty="0"/>
              <a:t>growth strategies</a:t>
            </a:r>
          </a:p>
          <a:p>
            <a:pPr marL="285750" indent="-285750">
              <a:buFont typeface="Arial" panose="020B0604020202020204" pitchFamily="34" charset="0"/>
              <a:buChar char="•"/>
            </a:pPr>
            <a:r>
              <a:rPr lang="en-US" sz="1600" dirty="0" smtClean="0"/>
              <a:t>Integrative </a:t>
            </a:r>
            <a:r>
              <a:rPr lang="en-US" sz="1600" dirty="0"/>
              <a:t>growth strategies</a:t>
            </a:r>
          </a:p>
          <a:p>
            <a:pPr marL="285750" indent="-285750">
              <a:buFont typeface="Arial" panose="020B0604020202020204" pitchFamily="34" charset="0"/>
              <a:buChar char="•"/>
            </a:pPr>
            <a:r>
              <a:rPr lang="en-US" sz="1600" dirty="0" smtClean="0"/>
              <a:t>Diversification </a:t>
            </a:r>
            <a:r>
              <a:rPr lang="en-US" sz="1600" dirty="0"/>
              <a:t>growth strategies</a:t>
            </a:r>
          </a:p>
          <a:p>
            <a:endParaRPr lang="en-US" sz="1600" dirty="0"/>
          </a:p>
        </p:txBody>
      </p:sp>
    </p:spTree>
    <p:extLst>
      <p:ext uri="{BB962C8B-B14F-4D97-AF65-F5344CB8AC3E}">
        <p14:creationId xmlns:p14="http://schemas.microsoft.com/office/powerpoint/2010/main" val="60797669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Rectangle 2"/>
          <p:cNvSpPr/>
          <p:nvPr/>
        </p:nvSpPr>
        <p:spPr>
          <a:xfrm>
            <a:off x="539552" y="627534"/>
            <a:ext cx="7776864" cy="4278094"/>
          </a:xfrm>
          <a:prstGeom prst="rect">
            <a:avLst/>
          </a:prstGeom>
        </p:spPr>
        <p:txBody>
          <a:bodyPr wrap="square">
            <a:spAutoFit/>
          </a:bodyPr>
          <a:lstStyle/>
          <a:p>
            <a:r>
              <a:rPr lang="en-US" sz="3200" b="1" dirty="0">
                <a:solidFill>
                  <a:srgbClr val="6DA18A"/>
                </a:solidFill>
              </a:rPr>
              <a:t>Intensive Growth </a:t>
            </a:r>
            <a:r>
              <a:rPr lang="en-US" sz="3200" b="1" dirty="0" smtClean="0">
                <a:solidFill>
                  <a:srgbClr val="6DA18A"/>
                </a:solidFill>
              </a:rPr>
              <a:t>Strategies</a:t>
            </a:r>
          </a:p>
          <a:p>
            <a:endParaRPr lang="en-US" sz="2000" b="1" dirty="0"/>
          </a:p>
          <a:p>
            <a:r>
              <a:rPr lang="en-US" sz="2000" dirty="0"/>
              <a:t>An intensive growth strategy is a growth strategy that focuses on cultivating new products or new markets, and sometimes both. Businesses use an intensive growth strategy when they believe they haven’t fully realized their strengths or their markets. This strategy is best described as “doing more of what you are good at doing.” The three most common types of intensive growth strategies are</a:t>
            </a:r>
            <a:r>
              <a:rPr lang="en-US" sz="2000" dirty="0" smtClean="0"/>
              <a:t>:</a:t>
            </a:r>
          </a:p>
          <a:p>
            <a:endParaRPr lang="en-US" sz="2000" dirty="0"/>
          </a:p>
          <a:p>
            <a:pPr marL="342900" indent="-342900">
              <a:buFont typeface="Arial" panose="020B0604020202020204" pitchFamily="34" charset="0"/>
              <a:buChar char="•"/>
            </a:pPr>
            <a:r>
              <a:rPr lang="en-US" sz="2000" dirty="0" smtClean="0"/>
              <a:t>Market </a:t>
            </a:r>
            <a:r>
              <a:rPr lang="en-US" sz="2000" dirty="0"/>
              <a:t>penetration</a:t>
            </a:r>
          </a:p>
          <a:p>
            <a:pPr marL="342900" indent="-342900">
              <a:buFont typeface="Arial" panose="020B0604020202020204" pitchFamily="34" charset="0"/>
              <a:buChar char="•"/>
            </a:pPr>
            <a:r>
              <a:rPr lang="en-US" sz="2000" dirty="0" smtClean="0"/>
              <a:t>Market </a:t>
            </a:r>
            <a:r>
              <a:rPr lang="en-US" sz="2000" dirty="0"/>
              <a:t>development</a:t>
            </a:r>
          </a:p>
          <a:p>
            <a:pPr marL="342900" indent="-342900">
              <a:buFont typeface="Arial" panose="020B0604020202020204" pitchFamily="34" charset="0"/>
              <a:buChar char="•"/>
            </a:pPr>
            <a:r>
              <a:rPr lang="en-US" sz="2000" dirty="0" smtClean="0"/>
              <a:t>Product </a:t>
            </a:r>
            <a:r>
              <a:rPr lang="en-US" sz="2000" dirty="0"/>
              <a:t>development</a:t>
            </a:r>
          </a:p>
          <a:p>
            <a:endParaRPr lang="en-US" sz="2000" dirty="0"/>
          </a:p>
        </p:txBody>
      </p:sp>
    </p:spTree>
    <p:extLst>
      <p:ext uri="{BB962C8B-B14F-4D97-AF65-F5344CB8AC3E}">
        <p14:creationId xmlns:p14="http://schemas.microsoft.com/office/powerpoint/2010/main" val="45878910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Rectangle 2"/>
          <p:cNvSpPr/>
          <p:nvPr/>
        </p:nvSpPr>
        <p:spPr>
          <a:xfrm>
            <a:off x="539552" y="627534"/>
            <a:ext cx="7776864" cy="4278094"/>
          </a:xfrm>
          <a:prstGeom prst="rect">
            <a:avLst/>
          </a:prstGeom>
        </p:spPr>
        <p:txBody>
          <a:bodyPr wrap="square">
            <a:spAutoFit/>
          </a:bodyPr>
          <a:lstStyle/>
          <a:p>
            <a:r>
              <a:rPr lang="en-US" sz="3200" b="1" dirty="0" smtClean="0">
                <a:solidFill>
                  <a:srgbClr val="6DA18A"/>
                </a:solidFill>
              </a:rPr>
              <a:t>Intensive Growth Strategies</a:t>
            </a:r>
          </a:p>
          <a:p>
            <a:endParaRPr lang="en-US" sz="2000" b="1" dirty="0"/>
          </a:p>
          <a:p>
            <a:r>
              <a:rPr lang="en-US" sz="2000" dirty="0"/>
              <a:t>An intensive growth strategy is a growth strategy that focuses on cultivating new products or new markets, and sometimes both. Businesses use an intensive growth strategy when they believe they haven’t fully realized their strengths or their markets. This strategy is best described as “doing more of what you are good at doing.” The three most common types of intensive growth strategies are</a:t>
            </a:r>
            <a:r>
              <a:rPr lang="en-US" sz="2000" dirty="0" smtClean="0"/>
              <a:t>:</a:t>
            </a:r>
          </a:p>
          <a:p>
            <a:endParaRPr lang="en-US" sz="2000" dirty="0"/>
          </a:p>
          <a:p>
            <a:pPr marL="342900" indent="-342900">
              <a:buFont typeface="Arial" panose="020B0604020202020204" pitchFamily="34" charset="0"/>
              <a:buChar char="•"/>
            </a:pPr>
            <a:r>
              <a:rPr lang="en-US" sz="2000" dirty="0" smtClean="0"/>
              <a:t>Market </a:t>
            </a:r>
            <a:r>
              <a:rPr lang="en-US" sz="2000" dirty="0"/>
              <a:t>penetration</a:t>
            </a:r>
          </a:p>
          <a:p>
            <a:pPr marL="342900" indent="-342900">
              <a:buFont typeface="Arial" panose="020B0604020202020204" pitchFamily="34" charset="0"/>
              <a:buChar char="•"/>
            </a:pPr>
            <a:r>
              <a:rPr lang="en-US" sz="2000" dirty="0" smtClean="0"/>
              <a:t>Market </a:t>
            </a:r>
            <a:r>
              <a:rPr lang="en-US" sz="2000" dirty="0"/>
              <a:t>development</a:t>
            </a:r>
          </a:p>
          <a:p>
            <a:pPr marL="342900" indent="-342900">
              <a:buFont typeface="Arial" panose="020B0604020202020204" pitchFamily="34" charset="0"/>
              <a:buChar char="•"/>
            </a:pPr>
            <a:r>
              <a:rPr lang="en-US" sz="2000" dirty="0" smtClean="0"/>
              <a:t>Product </a:t>
            </a:r>
            <a:r>
              <a:rPr lang="en-US" sz="2000" dirty="0"/>
              <a:t>development</a:t>
            </a:r>
          </a:p>
          <a:p>
            <a:endParaRPr lang="en-US" sz="2000" dirty="0"/>
          </a:p>
        </p:txBody>
      </p:sp>
    </p:spTree>
    <p:extLst>
      <p:ext uri="{BB962C8B-B14F-4D97-AF65-F5344CB8AC3E}">
        <p14:creationId xmlns:p14="http://schemas.microsoft.com/office/powerpoint/2010/main" val="427216200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Rectangle 2"/>
          <p:cNvSpPr/>
          <p:nvPr/>
        </p:nvSpPr>
        <p:spPr>
          <a:xfrm>
            <a:off x="539552" y="627534"/>
            <a:ext cx="7776864" cy="4278094"/>
          </a:xfrm>
          <a:prstGeom prst="rect">
            <a:avLst/>
          </a:prstGeom>
        </p:spPr>
        <p:txBody>
          <a:bodyPr wrap="square">
            <a:spAutoFit/>
          </a:bodyPr>
          <a:lstStyle/>
          <a:p>
            <a:r>
              <a:rPr lang="en-US" sz="3200" b="1" dirty="0" smtClean="0">
                <a:solidFill>
                  <a:srgbClr val="6DA18A"/>
                </a:solidFill>
              </a:rPr>
              <a:t>Intensive Growth Strategies</a:t>
            </a:r>
          </a:p>
          <a:p>
            <a:endParaRPr lang="en-US" sz="2000" b="1" dirty="0"/>
          </a:p>
          <a:p>
            <a:r>
              <a:rPr lang="en-US" sz="2000" dirty="0"/>
              <a:t>An intensive growth strategy is a growth strategy that focuses on cultivating new products or new markets, and sometimes both. Businesses use an intensive growth strategy when they believe they haven’t fully realized their strengths or their markets. This strategy is best described as “doing more of what you are good at doing.” The three most common types of intensive growth strategies are</a:t>
            </a:r>
            <a:r>
              <a:rPr lang="en-US" sz="2000" dirty="0" smtClean="0"/>
              <a:t>:</a:t>
            </a:r>
          </a:p>
          <a:p>
            <a:endParaRPr lang="en-US" sz="2000" dirty="0"/>
          </a:p>
          <a:p>
            <a:pPr marL="342900" indent="-342900">
              <a:buFont typeface="Arial" panose="020B0604020202020204" pitchFamily="34" charset="0"/>
              <a:buChar char="•"/>
            </a:pPr>
            <a:r>
              <a:rPr lang="en-US" sz="2000" dirty="0" smtClean="0"/>
              <a:t>Market </a:t>
            </a:r>
            <a:r>
              <a:rPr lang="en-US" sz="2000" dirty="0"/>
              <a:t>penetration</a:t>
            </a:r>
          </a:p>
          <a:p>
            <a:pPr marL="342900" indent="-342900">
              <a:buFont typeface="Arial" panose="020B0604020202020204" pitchFamily="34" charset="0"/>
              <a:buChar char="•"/>
            </a:pPr>
            <a:r>
              <a:rPr lang="en-US" sz="2000" dirty="0" smtClean="0"/>
              <a:t>Market </a:t>
            </a:r>
            <a:r>
              <a:rPr lang="en-US" sz="2000" dirty="0"/>
              <a:t>development</a:t>
            </a:r>
          </a:p>
          <a:p>
            <a:pPr marL="342900" indent="-342900">
              <a:buFont typeface="Arial" panose="020B0604020202020204" pitchFamily="34" charset="0"/>
              <a:buChar char="•"/>
            </a:pPr>
            <a:r>
              <a:rPr lang="en-US" sz="2000" dirty="0" smtClean="0"/>
              <a:t>Product </a:t>
            </a:r>
            <a:r>
              <a:rPr lang="en-US" sz="2000" dirty="0"/>
              <a:t>development</a:t>
            </a:r>
          </a:p>
          <a:p>
            <a:endParaRPr lang="en-US" sz="2000" dirty="0"/>
          </a:p>
        </p:txBody>
      </p:sp>
    </p:spTree>
    <p:extLst>
      <p:ext uri="{BB962C8B-B14F-4D97-AF65-F5344CB8AC3E}">
        <p14:creationId xmlns:p14="http://schemas.microsoft.com/office/powerpoint/2010/main" val="1759090702"/>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 Diagonal Corner Rectangle 7"/>
          <p:cNvSpPr/>
          <p:nvPr/>
        </p:nvSpPr>
        <p:spPr>
          <a:xfrm flipH="1">
            <a:off x="251519" y="267494"/>
            <a:ext cx="8496943" cy="4536504"/>
          </a:xfrm>
          <a:prstGeom prst="round2Diag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 name="Rectangle 2"/>
          <p:cNvSpPr/>
          <p:nvPr/>
        </p:nvSpPr>
        <p:spPr>
          <a:xfrm>
            <a:off x="503546" y="411510"/>
            <a:ext cx="7992888" cy="4524315"/>
          </a:xfrm>
          <a:prstGeom prst="rect">
            <a:avLst/>
          </a:prstGeom>
        </p:spPr>
        <p:txBody>
          <a:bodyPr wrap="square">
            <a:spAutoFit/>
          </a:bodyPr>
          <a:lstStyle/>
          <a:p>
            <a:pPr algn="justLow"/>
            <a:r>
              <a:rPr lang="en-US" sz="1600" b="1" dirty="0"/>
              <a:t>Diversification Growth Strategies</a:t>
            </a:r>
          </a:p>
          <a:p>
            <a:pPr algn="justLow"/>
            <a:r>
              <a:rPr lang="en-US" sz="1600" dirty="0"/>
              <a:t>Every business has a core business, which is the most important focus of the business. For example, the core business of McDonald’s is selling fast food. A diversification growth strategy (die-</a:t>
            </a:r>
            <a:r>
              <a:rPr lang="en-US" sz="1600" dirty="0" err="1"/>
              <a:t>ver</a:t>
            </a:r>
            <a:r>
              <a:rPr lang="en-US" sz="1600" dirty="0"/>
              <a:t>-</a:t>
            </a:r>
            <a:r>
              <a:rPr lang="en-US" sz="1600" dirty="0" err="1"/>
              <a:t>sih</a:t>
            </a:r>
            <a:r>
              <a:rPr lang="en-US" sz="1600" dirty="0"/>
              <a:t>-</a:t>
            </a:r>
            <a:r>
              <a:rPr lang="en-US" sz="1600" dirty="0" err="1"/>
              <a:t>fih</a:t>
            </a:r>
            <a:r>
              <a:rPr lang="en-US" sz="1600" dirty="0"/>
              <a:t>-KAY-shun) is a growth strategy in which a business grows by offering products or services that are different from its core business. There are two types of diversification growth strategies</a:t>
            </a:r>
            <a:r>
              <a:rPr lang="en-US" sz="1600" dirty="0" smtClean="0"/>
              <a:t>:</a:t>
            </a:r>
          </a:p>
          <a:p>
            <a:pPr algn="justLow"/>
            <a:endParaRPr lang="en-US" sz="1600" dirty="0"/>
          </a:p>
          <a:p>
            <a:pPr algn="justLow"/>
            <a:r>
              <a:rPr lang="en-US" sz="1600" dirty="0" smtClean="0"/>
              <a:t>- </a:t>
            </a:r>
            <a:r>
              <a:rPr lang="en-US" sz="1600" b="1" dirty="0" smtClean="0"/>
              <a:t>Synergistic </a:t>
            </a:r>
            <a:r>
              <a:rPr lang="en-US" sz="1600" b="1" dirty="0"/>
              <a:t>Diversification</a:t>
            </a:r>
            <a:r>
              <a:rPr lang="en-US" sz="1600" dirty="0"/>
              <a:t>. A growth strategy in which a business adds new products or services that are related to its existing products or services is a synergistic diversification (sin-</a:t>
            </a:r>
            <a:r>
              <a:rPr lang="en-US" sz="1600" dirty="0" err="1"/>
              <a:t>er</a:t>
            </a:r>
            <a:r>
              <a:rPr lang="en-US" sz="1600" dirty="0"/>
              <a:t>-JIS-tic). A clothing store that begins selling shoes practices this type of growth. So does an event-planning business that begins to offer catering services</a:t>
            </a:r>
            <a:r>
              <a:rPr lang="en-US" sz="1600" dirty="0" smtClean="0"/>
              <a:t>.</a:t>
            </a:r>
          </a:p>
          <a:p>
            <a:pPr algn="justLow"/>
            <a:endParaRPr lang="en-US" sz="1600" dirty="0"/>
          </a:p>
          <a:p>
            <a:pPr algn="justLow"/>
            <a:r>
              <a:rPr lang="en-US" sz="1600" b="1" dirty="0" smtClean="0"/>
              <a:t>- Horizontal </a:t>
            </a:r>
            <a:r>
              <a:rPr lang="en-US" sz="1600" b="1" dirty="0"/>
              <a:t>Diversification</a:t>
            </a:r>
            <a:r>
              <a:rPr lang="en-US" sz="1600" dirty="0"/>
              <a:t>. A growth strategy in which a business adds new products or services that are not related to its existing products or services but appeal to its existing target market is called horizontal diversification. Recently some large grocery stores have begun offering credit cards to their customers. This is an example of horizontal diversification. Another example would be a gasoline station that sells food.</a:t>
            </a:r>
          </a:p>
          <a:p>
            <a:pPr algn="justLow"/>
            <a:endParaRPr lang="en-US" sz="1600" dirty="0"/>
          </a:p>
        </p:txBody>
      </p:sp>
    </p:spTree>
    <p:extLst>
      <p:ext uri="{BB962C8B-B14F-4D97-AF65-F5344CB8AC3E}">
        <p14:creationId xmlns:p14="http://schemas.microsoft.com/office/powerpoint/2010/main" val="240723216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3284959"/>
            <a:ext cx="2274882" cy="6995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pSp>
        <p:nvGrpSpPr>
          <p:cNvPr id="20481" name="Group 20480"/>
          <p:cNvGrpSpPr/>
          <p:nvPr/>
        </p:nvGrpSpPr>
        <p:grpSpPr>
          <a:xfrm>
            <a:off x="1619672" y="1541512"/>
            <a:ext cx="6765723" cy="1816297"/>
            <a:chOff x="1291353" y="1755670"/>
            <a:chExt cx="7025063" cy="1816297"/>
          </a:xfrm>
        </p:grpSpPr>
        <p:sp>
          <p:nvSpPr>
            <p:cNvPr id="22" name="Block Arc 21"/>
            <p:cNvSpPr/>
            <p:nvPr/>
          </p:nvSpPr>
          <p:spPr>
            <a:xfrm>
              <a:off x="6500119" y="1755670"/>
              <a:ext cx="1816297" cy="1816297"/>
            </a:xfrm>
            <a:prstGeom prst="blockArc">
              <a:avLst>
                <a:gd name="adj1" fmla="val 16127381"/>
                <a:gd name="adj2" fmla="val 5490194"/>
                <a:gd name="adj3" fmla="val 404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20480" name="Rectangle 20479"/>
            <p:cNvSpPr/>
            <p:nvPr/>
          </p:nvSpPr>
          <p:spPr>
            <a:xfrm>
              <a:off x="1291353" y="1755670"/>
              <a:ext cx="6156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4" name="Rectangle 33"/>
            <p:cNvSpPr/>
            <p:nvPr/>
          </p:nvSpPr>
          <p:spPr>
            <a:xfrm>
              <a:off x="2340248" y="3499967"/>
              <a:ext cx="5112000" cy="72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3" name="Text Placeholder 2"/>
          <p:cNvSpPr>
            <a:spLocks noGrp="1"/>
          </p:cNvSpPr>
          <p:nvPr>
            <p:ph type="body" sz="quarter" idx="4294967295"/>
          </p:nvPr>
        </p:nvSpPr>
        <p:spPr>
          <a:xfrm>
            <a:off x="251520" y="349606"/>
            <a:ext cx="9144000" cy="287337"/>
          </a:xfrm>
          <a:prstGeom prst="rect">
            <a:avLst/>
          </a:prstGeom>
        </p:spPr>
        <p:txBody>
          <a:bodyPr/>
          <a:lstStyle/>
          <a:p>
            <a:pPr marL="0" lvl="0" indent="0">
              <a:buNone/>
            </a:pPr>
            <a:r>
              <a:rPr lang="en-US" b="1" dirty="0">
                <a:solidFill>
                  <a:schemeClr val="bg1"/>
                </a:solidFill>
              </a:rPr>
              <a:t>Start with things like:</a:t>
            </a:r>
          </a:p>
        </p:txBody>
      </p:sp>
      <p:grpSp>
        <p:nvGrpSpPr>
          <p:cNvPr id="8" name="Group 7"/>
          <p:cNvGrpSpPr/>
          <p:nvPr/>
        </p:nvGrpSpPr>
        <p:grpSpPr>
          <a:xfrm>
            <a:off x="3609680" y="1130448"/>
            <a:ext cx="914400" cy="914400"/>
            <a:chOff x="5364088" y="2787774"/>
            <a:chExt cx="914400" cy="914400"/>
          </a:xfrm>
        </p:grpSpPr>
        <p:sp>
          <p:nvSpPr>
            <p:cNvPr id="9" name="Oval 8"/>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0" name="Oval 9"/>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1" name="Group 10"/>
          <p:cNvGrpSpPr/>
          <p:nvPr/>
        </p:nvGrpSpPr>
        <p:grpSpPr>
          <a:xfrm>
            <a:off x="6297163" y="1130448"/>
            <a:ext cx="914400" cy="914400"/>
            <a:chOff x="5364088" y="2787774"/>
            <a:chExt cx="914400" cy="914400"/>
          </a:xfrm>
        </p:grpSpPr>
        <p:sp>
          <p:nvSpPr>
            <p:cNvPr id="12" name="Oval 11"/>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3" name="Oval 12"/>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4" name="Group 13"/>
          <p:cNvGrpSpPr/>
          <p:nvPr/>
        </p:nvGrpSpPr>
        <p:grpSpPr>
          <a:xfrm>
            <a:off x="2265939" y="2863724"/>
            <a:ext cx="914400" cy="914400"/>
            <a:chOff x="5364088" y="2787774"/>
            <a:chExt cx="914400" cy="914400"/>
          </a:xfrm>
        </p:grpSpPr>
        <p:sp>
          <p:nvSpPr>
            <p:cNvPr id="15" name="Oval 14"/>
            <p:cNvSpPr/>
            <p:nvPr/>
          </p:nvSpPr>
          <p:spPr>
            <a:xfrm>
              <a:off x="5364088" y="2787774"/>
              <a:ext cx="914400" cy="9144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16" name="Oval 15"/>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17" name="Group 16"/>
          <p:cNvGrpSpPr/>
          <p:nvPr/>
        </p:nvGrpSpPr>
        <p:grpSpPr>
          <a:xfrm>
            <a:off x="4953422" y="2863724"/>
            <a:ext cx="914400" cy="914400"/>
            <a:chOff x="5364088" y="2787774"/>
            <a:chExt cx="914400" cy="914400"/>
          </a:xfrm>
        </p:grpSpPr>
        <p:sp>
          <p:nvSpPr>
            <p:cNvPr id="18" name="Oval 17"/>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solidFill>
                  <a:schemeClr val="tx1"/>
                </a:solidFill>
              </a:endParaRPr>
            </a:p>
          </p:txBody>
        </p:sp>
        <p:sp>
          <p:nvSpPr>
            <p:cNvPr id="19" name="Oval 18"/>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grpSp>
        <p:nvGrpSpPr>
          <p:cNvPr id="23" name="Group 22"/>
          <p:cNvGrpSpPr/>
          <p:nvPr/>
        </p:nvGrpSpPr>
        <p:grpSpPr>
          <a:xfrm>
            <a:off x="5257220" y="1434246"/>
            <a:ext cx="306803" cy="306803"/>
            <a:chOff x="1547664" y="3147814"/>
            <a:chExt cx="720080" cy="720080"/>
          </a:xfrm>
        </p:grpSpPr>
        <p:sp>
          <p:nvSpPr>
            <p:cNvPr id="24" name="Oval 23"/>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5" name="Chevron 24"/>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6" name="Group 25"/>
          <p:cNvGrpSpPr/>
          <p:nvPr/>
        </p:nvGrpSpPr>
        <p:grpSpPr>
          <a:xfrm rot="10800000">
            <a:off x="3913479" y="3167523"/>
            <a:ext cx="306803" cy="306803"/>
            <a:chOff x="1547664" y="3147814"/>
            <a:chExt cx="720080" cy="720080"/>
          </a:xfrm>
        </p:grpSpPr>
        <p:sp>
          <p:nvSpPr>
            <p:cNvPr id="27" name="Oval 26"/>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28" name="Chevron 27"/>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grpSp>
        <p:nvGrpSpPr>
          <p:cNvPr id="29" name="Group 28"/>
          <p:cNvGrpSpPr/>
          <p:nvPr/>
        </p:nvGrpSpPr>
        <p:grpSpPr>
          <a:xfrm rot="5400000">
            <a:off x="8169371" y="2300884"/>
            <a:ext cx="306803" cy="306803"/>
            <a:chOff x="1547664" y="3147814"/>
            <a:chExt cx="720080" cy="720080"/>
          </a:xfrm>
        </p:grpSpPr>
        <p:sp>
          <p:nvSpPr>
            <p:cNvPr id="30" name="Oval 29"/>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1" name="Chevron 30"/>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45" name="TextBox 44"/>
          <p:cNvSpPr txBox="1"/>
          <p:nvPr/>
        </p:nvSpPr>
        <p:spPr>
          <a:xfrm>
            <a:off x="2063929" y="1872375"/>
            <a:ext cx="2509123" cy="420628"/>
          </a:xfrm>
          <a:prstGeom prst="rect">
            <a:avLst/>
          </a:prstGeom>
          <a:noFill/>
        </p:spPr>
        <p:txBody>
          <a:bodyPr wrap="square" rtlCol="0">
            <a:spAutoFit/>
          </a:bodyPr>
          <a:lstStyle/>
          <a:p>
            <a:pPr lvl="0" algn="ctr"/>
            <a:r>
              <a:rPr lang="en-US" sz="3200" b="1" baseline="-25000" dirty="0" smtClean="0">
                <a:solidFill>
                  <a:schemeClr val="bg1"/>
                </a:solidFill>
              </a:rPr>
              <a:t>Age</a:t>
            </a:r>
            <a:endParaRPr lang="en-US" sz="3200" b="1" baseline="-25000" dirty="0">
              <a:solidFill>
                <a:schemeClr val="bg1"/>
              </a:solidFill>
            </a:endParaRPr>
          </a:p>
        </p:txBody>
      </p:sp>
      <p:grpSp>
        <p:nvGrpSpPr>
          <p:cNvPr id="57" name="Group 56"/>
          <p:cNvGrpSpPr/>
          <p:nvPr/>
        </p:nvGrpSpPr>
        <p:grpSpPr>
          <a:xfrm>
            <a:off x="1531220" y="1420666"/>
            <a:ext cx="306803" cy="306803"/>
            <a:chOff x="1547664" y="3147814"/>
            <a:chExt cx="720080" cy="720080"/>
          </a:xfrm>
        </p:grpSpPr>
        <p:sp>
          <p:nvSpPr>
            <p:cNvPr id="58" name="Oval 57"/>
            <p:cNvSpPr/>
            <p:nvPr/>
          </p:nvSpPr>
          <p:spPr>
            <a:xfrm>
              <a:off x="1547664" y="3147814"/>
              <a:ext cx="720080" cy="720080"/>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59" name="Chevron 58"/>
            <p:cNvSpPr/>
            <p:nvPr/>
          </p:nvSpPr>
          <p:spPr>
            <a:xfrm>
              <a:off x="1741237" y="3312127"/>
              <a:ext cx="391455" cy="391455"/>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bg1"/>
                </a:solidFill>
              </a:endParaRPr>
            </a:p>
          </p:txBody>
        </p:sp>
      </p:grpSp>
      <p:sp>
        <p:nvSpPr>
          <p:cNvPr id="35" name="TextBox 34"/>
          <p:cNvSpPr txBox="1"/>
          <p:nvPr/>
        </p:nvSpPr>
        <p:spPr>
          <a:xfrm>
            <a:off x="3820756" y="1254085"/>
            <a:ext cx="442497" cy="707886"/>
          </a:xfrm>
          <a:prstGeom prst="rect">
            <a:avLst/>
          </a:prstGeom>
          <a:noFill/>
        </p:spPr>
        <p:txBody>
          <a:bodyPr wrap="square" rtlCol="0">
            <a:spAutoFit/>
          </a:bodyPr>
          <a:lstStyle/>
          <a:p>
            <a:r>
              <a:rPr lang="ar-EG" sz="4000" dirty="0" smtClean="0">
                <a:solidFill>
                  <a:srgbClr val="8FE2FF"/>
                </a:solidFill>
              </a:rPr>
              <a:t>1</a:t>
            </a:r>
            <a:endParaRPr lang="en-US" sz="4000" dirty="0">
              <a:solidFill>
                <a:srgbClr val="8FE2FF"/>
              </a:solidFill>
            </a:endParaRPr>
          </a:p>
        </p:txBody>
      </p:sp>
      <p:sp>
        <p:nvSpPr>
          <p:cNvPr id="61" name="TextBox 60"/>
          <p:cNvSpPr txBox="1"/>
          <p:nvPr/>
        </p:nvSpPr>
        <p:spPr>
          <a:xfrm>
            <a:off x="6505767" y="1213513"/>
            <a:ext cx="442497" cy="707886"/>
          </a:xfrm>
          <a:prstGeom prst="rect">
            <a:avLst/>
          </a:prstGeom>
          <a:noFill/>
        </p:spPr>
        <p:txBody>
          <a:bodyPr wrap="square" rtlCol="0">
            <a:spAutoFit/>
          </a:bodyPr>
          <a:lstStyle/>
          <a:p>
            <a:r>
              <a:rPr lang="ar-EG" sz="4000" dirty="0" smtClean="0">
                <a:solidFill>
                  <a:srgbClr val="8FE2FF"/>
                </a:solidFill>
              </a:rPr>
              <a:t>2</a:t>
            </a:r>
            <a:endParaRPr lang="en-US" sz="4000" dirty="0">
              <a:solidFill>
                <a:srgbClr val="8FE2FF"/>
              </a:solidFill>
            </a:endParaRPr>
          </a:p>
        </p:txBody>
      </p:sp>
      <p:sp>
        <p:nvSpPr>
          <p:cNvPr id="62" name="TextBox 61"/>
          <p:cNvSpPr txBox="1"/>
          <p:nvPr/>
        </p:nvSpPr>
        <p:spPr>
          <a:xfrm>
            <a:off x="2471088" y="2961296"/>
            <a:ext cx="442497" cy="707886"/>
          </a:xfrm>
          <a:prstGeom prst="rect">
            <a:avLst/>
          </a:prstGeom>
          <a:noFill/>
        </p:spPr>
        <p:txBody>
          <a:bodyPr wrap="square" rtlCol="0">
            <a:spAutoFit/>
          </a:bodyPr>
          <a:lstStyle/>
          <a:p>
            <a:r>
              <a:rPr lang="ar-EG" sz="4000" dirty="0" smtClean="0">
                <a:solidFill>
                  <a:srgbClr val="8FE2FF"/>
                </a:solidFill>
              </a:rPr>
              <a:t>4</a:t>
            </a:r>
            <a:endParaRPr lang="en-US" sz="4000" dirty="0">
              <a:solidFill>
                <a:srgbClr val="8FE2FF"/>
              </a:solidFill>
            </a:endParaRPr>
          </a:p>
        </p:txBody>
      </p:sp>
      <p:sp>
        <p:nvSpPr>
          <p:cNvPr id="63" name="TextBox 62"/>
          <p:cNvSpPr txBox="1"/>
          <p:nvPr/>
        </p:nvSpPr>
        <p:spPr>
          <a:xfrm>
            <a:off x="5164498" y="2967866"/>
            <a:ext cx="442497" cy="707886"/>
          </a:xfrm>
          <a:prstGeom prst="rect">
            <a:avLst/>
          </a:prstGeom>
          <a:noFill/>
        </p:spPr>
        <p:txBody>
          <a:bodyPr wrap="square" rtlCol="0">
            <a:spAutoFit/>
          </a:bodyPr>
          <a:lstStyle/>
          <a:p>
            <a:r>
              <a:rPr lang="ar-EG" sz="4000" dirty="0" smtClean="0">
                <a:solidFill>
                  <a:srgbClr val="8FE2FF"/>
                </a:solidFill>
              </a:rPr>
              <a:t>3</a:t>
            </a:r>
            <a:endParaRPr lang="en-US" sz="4000" dirty="0">
              <a:solidFill>
                <a:srgbClr val="8FE2FF"/>
              </a:solidFill>
            </a:endParaRPr>
          </a:p>
        </p:txBody>
      </p:sp>
      <p:sp>
        <p:nvSpPr>
          <p:cNvPr id="56" name="Rectangle 55"/>
          <p:cNvSpPr/>
          <p:nvPr/>
        </p:nvSpPr>
        <p:spPr>
          <a:xfrm>
            <a:off x="0" y="4587974"/>
            <a:ext cx="9144000" cy="555526"/>
          </a:xfrm>
          <a:prstGeom prst="rect">
            <a:avLst/>
          </a:prstGeom>
          <a:solidFill>
            <a:srgbClr val="009D9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42" name="TextBox 41"/>
          <p:cNvSpPr txBox="1"/>
          <p:nvPr/>
        </p:nvSpPr>
        <p:spPr>
          <a:xfrm>
            <a:off x="4667100" y="1966069"/>
            <a:ext cx="2509123" cy="461665"/>
          </a:xfrm>
          <a:prstGeom prst="rect">
            <a:avLst/>
          </a:prstGeom>
          <a:noFill/>
        </p:spPr>
        <p:txBody>
          <a:bodyPr wrap="square" rtlCol="0">
            <a:spAutoFit/>
          </a:bodyPr>
          <a:lstStyle/>
          <a:p>
            <a:pPr lvl="0" algn="ctr"/>
            <a:r>
              <a:rPr lang="en-US" sz="2400" b="1" dirty="0" smtClean="0">
                <a:solidFill>
                  <a:schemeClr val="bg1"/>
                </a:solidFill>
              </a:rPr>
              <a:t>Gender</a:t>
            </a:r>
            <a:endParaRPr lang="en-US" sz="2400" b="1" dirty="0">
              <a:solidFill>
                <a:schemeClr val="bg1"/>
              </a:solidFill>
            </a:endParaRPr>
          </a:p>
        </p:txBody>
      </p:sp>
      <p:grpSp>
        <p:nvGrpSpPr>
          <p:cNvPr id="44" name="Group 43"/>
          <p:cNvGrpSpPr/>
          <p:nvPr/>
        </p:nvGrpSpPr>
        <p:grpSpPr>
          <a:xfrm>
            <a:off x="328581" y="2811449"/>
            <a:ext cx="914400" cy="914400"/>
            <a:chOff x="5364088" y="2787774"/>
            <a:chExt cx="914400" cy="914400"/>
          </a:xfrm>
        </p:grpSpPr>
        <p:sp>
          <p:nvSpPr>
            <p:cNvPr id="46" name="Oval 45"/>
            <p:cNvSpPr/>
            <p:nvPr/>
          </p:nvSpPr>
          <p:spPr>
            <a:xfrm>
              <a:off x="5364088" y="2787774"/>
              <a:ext cx="914400" cy="914400"/>
            </a:xfrm>
            <a:prstGeom prst="ellipse">
              <a:avLst/>
            </a:prstGeom>
            <a:solidFill>
              <a:schemeClr val="bg1"/>
            </a:solid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47" name="Oval 46"/>
            <p:cNvSpPr/>
            <p:nvPr/>
          </p:nvSpPr>
          <p:spPr>
            <a:xfrm>
              <a:off x="5443246" y="2866932"/>
              <a:ext cx="756084" cy="756084"/>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grpSp>
      <p:sp>
        <p:nvSpPr>
          <p:cNvPr id="48" name="TextBox 47"/>
          <p:cNvSpPr txBox="1"/>
          <p:nvPr/>
        </p:nvSpPr>
        <p:spPr>
          <a:xfrm>
            <a:off x="525064" y="2883588"/>
            <a:ext cx="442497" cy="707886"/>
          </a:xfrm>
          <a:prstGeom prst="rect">
            <a:avLst/>
          </a:prstGeom>
          <a:noFill/>
        </p:spPr>
        <p:txBody>
          <a:bodyPr wrap="square" rtlCol="0">
            <a:spAutoFit/>
          </a:bodyPr>
          <a:lstStyle/>
          <a:p>
            <a:r>
              <a:rPr lang="en-US" sz="4000" dirty="0" smtClean="0">
                <a:solidFill>
                  <a:srgbClr val="8FE2FF"/>
                </a:solidFill>
              </a:rPr>
              <a:t>5</a:t>
            </a:r>
            <a:endParaRPr lang="en-US" sz="4000" dirty="0">
              <a:solidFill>
                <a:srgbClr val="8FE2FF"/>
              </a:solidFill>
            </a:endParaRPr>
          </a:p>
        </p:txBody>
      </p:sp>
      <p:sp>
        <p:nvSpPr>
          <p:cNvPr id="51" name="TextBox 50"/>
          <p:cNvSpPr txBox="1"/>
          <p:nvPr/>
        </p:nvSpPr>
        <p:spPr>
          <a:xfrm>
            <a:off x="4217892" y="3888950"/>
            <a:ext cx="2509123" cy="461665"/>
          </a:xfrm>
          <a:prstGeom prst="rect">
            <a:avLst/>
          </a:prstGeom>
          <a:noFill/>
        </p:spPr>
        <p:txBody>
          <a:bodyPr wrap="square" rtlCol="0">
            <a:spAutoFit/>
          </a:bodyPr>
          <a:lstStyle/>
          <a:p>
            <a:pPr lvl="0" algn="ctr"/>
            <a:r>
              <a:rPr lang="en-US" sz="2400" b="1" dirty="0">
                <a:solidFill>
                  <a:schemeClr val="bg1"/>
                </a:solidFill>
              </a:rPr>
              <a:t>income level</a:t>
            </a:r>
          </a:p>
        </p:txBody>
      </p:sp>
      <p:sp>
        <p:nvSpPr>
          <p:cNvPr id="52" name="TextBox 51"/>
          <p:cNvSpPr txBox="1"/>
          <p:nvPr/>
        </p:nvSpPr>
        <p:spPr>
          <a:xfrm>
            <a:off x="1461896" y="3882303"/>
            <a:ext cx="2509123" cy="461665"/>
          </a:xfrm>
          <a:prstGeom prst="rect">
            <a:avLst/>
          </a:prstGeom>
          <a:noFill/>
        </p:spPr>
        <p:txBody>
          <a:bodyPr wrap="square" rtlCol="0">
            <a:spAutoFit/>
          </a:bodyPr>
          <a:lstStyle/>
          <a:p>
            <a:pPr lvl="0" algn="ctr"/>
            <a:r>
              <a:rPr lang="en-US" sz="2400" b="1" dirty="0">
                <a:solidFill>
                  <a:schemeClr val="bg1"/>
                </a:solidFill>
              </a:rPr>
              <a:t>ethnicity</a:t>
            </a:r>
          </a:p>
        </p:txBody>
      </p:sp>
      <p:sp>
        <p:nvSpPr>
          <p:cNvPr id="53" name="TextBox 52"/>
          <p:cNvSpPr txBox="1"/>
          <p:nvPr/>
        </p:nvSpPr>
        <p:spPr>
          <a:xfrm>
            <a:off x="-468781" y="3843812"/>
            <a:ext cx="2509123" cy="461665"/>
          </a:xfrm>
          <a:prstGeom prst="rect">
            <a:avLst/>
          </a:prstGeom>
          <a:noFill/>
        </p:spPr>
        <p:txBody>
          <a:bodyPr wrap="square" rtlCol="0">
            <a:spAutoFit/>
          </a:bodyPr>
          <a:lstStyle/>
          <a:p>
            <a:pPr lvl="0" algn="ctr"/>
            <a:r>
              <a:rPr lang="en-US" sz="2400" b="1" dirty="0">
                <a:solidFill>
                  <a:schemeClr val="bg1"/>
                </a:solidFill>
              </a:rPr>
              <a:t>location</a:t>
            </a:r>
          </a:p>
        </p:txBody>
      </p:sp>
    </p:spTree>
    <p:extLst>
      <p:ext uri="{BB962C8B-B14F-4D97-AF65-F5344CB8AC3E}">
        <p14:creationId xmlns:p14="http://schemas.microsoft.com/office/powerpoint/2010/main" val="184446291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3" descr="E:\002-KIMS BUSINESS\007-02-MaxPPT-Contents\150902-com-Global-Laptop\mo900.png">
            <a:extLst>
              <a:ext uri="{FF2B5EF4-FFF2-40B4-BE49-F238E27FC236}">
                <a16:creationId xmlns:a16="http://schemas.microsoft.com/office/drawing/2014/main" xmlns="" id="{3505F014-CDEF-4058-AE04-756173FA6CE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rcRect l="18253"/>
          <a:stretch/>
        </p:blipFill>
        <p:spPr bwMode="auto">
          <a:xfrm>
            <a:off x="0" y="915566"/>
            <a:ext cx="3325249" cy="407022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rot="178828">
            <a:off x="1547664" y="1811906"/>
            <a:ext cx="1339408" cy="1077218"/>
          </a:xfrm>
          <a:prstGeom prst="rect">
            <a:avLst/>
          </a:prstGeom>
          <a:noFill/>
        </p:spPr>
        <p:txBody>
          <a:bodyPr wrap="square" rtlCol="0">
            <a:spAutoFit/>
          </a:bodyPr>
          <a:lstStyle/>
          <a:p>
            <a:pPr algn="ctr"/>
            <a:r>
              <a:rPr lang="en-US" sz="1600" b="1" dirty="0">
                <a:solidFill>
                  <a:schemeClr val="bg1"/>
                </a:solidFill>
              </a:rPr>
              <a:t>Why R&amp;D is important </a:t>
            </a:r>
            <a:endParaRPr lang="en-US" sz="1600" b="1" dirty="0" smtClean="0">
              <a:solidFill>
                <a:schemeClr val="bg1"/>
              </a:solidFill>
            </a:endParaRPr>
          </a:p>
          <a:p>
            <a:pPr algn="ctr"/>
            <a:r>
              <a:rPr lang="en-US" sz="1600" b="1" dirty="0" smtClean="0">
                <a:solidFill>
                  <a:schemeClr val="bg1"/>
                </a:solidFill>
              </a:rPr>
              <a:t>for </a:t>
            </a:r>
            <a:r>
              <a:rPr lang="en-US" sz="1600" b="1" dirty="0">
                <a:solidFill>
                  <a:schemeClr val="bg1"/>
                </a:solidFill>
              </a:rPr>
              <a:t>small </a:t>
            </a:r>
            <a:endParaRPr lang="en-US" sz="1600" b="1" dirty="0" smtClean="0">
              <a:solidFill>
                <a:schemeClr val="bg1"/>
              </a:solidFill>
            </a:endParaRPr>
          </a:p>
          <a:p>
            <a:pPr algn="ctr"/>
            <a:r>
              <a:rPr lang="en-US" sz="1600" b="1" dirty="0" smtClean="0">
                <a:solidFill>
                  <a:schemeClr val="bg1"/>
                </a:solidFill>
              </a:rPr>
              <a:t>business</a:t>
            </a:r>
            <a:endParaRPr lang="en-US" sz="1600" b="1" dirty="0">
              <a:solidFill>
                <a:schemeClr val="bg1"/>
              </a:solidFill>
            </a:endParaRPr>
          </a:p>
        </p:txBody>
      </p:sp>
      <p:sp>
        <p:nvSpPr>
          <p:cNvPr id="10" name="TextBox 9"/>
          <p:cNvSpPr txBox="1"/>
          <p:nvPr/>
        </p:nvSpPr>
        <p:spPr>
          <a:xfrm>
            <a:off x="3563888" y="1779290"/>
            <a:ext cx="5400600" cy="1477328"/>
          </a:xfrm>
          <a:prstGeom prst="rect">
            <a:avLst/>
          </a:prstGeom>
          <a:noFill/>
        </p:spPr>
        <p:txBody>
          <a:bodyPr wrap="square" rtlCol="0">
            <a:spAutoFit/>
          </a:bodyPr>
          <a:lstStyle/>
          <a:p>
            <a:r>
              <a:rPr lang="en-US" b="1" dirty="0">
                <a:solidFill>
                  <a:schemeClr val="bg1"/>
                </a:solidFill>
              </a:rPr>
              <a:t>Research and development (R&amp;D) isn't something only big corporations can do. Small businesses can leverage R&amp;D to compete on and lead the market too.</a:t>
            </a:r>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2626349943"/>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9512" y="1203598"/>
            <a:ext cx="8784976" cy="4801314"/>
          </a:xfrm>
          <a:prstGeom prst="rect">
            <a:avLst/>
          </a:prstGeom>
          <a:noFill/>
        </p:spPr>
        <p:txBody>
          <a:bodyPr wrap="square" rtlCol="0">
            <a:spAutoFit/>
          </a:bodyPr>
          <a:lstStyle/>
          <a:p>
            <a:pPr marL="342900" indent="-342900">
              <a:buFont typeface="+mj-lt"/>
              <a:buAutoNum type="arabicPeriod"/>
            </a:pPr>
            <a:r>
              <a:rPr lang="en-US" b="1" dirty="0" smtClean="0">
                <a:solidFill>
                  <a:schemeClr val="bg1"/>
                </a:solidFill>
              </a:rPr>
              <a:t>Unique </a:t>
            </a:r>
            <a:r>
              <a:rPr lang="en-US" b="1" dirty="0">
                <a:solidFill>
                  <a:schemeClr val="bg1"/>
                </a:solidFill>
              </a:rPr>
              <a:t>selling point</a:t>
            </a:r>
            <a:r>
              <a:rPr lang="en-US" dirty="0">
                <a:solidFill>
                  <a:schemeClr val="bg1"/>
                </a:solidFill>
              </a:rPr>
              <a:t> – R&amp;D can help you develop unique products and services. These don't always have to be entirely new. R&amp;D can drive product improvement or innovation within the existing business </a:t>
            </a:r>
            <a:r>
              <a:rPr lang="en-US" dirty="0" smtClean="0">
                <a:solidFill>
                  <a:schemeClr val="bg1"/>
                </a:solidFill>
              </a:rPr>
              <a:t>offering</a:t>
            </a:r>
          </a:p>
          <a:p>
            <a:pPr marL="342900" indent="-342900">
              <a:buAutoNum type="arabicPeriod"/>
            </a:pPr>
            <a:endParaRPr lang="en-US" dirty="0">
              <a:solidFill>
                <a:schemeClr val="bg1"/>
              </a:solidFill>
            </a:endParaRPr>
          </a:p>
          <a:p>
            <a:pPr marL="342900" indent="-342900">
              <a:buFont typeface="+mj-lt"/>
              <a:buAutoNum type="arabicPeriod"/>
            </a:pPr>
            <a:r>
              <a:rPr lang="en-US" b="1" dirty="0" smtClean="0">
                <a:solidFill>
                  <a:schemeClr val="bg1"/>
                </a:solidFill>
              </a:rPr>
              <a:t>Income</a:t>
            </a:r>
            <a:r>
              <a:rPr lang="en-US" dirty="0">
                <a:solidFill>
                  <a:schemeClr val="bg1"/>
                </a:solidFill>
              </a:rPr>
              <a:t> – unique products and services resulting from successful R&amp;D projects can bring financial benefits to business. This is usually through generating new or enhanced income streams, but R&amp;D can also attract potential new investors to your business. </a:t>
            </a:r>
            <a:endParaRPr lang="en-US" dirty="0" smtClean="0">
              <a:solidFill>
                <a:schemeClr val="bg1"/>
              </a:solidFill>
            </a:endParaRPr>
          </a:p>
          <a:p>
            <a:pPr marL="342900" indent="-342900">
              <a:buFont typeface="+mj-lt"/>
              <a:buAutoNum type="arabicPeriod"/>
            </a:pPr>
            <a:endParaRPr lang="en-US" dirty="0">
              <a:solidFill>
                <a:schemeClr val="bg1"/>
              </a:solidFill>
            </a:endParaRPr>
          </a:p>
          <a:p>
            <a:pPr marL="342900" indent="-342900">
              <a:buFont typeface="+mj-lt"/>
              <a:buAutoNum type="arabicPeriod"/>
            </a:pPr>
            <a:r>
              <a:rPr lang="en-US" b="1" dirty="0">
                <a:solidFill>
                  <a:schemeClr val="bg1"/>
                </a:solidFill>
              </a:rPr>
              <a:t>3. Funding</a:t>
            </a:r>
            <a:r>
              <a:rPr lang="en-US" dirty="0">
                <a:solidFill>
                  <a:schemeClr val="bg1"/>
                </a:solidFill>
              </a:rPr>
              <a:t> – doing R&amp;D can have cost implications for small business. However, R&amp;D can also offer many opportunities for businesses to seek public-sector </a:t>
            </a:r>
            <a:r>
              <a:rPr lang="en-US" b="1" dirty="0">
                <a:solidFill>
                  <a:schemeClr val="bg1"/>
                </a:solidFill>
              </a:rPr>
              <a:t>innovation, research and development grants</a:t>
            </a:r>
            <a:r>
              <a:rPr lang="en-US" dirty="0">
                <a:solidFill>
                  <a:schemeClr val="bg1"/>
                </a:solidFill>
              </a:rPr>
              <a:t> or even</a:t>
            </a:r>
            <a:r>
              <a:rPr lang="en-US" b="1" dirty="0">
                <a:solidFill>
                  <a:schemeClr val="bg1"/>
                </a:solidFill>
              </a:rPr>
              <a:t> </a:t>
            </a:r>
            <a:r>
              <a:rPr lang="en-US" dirty="0">
                <a:solidFill>
                  <a:schemeClr val="bg1"/>
                </a:solidFill>
              </a:rPr>
              <a:t>funding</a:t>
            </a:r>
            <a:r>
              <a:rPr lang="en-US" b="1" dirty="0">
                <a:solidFill>
                  <a:schemeClr val="bg1"/>
                </a:solidFill>
              </a:rPr>
              <a:t> for innovation</a:t>
            </a:r>
            <a:r>
              <a:rPr lang="en-US" dirty="0">
                <a:solidFill>
                  <a:schemeClr val="bg1"/>
                </a:solidFill>
              </a:rPr>
              <a:t>.</a:t>
            </a: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dirty="0">
              <a:solidFill>
                <a:schemeClr val="bg1"/>
              </a:solidFill>
            </a:endParaRPr>
          </a:p>
          <a:p>
            <a:pPr marL="342900" indent="-342900">
              <a:buFont typeface="+mj-lt"/>
              <a:buAutoNum type="arabicPeriod"/>
            </a:pPr>
            <a:endParaRPr lang="en-US" dirty="0">
              <a:solidFill>
                <a:schemeClr val="bg1"/>
              </a:solidFill>
            </a:endParaRPr>
          </a:p>
          <a:p>
            <a:pPr marL="342900" indent="-342900">
              <a:buAutoNum type="arabicPeriod"/>
            </a:pPr>
            <a:endParaRPr lang="en-US" dirty="0">
              <a:solidFill>
                <a:schemeClr val="bg1"/>
              </a:solidFill>
            </a:endParaRPr>
          </a:p>
          <a:p>
            <a:pPr marL="342900" indent="-342900">
              <a:buFont typeface="+mj-lt"/>
              <a:buAutoNum type="arabicPeriod"/>
            </a:pPr>
            <a:endParaRPr lang="en-US" dirty="0">
              <a:solidFill>
                <a:schemeClr val="bg1"/>
              </a:solidFill>
            </a:endParaRPr>
          </a:p>
        </p:txBody>
      </p:sp>
      <p:sp>
        <p:nvSpPr>
          <p:cNvPr id="2" name="Rectangle 1"/>
          <p:cNvSpPr/>
          <p:nvPr/>
        </p:nvSpPr>
        <p:spPr>
          <a:xfrm>
            <a:off x="179512" y="483518"/>
            <a:ext cx="7703519" cy="584775"/>
          </a:xfrm>
          <a:prstGeom prst="rect">
            <a:avLst/>
          </a:prstGeom>
        </p:spPr>
        <p:txBody>
          <a:bodyPr wrap="none">
            <a:spAutoFit/>
          </a:bodyPr>
          <a:lstStyle/>
          <a:p>
            <a:r>
              <a:rPr lang="en-US" sz="3200" b="1" dirty="0"/>
              <a:t>Ways R&amp;D can help you bring it to life:</a:t>
            </a:r>
          </a:p>
        </p:txBody>
      </p:sp>
    </p:spTree>
    <p:extLst>
      <p:ext uri="{BB962C8B-B14F-4D97-AF65-F5344CB8AC3E}">
        <p14:creationId xmlns:p14="http://schemas.microsoft.com/office/powerpoint/2010/main" val="4032673288"/>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9512" y="267494"/>
            <a:ext cx="8784976" cy="5078313"/>
          </a:xfrm>
          <a:prstGeom prst="rect">
            <a:avLst/>
          </a:prstGeom>
          <a:noFill/>
        </p:spPr>
        <p:txBody>
          <a:bodyPr wrap="square" rtlCol="0">
            <a:spAutoFit/>
          </a:bodyPr>
          <a:lstStyle/>
          <a:p>
            <a:r>
              <a:rPr lang="en-US" b="1" dirty="0">
                <a:solidFill>
                  <a:schemeClr val="bg1"/>
                </a:solidFill>
              </a:rPr>
              <a:t>4. Tax relief</a:t>
            </a:r>
            <a:r>
              <a:rPr lang="en-US" dirty="0">
                <a:solidFill>
                  <a:schemeClr val="bg1"/>
                </a:solidFill>
              </a:rPr>
              <a:t> “ in some countries” – you can claim R&amp;D tax relief to reduce your company's tax bill or, alternatively, choose to receive a tax credit instead by way of a cash sum paid by HM Revenue and Customs. Only qualifying R&amp;D expenditure will be considered for tax relief purposes.</a:t>
            </a:r>
          </a:p>
          <a:p>
            <a:endParaRPr lang="en-US" dirty="0" smtClean="0">
              <a:solidFill>
                <a:schemeClr val="bg1"/>
              </a:solidFill>
            </a:endParaRPr>
          </a:p>
          <a:p>
            <a:r>
              <a:rPr lang="en-US" b="1" dirty="0">
                <a:solidFill>
                  <a:schemeClr val="bg1"/>
                </a:solidFill>
              </a:rPr>
              <a:t>5. Competitive edge</a:t>
            </a:r>
            <a:r>
              <a:rPr lang="en-US" dirty="0">
                <a:solidFill>
                  <a:schemeClr val="bg1"/>
                </a:solidFill>
              </a:rPr>
              <a:t> - through R&amp;D, you can develop advantage over your competitors and establish yourself as leaders in the market. Development of new products and services can also generate new intellectual property for your business which could further benefit you financially. </a:t>
            </a:r>
          </a:p>
          <a:p>
            <a:endParaRPr lang="en-US" dirty="0">
              <a:solidFill>
                <a:schemeClr val="bg1"/>
              </a:solidFill>
            </a:endParaRPr>
          </a:p>
          <a:p>
            <a:endParaRPr lang="en-US" dirty="0" smtClean="0">
              <a:solidFill>
                <a:schemeClr val="bg1"/>
              </a:solidFill>
            </a:endParaRPr>
          </a:p>
          <a:p>
            <a:r>
              <a:rPr lang="en-US" b="1" dirty="0">
                <a:solidFill>
                  <a:schemeClr val="bg1"/>
                </a:solidFill>
              </a:rPr>
              <a:t>6. Collaboration</a:t>
            </a:r>
            <a:r>
              <a:rPr lang="en-US" dirty="0">
                <a:solidFill>
                  <a:schemeClr val="bg1"/>
                </a:solidFill>
              </a:rPr>
              <a:t> – collaboration can be a key element of any R&amp;D project, and is often crucial to achieving success. Collaboration can take place between your business and another enterprise, university or college. It allows for the transfer of skills and knowledge, and access to facilities, expertise and potentially new ideas that would otherwise be out of reach of your business. </a:t>
            </a: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3600209681"/>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9512" y="267494"/>
            <a:ext cx="8784976" cy="5078313"/>
          </a:xfrm>
          <a:prstGeom prst="rect">
            <a:avLst/>
          </a:prstGeom>
          <a:noFill/>
        </p:spPr>
        <p:txBody>
          <a:bodyPr wrap="square" rtlCol="0">
            <a:spAutoFit/>
          </a:bodyPr>
          <a:lstStyle/>
          <a:p>
            <a:r>
              <a:rPr lang="en-US" b="1" dirty="0">
                <a:solidFill>
                  <a:schemeClr val="bg1"/>
                </a:solidFill>
              </a:rPr>
              <a:t>4. Tax relief</a:t>
            </a:r>
            <a:r>
              <a:rPr lang="en-US" dirty="0">
                <a:solidFill>
                  <a:schemeClr val="bg1"/>
                </a:solidFill>
              </a:rPr>
              <a:t> “ in some countries” – you can claim R&amp;D tax relief to reduce your company's tax bill or, alternatively, choose to receive a tax credit instead by way of a cash sum paid by HM Revenue and Customs. Only qualifying R&amp;D expenditure will be considered for tax relief purposes.</a:t>
            </a:r>
          </a:p>
          <a:p>
            <a:endParaRPr lang="en-US" dirty="0" smtClean="0">
              <a:solidFill>
                <a:schemeClr val="bg1"/>
              </a:solidFill>
            </a:endParaRPr>
          </a:p>
          <a:p>
            <a:r>
              <a:rPr lang="en-US" b="1" dirty="0">
                <a:solidFill>
                  <a:schemeClr val="bg1"/>
                </a:solidFill>
              </a:rPr>
              <a:t>5. Competitive edge</a:t>
            </a:r>
            <a:r>
              <a:rPr lang="en-US" dirty="0">
                <a:solidFill>
                  <a:schemeClr val="bg1"/>
                </a:solidFill>
              </a:rPr>
              <a:t> - through R&amp;D, you can develop advantage over your competitors and establish yourself as leaders in the market. Development of new products and services can also generate new intellectual property for your business which could further benefit you financially. </a:t>
            </a:r>
          </a:p>
          <a:p>
            <a:endParaRPr lang="en-US" dirty="0">
              <a:solidFill>
                <a:schemeClr val="bg1"/>
              </a:solidFill>
            </a:endParaRPr>
          </a:p>
          <a:p>
            <a:endParaRPr lang="en-US" dirty="0" smtClean="0">
              <a:solidFill>
                <a:schemeClr val="bg1"/>
              </a:solidFill>
            </a:endParaRPr>
          </a:p>
          <a:p>
            <a:r>
              <a:rPr lang="en-US" b="1" dirty="0">
                <a:solidFill>
                  <a:schemeClr val="bg1"/>
                </a:solidFill>
              </a:rPr>
              <a:t>6. Collaboration</a:t>
            </a:r>
            <a:r>
              <a:rPr lang="en-US" dirty="0">
                <a:solidFill>
                  <a:schemeClr val="bg1"/>
                </a:solidFill>
              </a:rPr>
              <a:t> – collaboration can be a key element of any R&amp;D project, and is often crucial to achieving success. Collaboration can take place between your business and another enterprise, university or college. It allows for the transfer of skills and knowledge, and access to facilities, expertise and potentially new ideas that would otherwise be out of reach of your business. </a:t>
            </a:r>
          </a:p>
          <a:p>
            <a:endParaRPr lang="en-US" dirty="0">
              <a:solidFill>
                <a:schemeClr val="bg1"/>
              </a:solidFill>
            </a:endParaRPr>
          </a:p>
          <a:p>
            <a:endParaRPr lang="en-US" dirty="0">
              <a:solidFill>
                <a:schemeClr val="bg1"/>
              </a:solidFill>
            </a:endParaRPr>
          </a:p>
        </p:txBody>
      </p:sp>
    </p:spTree>
    <p:extLst>
      <p:ext uri="{BB962C8B-B14F-4D97-AF65-F5344CB8AC3E}">
        <p14:creationId xmlns:p14="http://schemas.microsoft.com/office/powerpoint/2010/main" val="14580453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79512" y="267494"/>
            <a:ext cx="8784976" cy="1477328"/>
          </a:xfrm>
          <a:prstGeom prst="rect">
            <a:avLst/>
          </a:prstGeom>
          <a:noFill/>
        </p:spPr>
        <p:txBody>
          <a:bodyPr wrap="square" rtlCol="0">
            <a:spAutoFit/>
          </a:bodyPr>
          <a:lstStyle/>
          <a:p>
            <a:r>
              <a:rPr lang="en-US" b="1" dirty="0">
                <a:solidFill>
                  <a:schemeClr val="bg1"/>
                </a:solidFill>
              </a:rPr>
              <a:t>7. Reputation</a:t>
            </a:r>
            <a:r>
              <a:rPr lang="en-US" dirty="0">
                <a:solidFill>
                  <a:schemeClr val="bg1"/>
                </a:solidFill>
              </a:rPr>
              <a:t> - engaging in R&amp;D can help you strengthen your brand and reputation. If you’re collaborating with a trusted, reputable partner or a strong scientific institution, the commercial success of resulting products and services can benefit from their involvement. </a:t>
            </a:r>
          </a:p>
          <a:p>
            <a:endParaRPr lang="en-US" dirty="0">
              <a:solidFill>
                <a:schemeClr val="bg1"/>
              </a:solidFill>
            </a:endParaRPr>
          </a:p>
        </p:txBody>
      </p:sp>
    </p:spTree>
    <p:extLst>
      <p:ext uri="{BB962C8B-B14F-4D97-AF65-F5344CB8AC3E}">
        <p14:creationId xmlns:p14="http://schemas.microsoft.com/office/powerpoint/2010/main" val="230418825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xmlns="" id="{C4764500-2214-4430-B440-EC615A3A1658}"/>
              </a:ext>
            </a:extLst>
          </p:cNvPr>
          <p:cNvSpPr/>
          <p:nvPr/>
        </p:nvSpPr>
        <p:spPr>
          <a:xfrm>
            <a:off x="251520" y="585885"/>
            <a:ext cx="4176464" cy="385807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1" name="Rounded Rectangle 17">
            <a:extLst>
              <a:ext uri="{FF2B5EF4-FFF2-40B4-BE49-F238E27FC236}">
                <a16:creationId xmlns:a16="http://schemas.microsoft.com/office/drawing/2014/main" xmlns="" id="{52BC6E8B-AD4E-4E2E-82AF-63ED16A39DF0}"/>
              </a:ext>
            </a:extLst>
          </p:cNvPr>
          <p:cNvSpPr/>
          <p:nvPr/>
        </p:nvSpPr>
        <p:spPr>
          <a:xfrm>
            <a:off x="395536" y="235782"/>
            <a:ext cx="3799452" cy="616126"/>
          </a:xfrm>
          <a:prstGeom prst="roundRect">
            <a:avLst>
              <a:gd name="adj" fmla="val 50000"/>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FABEBF"/>
              </a:solidFill>
            </a:endParaRPr>
          </a:p>
        </p:txBody>
      </p:sp>
      <p:sp>
        <p:nvSpPr>
          <p:cNvPr id="12" name="Rectangle 11">
            <a:extLst>
              <a:ext uri="{FF2B5EF4-FFF2-40B4-BE49-F238E27FC236}">
                <a16:creationId xmlns:a16="http://schemas.microsoft.com/office/drawing/2014/main" xmlns="" id="{C4764500-2214-4430-B440-EC615A3A1658}"/>
              </a:ext>
            </a:extLst>
          </p:cNvPr>
          <p:cNvSpPr/>
          <p:nvPr/>
        </p:nvSpPr>
        <p:spPr>
          <a:xfrm>
            <a:off x="4644008" y="555526"/>
            <a:ext cx="4248472" cy="3888433"/>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i="1" baseline="-25000" smtClean="0">
                <a:solidFill>
                  <a:schemeClr val="bg1"/>
                </a:solidFill>
              </a:rPr>
              <a:t>Assessment</a:t>
            </a:r>
            <a:endParaRPr lang="en-US" sz="2800" baseline="-25000" dirty="0">
              <a:solidFill>
                <a:schemeClr val="bg1"/>
              </a:solidFill>
            </a:endParaRPr>
          </a:p>
        </p:txBody>
      </p:sp>
      <p:sp>
        <p:nvSpPr>
          <p:cNvPr id="13" name="Rounded Rectangle 17">
            <a:extLst>
              <a:ext uri="{FF2B5EF4-FFF2-40B4-BE49-F238E27FC236}">
                <a16:creationId xmlns:a16="http://schemas.microsoft.com/office/drawing/2014/main" xmlns="" id="{52BC6E8B-AD4E-4E2E-82AF-63ED16A39DF0}"/>
              </a:ext>
            </a:extLst>
          </p:cNvPr>
          <p:cNvSpPr/>
          <p:nvPr/>
        </p:nvSpPr>
        <p:spPr>
          <a:xfrm>
            <a:off x="4788024" y="227432"/>
            <a:ext cx="3799452" cy="616126"/>
          </a:xfrm>
          <a:prstGeom prst="roundRect">
            <a:avLst>
              <a:gd name="adj" fmla="val 50000"/>
            </a:avLst>
          </a:prstGeom>
          <a:solidFill>
            <a:srgbClr val="FABE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rgbClr val="262626"/>
              </a:solidFill>
            </a:endParaRPr>
          </a:p>
        </p:txBody>
      </p:sp>
      <p:sp>
        <p:nvSpPr>
          <p:cNvPr id="14" name="TextBox 13"/>
          <p:cNvSpPr txBox="1"/>
          <p:nvPr/>
        </p:nvSpPr>
        <p:spPr>
          <a:xfrm>
            <a:off x="323528" y="1119971"/>
            <a:ext cx="4015476" cy="3323987"/>
          </a:xfrm>
          <a:prstGeom prst="rect">
            <a:avLst/>
          </a:prstGeom>
          <a:noFill/>
        </p:spPr>
        <p:txBody>
          <a:bodyPr wrap="square" rtlCol="0">
            <a:spAutoFit/>
          </a:bodyPr>
          <a:lstStyle/>
          <a:p>
            <a:pPr marL="514350" lvl="0" indent="-514350">
              <a:buFont typeface="+mj-lt"/>
              <a:buAutoNum type="arabicPeriod"/>
            </a:pPr>
            <a:r>
              <a:rPr lang="en-US" sz="1600" dirty="0"/>
              <a:t>What are two general ways in which a business grows</a:t>
            </a:r>
            <a:r>
              <a:rPr lang="en-US" sz="1600" dirty="0" smtClean="0"/>
              <a:t>?</a:t>
            </a:r>
          </a:p>
          <a:p>
            <a:pPr marL="514350" lvl="0" indent="-514350">
              <a:buFont typeface="+mj-lt"/>
              <a:buAutoNum type="arabicPeriod"/>
            </a:pPr>
            <a:endParaRPr lang="en-US" sz="1600" dirty="0"/>
          </a:p>
          <a:p>
            <a:pPr marL="514350" lvl="0" indent="-514350">
              <a:buFont typeface="+mj-lt"/>
              <a:buAutoNum type="arabicPeriod"/>
            </a:pPr>
            <a:r>
              <a:rPr lang="en-US" sz="1600" dirty="0"/>
              <a:t>Name three factors that affect the decision to grow (expand) a business</a:t>
            </a:r>
            <a:r>
              <a:rPr lang="en-US" sz="1600" dirty="0" smtClean="0"/>
              <a:t>.</a:t>
            </a:r>
          </a:p>
          <a:p>
            <a:pPr marL="514350" lvl="0" indent="-514350">
              <a:buFont typeface="+mj-lt"/>
              <a:buAutoNum type="arabicPeriod"/>
            </a:pPr>
            <a:endParaRPr lang="en-US" sz="1600" dirty="0"/>
          </a:p>
          <a:p>
            <a:pPr marL="514350" lvl="0" indent="-514350">
              <a:buFont typeface="+mj-lt"/>
              <a:buAutoNum type="arabicPeriod"/>
            </a:pPr>
            <a:r>
              <a:rPr lang="en-US" sz="1600" dirty="0"/>
              <a:t>What are the four stages of a product life cycle</a:t>
            </a:r>
            <a:r>
              <a:rPr lang="en-US" sz="1600" dirty="0" smtClean="0"/>
              <a:t>?</a:t>
            </a:r>
          </a:p>
          <a:p>
            <a:pPr marL="514350" lvl="0" indent="-514350">
              <a:buFont typeface="+mj-lt"/>
              <a:buAutoNum type="arabicPeriod"/>
            </a:pPr>
            <a:endParaRPr lang="en-US" sz="1600" dirty="0"/>
          </a:p>
          <a:p>
            <a:pPr marL="514350" lvl="0" indent="-514350">
              <a:buFont typeface="+mj-lt"/>
              <a:buAutoNum type="arabicPeriod"/>
            </a:pPr>
            <a:r>
              <a:rPr lang="en-US" sz="1600" dirty="0"/>
              <a:t>List five ways a business can lower its expenses and help the environment.</a:t>
            </a:r>
          </a:p>
          <a:p>
            <a:pPr marL="514350" indent="-514350">
              <a:buFont typeface="+mj-lt"/>
              <a:buAutoNum type="arabicPeriod"/>
            </a:pPr>
            <a:endParaRPr lang="en-US" sz="1600" dirty="0"/>
          </a:p>
        </p:txBody>
      </p:sp>
      <p:sp>
        <p:nvSpPr>
          <p:cNvPr id="18" name="TextBox 17"/>
          <p:cNvSpPr txBox="1"/>
          <p:nvPr/>
        </p:nvSpPr>
        <p:spPr>
          <a:xfrm>
            <a:off x="683568" y="282235"/>
            <a:ext cx="3024336" cy="523220"/>
          </a:xfrm>
          <a:prstGeom prst="rect">
            <a:avLst/>
          </a:prstGeom>
          <a:noFill/>
        </p:spPr>
        <p:txBody>
          <a:bodyPr wrap="square" rtlCol="0">
            <a:spAutoFit/>
          </a:bodyPr>
          <a:lstStyle/>
          <a:p>
            <a:pPr algn="ctr"/>
            <a:r>
              <a:rPr lang="en-US" sz="2800" b="1" i="1" dirty="0" smtClean="0">
                <a:solidFill>
                  <a:schemeClr val="bg1"/>
                </a:solidFill>
              </a:rPr>
              <a:t>Assessment</a:t>
            </a:r>
            <a:endParaRPr lang="en-US" sz="2800" dirty="0">
              <a:solidFill>
                <a:schemeClr val="bg1"/>
              </a:solidFill>
            </a:endParaRPr>
          </a:p>
        </p:txBody>
      </p:sp>
      <p:sp>
        <p:nvSpPr>
          <p:cNvPr id="20" name="TextBox 19"/>
          <p:cNvSpPr txBox="1"/>
          <p:nvPr/>
        </p:nvSpPr>
        <p:spPr>
          <a:xfrm>
            <a:off x="4896216" y="1070615"/>
            <a:ext cx="3816424" cy="1169551"/>
          </a:xfrm>
          <a:prstGeom prst="rect">
            <a:avLst/>
          </a:prstGeom>
          <a:noFill/>
        </p:spPr>
        <p:txBody>
          <a:bodyPr wrap="square" rtlCol="0">
            <a:spAutoFit/>
          </a:bodyPr>
          <a:lstStyle/>
          <a:p>
            <a:r>
              <a:rPr lang="en-US" sz="1400" dirty="0"/>
              <a:t>Working with three classmates, develop a poster showing the four stages in a product life cycle, with two products, product groups, brands, or industries that currently fall into each one.</a:t>
            </a:r>
          </a:p>
          <a:p>
            <a:endParaRPr lang="en-US" sz="1400" dirty="0"/>
          </a:p>
        </p:txBody>
      </p:sp>
      <p:sp>
        <p:nvSpPr>
          <p:cNvPr id="21" name="TextBox 20"/>
          <p:cNvSpPr txBox="1"/>
          <p:nvPr/>
        </p:nvSpPr>
        <p:spPr>
          <a:xfrm>
            <a:off x="5851172" y="273885"/>
            <a:ext cx="2736304" cy="523220"/>
          </a:xfrm>
          <a:prstGeom prst="rect">
            <a:avLst/>
          </a:prstGeom>
          <a:noFill/>
        </p:spPr>
        <p:txBody>
          <a:bodyPr wrap="square" rtlCol="0">
            <a:spAutoFit/>
          </a:bodyPr>
          <a:lstStyle/>
          <a:p>
            <a:r>
              <a:rPr lang="en-US" sz="2800" b="1" i="1" dirty="0" smtClean="0">
                <a:solidFill>
                  <a:schemeClr val="bg1"/>
                </a:solidFill>
              </a:rPr>
              <a:t>Activity</a:t>
            </a:r>
            <a:endParaRPr lang="en-US" dirty="0">
              <a:solidFill>
                <a:schemeClr val="bg1"/>
              </a:solidFill>
            </a:endParaRPr>
          </a:p>
        </p:txBody>
      </p:sp>
      <p:sp>
        <p:nvSpPr>
          <p:cNvPr id="26" name="Rectangle 25"/>
          <p:cNvSpPr/>
          <p:nvPr/>
        </p:nvSpPr>
        <p:spPr>
          <a:xfrm>
            <a:off x="251520" y="4572061"/>
            <a:ext cx="8640960" cy="238031"/>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Tree>
    <p:extLst>
      <p:ext uri="{BB962C8B-B14F-4D97-AF65-F5344CB8AC3E}">
        <p14:creationId xmlns:p14="http://schemas.microsoft.com/office/powerpoint/2010/main" val="264484933"/>
      </p:ext>
    </p:extLst>
  </p:cSld>
  <p:clrMapOvr>
    <a:masterClrMapping/>
  </p:clrMapOvr>
  <p:timing>
    <p:tnLst>
      <p:par>
        <p:cTn id="1" dur="indefinite" restart="never" nodeType="tmRoot"/>
      </p:par>
    </p:tnLst>
  </p:timing>
</p:sld>
</file>

<file path=ppt/theme/theme1.xml><?xml version="1.0" encoding="utf-8"?>
<a:theme xmlns:a="http://schemas.openxmlformats.org/drawingml/2006/main" name="Contents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1">
            <a:lumMod val="75000"/>
            <a:lumOff val="25000"/>
          </a:schemeClr>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Section Break Slide Master">
  <a:themeElements>
    <a:clrScheme name="ALLPPT-COLOR-A17">
      <a:dk1>
        <a:sysClr val="windowText" lastClr="000000"/>
      </a:dk1>
      <a:lt1>
        <a:sysClr val="window" lastClr="FFFFFF"/>
      </a:lt1>
      <a:dk2>
        <a:srgbClr val="1F497D"/>
      </a:dk2>
      <a:lt2>
        <a:srgbClr val="EEECE1"/>
      </a:lt2>
      <a:accent1>
        <a:srgbClr val="FFCE29"/>
      </a:accent1>
      <a:accent2>
        <a:srgbClr val="F2BF27"/>
      </a:accent2>
      <a:accent3>
        <a:srgbClr val="ED1C24"/>
      </a:accent3>
      <a:accent4>
        <a:srgbClr val="FFCE29"/>
      </a:accent4>
      <a:accent5>
        <a:srgbClr val="F2BF27"/>
      </a:accent5>
      <a:accent6>
        <a:srgbClr val="ED1C24"/>
      </a:accent6>
      <a:hlink>
        <a:srgbClr val="3F3F3F"/>
      </a:hlink>
      <a:folHlink>
        <a:srgbClr val="3F3F3F"/>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2841</TotalTime>
  <Words>4360</Words>
  <Application>Microsoft Office PowerPoint</Application>
  <PresentationFormat>On-screen Show (16:9)</PresentationFormat>
  <Paragraphs>413</Paragraphs>
  <Slides>87</Slides>
  <Notes>18</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87</vt:i4>
      </vt:variant>
    </vt:vector>
  </HeadingPairs>
  <TitlesOfParts>
    <vt:vector size="92" baseType="lpstr">
      <vt:lpstr>Arial Unicode MS</vt:lpstr>
      <vt:lpstr>맑은 고딕</vt:lpstr>
      <vt:lpstr>Arial</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googleslidesppt.com;allppt.com</dc:creator>
  <cp:lastModifiedBy>Halla Fouad</cp:lastModifiedBy>
  <cp:revision>278</cp:revision>
  <dcterms:created xsi:type="dcterms:W3CDTF">2016-12-05T23:26:54Z</dcterms:created>
  <dcterms:modified xsi:type="dcterms:W3CDTF">2019-03-20T15:17:41Z</dcterms:modified>
</cp:coreProperties>
</file>