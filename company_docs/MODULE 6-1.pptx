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</p:sldMasterIdLst>
  <p:notesMasterIdLst>
    <p:notesMasterId r:id="rId30"/>
  </p:notesMasterIdLst>
  <p:sldIdLst>
    <p:sldId id="256" r:id="rId3"/>
    <p:sldId id="265" r:id="rId4"/>
    <p:sldId id="261" r:id="rId5"/>
    <p:sldId id="443" r:id="rId6"/>
    <p:sldId id="268" r:id="rId7"/>
    <p:sldId id="282" r:id="rId8"/>
    <p:sldId id="277" r:id="rId9"/>
    <p:sldId id="281" r:id="rId10"/>
    <p:sldId id="337" r:id="rId11"/>
    <p:sldId id="279" r:id="rId12"/>
    <p:sldId id="338" r:id="rId13"/>
    <p:sldId id="342" r:id="rId14"/>
    <p:sldId id="339" r:id="rId15"/>
    <p:sldId id="344" r:id="rId16"/>
    <p:sldId id="416" r:id="rId17"/>
    <p:sldId id="347" r:id="rId18"/>
    <p:sldId id="349" r:id="rId19"/>
    <p:sldId id="375" r:id="rId20"/>
    <p:sldId id="298" r:id="rId21"/>
    <p:sldId id="302" r:id="rId22"/>
    <p:sldId id="444" r:id="rId23"/>
    <p:sldId id="445" r:id="rId24"/>
    <p:sldId id="447" r:id="rId25"/>
    <p:sldId id="448" r:id="rId26"/>
    <p:sldId id="446" r:id="rId27"/>
    <p:sldId id="449" r:id="rId28"/>
    <p:sldId id="450" r:id="rId2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B800"/>
    <a:srgbClr val="FABEBF"/>
    <a:srgbClr val="6DA18A"/>
    <a:srgbClr val="53D2FF"/>
    <a:srgbClr val="8FE2FF"/>
    <a:srgbClr val="FF3B3B"/>
    <a:srgbClr val="EF313A"/>
    <a:srgbClr val="ED1C24"/>
    <a:srgbClr val="FFDD4F"/>
    <a:srgbClr val="009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5036" autoAdjust="0"/>
  </p:normalViewPr>
  <p:slideViewPr>
    <p:cSldViewPr>
      <p:cViewPr varScale="1">
        <p:scale>
          <a:sx n="102" d="100"/>
          <a:sy n="102" d="100"/>
        </p:scale>
        <p:origin x="91" y="240"/>
      </p:cViewPr>
      <p:guideLst>
        <p:guide orient="horz" pos="19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DA3F-ED3A-4897-B8F3-C49A97F730D1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ED4F-90B4-4BD8-A817-6A0A9D036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60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0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=""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=""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=""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=""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=""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=""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=""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=""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=""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=""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411510"/>
            <a:ext cx="2303282" cy="136815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779662"/>
            <a:ext cx="2303282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=""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0" y="2571749"/>
            <a:ext cx="2984923" cy="257175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=""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=""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=""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=""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=""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=""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=""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=""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251520" y="339502"/>
            <a:ext cx="8640960" cy="4464496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=""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=""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=""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=""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=""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=""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=""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=""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=""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=""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=""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=""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=""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=""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=""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=""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=""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=""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=""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=""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=""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=""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=""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=""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=""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=""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=""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=""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0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3707904" y="1203090"/>
            <a:ext cx="1710999" cy="3600908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87227" y="1312181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059035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0843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243611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515419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33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32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987574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0339" y="1404993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19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=""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8065" y="1431235"/>
            <a:ext cx="2568434" cy="228027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=""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04000" y="370350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=""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08064" y="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3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86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959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572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048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=""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4000" y="-1"/>
            <a:ext cx="2160000" cy="51435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=""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34004" y="2131318"/>
            <a:ext cx="2160000" cy="3012182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2000" y="2131318"/>
            <a:ext cx="1152008" cy="3012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=""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92000" y="-1"/>
            <a:ext cx="3393830" cy="2043485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77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=""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301328" y="1495130"/>
            <a:ext cx="1840931" cy="3649326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=""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476381" y="3386021"/>
            <a:ext cx="3530788" cy="1769004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=""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3491431" y="1495130"/>
            <a:ext cx="3681862" cy="3649326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=""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5396868" y="-11318"/>
            <a:ext cx="3681862" cy="3267664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711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5536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5536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911680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1911680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5736054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5736055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7252198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7252198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427823" y="1275605"/>
            <a:ext cx="2232248" cy="35283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264676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46628553-F51C-4CE7-A3A6-AB374655DC97}"/>
              </a:ext>
            </a:extLst>
          </p:cNvPr>
          <p:cNvGrpSpPr/>
          <p:nvPr userDrawn="1"/>
        </p:nvGrpSpPr>
        <p:grpSpPr>
          <a:xfrm>
            <a:off x="786525" y="1114965"/>
            <a:ext cx="2320819" cy="2728174"/>
            <a:chOff x="5364088" y="1450891"/>
            <a:chExt cx="2320819" cy="2728174"/>
          </a:xfrm>
        </p:grpSpPr>
        <p:sp>
          <p:nvSpPr>
            <p:cNvPr id="22" name="자유형: 도형 21">
              <a:extLst>
                <a:ext uri="{FF2B5EF4-FFF2-40B4-BE49-F238E27FC236}">
                  <a16:creationId xmlns="" xmlns:a16="http://schemas.microsoft.com/office/drawing/2014/main" id="{B5880087-04C4-411C-AEAA-74B23548761F}"/>
                </a:ext>
              </a:extLst>
            </p:cNvPr>
            <p:cNvSpPr/>
            <p:nvPr userDrawn="1"/>
          </p:nvSpPr>
          <p:spPr>
            <a:xfrm>
              <a:off x="5399290" y="2150906"/>
              <a:ext cx="2261257" cy="2028159"/>
            </a:xfrm>
            <a:custGeom>
              <a:avLst/>
              <a:gdLst>
                <a:gd name="connsiteX0" fmla="*/ 1012851 w 2261257"/>
                <a:gd name="connsiteY0" fmla="*/ 0 h 2028159"/>
                <a:gd name="connsiteX1" fmla="*/ 1226850 w 2261257"/>
                <a:gd name="connsiteY1" fmla="*/ 0 h 2028159"/>
                <a:gd name="connsiteX2" fmla="*/ 1283043 w 2261257"/>
                <a:gd name="connsiteY2" fmla="*/ 449131 h 2028159"/>
                <a:gd name="connsiteX3" fmla="*/ 1318239 w 2261257"/>
                <a:gd name="connsiteY3" fmla="*/ 455866 h 2028159"/>
                <a:gd name="connsiteX4" fmla="*/ 1530113 w 2261257"/>
                <a:gd name="connsiteY4" fmla="*/ 605602 h 2028159"/>
                <a:gd name="connsiteX5" fmla="*/ 1548314 w 2261257"/>
                <a:gd name="connsiteY5" fmla="*/ 639136 h 2028159"/>
                <a:gd name="connsiteX6" fmla="*/ 1577154 w 2261257"/>
                <a:gd name="connsiteY6" fmla="*/ 636229 h 2028159"/>
                <a:gd name="connsiteX7" fmla="*/ 1914152 w 2261257"/>
                <a:gd name="connsiteY7" fmla="*/ 859606 h 2028159"/>
                <a:gd name="connsiteX8" fmla="*/ 1919810 w 2261257"/>
                <a:gd name="connsiteY8" fmla="*/ 877832 h 2028159"/>
                <a:gd name="connsiteX9" fmla="*/ 1932155 w 2261257"/>
                <a:gd name="connsiteY9" fmla="*/ 874000 h 2028159"/>
                <a:gd name="connsiteX10" fmla="*/ 1981836 w 2261257"/>
                <a:gd name="connsiteY10" fmla="*/ 868991 h 2028159"/>
                <a:gd name="connsiteX11" fmla="*/ 2223343 w 2261257"/>
                <a:gd name="connsiteY11" fmla="*/ 1065825 h 2028159"/>
                <a:gd name="connsiteX12" fmla="*/ 2225319 w 2261257"/>
                <a:gd name="connsiteY12" fmla="*/ 1085429 h 2028159"/>
                <a:gd name="connsiteX13" fmla="*/ 2261257 w 2261257"/>
                <a:gd name="connsiteY13" fmla="*/ 1089052 h 2028159"/>
                <a:gd name="connsiteX14" fmla="*/ 2259340 w 2261257"/>
                <a:gd name="connsiteY14" fmla="*/ 1101612 h 2028159"/>
                <a:gd name="connsiteX15" fmla="*/ 1122505 w 2261257"/>
                <a:gd name="connsiteY15" fmla="*/ 2028159 h 2028159"/>
                <a:gd name="connsiteX16" fmla="*/ 14265 w 2261257"/>
                <a:gd name="connsiteY16" fmla="*/ 1212820 h 2028159"/>
                <a:gd name="connsiteX17" fmla="*/ 0 w 2261257"/>
                <a:gd name="connsiteY17" fmla="*/ 1157341 h 2028159"/>
                <a:gd name="connsiteX18" fmla="*/ 3235 w 2261257"/>
                <a:gd name="connsiteY18" fmla="*/ 1157015 h 2028159"/>
                <a:gd name="connsiteX19" fmla="*/ 87605 w 2261257"/>
                <a:gd name="connsiteY19" fmla="*/ 1165520 h 2028159"/>
                <a:gd name="connsiteX20" fmla="*/ 113456 w 2261257"/>
                <a:gd name="connsiteY20" fmla="*/ 1173545 h 2028159"/>
                <a:gd name="connsiteX21" fmla="*/ 128106 w 2261257"/>
                <a:gd name="connsiteY21" fmla="*/ 1155791 h 2028159"/>
                <a:gd name="connsiteX22" fmla="*/ 424127 w 2261257"/>
                <a:gd name="connsiteY22" fmla="*/ 1033175 h 2028159"/>
                <a:gd name="connsiteX23" fmla="*/ 435940 w 2261257"/>
                <a:gd name="connsiteY23" fmla="*/ 1034366 h 2028159"/>
                <a:gd name="connsiteX24" fmla="*/ 427636 w 2261257"/>
                <a:gd name="connsiteY24" fmla="*/ 1007613 h 2028159"/>
                <a:gd name="connsiteX25" fmla="*/ 424127 w 2261257"/>
                <a:gd name="connsiteY25" fmla="*/ 972807 h 2028159"/>
                <a:gd name="connsiteX26" fmla="*/ 562024 w 2261257"/>
                <a:gd name="connsiteY26" fmla="*/ 803613 h 2028159"/>
                <a:gd name="connsiteX27" fmla="*/ 569156 w 2261257"/>
                <a:gd name="connsiteY27" fmla="*/ 802894 h 2028159"/>
                <a:gd name="connsiteX28" fmla="*/ 573923 w 2261257"/>
                <a:gd name="connsiteY28" fmla="*/ 755602 h 2028159"/>
                <a:gd name="connsiteX29" fmla="*/ 903523 w 2261257"/>
                <a:gd name="connsiteY29" fmla="*/ 486970 h 2028159"/>
                <a:gd name="connsiteX30" fmla="*/ 951321 w 2261257"/>
                <a:gd name="connsiteY30" fmla="*/ 491789 h 2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="" xmlns:a16="http://schemas.microsoft.com/office/drawing/2014/main" id="{7EF498E6-9850-42A0-8643-E6250BB46DE0}"/>
                </a:ext>
              </a:extLst>
            </p:cNvPr>
            <p:cNvSpPr/>
            <p:nvPr userDrawn="1"/>
          </p:nvSpPr>
          <p:spPr>
            <a:xfrm>
              <a:off x="5364088" y="1858246"/>
              <a:ext cx="2320819" cy="2320819"/>
            </a:xfrm>
            <a:prstGeom prst="ellipse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="" xmlns:a16="http://schemas.microsoft.com/office/drawing/2014/main" id="{AF789A84-B899-484F-ADA6-1B784064DB8A}"/>
                </a:ext>
              </a:extLst>
            </p:cNvPr>
            <p:cNvGrpSpPr/>
            <p:nvPr userDrawn="1"/>
          </p:nvGrpSpPr>
          <p:grpSpPr>
            <a:xfrm>
              <a:off x="6280305" y="1450891"/>
              <a:ext cx="477626" cy="918140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="" xmlns:a16="http://schemas.microsoft.com/office/drawing/2014/main" id="{6DDA03B1-B885-4EB8-9AC5-617A33E28AA0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="" xmlns:a16="http://schemas.microsoft.com/office/drawing/2014/main" id="{50824863-8B90-4264-9AEB-19AE04C9A70D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="" xmlns:a16="http://schemas.microsoft.com/office/drawing/2014/main" id="{3B003EFC-13D2-4BB4-8625-D6DD1D26689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="" xmlns:a16="http://schemas.microsoft.com/office/drawing/2014/main" id="{639551A5-A416-4935-A4CA-A8FCF74BAE6A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="" xmlns:a16="http://schemas.microsoft.com/office/drawing/2014/main" id="{A0F64586-2454-49D0-905D-B01E2B155554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="" xmlns:a16="http://schemas.microsoft.com/office/drawing/2014/main" id="{90010C14-1AD7-40EC-9EFB-091EB548BC40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="" xmlns:a16="http://schemas.microsoft.com/office/drawing/2014/main" id="{54B0A336-7C2F-4F98-ABF5-299D91E12C1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="" xmlns:a16="http://schemas.microsoft.com/office/drawing/2014/main" id="{2528A48D-D724-4DF8-B31C-D26E111E596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 userDrawn="1"/>
        </p:nvSpPr>
        <p:spPr>
          <a:xfrm>
            <a:off x="3851920" y="1895103"/>
            <a:ext cx="5292080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25084" y="2154560"/>
            <a:ext cx="501891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25084" y="2730624"/>
            <a:ext cx="5018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65" r:id="rId14"/>
    <p:sldLayoutId id="2147483672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9512" y="267494"/>
            <a:ext cx="7984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Business Operations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596416"/>
            <a:ext cx="2088232" cy="39462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9454" y="1308764"/>
            <a:ext cx="747154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520" y="1418940"/>
            <a:ext cx="337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Module - </a:t>
            </a:r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183312" y="-638"/>
            <a:ext cx="733381" cy="494865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150" y="915566"/>
            <a:ext cx="3040543" cy="422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6"/>
          <a:stretch/>
        </p:blipFill>
        <p:spPr>
          <a:xfrm>
            <a:off x="4552" y="-20538"/>
            <a:ext cx="9140278" cy="516403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979712" y="1635646"/>
            <a:ext cx="5019780" cy="1003956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altLang="ko-KR" sz="4400" b="1" dirty="0"/>
              <a:t>Welcome!!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 rot="16200000">
            <a:off x="-177068" y="920458"/>
            <a:ext cx="2232249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Outlines</a:t>
            </a:r>
            <a:endParaRPr lang="en-US" sz="3600" dirty="0"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358" y="240297"/>
            <a:ext cx="6461049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1817060" y="208534"/>
            <a:ext cx="5764574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Module Logic</a:t>
            </a:r>
          </a:p>
          <a:p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774435" y="704108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1808135" y="672345"/>
            <a:ext cx="6469973" cy="613053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sz="1600" dirty="0"/>
              <a:t>Finance 101</a:t>
            </a:r>
          </a:p>
          <a:p>
            <a:endParaRPr lang="en-US" sz="1600" dirty="0"/>
          </a:p>
        </p:txBody>
      </p:sp>
      <p:sp>
        <p:nvSpPr>
          <p:cNvPr id="49" name="Rectangle 48"/>
          <p:cNvSpPr/>
          <p:nvPr/>
        </p:nvSpPr>
        <p:spPr>
          <a:xfrm>
            <a:off x="1783358" y="1164458"/>
            <a:ext cx="6461049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1817060" y="1132695"/>
            <a:ext cx="6931404" cy="387191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The Basics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1774435" y="1656571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1808136" y="1624808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Accounting Assumptions</a:t>
            </a:r>
          </a:p>
          <a:p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774435" y="2156442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808136" y="2124679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The need for a lantern</a:t>
            </a:r>
          </a:p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1774435" y="2656313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6" name="TextBox 55"/>
          <p:cNvSpPr txBox="1"/>
          <p:nvPr/>
        </p:nvSpPr>
        <p:spPr bwMode="auto">
          <a:xfrm>
            <a:off x="1808136" y="2624550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Financial Statements Introduction</a:t>
            </a:r>
          </a:p>
          <a:p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774435" y="3180761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Box 57"/>
          <p:cNvSpPr txBox="1"/>
          <p:nvPr/>
        </p:nvSpPr>
        <p:spPr bwMode="auto">
          <a:xfrm>
            <a:off x="1808084" y="3151877"/>
            <a:ext cx="6292256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Financial Statements Interpretation and Analysis</a:t>
            </a:r>
          </a:p>
          <a:p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1774435" y="3656055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774435" y="3617025"/>
            <a:ext cx="6359554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Credit Ratings and how to land on a positive credit rating</a:t>
            </a:r>
          </a:p>
          <a:p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1783359" y="4155926"/>
            <a:ext cx="6461048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Box 61"/>
          <p:cNvSpPr txBox="1"/>
          <p:nvPr/>
        </p:nvSpPr>
        <p:spPr bwMode="auto">
          <a:xfrm>
            <a:off x="1783360" y="4108282"/>
            <a:ext cx="5831974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Fixed and Variable Costs </a:t>
            </a:r>
          </a:p>
          <a:p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1783358" y="4608153"/>
            <a:ext cx="6461049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4" name="TextBox 63"/>
          <p:cNvSpPr txBox="1"/>
          <p:nvPr/>
        </p:nvSpPr>
        <p:spPr bwMode="auto">
          <a:xfrm>
            <a:off x="1763688" y="4558998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Price Determination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 rot="16200000">
            <a:off x="-177068" y="920458"/>
            <a:ext cx="2232249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Outlines</a:t>
            </a:r>
            <a:endParaRPr lang="en-US" sz="3600" dirty="0"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358" y="240297"/>
            <a:ext cx="6461049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1817060" y="208534"/>
            <a:ext cx="5764574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Cash flow management </a:t>
            </a:r>
          </a:p>
          <a:p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774435" y="704108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1808135" y="672345"/>
            <a:ext cx="6469973" cy="613053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sz="1600" dirty="0"/>
              <a:t>Cash flow budget creation and Forecasting</a:t>
            </a:r>
          </a:p>
          <a:p>
            <a:endParaRPr lang="en-US" sz="1600" dirty="0"/>
          </a:p>
        </p:txBody>
      </p:sp>
      <p:sp>
        <p:nvSpPr>
          <p:cNvPr id="49" name="Rectangle 48"/>
          <p:cNvSpPr/>
          <p:nvPr/>
        </p:nvSpPr>
        <p:spPr>
          <a:xfrm>
            <a:off x="1783358" y="1164458"/>
            <a:ext cx="6461049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1817060" y="1132695"/>
            <a:ext cx="6931404" cy="387191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Breakeven Analysis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1774435" y="1656571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TextBox 51"/>
          <p:cNvSpPr txBox="1"/>
          <p:nvPr/>
        </p:nvSpPr>
        <p:spPr bwMode="auto">
          <a:xfrm>
            <a:off x="1808136" y="1624808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Practical Activities</a:t>
            </a:r>
          </a:p>
          <a:p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774435" y="2156442"/>
            <a:ext cx="6469972" cy="355428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808136" y="2124679"/>
            <a:ext cx="5040560" cy="677585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dirty="0"/>
              <a:t>References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4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08520" y="1851670"/>
            <a:ext cx="7416824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79512" y="1093674"/>
            <a:ext cx="9144000" cy="108505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chemeClr val="bg1"/>
                </a:solidFill>
              </a:rPr>
              <a:t>Module Logic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01"/>
          <a:stretch/>
        </p:blipFill>
        <p:spPr>
          <a:xfrm>
            <a:off x="4592538" y="679004"/>
            <a:ext cx="5143500" cy="4464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2355726"/>
            <a:ext cx="4680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Module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Entrepreneurial 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Crucial component to 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Overlooking </a:t>
            </a:r>
            <a:r>
              <a:rPr lang="en-US" b="1" dirty="0">
                <a:solidFill>
                  <a:schemeClr val="bg1"/>
                </a:solidFill>
              </a:rPr>
              <a:t>the pillar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1"/>
                </a:solidFill>
              </a:rPr>
              <a:t>Reasons </a:t>
            </a:r>
            <a:r>
              <a:rPr lang="en-US" b="1" dirty="0">
                <a:solidFill>
                  <a:schemeClr val="bg1"/>
                </a:solidFill>
              </a:rPr>
              <a:t>of Success and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29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1520" y="215647"/>
            <a:ext cx="9144000" cy="576064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sz="5400" b="1" dirty="0">
                <a:solidFill>
                  <a:srgbClr val="92D050"/>
                </a:solidFill>
              </a:rPr>
              <a:t>Finance 101</a:t>
            </a:r>
            <a:endParaRPr lang="en-US" altLang="ko-KR" sz="5400" b="1" dirty="0">
              <a:solidFill>
                <a:srgbClr val="92D050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779912" y="847876"/>
            <a:ext cx="1285659" cy="897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40" y="1904960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Real Life </a:t>
            </a:r>
            <a:r>
              <a:rPr lang="en-US" sz="2800" b="1" dirty="0" smtClean="0">
                <a:solidFill>
                  <a:schemeClr val="bg1"/>
                </a:solidFill>
              </a:rPr>
              <a:t>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Three Main types of </a:t>
            </a:r>
            <a:r>
              <a:rPr lang="en-US" sz="2800" b="1" dirty="0" smtClean="0">
                <a:solidFill>
                  <a:schemeClr val="bg1"/>
                </a:solidFill>
              </a:rPr>
              <a:t>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Finance and Entrepreneurial Finance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Frame 14"/>
          <p:cNvSpPr/>
          <p:nvPr/>
        </p:nvSpPr>
        <p:spPr>
          <a:xfrm>
            <a:off x="188640" y="159482"/>
            <a:ext cx="8766720" cy="4824536"/>
          </a:xfrm>
          <a:prstGeom prst="frame">
            <a:avLst>
              <a:gd name="adj1" fmla="val 10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663" y="1217153"/>
            <a:ext cx="8784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 Basics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47656" y="267494"/>
            <a:ext cx="30963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Assets</a:t>
            </a:r>
            <a:endParaRPr lang="en-US" sz="2400" b="1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Definition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Listings</a:t>
            </a:r>
          </a:p>
          <a:p>
            <a:r>
              <a:rPr lang="en-US" b="1" dirty="0"/>
              <a:t>Liabilities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Definition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Listings</a:t>
            </a:r>
          </a:p>
          <a:p>
            <a:r>
              <a:rPr lang="en-US" b="1" dirty="0"/>
              <a:t>Owner’s Equity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Definition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Listings</a:t>
            </a:r>
          </a:p>
          <a:p>
            <a:r>
              <a:rPr lang="en-US" b="1" dirty="0"/>
              <a:t>Accounting Equation</a:t>
            </a:r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0" r="149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7961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9582"/>
            <a:ext cx="9144000" cy="31478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188640" y="1311609"/>
            <a:ext cx="8694712" cy="2700301"/>
          </a:xfrm>
          <a:prstGeom prst="frame">
            <a:avLst>
              <a:gd name="adj1" fmla="val 1002"/>
            </a:avLst>
          </a:prstGeom>
          <a:solidFill>
            <a:srgbClr val="8F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067694"/>
            <a:ext cx="8280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Accounting Assumptions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8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4644" y="3454717"/>
            <a:ext cx="8739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296652" y="339502"/>
            <a:ext cx="8595828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Accrual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Conservatism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Consistency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Economic entity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Going concern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Reliability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Time period assumption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881154"/>
            <a:ext cx="9144000" cy="2623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5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4283968" y="1945762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The need for a lantern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r="49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1097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699542"/>
            <a:ext cx="86409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Start a business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Finance expansions to production capacity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 develop and market new products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 enter new markets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Take-over or acquisition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Moving to new premises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 pay for the day to day running of business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Choosing the Right Source of Finance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Amount of money required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How quickly the money is needed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cheapest option available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amount of risk involved in the reason for the cash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length of time of the requirement for finance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02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67544" y="483518"/>
            <a:ext cx="8352928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3E5E83E-B048-4088-A5D1-F328DADD82CE}"/>
              </a:ext>
            </a:extLst>
          </p:cNvPr>
          <p:cNvSpPr/>
          <p:nvPr/>
        </p:nvSpPr>
        <p:spPr>
          <a:xfrm>
            <a:off x="179512" y="195486"/>
            <a:ext cx="2594505" cy="281974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48216" y="959026"/>
            <a:ext cx="79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Financial Statements Introduction</a:t>
            </a:r>
            <a:endParaRPr lang="en-US" sz="4000" b="1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216" y="1601289"/>
            <a:ext cx="8030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Income statement</a:t>
            </a:r>
          </a:p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Statement of retained earnings</a:t>
            </a:r>
          </a:p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Balance sheet</a:t>
            </a:r>
          </a:p>
          <a:p>
            <a:pPr marL="285750" indent="-2857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Cash flow statement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598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4397" y="311626"/>
            <a:ext cx="8640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6600" b="1" dirty="0">
                <a:solidFill>
                  <a:schemeClr val="bg1"/>
                </a:solidFill>
              </a:rPr>
              <a:t>Income Statement</a:t>
            </a:r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63688" y="1779662"/>
            <a:ext cx="4228424" cy="245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Revenues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Gains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Expenses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Losses</a:t>
            </a:r>
          </a:p>
        </p:txBody>
      </p:sp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067" y="1419622"/>
            <a:ext cx="3953471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8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55526"/>
            <a:ext cx="8604448" cy="4587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4109"/>
            <a:ext cx="8208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Statement of </a:t>
            </a:r>
            <a:r>
              <a:rPr lang="en-US" sz="2800" b="1" dirty="0" smtClean="0">
                <a:solidFill>
                  <a:schemeClr val="bg1"/>
                </a:solidFill>
              </a:rPr>
              <a:t>Retained </a:t>
            </a:r>
            <a:r>
              <a:rPr lang="en-US" sz="2800" b="1" dirty="0">
                <a:solidFill>
                  <a:schemeClr val="bg1"/>
                </a:solidFill>
              </a:rPr>
              <a:t>Earnings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841960"/>
            <a:ext cx="5943600" cy="401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4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55526"/>
            <a:ext cx="8604448" cy="4587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528" y="699542"/>
            <a:ext cx="8136904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What is “Retained Earnings”?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Recording Changes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Separate Document or an inclusion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3919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/>
          <p:cNvSpPr/>
          <p:nvPr/>
        </p:nvSpPr>
        <p:spPr>
          <a:xfrm>
            <a:off x="251520" y="267494"/>
            <a:ext cx="8640960" cy="4608512"/>
          </a:xfrm>
          <a:prstGeom prst="snip2Diag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555526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Balance Sheet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8461448" y="-2252786"/>
            <a:ext cx="15985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1419622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Revisiting Assets, Liabilities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and Owner’s Equity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131590"/>
            <a:ext cx="3340405" cy="347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4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Off-page Connector 3"/>
          <p:cNvSpPr/>
          <p:nvPr/>
        </p:nvSpPr>
        <p:spPr>
          <a:xfrm>
            <a:off x="1691680" y="39276"/>
            <a:ext cx="6048672" cy="2736304"/>
          </a:xfrm>
          <a:prstGeom prst="flowChartOffpage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58691" y="699542"/>
            <a:ext cx="551465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/>
              <a:t>Cash Flow Statement </a:t>
            </a:r>
            <a:endParaRPr lang="en-US" sz="4000" b="1" dirty="0">
              <a:solidFill>
                <a:srgbClr val="6DA18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48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ame 17"/>
          <p:cNvSpPr/>
          <p:nvPr/>
        </p:nvSpPr>
        <p:spPr>
          <a:xfrm rot="18900000">
            <a:off x="6343368" y="2430572"/>
            <a:ext cx="1793332" cy="1793332"/>
          </a:xfrm>
          <a:prstGeom prst="frame">
            <a:avLst>
              <a:gd name="adj1" fmla="val 483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 Placeholder 1"/>
          <p:cNvSpPr txBox="1">
            <a:spLocks/>
          </p:cNvSpPr>
          <p:nvPr/>
        </p:nvSpPr>
        <p:spPr>
          <a:xfrm>
            <a:off x="227101" y="339502"/>
            <a:ext cx="4410035" cy="1944464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The cash flow statement organizes and reports the cash generated and used in the following categories: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" name="그림 개체 틀 4">
            <a:extLst>
              <a:ext uri="{FF2B5EF4-FFF2-40B4-BE49-F238E27FC236}">
                <a16:creationId xmlns="" xmlns:a16="http://schemas.microsoft.com/office/drawing/2014/main" id="{5E9D2E2D-36E6-460B-B2E6-9B3BF0EF6074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solidFill>
            <a:schemeClr val="bg1"/>
          </a:solidFill>
        </p:spPr>
      </p:sp>
      <p:sp>
        <p:nvSpPr>
          <p:cNvPr id="9" name="그림 개체 틀 8">
            <a:extLst>
              <a:ext uri="{FF2B5EF4-FFF2-40B4-BE49-F238E27FC236}">
                <a16:creationId xmlns="" xmlns:a16="http://schemas.microsoft.com/office/drawing/2014/main" id="{FC01822E-DC72-472E-BAF0-9CCBB8D77A9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solidFill>
            <a:schemeClr val="bg1"/>
          </a:solidFill>
        </p:spPr>
      </p:sp>
      <p:pic>
        <p:nvPicPr>
          <p:cNvPr id="10" name="Picture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34" y="2311159"/>
            <a:ext cx="5264356" cy="225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8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197768" y="159481"/>
            <a:ext cx="4176464" cy="4824536"/>
          </a:xfrm>
          <a:prstGeom prst="frame">
            <a:avLst>
              <a:gd name="adj1" fmla="val 1002"/>
            </a:avLst>
          </a:prstGeom>
          <a:solidFill>
            <a:srgbClr val="FAB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rgbClr val="FABEBF"/>
              </a:solidFill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solidFill>
            <a:schemeClr val="bg1"/>
          </a:solidFill>
        </p:spPr>
      </p:sp>
      <p:pic>
        <p:nvPicPr>
          <p:cNvPr id="7" name="Content Placeholder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83518"/>
            <a:ext cx="3829177" cy="43513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3" name="TextBox 2"/>
          <p:cNvSpPr txBox="1"/>
          <p:nvPr/>
        </p:nvSpPr>
        <p:spPr>
          <a:xfrm>
            <a:off x="5580112" y="2059022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Cash Flow </a:t>
            </a:r>
            <a:endParaRPr lang="en-US" sz="3600" b="1" dirty="0" smtClean="0">
              <a:solidFill>
                <a:schemeClr val="bg1"/>
              </a:solidFill>
            </a:endParaRPr>
          </a:p>
          <a:p>
            <a:r>
              <a:rPr lang="en-US" sz="3600" b="1" dirty="0" smtClean="0">
                <a:solidFill>
                  <a:schemeClr val="bg1"/>
                </a:solidFill>
              </a:rPr>
              <a:t>Statement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17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9394" y="267494"/>
            <a:ext cx="3674940" cy="94017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650" y="411510"/>
            <a:ext cx="3660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Financial Statements </a:t>
            </a:r>
            <a:endParaRPr lang="en-US" sz="20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Interpretation </a:t>
            </a:r>
            <a:r>
              <a:rPr lang="en-US" sz="2000" b="1" dirty="0">
                <a:solidFill>
                  <a:schemeClr val="bg1"/>
                </a:solidFill>
              </a:rPr>
              <a:t>and Analysis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568" y="1851670"/>
            <a:ext cx="7488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Action Plan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Identify the industry economic characteristics. 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Identify company strategies. 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Assess the quality of the firm's financial statements. 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Analyze current profitability and risk. 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Prepare forecasted financial statements. ...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Value the firm.</a:t>
            </a:r>
          </a:p>
          <a:p>
            <a:r>
              <a:rPr lang="en-US" b="1" dirty="0">
                <a:solidFill>
                  <a:schemeClr val="bg1"/>
                </a:solidFill>
              </a:rPr>
              <a:t>The Financial Ratios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1520" y="123478"/>
            <a:ext cx="8640960" cy="468052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17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075806"/>
            <a:ext cx="7974883" cy="180933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91680" y="1995686"/>
            <a:ext cx="60199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Fixed and Variable Costs </a:t>
            </a:r>
          </a:p>
        </p:txBody>
      </p:sp>
    </p:spTree>
    <p:extLst>
      <p:ext uri="{BB962C8B-B14F-4D97-AF65-F5344CB8AC3E}">
        <p14:creationId xmlns:p14="http://schemas.microsoft.com/office/powerpoint/2010/main" val="2175544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8" y="1563638"/>
            <a:ext cx="86409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mtClean="0">
                <a:solidFill>
                  <a:schemeClr val="bg1"/>
                </a:solidFill>
              </a:rPr>
              <a:t>De Facto Rules</a:t>
            </a:r>
          </a:p>
          <a:p>
            <a:endParaRPr lang="en-US" b="1" smtClean="0">
              <a:solidFill>
                <a:schemeClr val="bg1"/>
              </a:solidFill>
            </a:endParaRPr>
          </a:p>
          <a:p>
            <a:pPr marL="1428750" lvl="2" indent="-514350">
              <a:buFont typeface="+mj-lt"/>
              <a:buAutoNum type="arabicPeriod"/>
            </a:pPr>
            <a:r>
              <a:rPr lang="en-US" b="1" smtClean="0">
                <a:solidFill>
                  <a:schemeClr val="bg1"/>
                </a:solidFill>
              </a:rPr>
              <a:t>All prices must cover costs and profits.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b="1" smtClean="0">
                <a:solidFill>
                  <a:schemeClr val="bg1"/>
                </a:solidFill>
              </a:rPr>
              <a:t>The most effective way to lower prices is to lower costs.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b="1" smtClean="0">
                <a:solidFill>
                  <a:schemeClr val="bg1"/>
                </a:solidFill>
              </a:rPr>
              <a:t>Review prices frequently to assure that they reflect the dynamics of cost, market demand, response to the competition, and profit objectives.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b="1" smtClean="0">
                <a:solidFill>
                  <a:schemeClr val="bg1"/>
                </a:solidFill>
              </a:rPr>
              <a:t>Prices must be established to assure sales.</a:t>
            </a:r>
          </a:p>
          <a:p>
            <a:pPr marL="1428750" lvl="2" indent="-514350">
              <a:buFont typeface="+mj-lt"/>
              <a:buAutoNum type="arabicPeriod"/>
            </a:pPr>
            <a:endParaRPr lang="en-US" b="1" smtClean="0">
              <a:solidFill>
                <a:schemeClr val="bg1"/>
              </a:solidFill>
            </a:endParaRPr>
          </a:p>
          <a:p>
            <a:r>
              <a:rPr lang="en-US" b="1" smtClean="0">
                <a:solidFill>
                  <a:schemeClr val="bg1"/>
                </a:solidFill>
              </a:rPr>
              <a:t>When to Review Prices</a:t>
            </a:r>
          </a:p>
          <a:p>
            <a:r>
              <a:rPr lang="en-US" b="1" smtClean="0">
                <a:solidFill>
                  <a:schemeClr val="bg1"/>
                </a:solidFill>
              </a:rPr>
              <a:t>Pricing Strategies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520" y="483518"/>
            <a:ext cx="7776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Price Determination </a:t>
            </a:r>
          </a:p>
        </p:txBody>
      </p:sp>
    </p:spTree>
    <p:extLst>
      <p:ext uri="{BB962C8B-B14F-4D97-AF65-F5344CB8AC3E}">
        <p14:creationId xmlns:p14="http://schemas.microsoft.com/office/powerpoint/2010/main" val="2829493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67544" y="483518"/>
            <a:ext cx="8352928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3E5E83E-B048-4088-A5D1-F328DADD82CE}"/>
              </a:ext>
            </a:extLst>
          </p:cNvPr>
          <p:cNvSpPr/>
          <p:nvPr/>
        </p:nvSpPr>
        <p:spPr>
          <a:xfrm>
            <a:off x="179512" y="195486"/>
            <a:ext cx="2594505" cy="281974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848216" y="959026"/>
            <a:ext cx="79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92D050"/>
                </a:solidFill>
              </a:rPr>
              <a:t>Cash flow management </a:t>
            </a:r>
            <a:endParaRPr lang="en-US" sz="4000" b="1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8216" y="1779662"/>
            <a:ext cx="8030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Cash Flow Management Definition</a:t>
            </a:r>
          </a:p>
          <a:p>
            <a:r>
              <a:rPr lang="en-US" b="1" dirty="0"/>
              <a:t>Action Plan to go </a:t>
            </a:r>
            <a:r>
              <a:rPr lang="en-US" b="1" dirty="0" smtClean="0"/>
              <a:t>Green</a:t>
            </a:r>
          </a:p>
          <a:p>
            <a:endParaRPr lang="en-US" b="1" dirty="0"/>
          </a:p>
          <a:p>
            <a:pPr lvl="1"/>
            <a:r>
              <a:rPr lang="en-US" b="1" dirty="0"/>
              <a:t>1. Managing your payables</a:t>
            </a:r>
          </a:p>
          <a:p>
            <a:pPr lvl="1"/>
            <a:r>
              <a:rPr lang="en-US" b="1" dirty="0"/>
              <a:t>2. Improving your receivables</a:t>
            </a:r>
          </a:p>
          <a:p>
            <a:pPr lvl="1"/>
            <a:r>
              <a:rPr lang="en-US" b="1" dirty="0"/>
              <a:t>3. Preparing cash flow projections</a:t>
            </a:r>
          </a:p>
          <a:p>
            <a:pPr lvl="1"/>
            <a:r>
              <a:rPr lang="en-US" b="1" dirty="0"/>
              <a:t>4. Avoid over-investing</a:t>
            </a:r>
          </a:p>
          <a:p>
            <a:pPr lvl="1"/>
            <a:r>
              <a:rPr lang="en-US" b="1" dirty="0"/>
              <a:t>5. Taking out short-term loans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341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9582"/>
            <a:ext cx="9144000" cy="31478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188640" y="1311609"/>
            <a:ext cx="8694712" cy="2700301"/>
          </a:xfrm>
          <a:prstGeom prst="frame">
            <a:avLst>
              <a:gd name="adj1" fmla="val 1002"/>
            </a:avLst>
          </a:prstGeom>
          <a:solidFill>
            <a:srgbClr val="8F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067694"/>
            <a:ext cx="82809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Cash flow budget creation </a:t>
            </a:r>
            <a:endParaRPr lang="en-US" sz="4000" b="1" dirty="0" smtClean="0">
              <a:solidFill>
                <a:schemeClr val="bg1"/>
              </a:solidFill>
            </a:endParaRPr>
          </a:p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and </a:t>
            </a:r>
            <a:r>
              <a:rPr lang="en-US" sz="4000" b="1" dirty="0">
                <a:solidFill>
                  <a:schemeClr val="bg1"/>
                </a:solidFill>
              </a:rPr>
              <a:t>Forecasting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987574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Project your </a:t>
            </a:r>
            <a:r>
              <a:rPr lang="en-US" b="1" dirty="0" smtClean="0">
                <a:solidFill>
                  <a:schemeClr val="bg1"/>
                </a:solidFill>
              </a:rPr>
              <a:t>collections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Add in the amount you expect to collect from your accounts receivable, taking into account any variances in your “net” terms versus actual collection cycles from your clients or </a:t>
            </a:r>
            <a:r>
              <a:rPr lang="en-US" b="1" dirty="0" smtClean="0">
                <a:solidFill>
                  <a:schemeClr val="bg1"/>
                </a:solidFill>
              </a:rPr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What other cash are you expecting to bring into your business?  </a:t>
            </a:r>
            <a:endParaRPr lang="en-US" b="1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Detail your expenses and other cash </a:t>
            </a:r>
            <a:r>
              <a:rPr lang="en-US" b="1" dirty="0" smtClean="0">
                <a:solidFill>
                  <a:schemeClr val="bg1"/>
                </a:solidFill>
              </a:rPr>
              <a:t>outlays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Take a look at your accounts payable from the previous period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37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29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51520" y="215647"/>
            <a:ext cx="9144000" cy="576064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sz="5400" dirty="0"/>
              <a:t>Breakeven Analysis</a:t>
            </a:r>
            <a:endParaRPr lang="en-US" altLang="ko-KR" sz="5400" b="1" dirty="0">
              <a:solidFill>
                <a:srgbClr val="92D050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779912" y="847876"/>
            <a:ext cx="1285659" cy="897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552" y="1801643"/>
            <a:ext cx="82809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The Definition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Considering Fixed and Variables Costs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Semi Variable Costs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A Practical Approach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Frame 14"/>
          <p:cNvSpPr/>
          <p:nvPr/>
        </p:nvSpPr>
        <p:spPr>
          <a:xfrm>
            <a:off x="188640" y="159482"/>
            <a:ext cx="8766720" cy="4824536"/>
          </a:xfrm>
          <a:prstGeom prst="frame">
            <a:avLst>
              <a:gd name="adj1" fmla="val 10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8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-2391" y="0"/>
            <a:ext cx="9144000" cy="5143501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2931790"/>
            <a:ext cx="9144000" cy="576064"/>
          </a:xfrm>
        </p:spPr>
        <p:txBody>
          <a:bodyPr/>
          <a:lstStyle/>
          <a:p>
            <a:r>
              <a:rPr lang="en-US" b="1" i="1"/>
              <a:t>Practical Activities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420784333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ection Break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523</Words>
  <Application>Microsoft Office PowerPoint</Application>
  <PresentationFormat>On-screen Show (16:9)</PresentationFormat>
  <Paragraphs>137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 Unicode MS</vt:lpstr>
      <vt:lpstr>Malgun Gothic</vt:lpstr>
      <vt:lpstr>Arial</vt:lpstr>
      <vt:lpstr>Wingdings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Halla Fouad</cp:lastModifiedBy>
  <cp:revision>284</cp:revision>
  <dcterms:created xsi:type="dcterms:W3CDTF">2016-12-05T23:26:54Z</dcterms:created>
  <dcterms:modified xsi:type="dcterms:W3CDTF">2019-04-15T13:25:49Z</dcterms:modified>
</cp:coreProperties>
</file>