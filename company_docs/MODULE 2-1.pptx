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87"/>
  </p:notesMasterIdLst>
  <p:sldIdLst>
    <p:sldId id="256" r:id="rId3"/>
    <p:sldId id="265" r:id="rId4"/>
    <p:sldId id="261" r:id="rId5"/>
    <p:sldId id="283" r:id="rId6"/>
    <p:sldId id="268" r:id="rId7"/>
    <p:sldId id="282" r:id="rId8"/>
    <p:sldId id="288" r:id="rId9"/>
    <p:sldId id="331" r:id="rId10"/>
    <p:sldId id="332" r:id="rId11"/>
    <p:sldId id="271" r:id="rId12"/>
    <p:sldId id="333" r:id="rId13"/>
    <p:sldId id="281" r:id="rId14"/>
    <p:sldId id="334" r:id="rId15"/>
    <p:sldId id="335" r:id="rId16"/>
    <p:sldId id="336" r:id="rId17"/>
    <p:sldId id="298" r:id="rId18"/>
    <p:sldId id="279" r:id="rId19"/>
    <p:sldId id="267" r:id="rId20"/>
    <p:sldId id="302" r:id="rId21"/>
    <p:sldId id="337" r:id="rId22"/>
    <p:sldId id="338" r:id="rId23"/>
    <p:sldId id="339" r:id="rId24"/>
    <p:sldId id="269" r:id="rId25"/>
    <p:sldId id="314" r:id="rId26"/>
    <p:sldId id="340" r:id="rId27"/>
    <p:sldId id="341" r:id="rId28"/>
    <p:sldId id="342" r:id="rId29"/>
    <p:sldId id="343" r:id="rId30"/>
    <p:sldId id="277" r:id="rId31"/>
    <p:sldId id="312" r:id="rId32"/>
    <p:sldId id="322" r:id="rId33"/>
    <p:sldId id="344" r:id="rId34"/>
    <p:sldId id="345" r:id="rId35"/>
    <p:sldId id="346" r:id="rId36"/>
    <p:sldId id="347" r:id="rId37"/>
    <p:sldId id="348" r:id="rId38"/>
    <p:sldId id="349" r:id="rId39"/>
    <p:sldId id="350" r:id="rId40"/>
    <p:sldId id="321" r:id="rId41"/>
    <p:sldId id="320" r:id="rId42"/>
    <p:sldId id="351" r:id="rId43"/>
    <p:sldId id="352" r:id="rId44"/>
    <p:sldId id="353" r:id="rId45"/>
    <p:sldId id="354" r:id="rId46"/>
    <p:sldId id="318" r:id="rId47"/>
    <p:sldId id="316" r:id="rId48"/>
    <p:sldId id="319" r:id="rId49"/>
    <p:sldId id="355" r:id="rId50"/>
    <p:sldId id="356" r:id="rId51"/>
    <p:sldId id="357" r:id="rId52"/>
    <p:sldId id="358" r:id="rId53"/>
    <p:sldId id="359" r:id="rId54"/>
    <p:sldId id="360" r:id="rId55"/>
    <p:sldId id="362" r:id="rId56"/>
    <p:sldId id="361" r:id="rId57"/>
    <p:sldId id="363" r:id="rId58"/>
    <p:sldId id="364" r:id="rId59"/>
    <p:sldId id="365" r:id="rId60"/>
    <p:sldId id="366" r:id="rId61"/>
    <p:sldId id="368" r:id="rId62"/>
    <p:sldId id="369" r:id="rId63"/>
    <p:sldId id="370" r:id="rId64"/>
    <p:sldId id="371" r:id="rId65"/>
    <p:sldId id="372" r:id="rId66"/>
    <p:sldId id="373" r:id="rId67"/>
    <p:sldId id="374" r:id="rId68"/>
    <p:sldId id="375" r:id="rId69"/>
    <p:sldId id="376" r:id="rId70"/>
    <p:sldId id="377" r:id="rId71"/>
    <p:sldId id="378" r:id="rId72"/>
    <p:sldId id="379" r:id="rId73"/>
    <p:sldId id="380" r:id="rId74"/>
    <p:sldId id="381" r:id="rId75"/>
    <p:sldId id="382" r:id="rId76"/>
    <p:sldId id="383" r:id="rId77"/>
    <p:sldId id="384" r:id="rId78"/>
    <p:sldId id="385" r:id="rId79"/>
    <p:sldId id="386" r:id="rId80"/>
    <p:sldId id="387" r:id="rId81"/>
    <p:sldId id="388" r:id="rId82"/>
    <p:sldId id="389" r:id="rId83"/>
    <p:sldId id="390" r:id="rId84"/>
    <p:sldId id="391" r:id="rId85"/>
    <p:sldId id="330" r:id="rId86"/>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5891"/>
    <a:srgbClr val="660066"/>
    <a:srgbClr val="800080"/>
    <a:srgbClr val="FFDD4F"/>
    <a:srgbClr val="009D97"/>
    <a:srgbClr val="FFCE29"/>
    <a:srgbClr val="EBC417"/>
    <a:srgbClr val="FDE350"/>
    <a:srgbClr val="FFC50B"/>
    <a:srgbClr val="ED1C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5278" autoAdjust="0"/>
  </p:normalViewPr>
  <p:slideViewPr>
    <p:cSldViewPr>
      <p:cViewPr>
        <p:scale>
          <a:sx n="76" d="100"/>
          <a:sy n="76" d="100"/>
        </p:scale>
        <p:origin x="835" y="662"/>
      </p:cViewPr>
      <p:guideLst>
        <p:guide orient="horz" pos="193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 /><Relationship Id="rId18" Type="http://schemas.openxmlformats.org/officeDocument/2006/relationships/slide" Target="slides/slide16.xml" /><Relationship Id="rId26" Type="http://schemas.openxmlformats.org/officeDocument/2006/relationships/slide" Target="slides/slide24.xml" /><Relationship Id="rId39" Type="http://schemas.openxmlformats.org/officeDocument/2006/relationships/slide" Target="slides/slide37.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slide" Target="slides/slide40.xml" /><Relationship Id="rId47" Type="http://schemas.openxmlformats.org/officeDocument/2006/relationships/slide" Target="slides/slide45.xml" /><Relationship Id="rId50" Type="http://schemas.openxmlformats.org/officeDocument/2006/relationships/slide" Target="slides/slide48.xml" /><Relationship Id="rId55" Type="http://schemas.openxmlformats.org/officeDocument/2006/relationships/slide" Target="slides/slide53.xml" /><Relationship Id="rId63" Type="http://schemas.openxmlformats.org/officeDocument/2006/relationships/slide" Target="slides/slide61.xml" /><Relationship Id="rId68" Type="http://schemas.openxmlformats.org/officeDocument/2006/relationships/slide" Target="slides/slide66.xml" /><Relationship Id="rId76" Type="http://schemas.openxmlformats.org/officeDocument/2006/relationships/slide" Target="slides/slide74.xml" /><Relationship Id="rId84" Type="http://schemas.openxmlformats.org/officeDocument/2006/relationships/slide" Target="slides/slide82.xml" /><Relationship Id="rId89" Type="http://schemas.openxmlformats.org/officeDocument/2006/relationships/viewProps" Target="viewProps.xml" /><Relationship Id="rId7" Type="http://schemas.openxmlformats.org/officeDocument/2006/relationships/slide" Target="slides/slide5.xml" /><Relationship Id="rId71" Type="http://schemas.openxmlformats.org/officeDocument/2006/relationships/slide" Target="slides/slide69.xml" /><Relationship Id="rId2" Type="http://schemas.openxmlformats.org/officeDocument/2006/relationships/slideMaster" Target="slideMasters/slideMaster2.xml" /><Relationship Id="rId16" Type="http://schemas.openxmlformats.org/officeDocument/2006/relationships/slide" Target="slides/slide14.xml" /><Relationship Id="rId29" Type="http://schemas.openxmlformats.org/officeDocument/2006/relationships/slide" Target="slides/slide27.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slide" Target="slides/slide56.xml" /><Relationship Id="rId66" Type="http://schemas.openxmlformats.org/officeDocument/2006/relationships/slide" Target="slides/slide64.xml" /><Relationship Id="rId74" Type="http://schemas.openxmlformats.org/officeDocument/2006/relationships/slide" Target="slides/slide72.xml" /><Relationship Id="rId79" Type="http://schemas.openxmlformats.org/officeDocument/2006/relationships/slide" Target="slides/slide77.xml" /><Relationship Id="rId87" Type="http://schemas.openxmlformats.org/officeDocument/2006/relationships/notesMaster" Target="notesMasters/notesMaster1.xml" /><Relationship Id="rId5" Type="http://schemas.openxmlformats.org/officeDocument/2006/relationships/slide" Target="slides/slide3.xml" /><Relationship Id="rId61" Type="http://schemas.openxmlformats.org/officeDocument/2006/relationships/slide" Target="slides/slide59.xml" /><Relationship Id="rId82" Type="http://schemas.openxmlformats.org/officeDocument/2006/relationships/slide" Target="slides/slide80.xml" /><Relationship Id="rId90" Type="http://schemas.openxmlformats.org/officeDocument/2006/relationships/theme" Target="theme/theme1.xml" /><Relationship Id="rId19" Type="http://schemas.openxmlformats.org/officeDocument/2006/relationships/slide" Target="slides/slide1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slide" Target="slides/slide75.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80" Type="http://schemas.openxmlformats.org/officeDocument/2006/relationships/slide" Target="slides/slide78.xml" /><Relationship Id="rId85" Type="http://schemas.openxmlformats.org/officeDocument/2006/relationships/slide" Target="slides/slide83.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slide" Target="slides/slide73.xml" /><Relationship Id="rId83" Type="http://schemas.openxmlformats.org/officeDocument/2006/relationships/slide" Target="slides/slide81.xml" /><Relationship Id="rId88" Type="http://schemas.openxmlformats.org/officeDocument/2006/relationships/presProps" Target="presProps.xml" /><Relationship Id="rId91"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 Id="rId10" Type="http://schemas.openxmlformats.org/officeDocument/2006/relationships/slide" Target="slides/slide8.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slide" Target="slides/slide76.xml" /><Relationship Id="rId81" Type="http://schemas.openxmlformats.org/officeDocument/2006/relationships/slide" Target="slides/slide79.xml" /><Relationship Id="rId86" Type="http://schemas.openxmlformats.org/officeDocument/2006/relationships/slide" Target="slides/slide84.xml" /><Relationship Id="rId4" Type="http://schemas.openxmlformats.org/officeDocument/2006/relationships/slide" Target="slides/slide2.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5DA3F-ED3A-4897-B8F3-C49A97F730D1}" type="datetimeFigureOut">
              <a:rPr lang="ko-KR" altLang="en-US" smtClean="0"/>
              <a:t>2019-03-11</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9ED4F-90B4-4BD8-A817-6A0A9D03637F}" type="slidenum">
              <a:rPr lang="ko-KR" altLang="en-US" smtClean="0"/>
              <a:t>‹#›</a:t>
            </a:fld>
            <a:endParaRPr lang="ko-KR" altLang="en-US"/>
          </a:p>
        </p:txBody>
      </p:sp>
    </p:spTree>
    <p:extLst>
      <p:ext uri="{BB962C8B-B14F-4D97-AF65-F5344CB8AC3E}">
        <p14:creationId xmlns:p14="http://schemas.microsoft.com/office/powerpoint/2010/main" val="33418004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80D9ED4F-90B4-4BD8-A817-6A0A9D03637F}" type="slidenum">
              <a:rPr lang="ko-KR" altLang="en-US" smtClean="0"/>
              <a:t>10</a:t>
            </a:fld>
            <a:endParaRPr lang="ko-KR" altLang="en-US"/>
          </a:p>
        </p:txBody>
      </p:sp>
    </p:spTree>
    <p:extLst>
      <p:ext uri="{BB962C8B-B14F-4D97-AF65-F5344CB8AC3E}">
        <p14:creationId xmlns:p14="http://schemas.microsoft.com/office/powerpoint/2010/main" val="3428476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84</a:t>
            </a:fld>
            <a:endParaRPr lang="ko-KR" altLang="en-US"/>
          </a:p>
        </p:txBody>
      </p:sp>
    </p:spTree>
    <p:extLst>
      <p:ext uri="{BB962C8B-B14F-4D97-AF65-F5344CB8AC3E}">
        <p14:creationId xmlns:p14="http://schemas.microsoft.com/office/powerpoint/2010/main" val="4226249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48014"/>
            <a:ext cx="914400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grpSp>
        <p:nvGrpSpPr>
          <p:cNvPr id="6" name="그룹 5">
            <a:extLst>
              <a:ext uri="{FF2B5EF4-FFF2-40B4-BE49-F238E27FC236}">
                <a16:creationId xmlns:a16="http://schemas.microsoft.com/office/drawing/2014/main" id="{3F6939C0-0F9C-4BB0-BE6D-CDFDBD48B8E1}"/>
              </a:ext>
            </a:extLst>
          </p:cNvPr>
          <p:cNvGrpSpPr/>
          <p:nvPr userDrawn="1"/>
        </p:nvGrpSpPr>
        <p:grpSpPr>
          <a:xfrm>
            <a:off x="8001641" y="3940074"/>
            <a:ext cx="1142359" cy="1189066"/>
            <a:chOff x="4572000" y="387072"/>
            <a:chExt cx="4569687" cy="4756528"/>
          </a:xfrm>
        </p:grpSpPr>
        <p:sp>
          <p:nvSpPr>
            <p:cNvPr id="7" name="자유형: 도형 6">
              <a:extLst>
                <a:ext uri="{FF2B5EF4-FFF2-40B4-BE49-F238E27FC236}">
                  <a16:creationId xmlns:a16="http://schemas.microsoft.com/office/drawing/2014/main" id="{D9278269-D816-4377-921A-50AEC083B847}"/>
                </a:ext>
              </a:extLst>
            </p:cNvPr>
            <p:cNvSpPr/>
            <p:nvPr userDrawn="1"/>
          </p:nvSpPr>
          <p:spPr>
            <a:xfrm>
              <a:off x="4572000" y="1408870"/>
              <a:ext cx="4569687" cy="3734730"/>
            </a:xfrm>
            <a:custGeom>
              <a:avLst/>
              <a:gdLst>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63923 w 4569687"/>
                <a:gd name="connsiteY30" fmla="*/ 3304336 h 3734631"/>
                <a:gd name="connsiteX31" fmla="*/ 1334207 w 4569687"/>
                <a:gd name="connsiteY31" fmla="*/ 3340352 h 3734631"/>
                <a:gd name="connsiteX32" fmla="*/ 1046262 w 4569687"/>
                <a:gd name="connsiteY32" fmla="*/ 3459623 h 3734631"/>
                <a:gd name="connsiteX33" fmla="*/ 647319 w 4569687"/>
                <a:gd name="connsiteY33" fmla="*/ 3134475 h 3734631"/>
                <a:gd name="connsiteX34" fmla="*/ 642925 w 4569687"/>
                <a:gd name="connsiteY34" fmla="*/ 3090891 h 3734631"/>
                <a:gd name="connsiteX35" fmla="*/ 634894 w 4569687"/>
                <a:gd name="connsiteY35" fmla="*/ 3098188 h 3734631"/>
                <a:gd name="connsiteX36" fmla="*/ 407216 w 4569687"/>
                <a:gd name="connsiteY36" fmla="*/ 3167734 h 3734631"/>
                <a:gd name="connsiteX37" fmla="*/ 0 w 4569687"/>
                <a:gd name="connsiteY37" fmla="*/ 2760518 h 3734631"/>
                <a:gd name="connsiteX38" fmla="*/ 407216 w 4569687"/>
                <a:gd name="connsiteY38" fmla="*/ 2353302 h 3734631"/>
                <a:gd name="connsiteX39" fmla="*/ 489284 w 4569687"/>
                <a:gd name="connsiteY39" fmla="*/ 2361575 h 3734631"/>
                <a:gd name="connsiteX40" fmla="*/ 508084 w 4569687"/>
                <a:gd name="connsiteY40" fmla="*/ 2367411 h 3734631"/>
                <a:gd name="connsiteX41" fmla="*/ 503849 w 4569687"/>
                <a:gd name="connsiteY41" fmla="*/ 2325400 h 3734631"/>
                <a:gd name="connsiteX42" fmla="*/ 1121688 w 4569687"/>
                <a:gd name="connsiteY42" fmla="*/ 1707561 h 3734631"/>
                <a:gd name="connsiteX43" fmla="*/ 1246204 w 4569687"/>
                <a:gd name="connsiteY43" fmla="*/ 1720113 h 3734631"/>
                <a:gd name="connsiteX44" fmla="*/ 1284356 w 4569687"/>
                <a:gd name="connsiteY44" fmla="*/ 1731957 h 3734631"/>
                <a:gd name="connsiteX45" fmla="*/ 1305976 w 4569687"/>
                <a:gd name="connsiteY45" fmla="*/ 1705754 h 3734631"/>
                <a:gd name="connsiteX46" fmla="*/ 1742854 w 4569687"/>
                <a:gd name="connsiteY46" fmla="*/ 1524793 h 3734631"/>
                <a:gd name="connsiteX47" fmla="*/ 1760288 w 4569687"/>
                <a:gd name="connsiteY47" fmla="*/ 1526551 h 3734631"/>
                <a:gd name="connsiteX48" fmla="*/ 1748032 w 4569687"/>
                <a:gd name="connsiteY48" fmla="*/ 1487068 h 3734631"/>
                <a:gd name="connsiteX49" fmla="*/ 1742854 w 4569687"/>
                <a:gd name="connsiteY49" fmla="*/ 1435701 h 3734631"/>
                <a:gd name="connsiteX50" fmla="*/ 1946367 w 4569687"/>
                <a:gd name="connsiteY50" fmla="*/ 1185999 h 3734631"/>
                <a:gd name="connsiteX51" fmla="*/ 1956892 w 4569687"/>
                <a:gd name="connsiteY51" fmla="*/ 1184938 h 3734631"/>
                <a:gd name="connsiteX52" fmla="*/ 1963928 w 4569687"/>
                <a:gd name="connsiteY52" fmla="*/ 1115143 h 3734631"/>
                <a:gd name="connsiteX53" fmla="*/ 2450363 w 4569687"/>
                <a:gd name="connsiteY53" fmla="*/ 718687 h 3734631"/>
                <a:gd name="connsiteX54" fmla="*/ 2520904 w 4569687"/>
                <a:gd name="connsiteY54" fmla="*/ 725798 h 3734631"/>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34207 w 4569687"/>
                <a:gd name="connsiteY30" fmla="*/ 3340352 h 3734631"/>
                <a:gd name="connsiteX31" fmla="*/ 1046262 w 4569687"/>
                <a:gd name="connsiteY31" fmla="*/ 3459623 h 3734631"/>
                <a:gd name="connsiteX32" fmla="*/ 647319 w 4569687"/>
                <a:gd name="connsiteY32" fmla="*/ 3134475 h 3734631"/>
                <a:gd name="connsiteX33" fmla="*/ 642925 w 4569687"/>
                <a:gd name="connsiteY33" fmla="*/ 3090891 h 3734631"/>
                <a:gd name="connsiteX34" fmla="*/ 634894 w 4569687"/>
                <a:gd name="connsiteY34" fmla="*/ 3098188 h 3734631"/>
                <a:gd name="connsiteX35" fmla="*/ 407216 w 4569687"/>
                <a:gd name="connsiteY35" fmla="*/ 3167734 h 3734631"/>
                <a:gd name="connsiteX36" fmla="*/ 0 w 4569687"/>
                <a:gd name="connsiteY36" fmla="*/ 2760518 h 3734631"/>
                <a:gd name="connsiteX37" fmla="*/ 407216 w 4569687"/>
                <a:gd name="connsiteY37" fmla="*/ 2353302 h 3734631"/>
                <a:gd name="connsiteX38" fmla="*/ 489284 w 4569687"/>
                <a:gd name="connsiteY38" fmla="*/ 2361575 h 3734631"/>
                <a:gd name="connsiteX39" fmla="*/ 508084 w 4569687"/>
                <a:gd name="connsiteY39" fmla="*/ 2367411 h 3734631"/>
                <a:gd name="connsiteX40" fmla="*/ 503849 w 4569687"/>
                <a:gd name="connsiteY40" fmla="*/ 2325400 h 3734631"/>
                <a:gd name="connsiteX41" fmla="*/ 1121688 w 4569687"/>
                <a:gd name="connsiteY41" fmla="*/ 1707561 h 3734631"/>
                <a:gd name="connsiteX42" fmla="*/ 1246204 w 4569687"/>
                <a:gd name="connsiteY42" fmla="*/ 1720113 h 3734631"/>
                <a:gd name="connsiteX43" fmla="*/ 1284356 w 4569687"/>
                <a:gd name="connsiteY43" fmla="*/ 1731957 h 3734631"/>
                <a:gd name="connsiteX44" fmla="*/ 1305976 w 4569687"/>
                <a:gd name="connsiteY44" fmla="*/ 1705754 h 3734631"/>
                <a:gd name="connsiteX45" fmla="*/ 1742854 w 4569687"/>
                <a:gd name="connsiteY45" fmla="*/ 1524793 h 3734631"/>
                <a:gd name="connsiteX46" fmla="*/ 1760288 w 4569687"/>
                <a:gd name="connsiteY46" fmla="*/ 1526551 h 3734631"/>
                <a:gd name="connsiteX47" fmla="*/ 1748032 w 4569687"/>
                <a:gd name="connsiteY47" fmla="*/ 1487068 h 3734631"/>
                <a:gd name="connsiteX48" fmla="*/ 1742854 w 4569687"/>
                <a:gd name="connsiteY48" fmla="*/ 1435701 h 3734631"/>
                <a:gd name="connsiteX49" fmla="*/ 1946367 w 4569687"/>
                <a:gd name="connsiteY49" fmla="*/ 1185999 h 3734631"/>
                <a:gd name="connsiteX50" fmla="*/ 1956892 w 4569687"/>
                <a:gd name="connsiteY50" fmla="*/ 1184938 h 3734631"/>
                <a:gd name="connsiteX51" fmla="*/ 1963928 w 4569687"/>
                <a:gd name="connsiteY51" fmla="*/ 1115143 h 3734631"/>
                <a:gd name="connsiteX52" fmla="*/ 2450363 w 4569687"/>
                <a:gd name="connsiteY52" fmla="*/ 718687 h 3734631"/>
                <a:gd name="connsiteX53" fmla="*/ 2520904 w 4569687"/>
                <a:gd name="connsiteY53" fmla="*/ 725798 h 3734631"/>
                <a:gd name="connsiteX54" fmla="*/ 2611712 w 4569687"/>
                <a:gd name="connsiteY54" fmla="*/ 0 h 3734631"/>
                <a:gd name="connsiteX0" fmla="*/ 2611712 w 4569687"/>
                <a:gd name="connsiteY0" fmla="*/ 0 h 3743131"/>
                <a:gd name="connsiteX1" fmla="*/ 2927539 w 4569687"/>
                <a:gd name="connsiteY1" fmla="*/ 0 h 3743131"/>
                <a:gd name="connsiteX2" fmla="*/ 3010471 w 4569687"/>
                <a:gd name="connsiteY2" fmla="*/ 662843 h 3743131"/>
                <a:gd name="connsiteX3" fmla="*/ 3062414 w 4569687"/>
                <a:gd name="connsiteY3" fmla="*/ 672782 h 3743131"/>
                <a:gd name="connsiteX4" fmla="*/ 3375104 w 4569687"/>
                <a:gd name="connsiteY4" fmla="*/ 893768 h 3743131"/>
                <a:gd name="connsiteX5" fmla="*/ 3401966 w 4569687"/>
                <a:gd name="connsiteY5" fmla="*/ 943258 h 3743131"/>
                <a:gd name="connsiteX6" fmla="*/ 3444529 w 4569687"/>
                <a:gd name="connsiteY6" fmla="*/ 938967 h 3743131"/>
                <a:gd name="connsiteX7" fmla="*/ 3941882 w 4569687"/>
                <a:gd name="connsiteY7" fmla="*/ 1268635 h 3743131"/>
                <a:gd name="connsiteX8" fmla="*/ 3950232 w 4569687"/>
                <a:gd name="connsiteY8" fmla="*/ 1295533 h 3743131"/>
                <a:gd name="connsiteX9" fmla="*/ 3968452 w 4569687"/>
                <a:gd name="connsiteY9" fmla="*/ 1289878 h 3743131"/>
                <a:gd name="connsiteX10" fmla="*/ 4041773 w 4569687"/>
                <a:gd name="connsiteY10" fmla="*/ 1282486 h 3743131"/>
                <a:gd name="connsiteX11" fmla="*/ 4398197 w 4569687"/>
                <a:gd name="connsiteY11" fmla="*/ 1572980 h 3743131"/>
                <a:gd name="connsiteX12" fmla="*/ 4401113 w 4569687"/>
                <a:gd name="connsiteY12" fmla="*/ 1601912 h 3743131"/>
                <a:gd name="connsiteX13" fmla="*/ 4509768 w 4569687"/>
                <a:gd name="connsiteY13" fmla="*/ 1612865 h 3743131"/>
                <a:gd name="connsiteX14" fmla="*/ 4569687 w 4569687"/>
                <a:gd name="connsiteY14" fmla="*/ 1630661 h 3743131"/>
                <a:gd name="connsiteX15" fmla="*/ 4569687 w 4569687"/>
                <a:gd name="connsiteY15" fmla="*/ 3685776 h 3743131"/>
                <a:gd name="connsiteX16" fmla="*/ 4479175 w 4569687"/>
                <a:gd name="connsiteY16" fmla="*/ 3694900 h 3743131"/>
                <a:gd name="connsiteX17" fmla="*/ 4083674 w 4569687"/>
                <a:gd name="connsiteY17" fmla="*/ 3574092 h 3743131"/>
                <a:gd name="connsiteX18" fmla="*/ 4051094 w 4569687"/>
                <a:gd name="connsiteY18" fmla="*/ 3547210 h 3743131"/>
                <a:gd name="connsiteX19" fmla="*/ 4009782 w 4569687"/>
                <a:gd name="connsiteY19" fmla="*/ 3581295 h 3743131"/>
                <a:gd name="connsiteX20" fmla="*/ 3782104 w 4569687"/>
                <a:gd name="connsiteY20" fmla="*/ 3650841 h 3743131"/>
                <a:gd name="connsiteX21" fmla="*/ 3494159 w 4569687"/>
                <a:gd name="connsiteY21" fmla="*/ 3531570 h 3743131"/>
                <a:gd name="connsiteX22" fmla="*/ 3452428 w 4569687"/>
                <a:gd name="connsiteY22" fmla="*/ 3480992 h 3743131"/>
                <a:gd name="connsiteX23" fmla="*/ 3441126 w 4569687"/>
                <a:gd name="connsiteY23" fmla="*/ 3501813 h 3743131"/>
                <a:gd name="connsiteX24" fmla="*/ 3103456 w 4569687"/>
                <a:gd name="connsiteY24" fmla="*/ 3681351 h 3743131"/>
                <a:gd name="connsiteX25" fmla="*/ 2815511 w 4569687"/>
                <a:gd name="connsiteY25" fmla="*/ 3562080 h 3743131"/>
                <a:gd name="connsiteX26" fmla="*/ 2772231 w 4569687"/>
                <a:gd name="connsiteY26" fmla="*/ 3509625 h 3743131"/>
                <a:gd name="connsiteX27" fmla="*/ 2697608 w 4569687"/>
                <a:gd name="connsiteY27" fmla="*/ 3571194 h 3743131"/>
                <a:gd name="connsiteX28" fmla="*/ 2162552 w 4569687"/>
                <a:gd name="connsiteY28" fmla="*/ 3734631 h 3743131"/>
                <a:gd name="connsiteX29" fmla="*/ 1334207 w 4569687"/>
                <a:gd name="connsiteY29" fmla="*/ 3340352 h 3743131"/>
                <a:gd name="connsiteX30" fmla="*/ 1046262 w 4569687"/>
                <a:gd name="connsiteY30" fmla="*/ 3459623 h 3743131"/>
                <a:gd name="connsiteX31" fmla="*/ 647319 w 4569687"/>
                <a:gd name="connsiteY31" fmla="*/ 3134475 h 3743131"/>
                <a:gd name="connsiteX32" fmla="*/ 642925 w 4569687"/>
                <a:gd name="connsiteY32" fmla="*/ 3090891 h 3743131"/>
                <a:gd name="connsiteX33" fmla="*/ 634894 w 4569687"/>
                <a:gd name="connsiteY33" fmla="*/ 3098188 h 3743131"/>
                <a:gd name="connsiteX34" fmla="*/ 407216 w 4569687"/>
                <a:gd name="connsiteY34" fmla="*/ 3167734 h 3743131"/>
                <a:gd name="connsiteX35" fmla="*/ 0 w 4569687"/>
                <a:gd name="connsiteY35" fmla="*/ 2760518 h 3743131"/>
                <a:gd name="connsiteX36" fmla="*/ 407216 w 4569687"/>
                <a:gd name="connsiteY36" fmla="*/ 2353302 h 3743131"/>
                <a:gd name="connsiteX37" fmla="*/ 489284 w 4569687"/>
                <a:gd name="connsiteY37" fmla="*/ 2361575 h 3743131"/>
                <a:gd name="connsiteX38" fmla="*/ 508084 w 4569687"/>
                <a:gd name="connsiteY38" fmla="*/ 2367411 h 3743131"/>
                <a:gd name="connsiteX39" fmla="*/ 503849 w 4569687"/>
                <a:gd name="connsiteY39" fmla="*/ 2325400 h 3743131"/>
                <a:gd name="connsiteX40" fmla="*/ 1121688 w 4569687"/>
                <a:gd name="connsiteY40" fmla="*/ 1707561 h 3743131"/>
                <a:gd name="connsiteX41" fmla="*/ 1246204 w 4569687"/>
                <a:gd name="connsiteY41" fmla="*/ 1720113 h 3743131"/>
                <a:gd name="connsiteX42" fmla="*/ 1284356 w 4569687"/>
                <a:gd name="connsiteY42" fmla="*/ 1731957 h 3743131"/>
                <a:gd name="connsiteX43" fmla="*/ 1305976 w 4569687"/>
                <a:gd name="connsiteY43" fmla="*/ 1705754 h 3743131"/>
                <a:gd name="connsiteX44" fmla="*/ 1742854 w 4569687"/>
                <a:gd name="connsiteY44" fmla="*/ 1524793 h 3743131"/>
                <a:gd name="connsiteX45" fmla="*/ 1760288 w 4569687"/>
                <a:gd name="connsiteY45" fmla="*/ 1526551 h 3743131"/>
                <a:gd name="connsiteX46" fmla="*/ 1748032 w 4569687"/>
                <a:gd name="connsiteY46" fmla="*/ 1487068 h 3743131"/>
                <a:gd name="connsiteX47" fmla="*/ 1742854 w 4569687"/>
                <a:gd name="connsiteY47" fmla="*/ 1435701 h 3743131"/>
                <a:gd name="connsiteX48" fmla="*/ 1946367 w 4569687"/>
                <a:gd name="connsiteY48" fmla="*/ 1185999 h 3743131"/>
                <a:gd name="connsiteX49" fmla="*/ 1956892 w 4569687"/>
                <a:gd name="connsiteY49" fmla="*/ 1184938 h 3743131"/>
                <a:gd name="connsiteX50" fmla="*/ 1963928 w 4569687"/>
                <a:gd name="connsiteY50" fmla="*/ 1115143 h 3743131"/>
                <a:gd name="connsiteX51" fmla="*/ 2450363 w 4569687"/>
                <a:gd name="connsiteY51" fmla="*/ 718687 h 3743131"/>
                <a:gd name="connsiteX52" fmla="*/ 2520904 w 4569687"/>
                <a:gd name="connsiteY52" fmla="*/ 725798 h 3743131"/>
                <a:gd name="connsiteX53" fmla="*/ 2611712 w 4569687"/>
                <a:gd name="connsiteY53" fmla="*/ 0 h 3743131"/>
                <a:gd name="connsiteX0" fmla="*/ 2611712 w 4569687"/>
                <a:gd name="connsiteY0" fmla="*/ 0 h 3741630"/>
                <a:gd name="connsiteX1" fmla="*/ 2927539 w 4569687"/>
                <a:gd name="connsiteY1" fmla="*/ 0 h 3741630"/>
                <a:gd name="connsiteX2" fmla="*/ 3010471 w 4569687"/>
                <a:gd name="connsiteY2" fmla="*/ 662843 h 3741630"/>
                <a:gd name="connsiteX3" fmla="*/ 3062414 w 4569687"/>
                <a:gd name="connsiteY3" fmla="*/ 672782 h 3741630"/>
                <a:gd name="connsiteX4" fmla="*/ 3375104 w 4569687"/>
                <a:gd name="connsiteY4" fmla="*/ 893768 h 3741630"/>
                <a:gd name="connsiteX5" fmla="*/ 3401966 w 4569687"/>
                <a:gd name="connsiteY5" fmla="*/ 943258 h 3741630"/>
                <a:gd name="connsiteX6" fmla="*/ 3444529 w 4569687"/>
                <a:gd name="connsiteY6" fmla="*/ 938967 h 3741630"/>
                <a:gd name="connsiteX7" fmla="*/ 3941882 w 4569687"/>
                <a:gd name="connsiteY7" fmla="*/ 1268635 h 3741630"/>
                <a:gd name="connsiteX8" fmla="*/ 3950232 w 4569687"/>
                <a:gd name="connsiteY8" fmla="*/ 1295533 h 3741630"/>
                <a:gd name="connsiteX9" fmla="*/ 3968452 w 4569687"/>
                <a:gd name="connsiteY9" fmla="*/ 1289878 h 3741630"/>
                <a:gd name="connsiteX10" fmla="*/ 4041773 w 4569687"/>
                <a:gd name="connsiteY10" fmla="*/ 1282486 h 3741630"/>
                <a:gd name="connsiteX11" fmla="*/ 4398197 w 4569687"/>
                <a:gd name="connsiteY11" fmla="*/ 1572980 h 3741630"/>
                <a:gd name="connsiteX12" fmla="*/ 4401113 w 4569687"/>
                <a:gd name="connsiteY12" fmla="*/ 1601912 h 3741630"/>
                <a:gd name="connsiteX13" fmla="*/ 4509768 w 4569687"/>
                <a:gd name="connsiteY13" fmla="*/ 1612865 h 3741630"/>
                <a:gd name="connsiteX14" fmla="*/ 4569687 w 4569687"/>
                <a:gd name="connsiteY14" fmla="*/ 1630661 h 3741630"/>
                <a:gd name="connsiteX15" fmla="*/ 4569687 w 4569687"/>
                <a:gd name="connsiteY15" fmla="*/ 3685776 h 3741630"/>
                <a:gd name="connsiteX16" fmla="*/ 4479175 w 4569687"/>
                <a:gd name="connsiteY16" fmla="*/ 3694900 h 3741630"/>
                <a:gd name="connsiteX17" fmla="*/ 4083674 w 4569687"/>
                <a:gd name="connsiteY17" fmla="*/ 3574092 h 3741630"/>
                <a:gd name="connsiteX18" fmla="*/ 4051094 w 4569687"/>
                <a:gd name="connsiteY18" fmla="*/ 3547210 h 3741630"/>
                <a:gd name="connsiteX19" fmla="*/ 4009782 w 4569687"/>
                <a:gd name="connsiteY19" fmla="*/ 3581295 h 3741630"/>
                <a:gd name="connsiteX20" fmla="*/ 3782104 w 4569687"/>
                <a:gd name="connsiteY20" fmla="*/ 3650841 h 3741630"/>
                <a:gd name="connsiteX21" fmla="*/ 3494159 w 4569687"/>
                <a:gd name="connsiteY21" fmla="*/ 3531570 h 3741630"/>
                <a:gd name="connsiteX22" fmla="*/ 3452428 w 4569687"/>
                <a:gd name="connsiteY22" fmla="*/ 3480992 h 3741630"/>
                <a:gd name="connsiteX23" fmla="*/ 3441126 w 4569687"/>
                <a:gd name="connsiteY23" fmla="*/ 3501813 h 3741630"/>
                <a:gd name="connsiteX24" fmla="*/ 3103456 w 4569687"/>
                <a:gd name="connsiteY24" fmla="*/ 3681351 h 3741630"/>
                <a:gd name="connsiteX25" fmla="*/ 2815511 w 4569687"/>
                <a:gd name="connsiteY25" fmla="*/ 3562080 h 3741630"/>
                <a:gd name="connsiteX26" fmla="*/ 2772231 w 4569687"/>
                <a:gd name="connsiteY26" fmla="*/ 3509625 h 3741630"/>
                <a:gd name="connsiteX27" fmla="*/ 2697608 w 4569687"/>
                <a:gd name="connsiteY27" fmla="*/ 3571194 h 3741630"/>
                <a:gd name="connsiteX28" fmla="*/ 2162552 w 4569687"/>
                <a:gd name="connsiteY28" fmla="*/ 3734631 h 3741630"/>
                <a:gd name="connsiteX29" fmla="*/ 1390478 w 4569687"/>
                <a:gd name="connsiteY29" fmla="*/ 3368488 h 3741630"/>
                <a:gd name="connsiteX30" fmla="*/ 1046262 w 4569687"/>
                <a:gd name="connsiteY30" fmla="*/ 3459623 h 3741630"/>
                <a:gd name="connsiteX31" fmla="*/ 647319 w 4569687"/>
                <a:gd name="connsiteY31" fmla="*/ 3134475 h 3741630"/>
                <a:gd name="connsiteX32" fmla="*/ 642925 w 4569687"/>
                <a:gd name="connsiteY32" fmla="*/ 3090891 h 3741630"/>
                <a:gd name="connsiteX33" fmla="*/ 634894 w 4569687"/>
                <a:gd name="connsiteY33" fmla="*/ 3098188 h 3741630"/>
                <a:gd name="connsiteX34" fmla="*/ 407216 w 4569687"/>
                <a:gd name="connsiteY34" fmla="*/ 3167734 h 3741630"/>
                <a:gd name="connsiteX35" fmla="*/ 0 w 4569687"/>
                <a:gd name="connsiteY35" fmla="*/ 2760518 h 3741630"/>
                <a:gd name="connsiteX36" fmla="*/ 407216 w 4569687"/>
                <a:gd name="connsiteY36" fmla="*/ 2353302 h 3741630"/>
                <a:gd name="connsiteX37" fmla="*/ 489284 w 4569687"/>
                <a:gd name="connsiteY37" fmla="*/ 2361575 h 3741630"/>
                <a:gd name="connsiteX38" fmla="*/ 508084 w 4569687"/>
                <a:gd name="connsiteY38" fmla="*/ 2367411 h 3741630"/>
                <a:gd name="connsiteX39" fmla="*/ 503849 w 4569687"/>
                <a:gd name="connsiteY39" fmla="*/ 2325400 h 3741630"/>
                <a:gd name="connsiteX40" fmla="*/ 1121688 w 4569687"/>
                <a:gd name="connsiteY40" fmla="*/ 1707561 h 3741630"/>
                <a:gd name="connsiteX41" fmla="*/ 1246204 w 4569687"/>
                <a:gd name="connsiteY41" fmla="*/ 1720113 h 3741630"/>
                <a:gd name="connsiteX42" fmla="*/ 1284356 w 4569687"/>
                <a:gd name="connsiteY42" fmla="*/ 1731957 h 3741630"/>
                <a:gd name="connsiteX43" fmla="*/ 1305976 w 4569687"/>
                <a:gd name="connsiteY43" fmla="*/ 1705754 h 3741630"/>
                <a:gd name="connsiteX44" fmla="*/ 1742854 w 4569687"/>
                <a:gd name="connsiteY44" fmla="*/ 1524793 h 3741630"/>
                <a:gd name="connsiteX45" fmla="*/ 1760288 w 4569687"/>
                <a:gd name="connsiteY45" fmla="*/ 1526551 h 3741630"/>
                <a:gd name="connsiteX46" fmla="*/ 1748032 w 4569687"/>
                <a:gd name="connsiteY46" fmla="*/ 1487068 h 3741630"/>
                <a:gd name="connsiteX47" fmla="*/ 1742854 w 4569687"/>
                <a:gd name="connsiteY47" fmla="*/ 1435701 h 3741630"/>
                <a:gd name="connsiteX48" fmla="*/ 1946367 w 4569687"/>
                <a:gd name="connsiteY48" fmla="*/ 1185999 h 3741630"/>
                <a:gd name="connsiteX49" fmla="*/ 1956892 w 4569687"/>
                <a:gd name="connsiteY49" fmla="*/ 1184938 h 3741630"/>
                <a:gd name="connsiteX50" fmla="*/ 1963928 w 4569687"/>
                <a:gd name="connsiteY50" fmla="*/ 1115143 h 3741630"/>
                <a:gd name="connsiteX51" fmla="*/ 2450363 w 4569687"/>
                <a:gd name="connsiteY51" fmla="*/ 718687 h 3741630"/>
                <a:gd name="connsiteX52" fmla="*/ 2520904 w 4569687"/>
                <a:gd name="connsiteY52" fmla="*/ 725798 h 3741630"/>
                <a:gd name="connsiteX53" fmla="*/ 2611712 w 4569687"/>
                <a:gd name="connsiteY53" fmla="*/ 0 h 37416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569687" h="3734730">
                  <a:moveTo>
                    <a:pt x="2611712" y="0"/>
                  </a:moveTo>
                  <a:lnTo>
                    <a:pt x="2927539" y="0"/>
                  </a:lnTo>
                  <a:lnTo>
                    <a:pt x="3010471" y="662843"/>
                  </a:lnTo>
                  <a:lnTo>
                    <a:pt x="3062414" y="672782"/>
                  </a:lnTo>
                  <a:cubicBezTo>
                    <a:pt x="3191764" y="706062"/>
                    <a:pt x="3302353" y="786083"/>
                    <a:pt x="3375104" y="893768"/>
                  </a:cubicBezTo>
                  <a:lnTo>
                    <a:pt x="3401966" y="943258"/>
                  </a:lnTo>
                  <a:lnTo>
                    <a:pt x="3444529" y="938967"/>
                  </a:lnTo>
                  <a:cubicBezTo>
                    <a:pt x="3668109" y="938967"/>
                    <a:pt x="3859940" y="1074903"/>
                    <a:pt x="3941882" y="1268635"/>
                  </a:cubicBezTo>
                  <a:lnTo>
                    <a:pt x="3950232" y="1295533"/>
                  </a:lnTo>
                  <a:lnTo>
                    <a:pt x="3968452" y="1289878"/>
                  </a:lnTo>
                  <a:cubicBezTo>
                    <a:pt x="3992135" y="1285031"/>
                    <a:pt x="4016657" y="1282486"/>
                    <a:pt x="4041773" y="1282486"/>
                  </a:cubicBezTo>
                  <a:cubicBezTo>
                    <a:pt x="4217586" y="1282486"/>
                    <a:pt x="4364272" y="1407196"/>
                    <a:pt x="4398197" y="1572980"/>
                  </a:cubicBezTo>
                  <a:lnTo>
                    <a:pt x="4401113" y="1601912"/>
                  </a:lnTo>
                  <a:lnTo>
                    <a:pt x="4509768" y="1612865"/>
                  </a:lnTo>
                  <a:lnTo>
                    <a:pt x="4569687" y="1630661"/>
                  </a:lnTo>
                  <a:lnTo>
                    <a:pt x="4569687" y="3685776"/>
                  </a:lnTo>
                  <a:lnTo>
                    <a:pt x="4479175" y="3694900"/>
                  </a:lnTo>
                  <a:cubicBezTo>
                    <a:pt x="4332673" y="3694900"/>
                    <a:pt x="4196572" y="3650364"/>
                    <a:pt x="4083674" y="3574092"/>
                  </a:cubicBezTo>
                  <a:lnTo>
                    <a:pt x="4051094" y="3547210"/>
                  </a:lnTo>
                  <a:lnTo>
                    <a:pt x="4009782" y="3581295"/>
                  </a:lnTo>
                  <a:cubicBezTo>
                    <a:pt x="3944790" y="3625203"/>
                    <a:pt x="3866441" y="3650841"/>
                    <a:pt x="3782104" y="3650841"/>
                  </a:cubicBezTo>
                  <a:cubicBezTo>
                    <a:pt x="3669655" y="3650841"/>
                    <a:pt x="3567851" y="3605262"/>
                    <a:pt x="3494159" y="3531570"/>
                  </a:cubicBezTo>
                  <a:lnTo>
                    <a:pt x="3452428" y="3480992"/>
                  </a:lnTo>
                  <a:lnTo>
                    <a:pt x="3441126" y="3501813"/>
                  </a:lnTo>
                  <a:cubicBezTo>
                    <a:pt x="3367946" y="3610134"/>
                    <a:pt x="3244018" y="3681351"/>
                    <a:pt x="3103456" y="3681351"/>
                  </a:cubicBezTo>
                  <a:cubicBezTo>
                    <a:pt x="2991007" y="3681351"/>
                    <a:pt x="2889203" y="3635772"/>
                    <a:pt x="2815511" y="3562080"/>
                  </a:cubicBezTo>
                  <a:lnTo>
                    <a:pt x="2772231" y="3509625"/>
                  </a:lnTo>
                  <a:lnTo>
                    <a:pt x="2697608" y="3571194"/>
                  </a:lnTo>
                  <a:cubicBezTo>
                    <a:pt x="2544873" y="3674380"/>
                    <a:pt x="2382991" y="3737583"/>
                    <a:pt x="2162552" y="3734631"/>
                  </a:cubicBezTo>
                  <a:cubicBezTo>
                    <a:pt x="1740716" y="3728982"/>
                    <a:pt x="1534323" y="3547967"/>
                    <a:pt x="1390478" y="3368488"/>
                  </a:cubicBezTo>
                  <a:cubicBezTo>
                    <a:pt x="1316786" y="3442180"/>
                    <a:pt x="1170122" y="3498625"/>
                    <a:pt x="1046262" y="3459623"/>
                  </a:cubicBezTo>
                  <a:cubicBezTo>
                    <a:pt x="922402" y="3420621"/>
                    <a:pt x="685290" y="3320037"/>
                    <a:pt x="647319" y="3134475"/>
                  </a:cubicBezTo>
                  <a:lnTo>
                    <a:pt x="642925" y="3090891"/>
                  </a:lnTo>
                  <a:lnTo>
                    <a:pt x="634894" y="3098188"/>
                  </a:lnTo>
                  <a:cubicBezTo>
                    <a:pt x="569902" y="3142096"/>
                    <a:pt x="491553" y="3167734"/>
                    <a:pt x="407216" y="3167734"/>
                  </a:cubicBezTo>
                  <a:cubicBezTo>
                    <a:pt x="182317" y="3167734"/>
                    <a:pt x="0" y="2985417"/>
                    <a:pt x="0" y="2760518"/>
                  </a:cubicBezTo>
                  <a:cubicBezTo>
                    <a:pt x="0" y="2535619"/>
                    <a:pt x="182317" y="2353302"/>
                    <a:pt x="407216" y="2353302"/>
                  </a:cubicBezTo>
                  <a:cubicBezTo>
                    <a:pt x="435328" y="2353302"/>
                    <a:pt x="462775" y="2356151"/>
                    <a:pt x="489284" y="2361575"/>
                  </a:cubicBezTo>
                  <a:lnTo>
                    <a:pt x="508084" y="2367411"/>
                  </a:lnTo>
                  <a:lnTo>
                    <a:pt x="503849" y="2325400"/>
                  </a:lnTo>
                  <a:cubicBezTo>
                    <a:pt x="503849" y="1984177"/>
                    <a:pt x="780465" y="1707561"/>
                    <a:pt x="1121688" y="1707561"/>
                  </a:cubicBezTo>
                  <a:cubicBezTo>
                    <a:pt x="1164341" y="1707561"/>
                    <a:pt x="1205984" y="1711883"/>
                    <a:pt x="1246204" y="1720113"/>
                  </a:cubicBezTo>
                  <a:lnTo>
                    <a:pt x="1284356" y="1731957"/>
                  </a:lnTo>
                  <a:lnTo>
                    <a:pt x="1305976" y="1705754"/>
                  </a:lnTo>
                  <a:cubicBezTo>
                    <a:pt x="1417783" y="1593947"/>
                    <a:pt x="1572242" y="1524793"/>
                    <a:pt x="1742854" y="1524793"/>
                  </a:cubicBezTo>
                  <a:lnTo>
                    <a:pt x="1760288" y="1526551"/>
                  </a:lnTo>
                  <a:lnTo>
                    <a:pt x="1748032" y="1487068"/>
                  </a:lnTo>
                  <a:cubicBezTo>
                    <a:pt x="1744637" y="1470476"/>
                    <a:pt x="1742854" y="1453297"/>
                    <a:pt x="1742854" y="1435701"/>
                  </a:cubicBezTo>
                  <a:cubicBezTo>
                    <a:pt x="1742854" y="1312531"/>
                    <a:pt x="1830222" y="1209766"/>
                    <a:pt x="1946367" y="1185999"/>
                  </a:cubicBezTo>
                  <a:lnTo>
                    <a:pt x="1956892" y="1184938"/>
                  </a:lnTo>
                  <a:lnTo>
                    <a:pt x="1963928" y="1115143"/>
                  </a:lnTo>
                  <a:cubicBezTo>
                    <a:pt x="2010227" y="888886"/>
                    <a:pt x="2210419" y="718687"/>
                    <a:pt x="2450363" y="718687"/>
                  </a:cubicBezTo>
                  <a:lnTo>
                    <a:pt x="2520904" y="725798"/>
                  </a:lnTo>
                  <a:lnTo>
                    <a:pt x="2611712"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8" name="그룹 7">
              <a:extLst>
                <a:ext uri="{FF2B5EF4-FFF2-40B4-BE49-F238E27FC236}">
                  <a16:creationId xmlns:a16="http://schemas.microsoft.com/office/drawing/2014/main" id="{D0429EA9-A20D-4800-80F6-48970138B795}"/>
                </a:ext>
              </a:extLst>
            </p:cNvPr>
            <p:cNvGrpSpPr/>
            <p:nvPr userDrawn="1"/>
          </p:nvGrpSpPr>
          <p:grpSpPr>
            <a:xfrm>
              <a:off x="6992136" y="387072"/>
              <a:ext cx="704897" cy="1355021"/>
              <a:chOff x="5304862" y="-789923"/>
              <a:chExt cx="645890" cy="1241591"/>
            </a:xfrm>
          </p:grpSpPr>
          <p:grpSp>
            <p:nvGrpSpPr>
              <p:cNvPr id="9" name="그룹 8">
                <a:extLst>
                  <a:ext uri="{FF2B5EF4-FFF2-40B4-BE49-F238E27FC236}">
                    <a16:creationId xmlns:a16="http://schemas.microsoft.com/office/drawing/2014/main" id="{4817FF4C-CE41-4E26-9FB9-CB745F3234F3}"/>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id="{688B8353-32F5-4D6E-81D9-D597B60FA9D3}"/>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id="{155478D4-44EA-48AE-860F-E368AD673D0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id="{1861CCC0-CB32-42D2-947D-1907817DDDAE}"/>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id="{E3ED5D5D-DC92-4BF6-B431-CE8E43382FD0}"/>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57F372C6-9816-462E-83F5-DFD56E8AF164}"/>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F07321F0-763D-431A-87E5-1BD5F333CAE1}"/>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id="{D39A1E25-A8B6-4EE4-8AC8-D262A0C0D58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1290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0" y="0"/>
            <a:ext cx="2987824"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sp>
        <p:nvSpPr>
          <p:cNvPr id="10" name="Text Placeholder 9"/>
          <p:cNvSpPr>
            <a:spLocks noGrp="1"/>
          </p:cNvSpPr>
          <p:nvPr>
            <p:ph type="body" sz="quarter" idx="10" hasCustomPrompt="1"/>
          </p:nvPr>
        </p:nvSpPr>
        <p:spPr>
          <a:xfrm>
            <a:off x="467544" y="411510"/>
            <a:ext cx="2303282" cy="1368152"/>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467544" y="1779662"/>
            <a:ext cx="2303282" cy="504056"/>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27" name="그룹 26">
            <a:extLst>
              <a:ext uri="{FF2B5EF4-FFF2-40B4-BE49-F238E27FC236}">
                <a16:creationId xmlns:a16="http://schemas.microsoft.com/office/drawing/2014/main" id="{C5AC382A-C3B5-4BE0-B805-8F9094AFD7DC}"/>
              </a:ext>
            </a:extLst>
          </p:cNvPr>
          <p:cNvGrpSpPr/>
          <p:nvPr userDrawn="1"/>
        </p:nvGrpSpPr>
        <p:grpSpPr>
          <a:xfrm>
            <a:off x="0" y="2571749"/>
            <a:ext cx="2984923" cy="2571751"/>
            <a:chOff x="0" y="2571749"/>
            <a:chExt cx="2984923" cy="2571751"/>
          </a:xfrm>
        </p:grpSpPr>
        <p:grpSp>
          <p:nvGrpSpPr>
            <p:cNvPr id="6" name="Group 5"/>
            <p:cNvGrpSpPr/>
            <p:nvPr userDrawn="1"/>
          </p:nvGrpSpPr>
          <p:grpSpPr>
            <a:xfrm>
              <a:off x="0" y="4032469"/>
              <a:ext cx="2984923" cy="1111031"/>
              <a:chOff x="0" y="4032469"/>
              <a:chExt cx="2984923" cy="1111031"/>
            </a:xfrm>
          </p:grpSpPr>
          <p:sp>
            <p:nvSpPr>
              <p:cNvPr id="2" name="Rectangle 1"/>
              <p:cNvSpPr/>
              <p:nvPr userDrawn="1"/>
            </p:nvSpPr>
            <p:spPr>
              <a:xfrm>
                <a:off x="2527176" y="4443958"/>
                <a:ext cx="457200"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3" name="Oval 2"/>
              <p:cNvSpPr/>
              <p:nvPr userDrawn="1"/>
            </p:nvSpPr>
            <p:spPr>
              <a:xfrm>
                <a:off x="2128455" y="4032469"/>
                <a:ext cx="856468" cy="856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8" name="Rectangle 7"/>
              <p:cNvSpPr/>
              <p:nvPr userDrawn="1"/>
            </p:nvSpPr>
            <p:spPr>
              <a:xfrm>
                <a:off x="0" y="4363963"/>
                <a:ext cx="449249" cy="779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Oval 8"/>
              <p:cNvSpPr/>
              <p:nvPr userDrawn="1"/>
            </p:nvSpPr>
            <p:spPr>
              <a:xfrm>
                <a:off x="0" y="4117025"/>
                <a:ext cx="4572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26" name="자유형: 도형 25">
              <a:extLst>
                <a:ext uri="{FF2B5EF4-FFF2-40B4-BE49-F238E27FC236}">
                  <a16:creationId xmlns:a16="http://schemas.microsoft.com/office/drawing/2014/main" id="{A909D931-338B-4F68-B73A-DDF2CA17DD12}"/>
                </a:ext>
              </a:extLst>
            </p:cNvPr>
            <p:cNvSpPr/>
            <p:nvPr userDrawn="1"/>
          </p:nvSpPr>
          <p:spPr>
            <a:xfrm>
              <a:off x="0" y="3170955"/>
              <a:ext cx="2544134" cy="1972545"/>
            </a:xfrm>
            <a:custGeom>
              <a:avLst/>
              <a:gdLst>
                <a:gd name="connsiteX0" fmla="*/ 1395974 w 2544134"/>
                <a:gd name="connsiteY0" fmla="*/ 0 h 1972545"/>
                <a:gd name="connsiteX1" fmla="*/ 1581175 w 2544134"/>
                <a:gd name="connsiteY1" fmla="*/ 0 h 1972545"/>
                <a:gd name="connsiteX2" fmla="*/ 1629807 w 2544134"/>
                <a:gd name="connsiteY2" fmla="*/ 388693 h 1972545"/>
                <a:gd name="connsiteX3" fmla="*/ 1660266 w 2544134"/>
                <a:gd name="connsiteY3" fmla="*/ 394521 h 1972545"/>
                <a:gd name="connsiteX4" fmla="*/ 1843628 w 2544134"/>
                <a:gd name="connsiteY4" fmla="*/ 524107 h 1972545"/>
                <a:gd name="connsiteX5" fmla="*/ 1859380 w 2544134"/>
                <a:gd name="connsiteY5" fmla="*/ 553128 h 1972545"/>
                <a:gd name="connsiteX6" fmla="*/ 1884339 w 2544134"/>
                <a:gd name="connsiteY6" fmla="*/ 550612 h 1972545"/>
                <a:gd name="connsiteX7" fmla="*/ 2175988 w 2544134"/>
                <a:gd name="connsiteY7" fmla="*/ 743930 h 1972545"/>
                <a:gd name="connsiteX8" fmla="*/ 2180885 w 2544134"/>
                <a:gd name="connsiteY8" fmla="*/ 759703 h 1972545"/>
                <a:gd name="connsiteX9" fmla="*/ 2191569 w 2544134"/>
                <a:gd name="connsiteY9" fmla="*/ 756387 h 1972545"/>
                <a:gd name="connsiteX10" fmla="*/ 2234564 w 2544134"/>
                <a:gd name="connsiteY10" fmla="*/ 752052 h 1972545"/>
                <a:gd name="connsiteX11" fmla="*/ 2443572 w 2544134"/>
                <a:gd name="connsiteY11" fmla="*/ 922399 h 1972545"/>
                <a:gd name="connsiteX12" fmla="*/ 2445282 w 2544134"/>
                <a:gd name="connsiteY12" fmla="*/ 939364 h 1972545"/>
                <a:gd name="connsiteX13" fmla="*/ 2508998 w 2544134"/>
                <a:gd name="connsiteY13" fmla="*/ 945787 h 1972545"/>
                <a:gd name="connsiteX14" fmla="*/ 2544134 w 2544134"/>
                <a:gd name="connsiteY14" fmla="*/ 956223 h 1972545"/>
                <a:gd name="connsiteX15" fmla="*/ 2544134 w 2544134"/>
                <a:gd name="connsiteY15" fmla="*/ 1972545 h 1972545"/>
                <a:gd name="connsiteX16" fmla="*/ 354884 w 2544134"/>
                <a:gd name="connsiteY16" fmla="*/ 1972545 h 1972545"/>
                <a:gd name="connsiteX17" fmla="*/ 342134 w 2544134"/>
                <a:gd name="connsiteY17" fmla="*/ 1965625 h 1972545"/>
                <a:gd name="connsiteX18" fmla="*/ 244050 w 2544134"/>
                <a:gd name="connsiteY18" fmla="*/ 1838062 h 1972545"/>
                <a:gd name="connsiteX19" fmla="*/ 241474 w 2544134"/>
                <a:gd name="connsiteY19" fmla="*/ 1812505 h 1972545"/>
                <a:gd name="connsiteX20" fmla="*/ 236764 w 2544134"/>
                <a:gd name="connsiteY20" fmla="*/ 1816784 h 1972545"/>
                <a:gd name="connsiteX21" fmla="*/ 103253 w 2544134"/>
                <a:gd name="connsiteY21" fmla="*/ 1857566 h 1972545"/>
                <a:gd name="connsiteX22" fmla="*/ 10304 w 2544134"/>
                <a:gd name="connsiteY22" fmla="*/ 1838801 h 1972545"/>
                <a:gd name="connsiteX23" fmla="*/ 0 w 2544134"/>
                <a:gd name="connsiteY23" fmla="*/ 1833208 h 1972545"/>
                <a:gd name="connsiteX24" fmla="*/ 0 w 2544134"/>
                <a:gd name="connsiteY24" fmla="*/ 1404340 h 1972545"/>
                <a:gd name="connsiteX25" fmla="*/ 10304 w 2544134"/>
                <a:gd name="connsiteY25" fmla="*/ 1398747 h 1972545"/>
                <a:gd name="connsiteX26" fmla="*/ 103253 w 2544134"/>
                <a:gd name="connsiteY26" fmla="*/ 1379981 h 1972545"/>
                <a:gd name="connsiteX27" fmla="*/ 151378 w 2544134"/>
                <a:gd name="connsiteY27" fmla="*/ 1384832 h 1972545"/>
                <a:gd name="connsiteX28" fmla="*/ 162402 w 2544134"/>
                <a:gd name="connsiteY28" fmla="*/ 1388255 h 1972545"/>
                <a:gd name="connsiteX29" fmla="*/ 159919 w 2544134"/>
                <a:gd name="connsiteY29" fmla="*/ 1363619 h 1972545"/>
                <a:gd name="connsiteX30" fmla="*/ 522221 w 2544134"/>
                <a:gd name="connsiteY30" fmla="*/ 1001317 h 1972545"/>
                <a:gd name="connsiteX31" fmla="*/ 595237 w 2544134"/>
                <a:gd name="connsiteY31" fmla="*/ 1008678 h 1972545"/>
                <a:gd name="connsiteX32" fmla="*/ 617610 w 2544134"/>
                <a:gd name="connsiteY32" fmla="*/ 1015623 h 1972545"/>
                <a:gd name="connsiteX33" fmla="*/ 630288 w 2544134"/>
                <a:gd name="connsiteY33" fmla="*/ 1000258 h 1972545"/>
                <a:gd name="connsiteX34" fmla="*/ 886474 w 2544134"/>
                <a:gd name="connsiteY34" fmla="*/ 894142 h 1972545"/>
                <a:gd name="connsiteX35" fmla="*/ 896697 w 2544134"/>
                <a:gd name="connsiteY35" fmla="*/ 895173 h 1972545"/>
                <a:gd name="connsiteX36" fmla="*/ 889510 w 2544134"/>
                <a:gd name="connsiteY36" fmla="*/ 872020 h 1972545"/>
                <a:gd name="connsiteX37" fmla="*/ 886474 w 2544134"/>
                <a:gd name="connsiteY37" fmla="*/ 841898 h 1972545"/>
                <a:gd name="connsiteX38" fmla="*/ 1005814 w 2544134"/>
                <a:gd name="connsiteY38" fmla="*/ 695472 h 1972545"/>
                <a:gd name="connsiteX39" fmla="*/ 1011986 w 2544134"/>
                <a:gd name="connsiteY39" fmla="*/ 694850 h 1972545"/>
                <a:gd name="connsiteX40" fmla="*/ 1016112 w 2544134"/>
                <a:gd name="connsiteY40" fmla="*/ 653922 h 1972545"/>
                <a:gd name="connsiteX41" fmla="*/ 1301359 w 2544134"/>
                <a:gd name="connsiteY41" fmla="*/ 421440 h 1972545"/>
                <a:gd name="connsiteX42" fmla="*/ 1342724 w 2544134"/>
                <a:gd name="connsiteY42" fmla="*/ 425610 h 197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44134" h="1972545">
                  <a:moveTo>
                    <a:pt x="1395974" y="0"/>
                  </a:moveTo>
                  <a:lnTo>
                    <a:pt x="1581175" y="0"/>
                  </a:lnTo>
                  <a:lnTo>
                    <a:pt x="1629807" y="388693"/>
                  </a:lnTo>
                  <a:lnTo>
                    <a:pt x="1660266" y="394521"/>
                  </a:lnTo>
                  <a:cubicBezTo>
                    <a:pt x="1736117" y="414036"/>
                    <a:pt x="1800967" y="460961"/>
                    <a:pt x="1843628" y="524107"/>
                  </a:cubicBezTo>
                  <a:lnTo>
                    <a:pt x="1859380" y="553128"/>
                  </a:lnTo>
                  <a:lnTo>
                    <a:pt x="1884339" y="550612"/>
                  </a:lnTo>
                  <a:cubicBezTo>
                    <a:pt x="2015447" y="550612"/>
                    <a:pt x="2127937" y="630325"/>
                    <a:pt x="2175988" y="743930"/>
                  </a:cubicBezTo>
                  <a:lnTo>
                    <a:pt x="2180885" y="759703"/>
                  </a:lnTo>
                  <a:lnTo>
                    <a:pt x="2191569" y="756387"/>
                  </a:lnTo>
                  <a:cubicBezTo>
                    <a:pt x="2205457" y="753545"/>
                    <a:pt x="2219836" y="752052"/>
                    <a:pt x="2234564" y="752052"/>
                  </a:cubicBezTo>
                  <a:cubicBezTo>
                    <a:pt x="2337661" y="752052"/>
                    <a:pt x="2423678" y="825183"/>
                    <a:pt x="2443572" y="922399"/>
                  </a:cubicBezTo>
                  <a:lnTo>
                    <a:pt x="2445282" y="939364"/>
                  </a:lnTo>
                  <a:lnTo>
                    <a:pt x="2508998" y="945787"/>
                  </a:lnTo>
                  <a:lnTo>
                    <a:pt x="2544134" y="956223"/>
                  </a:lnTo>
                  <a:lnTo>
                    <a:pt x="2544134" y="1972545"/>
                  </a:lnTo>
                  <a:lnTo>
                    <a:pt x="354884" y="1972545"/>
                  </a:lnTo>
                  <a:lnTo>
                    <a:pt x="342134" y="1965625"/>
                  </a:lnTo>
                  <a:cubicBezTo>
                    <a:pt x="295511" y="1934418"/>
                    <a:pt x="255183" y="1892469"/>
                    <a:pt x="244050" y="1838062"/>
                  </a:cubicBezTo>
                  <a:lnTo>
                    <a:pt x="241474" y="1812505"/>
                  </a:lnTo>
                  <a:lnTo>
                    <a:pt x="236764" y="1816784"/>
                  </a:lnTo>
                  <a:cubicBezTo>
                    <a:pt x="198653" y="1842531"/>
                    <a:pt x="152709" y="1857566"/>
                    <a:pt x="103253" y="1857566"/>
                  </a:cubicBezTo>
                  <a:cubicBezTo>
                    <a:pt x="70283" y="1857566"/>
                    <a:pt x="38873" y="1850884"/>
                    <a:pt x="10304" y="1838801"/>
                  </a:cubicBezTo>
                  <a:lnTo>
                    <a:pt x="0" y="1833208"/>
                  </a:lnTo>
                  <a:lnTo>
                    <a:pt x="0" y="1404340"/>
                  </a:lnTo>
                  <a:lnTo>
                    <a:pt x="10304" y="1398747"/>
                  </a:lnTo>
                  <a:cubicBezTo>
                    <a:pt x="38873" y="1386663"/>
                    <a:pt x="70283" y="1379981"/>
                    <a:pt x="103253" y="1379981"/>
                  </a:cubicBezTo>
                  <a:cubicBezTo>
                    <a:pt x="119738" y="1379981"/>
                    <a:pt x="135833" y="1381652"/>
                    <a:pt x="151378" y="1384832"/>
                  </a:cubicBezTo>
                  <a:lnTo>
                    <a:pt x="162402" y="1388255"/>
                  </a:lnTo>
                  <a:lnTo>
                    <a:pt x="159919" y="1363619"/>
                  </a:lnTo>
                  <a:cubicBezTo>
                    <a:pt x="159919" y="1163525"/>
                    <a:pt x="322127" y="1001317"/>
                    <a:pt x="522221" y="1001317"/>
                  </a:cubicBezTo>
                  <a:cubicBezTo>
                    <a:pt x="547233" y="1001317"/>
                    <a:pt x="571652" y="1003852"/>
                    <a:pt x="595237" y="1008678"/>
                  </a:cubicBezTo>
                  <a:lnTo>
                    <a:pt x="617610" y="1015623"/>
                  </a:lnTo>
                  <a:lnTo>
                    <a:pt x="630288" y="1000258"/>
                  </a:lnTo>
                  <a:cubicBezTo>
                    <a:pt x="695852" y="934694"/>
                    <a:pt x="786427" y="894142"/>
                    <a:pt x="886474" y="894142"/>
                  </a:cubicBezTo>
                  <a:lnTo>
                    <a:pt x="896697" y="895173"/>
                  </a:lnTo>
                  <a:lnTo>
                    <a:pt x="889510" y="872020"/>
                  </a:lnTo>
                  <a:cubicBezTo>
                    <a:pt x="887519" y="862290"/>
                    <a:pt x="886474" y="852216"/>
                    <a:pt x="886474" y="841898"/>
                  </a:cubicBezTo>
                  <a:cubicBezTo>
                    <a:pt x="886474" y="769671"/>
                    <a:pt x="937707" y="709409"/>
                    <a:pt x="1005814" y="695472"/>
                  </a:cubicBezTo>
                  <a:lnTo>
                    <a:pt x="1011986" y="694850"/>
                  </a:lnTo>
                  <a:lnTo>
                    <a:pt x="1016112" y="653922"/>
                  </a:lnTo>
                  <a:cubicBezTo>
                    <a:pt x="1043262" y="521245"/>
                    <a:pt x="1160655" y="421440"/>
                    <a:pt x="1301359" y="421440"/>
                  </a:cubicBezTo>
                  <a:lnTo>
                    <a:pt x="1342724" y="4256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15" name="그룹 14">
              <a:extLst>
                <a:ext uri="{FF2B5EF4-FFF2-40B4-BE49-F238E27FC236}">
                  <a16:creationId xmlns:a16="http://schemas.microsoft.com/office/drawing/2014/main" id="{835AEBDB-6E77-465B-802B-2411CB9307EC}"/>
                </a:ext>
              </a:extLst>
            </p:cNvPr>
            <p:cNvGrpSpPr/>
            <p:nvPr userDrawn="1"/>
          </p:nvGrpSpPr>
          <p:grpSpPr>
            <a:xfrm>
              <a:off x="1278074" y="2571749"/>
              <a:ext cx="413353" cy="794587"/>
              <a:chOff x="5304862" y="-789923"/>
              <a:chExt cx="645890" cy="1241591"/>
            </a:xfrm>
          </p:grpSpPr>
          <p:grpSp>
            <p:nvGrpSpPr>
              <p:cNvPr id="16" name="그룹 15">
                <a:extLst>
                  <a:ext uri="{FF2B5EF4-FFF2-40B4-BE49-F238E27FC236}">
                    <a16:creationId xmlns:a16="http://schemas.microsoft.com/office/drawing/2014/main" id="{5E76A47E-F7A7-4DA1-9B8C-D7B1A60D5D71}"/>
                  </a:ext>
                </a:extLst>
              </p:cNvPr>
              <p:cNvGrpSpPr/>
              <p:nvPr userDrawn="1"/>
            </p:nvGrpSpPr>
            <p:grpSpPr>
              <a:xfrm>
                <a:off x="5377232" y="-789923"/>
                <a:ext cx="495969" cy="1052585"/>
                <a:chOff x="5868144" y="-857099"/>
                <a:chExt cx="495969" cy="1052585"/>
              </a:xfrm>
            </p:grpSpPr>
            <p:sp>
              <p:nvSpPr>
                <p:cNvPr id="21" name="이등변 삼각형 49">
                  <a:extLst>
                    <a:ext uri="{FF2B5EF4-FFF2-40B4-BE49-F238E27FC236}">
                      <a16:creationId xmlns:a16="http://schemas.microsoft.com/office/drawing/2014/main" id="{67190486-51A1-4AB6-8B4F-B570F9832336}"/>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56F15390-B3DB-4D76-834D-291CE0D12AD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자유형: 도형 22">
                  <a:extLst>
                    <a:ext uri="{FF2B5EF4-FFF2-40B4-BE49-F238E27FC236}">
                      <a16:creationId xmlns:a16="http://schemas.microsoft.com/office/drawing/2014/main" id="{3BA87288-70D8-4753-8DAA-8CA1C332EF6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타원 16">
                <a:extLst>
                  <a:ext uri="{FF2B5EF4-FFF2-40B4-BE49-F238E27FC236}">
                    <a16:creationId xmlns:a16="http://schemas.microsoft.com/office/drawing/2014/main" id="{AD475AD4-CA04-4B61-9BB4-408BA6A11E05}"/>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1B106404-A3F8-4193-8435-FA430BEB5473}"/>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자유형: 도형 18">
                <a:extLst>
                  <a:ext uri="{FF2B5EF4-FFF2-40B4-BE49-F238E27FC236}">
                    <a16:creationId xmlns:a16="http://schemas.microsoft.com/office/drawing/2014/main" id="{9408417A-6F35-4CB8-93DD-4FB5074FE702}"/>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자유형: 도형 19">
                <a:extLst>
                  <a:ext uri="{FF2B5EF4-FFF2-40B4-BE49-F238E27FC236}">
                    <a16:creationId xmlns:a16="http://schemas.microsoft.com/office/drawing/2014/main" id="{3058858D-8ACE-40F2-B778-D2BFBF4553F3}"/>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Frame 11"/>
          <p:cNvSpPr/>
          <p:nvPr userDrawn="1"/>
        </p:nvSpPr>
        <p:spPr>
          <a:xfrm>
            <a:off x="251520" y="339502"/>
            <a:ext cx="8640960" cy="4464496"/>
          </a:xfrm>
          <a:prstGeom prst="frame">
            <a:avLst>
              <a:gd name="adj1" fmla="val 123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2340375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llo Slide Layout">
    <p:spTree>
      <p:nvGrpSpPr>
        <p:cNvPr id="1" name=""/>
        <p:cNvGrpSpPr/>
        <p:nvPr/>
      </p:nvGrpSpPr>
      <p:grpSpPr>
        <a:xfrm>
          <a:off x="0" y="0"/>
          <a:ext cx="0" cy="0"/>
          <a:chOff x="0" y="0"/>
          <a:chExt cx="0" cy="0"/>
        </a:xfrm>
      </p:grpSpPr>
      <p:sp>
        <p:nvSpPr>
          <p:cNvPr id="4" name="Rectangle 3"/>
          <p:cNvSpPr/>
          <p:nvPr userDrawn="1"/>
        </p:nvSpPr>
        <p:spPr>
          <a:xfrm>
            <a:off x="0" y="0"/>
            <a:ext cx="9144000" cy="13476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3EB7A4-0598-4887-ACB7-E8220F8DDFED}"/>
              </a:ext>
            </a:extLst>
          </p:cNvPr>
          <p:cNvGrpSpPr/>
          <p:nvPr userDrawn="1"/>
        </p:nvGrpSpPr>
        <p:grpSpPr>
          <a:xfrm>
            <a:off x="1902711" y="232356"/>
            <a:ext cx="5620059" cy="4638441"/>
            <a:chOff x="1902711" y="497586"/>
            <a:chExt cx="5620059" cy="4638441"/>
          </a:xfrm>
        </p:grpSpPr>
        <p:grpSp>
          <p:nvGrpSpPr>
            <p:cNvPr id="53" name="그룹 52">
              <a:extLst>
                <a:ext uri="{FF2B5EF4-FFF2-40B4-BE49-F238E27FC236}">
                  <a16:creationId xmlns:a16="http://schemas.microsoft.com/office/drawing/2014/main" id="{C4167999-582F-4DE1-8524-427663DA86EB}"/>
                </a:ext>
              </a:extLst>
            </p:cNvPr>
            <p:cNvGrpSpPr/>
            <p:nvPr userDrawn="1"/>
          </p:nvGrpSpPr>
          <p:grpSpPr>
            <a:xfrm>
              <a:off x="1902711" y="1537517"/>
              <a:ext cx="5620059" cy="3598510"/>
              <a:chOff x="2401342" y="248706"/>
              <a:chExt cx="5620059" cy="3598510"/>
            </a:xfrm>
            <a:solidFill>
              <a:schemeClr val="bg1"/>
            </a:solidFill>
          </p:grpSpPr>
          <p:sp>
            <p:nvSpPr>
              <p:cNvPr id="54" name="Oval 11">
                <a:extLst>
                  <a:ext uri="{FF2B5EF4-FFF2-40B4-BE49-F238E27FC236}">
                    <a16:creationId xmlns:a16="http://schemas.microsoft.com/office/drawing/2014/main" id="{36E509A3-52CE-4453-9564-E704D9C6F3F0}"/>
                  </a:ext>
                </a:extLst>
              </p:cNvPr>
              <p:cNvSpPr/>
              <p:nvPr userDrawn="1"/>
            </p:nvSpPr>
            <p:spPr>
              <a:xfrm>
                <a:off x="4283968" y="941198"/>
                <a:ext cx="956850" cy="956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Oval 11">
                <a:extLst>
                  <a:ext uri="{FF2B5EF4-FFF2-40B4-BE49-F238E27FC236}">
                    <a16:creationId xmlns:a16="http://schemas.microsoft.com/office/drawing/2014/main" id="{D8641ACF-24EC-4119-AF47-45C5E6B69718}"/>
                  </a:ext>
                </a:extLst>
              </p:cNvPr>
              <p:cNvSpPr/>
              <p:nvPr userDrawn="1"/>
            </p:nvSpPr>
            <p:spPr>
              <a:xfrm>
                <a:off x="4080672" y="1386488"/>
                <a:ext cx="491180" cy="4911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Oval 11">
                <a:extLst>
                  <a:ext uri="{FF2B5EF4-FFF2-40B4-BE49-F238E27FC236}">
                    <a16:creationId xmlns:a16="http://schemas.microsoft.com/office/drawing/2014/main" id="{3873CDEC-688A-4EE6-8974-D80E43FF9273}"/>
                  </a:ext>
                </a:extLst>
              </p:cNvPr>
              <p:cNvSpPr/>
              <p:nvPr userDrawn="1"/>
            </p:nvSpPr>
            <p:spPr>
              <a:xfrm>
                <a:off x="3485352" y="1717923"/>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Oval 11">
                <a:extLst>
                  <a:ext uri="{FF2B5EF4-FFF2-40B4-BE49-F238E27FC236}">
                    <a16:creationId xmlns:a16="http://schemas.microsoft.com/office/drawing/2014/main" id="{B93DE707-F71B-42F6-A0EB-DFC85BA873B2}"/>
                  </a:ext>
                </a:extLst>
              </p:cNvPr>
              <p:cNvSpPr/>
              <p:nvPr userDrawn="1"/>
            </p:nvSpPr>
            <p:spPr>
              <a:xfrm>
                <a:off x="2886827" y="1894030"/>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Oval 11">
                <a:extLst>
                  <a:ext uri="{FF2B5EF4-FFF2-40B4-BE49-F238E27FC236}">
                    <a16:creationId xmlns:a16="http://schemas.microsoft.com/office/drawing/2014/main" id="{3A7AC84B-9DE8-4557-8141-47C15EEBD952}"/>
                  </a:ext>
                </a:extLst>
              </p:cNvPr>
              <p:cNvSpPr/>
              <p:nvPr userDrawn="1"/>
            </p:nvSpPr>
            <p:spPr>
              <a:xfrm>
                <a:off x="2401342" y="251623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Oval 11">
                <a:extLst>
                  <a:ext uri="{FF2B5EF4-FFF2-40B4-BE49-F238E27FC236}">
                    <a16:creationId xmlns:a16="http://schemas.microsoft.com/office/drawing/2014/main" id="{F200C86F-3147-4417-909C-8AA712602B15}"/>
                  </a:ext>
                </a:extLst>
              </p:cNvPr>
              <p:cNvSpPr/>
              <p:nvPr userDrawn="1"/>
            </p:nvSpPr>
            <p:spPr>
              <a:xfrm>
                <a:off x="3017096" y="279748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Oval 11">
                <a:extLst>
                  <a:ext uri="{FF2B5EF4-FFF2-40B4-BE49-F238E27FC236}">
                    <a16:creationId xmlns:a16="http://schemas.microsoft.com/office/drawing/2014/main" id="{C19D843C-2344-43CD-A232-FDCAF8F43CA5}"/>
                  </a:ext>
                </a:extLst>
              </p:cNvPr>
              <p:cNvSpPr/>
              <p:nvPr userDrawn="1"/>
            </p:nvSpPr>
            <p:spPr>
              <a:xfrm>
                <a:off x="3562974" y="2003019"/>
                <a:ext cx="1844197" cy="184419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Oval 11">
                <a:extLst>
                  <a:ext uri="{FF2B5EF4-FFF2-40B4-BE49-F238E27FC236}">
                    <a16:creationId xmlns:a16="http://schemas.microsoft.com/office/drawing/2014/main" id="{1D594D95-F75F-4683-A364-E7EFD943F93B}"/>
                  </a:ext>
                </a:extLst>
              </p:cNvPr>
              <p:cNvSpPr/>
              <p:nvPr userDrawn="1"/>
            </p:nvSpPr>
            <p:spPr>
              <a:xfrm>
                <a:off x="4999309" y="3011131"/>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Oval 11">
                <a:extLst>
                  <a:ext uri="{FF2B5EF4-FFF2-40B4-BE49-F238E27FC236}">
                    <a16:creationId xmlns:a16="http://schemas.microsoft.com/office/drawing/2014/main" id="{95DD39E7-93D6-494C-A36E-247288990A90}"/>
                  </a:ext>
                </a:extLst>
              </p:cNvPr>
              <p:cNvSpPr/>
              <p:nvPr userDrawn="1"/>
            </p:nvSpPr>
            <p:spPr>
              <a:xfrm>
                <a:off x="5653222" y="2981733"/>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Oval 11">
                <a:extLst>
                  <a:ext uri="{FF2B5EF4-FFF2-40B4-BE49-F238E27FC236}">
                    <a16:creationId xmlns:a16="http://schemas.microsoft.com/office/drawing/2014/main" id="{0724B3EB-D2BA-46AD-9B24-8F61182FFCCE}"/>
                  </a:ext>
                </a:extLst>
              </p:cNvPr>
              <p:cNvSpPr/>
              <p:nvPr userDrawn="1"/>
            </p:nvSpPr>
            <p:spPr>
              <a:xfrm>
                <a:off x="6035666" y="2445747"/>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Oval 11">
                <a:extLst>
                  <a:ext uri="{FF2B5EF4-FFF2-40B4-BE49-F238E27FC236}">
                    <a16:creationId xmlns:a16="http://schemas.microsoft.com/office/drawing/2014/main" id="{BDBBA2C7-3C34-4968-B283-7486C3E66CD2}"/>
                  </a:ext>
                </a:extLst>
              </p:cNvPr>
              <p:cNvSpPr/>
              <p:nvPr userDrawn="1"/>
            </p:nvSpPr>
            <p:spPr>
              <a:xfrm>
                <a:off x="7037784" y="2729409"/>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Oval 11">
                <a:extLst>
                  <a:ext uri="{FF2B5EF4-FFF2-40B4-BE49-F238E27FC236}">
                    <a16:creationId xmlns:a16="http://schemas.microsoft.com/office/drawing/2014/main" id="{1D3596EF-83B2-4D77-9900-8FBA5EF934B2}"/>
                  </a:ext>
                </a:extLst>
              </p:cNvPr>
              <p:cNvSpPr/>
              <p:nvPr userDrawn="1"/>
            </p:nvSpPr>
            <p:spPr>
              <a:xfrm>
                <a:off x="6658215" y="1725625"/>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Oval 11">
                <a:extLst>
                  <a:ext uri="{FF2B5EF4-FFF2-40B4-BE49-F238E27FC236}">
                    <a16:creationId xmlns:a16="http://schemas.microsoft.com/office/drawing/2014/main" id="{478452D7-D34C-4072-B618-5EA4D20571B3}"/>
                  </a:ext>
                </a:extLst>
              </p:cNvPr>
              <p:cNvSpPr/>
              <p:nvPr userDrawn="1"/>
            </p:nvSpPr>
            <p:spPr>
              <a:xfrm>
                <a:off x="4702059" y="880592"/>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Oval 11">
                <a:extLst>
                  <a:ext uri="{FF2B5EF4-FFF2-40B4-BE49-F238E27FC236}">
                    <a16:creationId xmlns:a16="http://schemas.microsoft.com/office/drawing/2014/main" id="{B67A8B79-3441-4CEE-82A3-001ECBD4DD6C}"/>
                  </a:ext>
                </a:extLst>
              </p:cNvPr>
              <p:cNvSpPr/>
              <p:nvPr userDrawn="1"/>
            </p:nvSpPr>
            <p:spPr>
              <a:xfrm>
                <a:off x="5200227" y="115344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Oval 11">
                <a:extLst>
                  <a:ext uri="{FF2B5EF4-FFF2-40B4-BE49-F238E27FC236}">
                    <a16:creationId xmlns:a16="http://schemas.microsoft.com/office/drawing/2014/main" id="{39EC19EA-7198-4F0B-A95B-49D0CF19C8F2}"/>
                  </a:ext>
                </a:extLst>
              </p:cNvPr>
              <p:cNvSpPr/>
              <p:nvPr userDrawn="1"/>
            </p:nvSpPr>
            <p:spPr>
              <a:xfrm>
                <a:off x="5945245" y="1484448"/>
                <a:ext cx="701108" cy="7011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Oval 11">
                <a:extLst>
                  <a:ext uri="{FF2B5EF4-FFF2-40B4-BE49-F238E27FC236}">
                    <a16:creationId xmlns:a16="http://schemas.microsoft.com/office/drawing/2014/main" id="{6F4820F4-E538-4700-880A-FA8685A41A3B}"/>
                  </a:ext>
                </a:extLst>
              </p:cNvPr>
              <p:cNvSpPr/>
              <p:nvPr userDrawn="1"/>
            </p:nvSpPr>
            <p:spPr>
              <a:xfrm>
                <a:off x="6121822" y="179221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Oval 11">
                <a:extLst>
                  <a:ext uri="{FF2B5EF4-FFF2-40B4-BE49-F238E27FC236}">
                    <a16:creationId xmlns:a16="http://schemas.microsoft.com/office/drawing/2014/main" id="{413F6B1E-425D-4873-9467-3AC4066BB2ED}"/>
                  </a:ext>
                </a:extLst>
              </p:cNvPr>
              <p:cNvSpPr/>
              <p:nvPr userDrawn="1"/>
            </p:nvSpPr>
            <p:spPr>
              <a:xfrm>
                <a:off x="4251327" y="1369850"/>
                <a:ext cx="2136016" cy="2136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사다리꼴 70">
                <a:extLst>
                  <a:ext uri="{FF2B5EF4-FFF2-40B4-BE49-F238E27FC236}">
                    <a16:creationId xmlns:a16="http://schemas.microsoft.com/office/drawing/2014/main" id="{B0CB0B17-591E-4DAC-A92C-EBD6A95CAE9D}"/>
                  </a:ext>
                </a:extLst>
              </p:cNvPr>
              <p:cNvSpPr/>
              <p:nvPr userDrawn="1"/>
            </p:nvSpPr>
            <p:spPr>
              <a:xfrm>
                <a:off x="4765704" y="248706"/>
                <a:ext cx="608632" cy="1216152"/>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2" name="그룹 71">
              <a:extLst>
                <a:ext uri="{FF2B5EF4-FFF2-40B4-BE49-F238E27FC236}">
                  <a16:creationId xmlns:a16="http://schemas.microsoft.com/office/drawing/2014/main" id="{0273FAE2-233C-451C-ABAD-157761C173D3}"/>
                </a:ext>
              </a:extLst>
            </p:cNvPr>
            <p:cNvGrpSpPr/>
            <p:nvPr userDrawn="1"/>
          </p:nvGrpSpPr>
          <p:grpSpPr>
            <a:xfrm>
              <a:off x="4249055" y="497586"/>
              <a:ext cx="645890" cy="1241591"/>
              <a:chOff x="5304862" y="-789923"/>
              <a:chExt cx="645890" cy="1241591"/>
            </a:xfrm>
          </p:grpSpPr>
          <p:grpSp>
            <p:nvGrpSpPr>
              <p:cNvPr id="73" name="그룹 72">
                <a:extLst>
                  <a:ext uri="{FF2B5EF4-FFF2-40B4-BE49-F238E27FC236}">
                    <a16:creationId xmlns:a16="http://schemas.microsoft.com/office/drawing/2014/main" id="{F294317C-D093-4716-BC39-F4EDB7B37133}"/>
                  </a:ext>
                </a:extLst>
              </p:cNvPr>
              <p:cNvGrpSpPr/>
              <p:nvPr userDrawn="1"/>
            </p:nvGrpSpPr>
            <p:grpSpPr>
              <a:xfrm>
                <a:off x="5377232" y="-789923"/>
                <a:ext cx="495969" cy="1052585"/>
                <a:chOff x="5868144" y="-857099"/>
                <a:chExt cx="495969" cy="1052585"/>
              </a:xfrm>
            </p:grpSpPr>
            <p:sp>
              <p:nvSpPr>
                <p:cNvPr id="78" name="이등변 삼각형 49">
                  <a:extLst>
                    <a:ext uri="{FF2B5EF4-FFF2-40B4-BE49-F238E27FC236}">
                      <a16:creationId xmlns:a16="http://schemas.microsoft.com/office/drawing/2014/main" id="{28122585-D90D-4D44-AC50-0A8C9106EF95}"/>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자유형: 도형 78">
                  <a:extLst>
                    <a:ext uri="{FF2B5EF4-FFF2-40B4-BE49-F238E27FC236}">
                      <a16:creationId xmlns:a16="http://schemas.microsoft.com/office/drawing/2014/main" id="{CA4A1B48-5DCF-4240-B908-5565A0B620C1}"/>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자유형: 도형 79">
                  <a:extLst>
                    <a:ext uri="{FF2B5EF4-FFF2-40B4-BE49-F238E27FC236}">
                      <a16:creationId xmlns:a16="http://schemas.microsoft.com/office/drawing/2014/main" id="{28D35705-FE6E-444A-A4F2-216FB36C2D3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4" name="타원 73">
                <a:extLst>
                  <a:ext uri="{FF2B5EF4-FFF2-40B4-BE49-F238E27FC236}">
                    <a16:creationId xmlns:a16="http://schemas.microsoft.com/office/drawing/2014/main" id="{833271DD-6F14-4B18-BE97-D6CF7744263D}"/>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직사각형 74">
                <a:extLst>
                  <a:ext uri="{FF2B5EF4-FFF2-40B4-BE49-F238E27FC236}">
                    <a16:creationId xmlns:a16="http://schemas.microsoft.com/office/drawing/2014/main" id="{32141932-F9EE-4187-BBBC-79F2AADC7FB5}"/>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자유형: 도형 75">
                <a:extLst>
                  <a:ext uri="{FF2B5EF4-FFF2-40B4-BE49-F238E27FC236}">
                    <a16:creationId xmlns:a16="http://schemas.microsoft.com/office/drawing/2014/main" id="{C4A28A23-9A45-480D-9AE0-AC8E03B407E4}"/>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자유형: 도형 76">
                <a:extLst>
                  <a:ext uri="{FF2B5EF4-FFF2-40B4-BE49-F238E27FC236}">
                    <a16:creationId xmlns:a16="http://schemas.microsoft.com/office/drawing/2014/main" id="{E5282C72-98DB-48D8-88FE-2DFA994D4B88}"/>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0" name="Text Placeholder 9"/>
          <p:cNvSpPr>
            <a:spLocks noGrp="1"/>
          </p:cNvSpPr>
          <p:nvPr>
            <p:ph type="body" sz="quarter" idx="10" hasCustomPrompt="1"/>
          </p:nvPr>
        </p:nvSpPr>
        <p:spPr>
          <a:xfrm>
            <a:off x="2616057" y="2931790"/>
            <a:ext cx="389493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15909" y="3579862"/>
            <a:ext cx="389493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3" name="Group 2"/>
          <p:cNvGrpSpPr/>
          <p:nvPr userDrawn="1"/>
        </p:nvGrpSpPr>
        <p:grpSpPr>
          <a:xfrm>
            <a:off x="6535596" y="1104508"/>
            <a:ext cx="672848" cy="486211"/>
            <a:chOff x="6495678" y="1779663"/>
            <a:chExt cx="672848" cy="486211"/>
          </a:xfrm>
        </p:grpSpPr>
        <p:sp>
          <p:nvSpPr>
            <p:cNvPr id="17" name="Oval 16"/>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Oval 17"/>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Oval 18"/>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1" name="Group 20"/>
          <p:cNvGrpSpPr/>
          <p:nvPr userDrawn="1"/>
        </p:nvGrpSpPr>
        <p:grpSpPr>
          <a:xfrm>
            <a:off x="2098952" y="2183144"/>
            <a:ext cx="524595" cy="379081"/>
            <a:chOff x="6495678" y="1779663"/>
            <a:chExt cx="672848" cy="486211"/>
          </a:xfrm>
        </p:grpSpPr>
        <p:sp>
          <p:nvSpPr>
            <p:cNvPr id="22" name="Oval 21"/>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Oval 22"/>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Oval 23"/>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Oval 24"/>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13605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grpSp>
        <p:nvGrpSpPr>
          <p:cNvPr id="13" name="Group 12"/>
          <p:cNvGrpSpPr/>
          <p:nvPr userDrawn="1"/>
        </p:nvGrpSpPr>
        <p:grpSpPr>
          <a:xfrm>
            <a:off x="3707904" y="1203090"/>
            <a:ext cx="1710999" cy="3600908"/>
            <a:chOff x="3797105" y="1404992"/>
            <a:chExt cx="1548895" cy="3471014"/>
          </a:xfrm>
        </p:grpSpPr>
        <p:sp>
          <p:nvSpPr>
            <p:cNvPr id="9" name="Rectangle 8"/>
            <p:cNvSpPr/>
            <p:nvPr userDrawn="1"/>
          </p:nvSpPr>
          <p:spPr>
            <a:xfrm>
              <a:off x="3797105" y="1909048"/>
              <a:ext cx="1548000" cy="246290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2" name="Isosceles Triangle 11"/>
            <p:cNvSpPr/>
            <p:nvPr userDrawn="1"/>
          </p:nvSpPr>
          <p:spPr>
            <a:xfrm>
              <a:off x="3797105" y="1404992"/>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Isosceles Triangle 13"/>
            <p:cNvSpPr/>
            <p:nvPr userDrawn="1"/>
          </p:nvSpPr>
          <p:spPr>
            <a:xfrm rot="10800000">
              <a:off x="3798000" y="4371950"/>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8" name="Picture Placeholder 2"/>
          <p:cNvSpPr>
            <a:spLocks noGrp="1"/>
          </p:cNvSpPr>
          <p:nvPr>
            <p:ph type="pic" idx="1" hasCustomPrompt="1"/>
          </p:nvPr>
        </p:nvSpPr>
        <p:spPr>
          <a:xfrm>
            <a:off x="3787227" y="1312181"/>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2" hasCustomPrompt="1"/>
          </p:nvPr>
        </p:nvSpPr>
        <p:spPr>
          <a:xfrm>
            <a:off x="2059035"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330843"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9" name="Picture Placeholder 2"/>
          <p:cNvSpPr>
            <a:spLocks noGrp="1"/>
          </p:cNvSpPr>
          <p:nvPr>
            <p:ph type="pic" idx="14" hasCustomPrompt="1"/>
          </p:nvPr>
        </p:nvSpPr>
        <p:spPr>
          <a:xfrm>
            <a:off x="7243611"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0" name="Picture Placeholder 2"/>
          <p:cNvSpPr>
            <a:spLocks noGrp="1"/>
          </p:cNvSpPr>
          <p:nvPr>
            <p:ph type="pic" idx="15" hasCustomPrompt="1"/>
          </p:nvPr>
        </p:nvSpPr>
        <p:spPr>
          <a:xfrm>
            <a:off x="5515419"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1933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3507854"/>
            <a:ext cx="9144000" cy="16356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5232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123"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8600" y="987574"/>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233772" y="4262137"/>
            <a:ext cx="8676456" cy="5418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7" name="Picture Placeholder 2"/>
          <p:cNvSpPr>
            <a:spLocks noGrp="1"/>
          </p:cNvSpPr>
          <p:nvPr>
            <p:ph type="pic" idx="1" hasCustomPrompt="1"/>
          </p:nvPr>
        </p:nvSpPr>
        <p:spPr>
          <a:xfrm>
            <a:off x="910339" y="1404993"/>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09192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1" name="그림 개체 틀 10">
            <a:extLst>
              <a:ext uri="{FF2B5EF4-FFF2-40B4-BE49-F238E27FC236}">
                <a16:creationId xmlns:a16="http://schemas.microsoft.com/office/drawing/2014/main" id="{24943D91-C407-41C1-8574-76661B571395}"/>
              </a:ext>
            </a:extLst>
          </p:cNvPr>
          <p:cNvSpPr>
            <a:spLocks noGrp="1"/>
          </p:cNvSpPr>
          <p:nvPr>
            <p:ph type="pic" idx="1" hasCustomPrompt="1"/>
          </p:nvPr>
        </p:nvSpPr>
        <p:spPr>
          <a:xfrm>
            <a:off x="5148065" y="1431235"/>
            <a:ext cx="2568434" cy="2280270"/>
          </a:xfrm>
          <a:custGeom>
            <a:avLst/>
            <a:gdLst>
              <a:gd name="connsiteX0" fmla="*/ 125450 w 2568434"/>
              <a:gd name="connsiteY0" fmla="*/ 111684 h 2280270"/>
              <a:gd name="connsiteX1" fmla="*/ 2442984 w 2568434"/>
              <a:gd name="connsiteY1" fmla="*/ 111684 h 2280270"/>
              <a:gd name="connsiteX2" fmla="*/ 2442984 w 2568434"/>
              <a:gd name="connsiteY2" fmla="*/ 2168586 h 2280270"/>
              <a:gd name="connsiteX3" fmla="*/ 125450 w 2568434"/>
              <a:gd name="connsiteY3" fmla="*/ 2168586 h 2280270"/>
              <a:gd name="connsiteX4" fmla="*/ 96085 w 2568434"/>
              <a:gd name="connsiteY4" fmla="*/ 82319 h 2280270"/>
              <a:gd name="connsiteX5" fmla="*/ 96085 w 2568434"/>
              <a:gd name="connsiteY5" fmla="*/ 2197951 h 2280270"/>
              <a:gd name="connsiteX6" fmla="*/ 2472349 w 2568434"/>
              <a:gd name="connsiteY6" fmla="*/ 2197951 h 2280270"/>
              <a:gd name="connsiteX7" fmla="*/ 2472349 w 2568434"/>
              <a:gd name="connsiteY7" fmla="*/ 82319 h 2280270"/>
              <a:gd name="connsiteX8" fmla="*/ 0 w 2568434"/>
              <a:gd name="connsiteY8" fmla="*/ 0 h 2280270"/>
              <a:gd name="connsiteX9" fmla="*/ 2568434 w 2568434"/>
              <a:gd name="connsiteY9" fmla="*/ 0 h 2280270"/>
              <a:gd name="connsiteX10" fmla="*/ 2568434 w 2568434"/>
              <a:gd name="connsiteY10" fmla="*/ 2280270 h 2280270"/>
              <a:gd name="connsiteX11" fmla="*/ 0 w 2568434"/>
              <a:gd name="connsiteY11" fmla="*/ 2280270 h 2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68434" h="2280270">
                <a:moveTo>
                  <a:pt x="125450" y="111684"/>
                </a:moveTo>
                <a:lnTo>
                  <a:pt x="2442984" y="111684"/>
                </a:lnTo>
                <a:lnTo>
                  <a:pt x="2442984" y="2168586"/>
                </a:lnTo>
                <a:lnTo>
                  <a:pt x="125450" y="2168586"/>
                </a:lnTo>
                <a:close/>
                <a:moveTo>
                  <a:pt x="96085" y="82319"/>
                </a:moveTo>
                <a:lnTo>
                  <a:pt x="96085" y="2197951"/>
                </a:lnTo>
                <a:lnTo>
                  <a:pt x="2472349" y="2197951"/>
                </a:lnTo>
                <a:lnTo>
                  <a:pt x="2472349" y="82319"/>
                </a:lnTo>
                <a:close/>
                <a:moveTo>
                  <a:pt x="0" y="0"/>
                </a:moveTo>
                <a:lnTo>
                  <a:pt x="2568434" y="0"/>
                </a:lnTo>
                <a:lnTo>
                  <a:pt x="2568434" y="2280270"/>
                </a:lnTo>
                <a:lnTo>
                  <a:pt x="0" y="228027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id="{D19E2BEF-0357-4B60-8F97-1B4CBD18E02A}"/>
              </a:ext>
            </a:extLst>
          </p:cNvPr>
          <p:cNvSpPr>
            <a:spLocks noGrp="1"/>
          </p:cNvSpPr>
          <p:nvPr>
            <p:ph type="pic" idx="10" hasCustomPrompt="1"/>
          </p:nvPr>
        </p:nvSpPr>
        <p:spPr>
          <a:xfrm>
            <a:off x="7704000" y="370350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그림 개체 틀 11">
            <a:extLst>
              <a:ext uri="{FF2B5EF4-FFF2-40B4-BE49-F238E27FC236}">
                <a16:creationId xmlns:a16="http://schemas.microsoft.com/office/drawing/2014/main" id="{C69723CC-367A-47C2-9C98-4E37F9539DBD}"/>
              </a:ext>
            </a:extLst>
          </p:cNvPr>
          <p:cNvSpPr>
            <a:spLocks noGrp="1"/>
          </p:cNvSpPr>
          <p:nvPr>
            <p:ph type="pic" idx="11" hasCustomPrompt="1"/>
          </p:nvPr>
        </p:nvSpPr>
        <p:spPr>
          <a:xfrm>
            <a:off x="3708064" y="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545435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1"/>
            <a:ext cx="9144000" cy="3076575"/>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8861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5143501"/>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639597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4572000"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9048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2" name="그림 개체 틀 11">
            <a:extLst>
              <a:ext uri="{FF2B5EF4-FFF2-40B4-BE49-F238E27FC236}">
                <a16:creationId xmlns:a16="http://schemas.microsoft.com/office/drawing/2014/main" id="{BC15B180-CBF0-499C-A764-95FA7614ACA6}"/>
              </a:ext>
            </a:extLst>
          </p:cNvPr>
          <p:cNvSpPr>
            <a:spLocks noGrp="1"/>
          </p:cNvSpPr>
          <p:nvPr>
            <p:ph type="pic" idx="1" hasCustomPrompt="1"/>
          </p:nvPr>
        </p:nvSpPr>
        <p:spPr>
          <a:xfrm>
            <a:off x="6984000" y="-1"/>
            <a:ext cx="2160000" cy="5143501"/>
          </a:xfrm>
          <a:custGeom>
            <a:avLst/>
            <a:gdLst>
              <a:gd name="connsiteX0" fmla="*/ 0 w 2160000"/>
              <a:gd name="connsiteY0" fmla="*/ 1425596 h 5143501"/>
              <a:gd name="connsiteX1" fmla="*/ 651889 w 2160000"/>
              <a:gd name="connsiteY1" fmla="*/ 2077485 h 5143501"/>
              <a:gd name="connsiteX2" fmla="*/ 0 w 2160000"/>
              <a:gd name="connsiteY2" fmla="*/ 2729373 h 5143501"/>
              <a:gd name="connsiteX3" fmla="*/ 0 w 2160000"/>
              <a:gd name="connsiteY3" fmla="*/ 0 h 5143501"/>
              <a:gd name="connsiteX4" fmla="*/ 2160000 w 2160000"/>
              <a:gd name="connsiteY4" fmla="*/ 0 h 5143501"/>
              <a:gd name="connsiteX5" fmla="*/ 2160000 w 2160000"/>
              <a:gd name="connsiteY5" fmla="*/ 5143501 h 5143501"/>
              <a:gd name="connsiteX6" fmla="*/ 0 w 2160000"/>
              <a:gd name="connsiteY6" fmla="*/ 5143501 h 5143501"/>
              <a:gd name="connsiteX7" fmla="*/ 0 w 2160000"/>
              <a:gd name="connsiteY7" fmla="*/ 2856759 h 5143501"/>
              <a:gd name="connsiteX8" fmla="*/ 779274 w 2160000"/>
              <a:gd name="connsiteY8" fmla="*/ 2077485 h 5143501"/>
              <a:gd name="connsiteX9" fmla="*/ 0 w 2160000"/>
              <a:gd name="connsiteY9" fmla="*/ 129821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0000" h="5143501">
                <a:moveTo>
                  <a:pt x="0" y="1425596"/>
                </a:moveTo>
                <a:lnTo>
                  <a:pt x="651889" y="2077485"/>
                </a:lnTo>
                <a:lnTo>
                  <a:pt x="0" y="2729373"/>
                </a:lnTo>
                <a:close/>
                <a:moveTo>
                  <a:pt x="0" y="0"/>
                </a:moveTo>
                <a:lnTo>
                  <a:pt x="2160000" y="0"/>
                </a:lnTo>
                <a:lnTo>
                  <a:pt x="2160000" y="5143501"/>
                </a:lnTo>
                <a:lnTo>
                  <a:pt x="0" y="5143501"/>
                </a:lnTo>
                <a:lnTo>
                  <a:pt x="0" y="2856759"/>
                </a:lnTo>
                <a:lnTo>
                  <a:pt x="779274" y="2077485"/>
                </a:lnTo>
                <a:lnTo>
                  <a:pt x="0" y="129821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4" name="그림 개체 틀 13">
            <a:extLst>
              <a:ext uri="{FF2B5EF4-FFF2-40B4-BE49-F238E27FC236}">
                <a16:creationId xmlns:a16="http://schemas.microsoft.com/office/drawing/2014/main" id="{1FA03D3A-E0EA-4B8F-B538-58CE5D4DB322}"/>
              </a:ext>
            </a:extLst>
          </p:cNvPr>
          <p:cNvSpPr>
            <a:spLocks noGrp="1"/>
          </p:cNvSpPr>
          <p:nvPr>
            <p:ph type="pic" idx="12" hasCustomPrompt="1"/>
          </p:nvPr>
        </p:nvSpPr>
        <p:spPr>
          <a:xfrm>
            <a:off x="4734004" y="2131318"/>
            <a:ext cx="2160000" cy="3012182"/>
          </a:xfrm>
          <a:custGeom>
            <a:avLst/>
            <a:gdLst>
              <a:gd name="connsiteX0" fmla="*/ 1563187 w 2160000"/>
              <a:gd name="connsiteY0" fmla="*/ 0 h 3012182"/>
              <a:gd name="connsiteX1" fmla="*/ 2160000 w 2160000"/>
              <a:gd name="connsiteY1" fmla="*/ 0 h 3012182"/>
              <a:gd name="connsiteX2" fmla="*/ 2160000 w 2160000"/>
              <a:gd name="connsiteY2" fmla="*/ 596813 h 3012182"/>
              <a:gd name="connsiteX3" fmla="*/ 0 w 2160000"/>
              <a:gd name="connsiteY3" fmla="*/ 0 h 3012182"/>
              <a:gd name="connsiteX4" fmla="*/ 1435802 w 2160000"/>
              <a:gd name="connsiteY4" fmla="*/ 0 h 3012182"/>
              <a:gd name="connsiteX5" fmla="*/ 2160000 w 2160000"/>
              <a:gd name="connsiteY5" fmla="*/ 724199 h 3012182"/>
              <a:gd name="connsiteX6" fmla="*/ 2160000 w 2160000"/>
              <a:gd name="connsiteY6" fmla="*/ 3012182 h 3012182"/>
              <a:gd name="connsiteX7" fmla="*/ 0 w 2160000"/>
              <a:gd name="connsiteY7" fmla="*/ 3012182 h 301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0000" h="3012182">
                <a:moveTo>
                  <a:pt x="1563187" y="0"/>
                </a:moveTo>
                <a:lnTo>
                  <a:pt x="2160000" y="0"/>
                </a:lnTo>
                <a:lnTo>
                  <a:pt x="2160000" y="596813"/>
                </a:lnTo>
                <a:close/>
                <a:moveTo>
                  <a:pt x="0" y="0"/>
                </a:moveTo>
                <a:lnTo>
                  <a:pt x="1435802" y="0"/>
                </a:lnTo>
                <a:lnTo>
                  <a:pt x="2160000" y="724199"/>
                </a:lnTo>
                <a:lnTo>
                  <a:pt x="2160000" y="3012182"/>
                </a:lnTo>
                <a:lnTo>
                  <a:pt x="0" y="3012182"/>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3492000" y="2131318"/>
            <a:ext cx="1152008" cy="301218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id="{1EBCCB12-3AC7-4A57-8E11-5324E7CB7D04}"/>
              </a:ext>
            </a:extLst>
          </p:cNvPr>
          <p:cNvSpPr>
            <a:spLocks noGrp="1"/>
          </p:cNvSpPr>
          <p:nvPr>
            <p:ph type="pic" idx="14" hasCustomPrompt="1"/>
          </p:nvPr>
        </p:nvSpPr>
        <p:spPr>
          <a:xfrm>
            <a:off x="3492000" y="-1"/>
            <a:ext cx="3393830" cy="2043485"/>
          </a:xfrm>
          <a:custGeom>
            <a:avLst/>
            <a:gdLst>
              <a:gd name="connsiteX0" fmla="*/ 3393830 w 3393830"/>
              <a:gd name="connsiteY0" fmla="*/ 1435011 h 2043485"/>
              <a:gd name="connsiteX1" fmla="*/ 3393830 w 3393830"/>
              <a:gd name="connsiteY1" fmla="*/ 2043485 h 2043485"/>
              <a:gd name="connsiteX2" fmla="*/ 2785356 w 3393830"/>
              <a:gd name="connsiteY2" fmla="*/ 2043485 h 2043485"/>
              <a:gd name="connsiteX3" fmla="*/ 0 w 3393830"/>
              <a:gd name="connsiteY3" fmla="*/ 0 h 2043485"/>
              <a:gd name="connsiteX4" fmla="*/ 3393830 w 3393830"/>
              <a:gd name="connsiteY4" fmla="*/ 0 h 2043485"/>
              <a:gd name="connsiteX5" fmla="*/ 3393830 w 3393830"/>
              <a:gd name="connsiteY5" fmla="*/ 1307626 h 2043485"/>
              <a:gd name="connsiteX6" fmla="*/ 2657971 w 3393830"/>
              <a:gd name="connsiteY6" fmla="*/ 2043485 h 2043485"/>
              <a:gd name="connsiteX7" fmla="*/ 0 w 3393830"/>
              <a:gd name="connsiteY7" fmla="*/ 2043485 h 204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3830" h="2043485">
                <a:moveTo>
                  <a:pt x="3393830" y="1435011"/>
                </a:moveTo>
                <a:lnTo>
                  <a:pt x="3393830" y="2043485"/>
                </a:lnTo>
                <a:lnTo>
                  <a:pt x="2785356" y="2043485"/>
                </a:lnTo>
                <a:close/>
                <a:moveTo>
                  <a:pt x="0" y="0"/>
                </a:moveTo>
                <a:lnTo>
                  <a:pt x="3393830" y="0"/>
                </a:lnTo>
                <a:lnTo>
                  <a:pt x="3393830" y="1307626"/>
                </a:lnTo>
                <a:lnTo>
                  <a:pt x="2657971" y="2043485"/>
                </a:lnTo>
                <a:lnTo>
                  <a:pt x="0" y="204348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58779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24" name="그림 개체 틀 23">
            <a:extLst>
              <a:ext uri="{FF2B5EF4-FFF2-40B4-BE49-F238E27FC236}">
                <a16:creationId xmlns:a16="http://schemas.microsoft.com/office/drawing/2014/main" id="{6F099B2E-9C61-4C91-AB24-AB7B70E2D2E0}"/>
              </a:ext>
            </a:extLst>
          </p:cNvPr>
          <p:cNvSpPr>
            <a:spLocks noGrp="1"/>
          </p:cNvSpPr>
          <p:nvPr>
            <p:ph type="pic" idx="18" hasCustomPrompt="1"/>
          </p:nvPr>
        </p:nvSpPr>
        <p:spPr>
          <a:xfrm>
            <a:off x="7301328" y="1495130"/>
            <a:ext cx="1840931" cy="3649326"/>
          </a:xfrm>
          <a:custGeom>
            <a:avLst/>
            <a:gdLst>
              <a:gd name="connsiteX0" fmla="*/ 540722 w 1840931"/>
              <a:gd name="connsiteY0" fmla="*/ 1288720 h 3649326"/>
              <a:gd name="connsiteX1" fmla="*/ 1084110 w 1840931"/>
              <a:gd name="connsiteY1" fmla="*/ 1832108 h 3649326"/>
              <a:gd name="connsiteX2" fmla="*/ 548200 w 1840931"/>
              <a:gd name="connsiteY2" fmla="*/ 2368018 h 3649326"/>
              <a:gd name="connsiteX3" fmla="*/ 0 w 1840931"/>
              <a:gd name="connsiteY3" fmla="*/ 1824663 h 3649326"/>
              <a:gd name="connsiteX4" fmla="*/ 1840931 w 1840931"/>
              <a:gd name="connsiteY4" fmla="*/ 0 h 3649326"/>
              <a:gd name="connsiteX5" fmla="*/ 1840931 w 1840931"/>
              <a:gd name="connsiteY5" fmla="*/ 3649326 h 3649326"/>
              <a:gd name="connsiteX6" fmla="*/ 609809 w 1840931"/>
              <a:gd name="connsiteY6" fmla="*/ 2429083 h 3649326"/>
              <a:gd name="connsiteX7" fmla="*/ 1206783 w 1840931"/>
              <a:gd name="connsiteY7" fmla="*/ 1832108 h 3649326"/>
              <a:gd name="connsiteX8" fmla="*/ 602331 w 1840931"/>
              <a:gd name="connsiteY8" fmla="*/ 1227655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0931" h="3649326">
                <a:moveTo>
                  <a:pt x="540722" y="1288720"/>
                </a:moveTo>
                <a:lnTo>
                  <a:pt x="1084110" y="1832108"/>
                </a:lnTo>
                <a:lnTo>
                  <a:pt x="548200" y="2368018"/>
                </a:lnTo>
                <a:lnTo>
                  <a:pt x="0" y="1824663"/>
                </a:lnTo>
                <a:close/>
                <a:moveTo>
                  <a:pt x="1840931" y="0"/>
                </a:moveTo>
                <a:lnTo>
                  <a:pt x="1840931" y="3649326"/>
                </a:lnTo>
                <a:lnTo>
                  <a:pt x="609809" y="2429083"/>
                </a:lnTo>
                <a:lnTo>
                  <a:pt x="1206783" y="1832108"/>
                </a:lnTo>
                <a:lnTo>
                  <a:pt x="602331" y="122765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3" name="그림 개체 틀 22">
            <a:extLst>
              <a:ext uri="{FF2B5EF4-FFF2-40B4-BE49-F238E27FC236}">
                <a16:creationId xmlns:a16="http://schemas.microsoft.com/office/drawing/2014/main" id="{02450FB2-6A00-42CF-B869-69B7A802C2C5}"/>
              </a:ext>
            </a:extLst>
          </p:cNvPr>
          <p:cNvSpPr>
            <a:spLocks noGrp="1"/>
          </p:cNvSpPr>
          <p:nvPr>
            <p:ph type="pic" idx="19" hasCustomPrompt="1"/>
          </p:nvPr>
        </p:nvSpPr>
        <p:spPr>
          <a:xfrm>
            <a:off x="5476381" y="3386021"/>
            <a:ext cx="3530788" cy="1769004"/>
          </a:xfrm>
          <a:custGeom>
            <a:avLst/>
            <a:gdLst>
              <a:gd name="connsiteX0" fmla="*/ 2368610 w 3530788"/>
              <a:gd name="connsiteY0" fmla="*/ 604337 h 1769004"/>
              <a:gd name="connsiteX1" fmla="*/ 3530788 w 3530788"/>
              <a:gd name="connsiteY1" fmla="*/ 1761052 h 1769004"/>
              <a:gd name="connsiteX2" fmla="*/ 0 w 3530788"/>
              <a:gd name="connsiteY2" fmla="*/ 1769004 h 1769004"/>
              <a:gd name="connsiteX3" fmla="*/ 1159186 w 3530788"/>
              <a:gd name="connsiteY3" fmla="*/ 604826 h 1769004"/>
              <a:gd name="connsiteX4" fmla="*/ 1763653 w 3530788"/>
              <a:gd name="connsiteY4" fmla="*/ 1209294 h 1769004"/>
              <a:gd name="connsiteX5" fmla="*/ 1761418 w 3530788"/>
              <a:gd name="connsiteY5" fmla="*/ 0 h 1769004"/>
              <a:gd name="connsiteX6" fmla="*/ 2307129 w 3530788"/>
              <a:gd name="connsiteY6" fmla="*/ 543145 h 1769004"/>
              <a:gd name="connsiteX7" fmla="*/ 1763653 w 3530788"/>
              <a:gd name="connsiteY7" fmla="*/ 1086621 h 1769004"/>
              <a:gd name="connsiteX8" fmla="*/ 1220390 w 3530788"/>
              <a:gd name="connsiteY8" fmla="*/ 543358 h 1769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0788" h="1769004">
                <a:moveTo>
                  <a:pt x="2368610" y="604337"/>
                </a:moveTo>
                <a:lnTo>
                  <a:pt x="3530788" y="1761052"/>
                </a:lnTo>
                <a:lnTo>
                  <a:pt x="0" y="1769004"/>
                </a:lnTo>
                <a:lnTo>
                  <a:pt x="1159186" y="604826"/>
                </a:lnTo>
                <a:lnTo>
                  <a:pt x="1763653" y="1209294"/>
                </a:lnTo>
                <a:close/>
                <a:moveTo>
                  <a:pt x="1761418" y="0"/>
                </a:moveTo>
                <a:lnTo>
                  <a:pt x="2307129" y="543145"/>
                </a:lnTo>
                <a:lnTo>
                  <a:pt x="1763653" y="1086621"/>
                </a:lnTo>
                <a:lnTo>
                  <a:pt x="1220390" y="543358"/>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2" name="그림 개체 틀 21">
            <a:extLst>
              <a:ext uri="{FF2B5EF4-FFF2-40B4-BE49-F238E27FC236}">
                <a16:creationId xmlns:a16="http://schemas.microsoft.com/office/drawing/2014/main" id="{818F7804-9A99-482C-9BFA-8B2E895ADDDC}"/>
              </a:ext>
            </a:extLst>
          </p:cNvPr>
          <p:cNvSpPr>
            <a:spLocks noGrp="1"/>
          </p:cNvSpPr>
          <p:nvPr>
            <p:ph type="pic" idx="20" hasCustomPrompt="1"/>
          </p:nvPr>
        </p:nvSpPr>
        <p:spPr>
          <a:xfrm>
            <a:off x="3491431" y="1495130"/>
            <a:ext cx="3681862" cy="3649326"/>
          </a:xfrm>
          <a:custGeom>
            <a:avLst/>
            <a:gdLst>
              <a:gd name="connsiteX0" fmla="*/ 3143876 w 3681862"/>
              <a:gd name="connsiteY0" fmla="*/ 1291431 h 3649326"/>
              <a:gd name="connsiteX1" fmla="*/ 3681862 w 3681862"/>
              <a:gd name="connsiteY1" fmla="*/ 1824663 h 3649326"/>
              <a:gd name="connsiteX2" fmla="*/ 3136398 w 3681862"/>
              <a:gd name="connsiteY2" fmla="*/ 2365307 h 3649326"/>
              <a:gd name="connsiteX3" fmla="*/ 2603199 w 3681862"/>
              <a:gd name="connsiteY3" fmla="*/ 1832108 h 3649326"/>
              <a:gd name="connsiteX4" fmla="*/ 1840931 w 3681862"/>
              <a:gd name="connsiteY4" fmla="*/ 0 h 3649326"/>
              <a:gd name="connsiteX5" fmla="*/ 3082267 w 3681862"/>
              <a:gd name="connsiteY5" fmla="*/ 1230367 h 3649326"/>
              <a:gd name="connsiteX6" fmla="*/ 2480526 w 3681862"/>
              <a:gd name="connsiteY6" fmla="*/ 1832108 h 3649326"/>
              <a:gd name="connsiteX7" fmla="*/ 3074789 w 3681862"/>
              <a:gd name="connsiteY7" fmla="*/ 2426371 h 3649326"/>
              <a:gd name="connsiteX8" fmla="*/ 1840931 w 3681862"/>
              <a:gd name="connsiteY8" fmla="*/ 3649326 h 3649326"/>
              <a:gd name="connsiteX9" fmla="*/ 0 w 3681862"/>
              <a:gd name="connsiteY9" fmla="*/ 1824663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862" h="3649326">
                <a:moveTo>
                  <a:pt x="3143876" y="1291431"/>
                </a:moveTo>
                <a:lnTo>
                  <a:pt x="3681862" y="1824663"/>
                </a:lnTo>
                <a:lnTo>
                  <a:pt x="3136398" y="2365307"/>
                </a:lnTo>
                <a:lnTo>
                  <a:pt x="2603199" y="1832108"/>
                </a:lnTo>
                <a:close/>
                <a:moveTo>
                  <a:pt x="1840931" y="0"/>
                </a:moveTo>
                <a:lnTo>
                  <a:pt x="3082267" y="1230367"/>
                </a:lnTo>
                <a:lnTo>
                  <a:pt x="2480526" y="1832108"/>
                </a:lnTo>
                <a:lnTo>
                  <a:pt x="3074789" y="2426371"/>
                </a:lnTo>
                <a:lnTo>
                  <a:pt x="1840931" y="3649326"/>
                </a:lnTo>
                <a:lnTo>
                  <a:pt x="0" y="1824663"/>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1" name="그림 개체 틀 20">
            <a:extLst>
              <a:ext uri="{FF2B5EF4-FFF2-40B4-BE49-F238E27FC236}">
                <a16:creationId xmlns:a16="http://schemas.microsoft.com/office/drawing/2014/main" id="{59353D25-D7C0-4FC1-88CF-A55DAFC5690D}"/>
              </a:ext>
            </a:extLst>
          </p:cNvPr>
          <p:cNvSpPr>
            <a:spLocks noGrp="1"/>
          </p:cNvSpPr>
          <p:nvPr>
            <p:ph type="pic" idx="21" hasCustomPrompt="1"/>
          </p:nvPr>
        </p:nvSpPr>
        <p:spPr>
          <a:xfrm>
            <a:off x="5396868" y="-11318"/>
            <a:ext cx="3681862" cy="3267664"/>
          </a:xfrm>
          <a:custGeom>
            <a:avLst/>
            <a:gdLst>
              <a:gd name="connsiteX0" fmla="*/ 1843166 w 3681862"/>
              <a:gd name="connsiteY0" fmla="*/ 2193152 h 3267664"/>
              <a:gd name="connsiteX1" fmla="*/ 2381694 w 3681862"/>
              <a:gd name="connsiteY1" fmla="*/ 2731680 h 3267664"/>
              <a:gd name="connsiteX2" fmla="*/ 1840931 w 3681862"/>
              <a:gd name="connsiteY2" fmla="*/ 3267664 h 3267664"/>
              <a:gd name="connsiteX3" fmla="*/ 1302413 w 3681862"/>
              <a:gd name="connsiteY3" fmla="*/ 2733905 h 3267664"/>
              <a:gd name="connsiteX4" fmla="*/ 1467221 w 3681862"/>
              <a:gd name="connsiteY4" fmla="*/ 0 h 3267664"/>
              <a:gd name="connsiteX5" fmla="*/ 2284092 w 3681862"/>
              <a:gd name="connsiteY5" fmla="*/ 19269 h 3267664"/>
              <a:gd name="connsiteX6" fmla="*/ 3681862 w 3681862"/>
              <a:gd name="connsiteY6" fmla="*/ 1443001 h 3267664"/>
              <a:gd name="connsiteX7" fmla="*/ 2443303 w 3681862"/>
              <a:gd name="connsiteY7" fmla="*/ 2670616 h 3267664"/>
              <a:gd name="connsiteX8" fmla="*/ 1843166 w 3681862"/>
              <a:gd name="connsiteY8" fmla="*/ 2070479 h 3267664"/>
              <a:gd name="connsiteX9" fmla="*/ 1240805 w 3681862"/>
              <a:gd name="connsiteY9" fmla="*/ 2672841 h 3267664"/>
              <a:gd name="connsiteX10" fmla="*/ 0 w 3681862"/>
              <a:gd name="connsiteY10" fmla="*/ 1443001 h 326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1862" h="3267664">
                <a:moveTo>
                  <a:pt x="1843166" y="2193152"/>
                </a:moveTo>
                <a:lnTo>
                  <a:pt x="2381694" y="2731680"/>
                </a:lnTo>
                <a:lnTo>
                  <a:pt x="1840931" y="3267664"/>
                </a:lnTo>
                <a:lnTo>
                  <a:pt x="1302413" y="2733905"/>
                </a:lnTo>
                <a:close/>
                <a:moveTo>
                  <a:pt x="1467221" y="0"/>
                </a:moveTo>
                <a:cubicBezTo>
                  <a:pt x="1832276" y="3773"/>
                  <a:pt x="1919036" y="-406"/>
                  <a:pt x="2284092" y="19269"/>
                </a:cubicBezTo>
                <a:lnTo>
                  <a:pt x="3681862" y="1443001"/>
                </a:lnTo>
                <a:lnTo>
                  <a:pt x="2443303" y="2670616"/>
                </a:lnTo>
                <a:lnTo>
                  <a:pt x="1843166" y="2070479"/>
                </a:lnTo>
                <a:lnTo>
                  <a:pt x="1240805" y="2672841"/>
                </a:lnTo>
                <a:lnTo>
                  <a:pt x="0" y="144300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313711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4" hasCustomPrompt="1"/>
          </p:nvPr>
        </p:nvSpPr>
        <p:spPr>
          <a:xfrm>
            <a:off x="395536"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395536"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1911680"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1911680"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5" name="Picture Placeholder 2"/>
          <p:cNvSpPr>
            <a:spLocks noGrp="1"/>
          </p:cNvSpPr>
          <p:nvPr>
            <p:ph type="pic" idx="18" hasCustomPrompt="1"/>
          </p:nvPr>
        </p:nvSpPr>
        <p:spPr>
          <a:xfrm>
            <a:off x="5736054"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9" hasCustomPrompt="1"/>
          </p:nvPr>
        </p:nvSpPr>
        <p:spPr>
          <a:xfrm>
            <a:off x="5736055"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20" hasCustomPrompt="1"/>
          </p:nvPr>
        </p:nvSpPr>
        <p:spPr>
          <a:xfrm>
            <a:off x="7252198"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8" name="Picture Placeholder 2"/>
          <p:cNvSpPr>
            <a:spLocks noGrp="1"/>
          </p:cNvSpPr>
          <p:nvPr>
            <p:ph type="pic" idx="21" hasCustomPrompt="1"/>
          </p:nvPr>
        </p:nvSpPr>
        <p:spPr>
          <a:xfrm>
            <a:off x="7252198"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3427823" y="1275605"/>
            <a:ext cx="2232248" cy="35283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3833686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1264676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n-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id="{46628553-F51C-4CE7-A3A6-AB374655DC97}"/>
              </a:ext>
            </a:extLst>
          </p:cNvPr>
          <p:cNvGrpSpPr/>
          <p:nvPr userDrawn="1"/>
        </p:nvGrpSpPr>
        <p:grpSpPr>
          <a:xfrm>
            <a:off x="786525" y="1114965"/>
            <a:ext cx="2320819" cy="2728174"/>
            <a:chOff x="5364088" y="1450891"/>
            <a:chExt cx="2320819" cy="2728174"/>
          </a:xfrm>
        </p:grpSpPr>
        <p:sp>
          <p:nvSpPr>
            <p:cNvPr id="22" name="자유형: 도형 21">
              <a:extLst>
                <a:ext uri="{FF2B5EF4-FFF2-40B4-BE49-F238E27FC236}">
                  <a16:creationId xmlns:a16="http://schemas.microsoft.com/office/drawing/2014/main" id="{B5880087-04C4-411C-AEAA-74B23548761F}"/>
                </a:ext>
              </a:extLst>
            </p:cNvPr>
            <p:cNvSpPr/>
            <p:nvPr userDrawn="1"/>
          </p:nvSpPr>
          <p:spPr>
            <a:xfrm>
              <a:off x="5399290" y="2150906"/>
              <a:ext cx="2261257" cy="2028159"/>
            </a:xfrm>
            <a:custGeom>
              <a:avLst/>
              <a:gdLst>
                <a:gd name="connsiteX0" fmla="*/ 1012851 w 2261257"/>
                <a:gd name="connsiteY0" fmla="*/ 0 h 2028159"/>
                <a:gd name="connsiteX1" fmla="*/ 1226850 w 2261257"/>
                <a:gd name="connsiteY1" fmla="*/ 0 h 2028159"/>
                <a:gd name="connsiteX2" fmla="*/ 1283043 w 2261257"/>
                <a:gd name="connsiteY2" fmla="*/ 449131 h 2028159"/>
                <a:gd name="connsiteX3" fmla="*/ 1318239 w 2261257"/>
                <a:gd name="connsiteY3" fmla="*/ 455866 h 2028159"/>
                <a:gd name="connsiteX4" fmla="*/ 1530113 w 2261257"/>
                <a:gd name="connsiteY4" fmla="*/ 605602 h 2028159"/>
                <a:gd name="connsiteX5" fmla="*/ 1548314 w 2261257"/>
                <a:gd name="connsiteY5" fmla="*/ 639136 h 2028159"/>
                <a:gd name="connsiteX6" fmla="*/ 1577154 w 2261257"/>
                <a:gd name="connsiteY6" fmla="*/ 636229 h 2028159"/>
                <a:gd name="connsiteX7" fmla="*/ 1914152 w 2261257"/>
                <a:gd name="connsiteY7" fmla="*/ 859606 h 2028159"/>
                <a:gd name="connsiteX8" fmla="*/ 1919810 w 2261257"/>
                <a:gd name="connsiteY8" fmla="*/ 877832 h 2028159"/>
                <a:gd name="connsiteX9" fmla="*/ 1932155 w 2261257"/>
                <a:gd name="connsiteY9" fmla="*/ 874000 h 2028159"/>
                <a:gd name="connsiteX10" fmla="*/ 1981836 w 2261257"/>
                <a:gd name="connsiteY10" fmla="*/ 868991 h 2028159"/>
                <a:gd name="connsiteX11" fmla="*/ 2223343 w 2261257"/>
                <a:gd name="connsiteY11" fmla="*/ 1065825 h 2028159"/>
                <a:gd name="connsiteX12" fmla="*/ 2225319 w 2261257"/>
                <a:gd name="connsiteY12" fmla="*/ 1085429 h 2028159"/>
                <a:gd name="connsiteX13" fmla="*/ 2261257 w 2261257"/>
                <a:gd name="connsiteY13" fmla="*/ 1089052 h 2028159"/>
                <a:gd name="connsiteX14" fmla="*/ 2259340 w 2261257"/>
                <a:gd name="connsiteY14" fmla="*/ 1101612 h 2028159"/>
                <a:gd name="connsiteX15" fmla="*/ 1122505 w 2261257"/>
                <a:gd name="connsiteY15" fmla="*/ 2028159 h 2028159"/>
                <a:gd name="connsiteX16" fmla="*/ 14265 w 2261257"/>
                <a:gd name="connsiteY16" fmla="*/ 1212820 h 2028159"/>
                <a:gd name="connsiteX17" fmla="*/ 0 w 2261257"/>
                <a:gd name="connsiteY17" fmla="*/ 1157341 h 2028159"/>
                <a:gd name="connsiteX18" fmla="*/ 3235 w 2261257"/>
                <a:gd name="connsiteY18" fmla="*/ 1157015 h 2028159"/>
                <a:gd name="connsiteX19" fmla="*/ 87605 w 2261257"/>
                <a:gd name="connsiteY19" fmla="*/ 1165520 h 2028159"/>
                <a:gd name="connsiteX20" fmla="*/ 113456 w 2261257"/>
                <a:gd name="connsiteY20" fmla="*/ 1173545 h 2028159"/>
                <a:gd name="connsiteX21" fmla="*/ 128106 w 2261257"/>
                <a:gd name="connsiteY21" fmla="*/ 1155791 h 2028159"/>
                <a:gd name="connsiteX22" fmla="*/ 424127 w 2261257"/>
                <a:gd name="connsiteY22" fmla="*/ 1033175 h 2028159"/>
                <a:gd name="connsiteX23" fmla="*/ 435940 w 2261257"/>
                <a:gd name="connsiteY23" fmla="*/ 1034366 h 2028159"/>
                <a:gd name="connsiteX24" fmla="*/ 427636 w 2261257"/>
                <a:gd name="connsiteY24" fmla="*/ 1007613 h 2028159"/>
                <a:gd name="connsiteX25" fmla="*/ 424127 w 2261257"/>
                <a:gd name="connsiteY25" fmla="*/ 972807 h 2028159"/>
                <a:gd name="connsiteX26" fmla="*/ 562024 w 2261257"/>
                <a:gd name="connsiteY26" fmla="*/ 803613 h 2028159"/>
                <a:gd name="connsiteX27" fmla="*/ 569156 w 2261257"/>
                <a:gd name="connsiteY27" fmla="*/ 802894 h 2028159"/>
                <a:gd name="connsiteX28" fmla="*/ 573923 w 2261257"/>
                <a:gd name="connsiteY28" fmla="*/ 755602 h 2028159"/>
                <a:gd name="connsiteX29" fmla="*/ 903523 w 2261257"/>
                <a:gd name="connsiteY29" fmla="*/ 486970 h 2028159"/>
                <a:gd name="connsiteX30" fmla="*/ 951321 w 2261257"/>
                <a:gd name="connsiteY30" fmla="*/ 491789 h 202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1257" h="2028159">
                  <a:moveTo>
                    <a:pt x="1012851" y="0"/>
                  </a:moveTo>
                  <a:lnTo>
                    <a:pt x="1226850" y="0"/>
                  </a:lnTo>
                  <a:lnTo>
                    <a:pt x="1283043" y="449131"/>
                  </a:lnTo>
                  <a:lnTo>
                    <a:pt x="1318239" y="455866"/>
                  </a:lnTo>
                  <a:cubicBezTo>
                    <a:pt x="1405884" y="478416"/>
                    <a:pt x="1480818" y="532637"/>
                    <a:pt x="1530113" y="605602"/>
                  </a:cubicBezTo>
                  <a:lnTo>
                    <a:pt x="1548314" y="639136"/>
                  </a:lnTo>
                  <a:lnTo>
                    <a:pt x="1577154" y="636229"/>
                  </a:lnTo>
                  <a:cubicBezTo>
                    <a:pt x="1728648" y="636229"/>
                    <a:pt x="1858629" y="728337"/>
                    <a:pt x="1914152" y="859606"/>
                  </a:cubicBezTo>
                  <a:lnTo>
                    <a:pt x="1919810" y="877832"/>
                  </a:lnTo>
                  <a:lnTo>
                    <a:pt x="1932155" y="874000"/>
                  </a:lnTo>
                  <a:cubicBezTo>
                    <a:pt x="1948202" y="870716"/>
                    <a:pt x="1964818" y="868991"/>
                    <a:pt x="1981836" y="868991"/>
                  </a:cubicBezTo>
                  <a:cubicBezTo>
                    <a:pt x="2100964" y="868991"/>
                    <a:pt x="2200356" y="953493"/>
                    <a:pt x="2223343" y="1065825"/>
                  </a:cubicBezTo>
                  <a:lnTo>
                    <a:pt x="2225319" y="1085429"/>
                  </a:lnTo>
                  <a:lnTo>
                    <a:pt x="2261257" y="1089052"/>
                  </a:lnTo>
                  <a:lnTo>
                    <a:pt x="2259340" y="1101612"/>
                  </a:lnTo>
                  <a:cubicBezTo>
                    <a:pt x="2151136" y="1630392"/>
                    <a:pt x="1683273" y="2028159"/>
                    <a:pt x="1122505" y="2028159"/>
                  </a:cubicBezTo>
                  <a:cubicBezTo>
                    <a:pt x="601793" y="2028159"/>
                    <a:pt x="161186" y="1685186"/>
                    <a:pt x="14265" y="1212820"/>
                  </a:cubicBezTo>
                  <a:lnTo>
                    <a:pt x="0" y="1157341"/>
                  </a:lnTo>
                  <a:lnTo>
                    <a:pt x="3235" y="1157015"/>
                  </a:lnTo>
                  <a:cubicBezTo>
                    <a:pt x="32136" y="1157015"/>
                    <a:pt x="60353" y="1159944"/>
                    <a:pt x="87605" y="1165520"/>
                  </a:cubicBezTo>
                  <a:lnTo>
                    <a:pt x="113456" y="1173545"/>
                  </a:lnTo>
                  <a:lnTo>
                    <a:pt x="128106" y="1155791"/>
                  </a:lnTo>
                  <a:cubicBezTo>
                    <a:pt x="203864" y="1080032"/>
                    <a:pt x="308523" y="1033175"/>
                    <a:pt x="424127" y="1033175"/>
                  </a:cubicBezTo>
                  <a:lnTo>
                    <a:pt x="435940" y="1034366"/>
                  </a:lnTo>
                  <a:lnTo>
                    <a:pt x="427636" y="1007613"/>
                  </a:lnTo>
                  <a:cubicBezTo>
                    <a:pt x="425335" y="996370"/>
                    <a:pt x="424127" y="984730"/>
                    <a:pt x="424127" y="972807"/>
                  </a:cubicBezTo>
                  <a:cubicBezTo>
                    <a:pt x="424127" y="889349"/>
                    <a:pt x="483326" y="819717"/>
                    <a:pt x="562024" y="803613"/>
                  </a:cubicBezTo>
                  <a:lnTo>
                    <a:pt x="569156" y="802894"/>
                  </a:lnTo>
                  <a:lnTo>
                    <a:pt x="573923" y="755602"/>
                  </a:lnTo>
                  <a:cubicBezTo>
                    <a:pt x="605295" y="602294"/>
                    <a:pt x="740941" y="486970"/>
                    <a:pt x="903523" y="486970"/>
                  </a:cubicBezTo>
                  <a:lnTo>
                    <a:pt x="951321" y="4917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타원 2">
              <a:extLst>
                <a:ext uri="{FF2B5EF4-FFF2-40B4-BE49-F238E27FC236}">
                  <a16:creationId xmlns:a16="http://schemas.microsoft.com/office/drawing/2014/main" id="{7EF498E6-9850-42A0-8643-E6250BB46DE0}"/>
                </a:ext>
              </a:extLst>
            </p:cNvPr>
            <p:cNvSpPr/>
            <p:nvPr userDrawn="1"/>
          </p:nvSpPr>
          <p:spPr>
            <a:xfrm>
              <a:off x="5364088" y="1858246"/>
              <a:ext cx="2320819" cy="2320819"/>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 name="그룹 7">
              <a:extLst>
                <a:ext uri="{FF2B5EF4-FFF2-40B4-BE49-F238E27FC236}">
                  <a16:creationId xmlns:a16="http://schemas.microsoft.com/office/drawing/2014/main" id="{AF789A84-B899-484F-ADA6-1B784064DB8A}"/>
                </a:ext>
              </a:extLst>
            </p:cNvPr>
            <p:cNvGrpSpPr/>
            <p:nvPr userDrawn="1"/>
          </p:nvGrpSpPr>
          <p:grpSpPr>
            <a:xfrm>
              <a:off x="6280305" y="1450891"/>
              <a:ext cx="477626" cy="918140"/>
              <a:chOff x="5304862" y="-789923"/>
              <a:chExt cx="645890" cy="1241591"/>
            </a:xfrm>
          </p:grpSpPr>
          <p:grpSp>
            <p:nvGrpSpPr>
              <p:cNvPr id="9" name="그룹 8">
                <a:extLst>
                  <a:ext uri="{FF2B5EF4-FFF2-40B4-BE49-F238E27FC236}">
                    <a16:creationId xmlns:a16="http://schemas.microsoft.com/office/drawing/2014/main" id="{6DDA03B1-B885-4EB8-9AC5-617A33E28AA0}"/>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id="{50824863-8B90-4264-9AEB-19AE04C9A70D}"/>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id="{3B003EFC-13D2-4BB4-8625-D6DD1D26689C}"/>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id="{639551A5-A416-4935-A4CA-A8FCF74BAE6A}"/>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id="{A0F64586-2454-49D0-905D-B01E2B155554}"/>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90010C14-1AD7-40EC-9EFB-091EB548BC40}"/>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54B0A336-7C2F-4F98-ABF5-299D91E12C13}"/>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id="{2528A48D-D724-4DF8-B31C-D26E111E596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 name="Rectangle 1"/>
          <p:cNvSpPr/>
          <p:nvPr userDrawn="1"/>
        </p:nvSpPr>
        <p:spPr>
          <a:xfrm>
            <a:off x="3851920" y="1895103"/>
            <a:ext cx="5292080" cy="13681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4125084" y="2154560"/>
            <a:ext cx="501891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125084" y="2730624"/>
            <a:ext cx="501891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 /><Relationship Id="rId1" Type="http://schemas.openxmlformats.org/officeDocument/2006/relationships/slideLayout" Target="../slideLayouts/slideLayout17.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A4589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0" r:id="rId3"/>
    <p:sldLayoutId id="2147483661" r:id="rId4"/>
    <p:sldLayoutId id="2147483662" r:id="rId5"/>
    <p:sldLayoutId id="2147483663" r:id="rId6"/>
    <p:sldLayoutId id="2147483664" r:id="rId7"/>
    <p:sldLayoutId id="2147483666" r:id="rId8"/>
    <p:sldLayoutId id="2147483667" r:id="rId9"/>
    <p:sldLayoutId id="2147483668" r:id="rId10"/>
    <p:sldLayoutId id="2147483669" r:id="rId11"/>
    <p:sldLayoutId id="2147483670" r:id="rId12"/>
    <p:sldLayoutId id="2147483671" r:id="rId13"/>
    <p:sldLayoutId id="2147483665" r:id="rId14"/>
    <p:sldLayoutId id="2147483672"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A4589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emf"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11.xml" /></Relationships>
</file>

<file path=ppt/slides/_rels/slide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10.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11.xml" /></Relationships>
</file>

<file path=ppt/slides/_rels/slide17.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3" Type="http://schemas.openxmlformats.org/officeDocument/2006/relationships/image" Target="../media/image12.jpeg" /><Relationship Id="rId2" Type="http://schemas.openxmlformats.org/officeDocument/2006/relationships/image" Target="../media/image11.jpeg" /><Relationship Id="rId1" Type="http://schemas.openxmlformats.org/officeDocument/2006/relationships/slideLayout" Target="../slideLayouts/slideLayout13.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1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6.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31.xml.rels><?xml version="1.0" encoding="UTF-8" standalone="yes"?>
<Relationships xmlns="http://schemas.openxmlformats.org/package/2006/relationships"><Relationship Id="rId2" Type="http://schemas.openxmlformats.org/officeDocument/2006/relationships/image" Target="../media/image15.jpeg" /><Relationship Id="rId1" Type="http://schemas.openxmlformats.org/officeDocument/2006/relationships/slideLayout" Target="../slideLayouts/slideLayout1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1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5.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1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6.xml.rels><?xml version="1.0" encoding="UTF-8" standalone="yes"?>
<Relationships xmlns="http://schemas.openxmlformats.org/package/2006/relationships"><Relationship Id="rId2" Type="http://schemas.openxmlformats.org/officeDocument/2006/relationships/image" Target="../media/image18.jpeg"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1.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 /></Relationships>
</file>

<file path=ppt/slides/_rels/slide72.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12.xml" /></Relationships>
</file>

<file path=ppt/slides/_rels/slide73.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12.xml" /></Relationships>
</file>

<file path=ppt/slides/_rels/slide74.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12.xml" /></Relationships>
</file>

<file path=ppt/slides/_rels/slide75.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6.xml" /></Relationships>
</file>

<file path=ppt/slides/_rels/slide76.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1.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78.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6.xml" /></Relationships>
</file>

<file path=ppt/slides/_rels/slide79.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1.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1.xml.rels><?xml version="1.0" encoding="UTF-8" standalone="yes"?>
<Relationships xmlns="http://schemas.openxmlformats.org/package/2006/relationships"><Relationship Id="rId2" Type="http://schemas.openxmlformats.org/officeDocument/2006/relationships/image" Target="../media/image26.png" /><Relationship Id="rId1" Type="http://schemas.openxmlformats.org/officeDocument/2006/relationships/slideLayout" Target="../slideLayouts/slideLayout6.xml" /></Relationships>
</file>

<file path=ppt/slides/_rels/slide82.xml.rels><?xml version="1.0" encoding="UTF-8" standalone="yes"?>
<Relationships xmlns="http://schemas.openxmlformats.org/package/2006/relationships"><Relationship Id="rId2" Type="http://schemas.openxmlformats.org/officeDocument/2006/relationships/image" Target="../media/image27.png" /><Relationship Id="rId1" Type="http://schemas.openxmlformats.org/officeDocument/2006/relationships/slideLayout" Target="../slideLayouts/slideLayout1.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99231" y="267494"/>
            <a:ext cx="7543275" cy="830997"/>
          </a:xfrm>
          <a:prstGeom prst="rect">
            <a:avLst/>
          </a:prstGeom>
          <a:noFill/>
        </p:spPr>
        <p:txBody>
          <a:bodyPr wrap="square" rtlCol="0">
            <a:spAutoFit/>
          </a:bodyPr>
          <a:lstStyle/>
          <a:p>
            <a:r>
              <a:rPr lang="en-US" sz="4800" b="1" dirty="0">
                <a:solidFill>
                  <a:schemeClr val="bg1"/>
                </a:solidFill>
              </a:rPr>
              <a:t>Opportunity Recognition</a:t>
            </a:r>
          </a:p>
        </p:txBody>
      </p:sp>
      <p:sp>
        <p:nvSpPr>
          <p:cNvPr id="15" name="Rectangle 14"/>
          <p:cNvSpPr/>
          <p:nvPr/>
        </p:nvSpPr>
        <p:spPr>
          <a:xfrm>
            <a:off x="0" y="4371950"/>
            <a:ext cx="9144000" cy="7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17" name="Picture 16"/>
          <p:cNvPicPr>
            <a:picLocks noChangeAspect="1"/>
          </p:cNvPicPr>
          <p:nvPr/>
        </p:nvPicPr>
        <p:blipFill>
          <a:blip r:embed="rId2"/>
          <a:stretch>
            <a:fillRect/>
          </a:stretch>
        </p:blipFill>
        <p:spPr>
          <a:xfrm>
            <a:off x="179512" y="4596416"/>
            <a:ext cx="2088232" cy="394626"/>
          </a:xfrm>
          <a:prstGeom prst="rect">
            <a:avLst/>
          </a:prstGeom>
        </p:spPr>
      </p:pic>
      <p:sp>
        <p:nvSpPr>
          <p:cNvPr id="22" name="Rectangle 21"/>
          <p:cNvSpPr/>
          <p:nvPr/>
        </p:nvSpPr>
        <p:spPr>
          <a:xfrm>
            <a:off x="329454" y="1308764"/>
            <a:ext cx="747154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aseline="-25000" dirty="0">
              <a:solidFill>
                <a:schemeClr val="tx1">
                  <a:lumMod val="50000"/>
                  <a:lumOff val="50000"/>
                </a:schemeClr>
              </a:solidFill>
            </a:endParaRPr>
          </a:p>
        </p:txBody>
      </p:sp>
      <p:sp>
        <p:nvSpPr>
          <p:cNvPr id="23" name="TextBox 22"/>
          <p:cNvSpPr txBox="1"/>
          <p:nvPr/>
        </p:nvSpPr>
        <p:spPr>
          <a:xfrm>
            <a:off x="251520" y="1418940"/>
            <a:ext cx="3378450" cy="369332"/>
          </a:xfrm>
          <a:prstGeom prst="rect">
            <a:avLst/>
          </a:prstGeom>
          <a:noFill/>
        </p:spPr>
        <p:txBody>
          <a:bodyPr wrap="square" rtlCol="0">
            <a:spAutoFit/>
          </a:bodyPr>
          <a:lstStyle/>
          <a:p>
            <a:r>
              <a:rPr lang="en-US" dirty="0"/>
              <a:t>Module -2</a:t>
            </a:r>
          </a:p>
        </p:txBody>
      </p:sp>
      <p:sp>
        <p:nvSpPr>
          <p:cNvPr id="24" name="Rectangle 23"/>
          <p:cNvSpPr/>
          <p:nvPr/>
        </p:nvSpPr>
        <p:spPr>
          <a:xfrm>
            <a:off x="8183312" y="-638"/>
            <a:ext cx="733381" cy="494865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92D050"/>
              </a:solidFill>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flipH="1">
            <a:off x="6228184" y="0"/>
            <a:ext cx="4118085" cy="5143500"/>
          </a:xfrm>
          <a:prstGeom prst="rect">
            <a:avLst/>
          </a:prstGeom>
        </p:spPr>
      </p:pic>
    </p:spTree>
    <p:extLst>
      <p:ext uri="{BB962C8B-B14F-4D97-AF65-F5344CB8AC3E}">
        <p14:creationId xmlns:p14="http://schemas.microsoft.com/office/powerpoint/2010/main" val="2971841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7088" b="7863"/>
          <a:stretch/>
        </p:blipFill>
        <p:spPr>
          <a:xfrm>
            <a:off x="-36512" y="-20538"/>
            <a:ext cx="9217024" cy="5184576"/>
          </a:xfrm>
          <a:prstGeom prst="rect">
            <a:avLst/>
          </a:prstGeom>
        </p:spPr>
      </p:pic>
      <p:sp>
        <p:nvSpPr>
          <p:cNvPr id="2" name="Text Placeholder 1"/>
          <p:cNvSpPr>
            <a:spLocks noGrp="1"/>
          </p:cNvSpPr>
          <p:nvPr>
            <p:ph type="body" sz="quarter" idx="4294967295"/>
          </p:nvPr>
        </p:nvSpPr>
        <p:spPr>
          <a:xfrm>
            <a:off x="2339752" y="2643758"/>
            <a:ext cx="4680520" cy="936104"/>
          </a:xfrm>
          <a:prstGeom prst="rect">
            <a:avLst/>
          </a:prstGeom>
        </p:spPr>
        <p:txBody>
          <a:bodyPr/>
          <a:lstStyle/>
          <a:p>
            <a:pPr marL="0" indent="0" algn="ctr">
              <a:buNone/>
            </a:pPr>
            <a:r>
              <a:rPr lang="en-US" altLang="ko-KR" sz="4800" b="1" dirty="0">
                <a:solidFill>
                  <a:srgbClr val="A45891"/>
                </a:solidFill>
              </a:rPr>
              <a:t>Welcome</a:t>
            </a:r>
            <a:r>
              <a:rPr lang="en-US" altLang="ko-KR" sz="4800" b="1" dirty="0">
                <a:solidFill>
                  <a:schemeClr val="bg1"/>
                </a:solidFill>
              </a:rPr>
              <a:t>!!</a:t>
            </a:r>
            <a:endParaRPr lang="ko-KR" altLang="en-US" sz="4800" b="1" dirty="0">
              <a:solidFill>
                <a:schemeClr val="bg1"/>
              </a:solidFill>
            </a:endParaRPr>
          </a:p>
        </p:txBody>
      </p:sp>
    </p:spTree>
    <p:extLst>
      <p:ext uri="{BB962C8B-B14F-4D97-AF65-F5344CB8AC3E}">
        <p14:creationId xmlns:p14="http://schemas.microsoft.com/office/powerpoint/2010/main" val="3239406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Block Arc 14"/>
          <p:cNvSpPr/>
          <p:nvPr/>
        </p:nvSpPr>
        <p:spPr>
          <a:xfrm>
            <a:off x="179511" y="2143048"/>
            <a:ext cx="1217198" cy="1217254"/>
          </a:xfrm>
          <a:custGeom>
            <a:avLst/>
            <a:gdLst/>
            <a:ahLst/>
            <a:cxnLst/>
            <a:rect l="l" t="t" r="r" b="b"/>
            <a:pathLst>
              <a:path w="1217198" h="1217254">
                <a:moveTo>
                  <a:pt x="1172073" y="616019"/>
                </a:moveTo>
                <a:lnTo>
                  <a:pt x="1217198" y="616610"/>
                </a:lnTo>
                <a:cubicBezTo>
                  <a:pt x="1216181" y="694136"/>
                  <a:pt x="1200702" y="768120"/>
                  <a:pt x="1172073" y="835497"/>
                </a:cubicBezTo>
                <a:close/>
                <a:moveTo>
                  <a:pt x="592301" y="223"/>
                </a:moveTo>
                <a:cubicBezTo>
                  <a:pt x="925156" y="-8708"/>
                  <a:pt x="1203399" y="251500"/>
                  <a:pt x="1216760" y="584207"/>
                </a:cubicBezTo>
                <a:lnTo>
                  <a:pt x="1025903" y="591872"/>
                </a:lnTo>
                <a:cubicBezTo>
                  <a:pt x="1016735" y="363582"/>
                  <a:pt x="825816" y="185038"/>
                  <a:pt x="597424" y="191166"/>
                </a:cubicBezTo>
                <a:cubicBezTo>
                  <a:pt x="369033" y="197294"/>
                  <a:pt x="187962" y="385820"/>
                  <a:pt x="191049" y="614273"/>
                </a:cubicBezTo>
                <a:cubicBezTo>
                  <a:pt x="194136" y="842726"/>
                  <a:pt x="380235" y="1026290"/>
                  <a:pt x="608708" y="1026244"/>
                </a:cubicBezTo>
                <a:cubicBezTo>
                  <a:pt x="773320" y="1026211"/>
                  <a:pt x="915896" y="930876"/>
                  <a:pt x="982606" y="791527"/>
                </a:cubicBezTo>
                <a:lnTo>
                  <a:pt x="982606" y="1085471"/>
                </a:lnTo>
                <a:cubicBezTo>
                  <a:pt x="880769" y="1168806"/>
                  <a:pt x="750352" y="1217226"/>
                  <a:pt x="608747" y="1217254"/>
                </a:cubicBezTo>
                <a:cubicBezTo>
                  <a:pt x="275773" y="1217320"/>
                  <a:pt x="4555" y="949797"/>
                  <a:pt x="56" y="616853"/>
                </a:cubicBezTo>
                <a:cubicBezTo>
                  <a:pt x="-4443" y="283909"/>
                  <a:pt x="259446" y="9154"/>
                  <a:pt x="592301" y="22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9" name="Rectangle 18"/>
          <p:cNvSpPr/>
          <p:nvPr/>
        </p:nvSpPr>
        <p:spPr>
          <a:xfrm>
            <a:off x="1207294" y="1561169"/>
            <a:ext cx="189467" cy="1040153"/>
          </a:xfrm>
          <a:custGeom>
            <a:avLst/>
            <a:gdLst>
              <a:gd name="connsiteX0" fmla="*/ 0 w 189467"/>
              <a:gd name="connsiteY0" fmla="*/ 0 h 1080346"/>
              <a:gd name="connsiteX1" fmla="*/ 189467 w 189467"/>
              <a:gd name="connsiteY1" fmla="*/ 0 h 1080346"/>
              <a:gd name="connsiteX2" fmla="*/ 189467 w 189467"/>
              <a:gd name="connsiteY2" fmla="*/ 1080346 h 1080346"/>
              <a:gd name="connsiteX3" fmla="*/ 187528 w 189467"/>
              <a:gd name="connsiteY3" fmla="*/ 1040153 h 1080346"/>
              <a:gd name="connsiteX4" fmla="*/ 0 w 189467"/>
              <a:gd name="connsiteY4" fmla="*/ 674512 h 1080346"/>
              <a:gd name="connsiteX5" fmla="*/ 0 w 189467"/>
              <a:gd name="connsiteY5" fmla="*/ 0 h 1080346"/>
              <a:gd name="connsiteX0" fmla="*/ 0 w 189467"/>
              <a:gd name="connsiteY0" fmla="*/ 0 h 1040153"/>
              <a:gd name="connsiteX1" fmla="*/ 189467 w 189467"/>
              <a:gd name="connsiteY1" fmla="*/ 0 h 1040153"/>
              <a:gd name="connsiteX2" fmla="*/ 187528 w 189467"/>
              <a:gd name="connsiteY2" fmla="*/ 1040153 h 1040153"/>
              <a:gd name="connsiteX3" fmla="*/ 0 w 189467"/>
              <a:gd name="connsiteY3" fmla="*/ 674512 h 1040153"/>
              <a:gd name="connsiteX4" fmla="*/ 0 w 189467"/>
              <a:gd name="connsiteY4" fmla="*/ 0 h 1040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67" h="1040153">
                <a:moveTo>
                  <a:pt x="0" y="0"/>
                </a:moveTo>
                <a:lnTo>
                  <a:pt x="189467" y="0"/>
                </a:lnTo>
                <a:cubicBezTo>
                  <a:pt x="188821" y="346718"/>
                  <a:pt x="188174" y="693435"/>
                  <a:pt x="187528" y="1040153"/>
                </a:cubicBezTo>
                <a:cubicBezTo>
                  <a:pt x="179329" y="879836"/>
                  <a:pt x="108663" y="777233"/>
                  <a:pt x="0" y="674512"/>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 name="Title 2"/>
          <p:cNvSpPr txBox="1">
            <a:spLocks/>
          </p:cNvSpPr>
          <p:nvPr/>
        </p:nvSpPr>
        <p:spPr>
          <a:xfrm rot="16200000">
            <a:off x="-177068" y="920458"/>
            <a:ext cx="2232249"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r>
              <a:rPr lang="en-US" sz="3600" dirty="0">
                <a:solidFill>
                  <a:srgbClr val="92D050"/>
                </a:solidFill>
              </a:rPr>
              <a:t>Outlines</a:t>
            </a:r>
            <a:endParaRPr lang="en-US" sz="3600" dirty="0">
              <a:solidFill>
                <a:srgbClr val="92D050"/>
              </a:solidFill>
              <a:cs typeface="Arial" pitchFamily="34" charset="0"/>
            </a:endParaRPr>
          </a:p>
        </p:txBody>
      </p:sp>
      <p:sp>
        <p:nvSpPr>
          <p:cNvPr id="7" name="Rectangle 6"/>
          <p:cNvSpPr/>
          <p:nvPr/>
        </p:nvSpPr>
        <p:spPr>
          <a:xfrm>
            <a:off x="1783358" y="240297"/>
            <a:ext cx="6317033"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20" name="Rectangle 19"/>
          <p:cNvSpPr/>
          <p:nvPr/>
        </p:nvSpPr>
        <p:spPr>
          <a:xfrm>
            <a:off x="1207294" y="2703006"/>
            <a:ext cx="189467" cy="24404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TextBox 33"/>
          <p:cNvSpPr txBox="1"/>
          <p:nvPr/>
        </p:nvSpPr>
        <p:spPr bwMode="auto">
          <a:xfrm>
            <a:off x="1817060" y="208534"/>
            <a:ext cx="5040560"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Opportunity Recognition</a:t>
            </a:r>
          </a:p>
        </p:txBody>
      </p:sp>
      <p:sp>
        <p:nvSpPr>
          <p:cNvPr id="35" name="Rectangle 34"/>
          <p:cNvSpPr/>
          <p:nvPr/>
        </p:nvSpPr>
        <p:spPr>
          <a:xfrm>
            <a:off x="1774435" y="704108"/>
            <a:ext cx="6325956"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42" name="TextBox 41"/>
          <p:cNvSpPr txBox="1"/>
          <p:nvPr/>
        </p:nvSpPr>
        <p:spPr bwMode="auto">
          <a:xfrm>
            <a:off x="1808136" y="672345"/>
            <a:ext cx="5040560"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Business Model</a:t>
            </a:r>
          </a:p>
        </p:txBody>
      </p:sp>
      <p:sp>
        <p:nvSpPr>
          <p:cNvPr id="49" name="Rectangle 48"/>
          <p:cNvSpPr/>
          <p:nvPr/>
        </p:nvSpPr>
        <p:spPr>
          <a:xfrm>
            <a:off x="1783359" y="1164458"/>
            <a:ext cx="631703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0" name="TextBox 49"/>
          <p:cNvSpPr txBox="1"/>
          <p:nvPr/>
        </p:nvSpPr>
        <p:spPr bwMode="auto">
          <a:xfrm>
            <a:off x="1817060" y="1132695"/>
            <a:ext cx="5040560"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What Is a Business Plan?</a:t>
            </a:r>
          </a:p>
        </p:txBody>
      </p:sp>
      <p:sp>
        <p:nvSpPr>
          <p:cNvPr id="51" name="Rectangle 50"/>
          <p:cNvSpPr/>
          <p:nvPr/>
        </p:nvSpPr>
        <p:spPr>
          <a:xfrm>
            <a:off x="1774435" y="1656571"/>
            <a:ext cx="6325956"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2" name="TextBox 51"/>
          <p:cNvSpPr txBox="1"/>
          <p:nvPr/>
        </p:nvSpPr>
        <p:spPr bwMode="auto">
          <a:xfrm>
            <a:off x="1808136" y="1624808"/>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7 Steps to a Perfectly Written Business Plan</a:t>
            </a:r>
          </a:p>
          <a:p>
            <a:endParaRPr lang="en-US" dirty="0">
              <a:solidFill>
                <a:schemeClr val="bg1"/>
              </a:solidFill>
            </a:endParaRPr>
          </a:p>
        </p:txBody>
      </p:sp>
      <p:sp>
        <p:nvSpPr>
          <p:cNvPr id="53" name="Rectangle 52"/>
          <p:cNvSpPr/>
          <p:nvPr/>
        </p:nvSpPr>
        <p:spPr>
          <a:xfrm>
            <a:off x="1774435" y="2156442"/>
            <a:ext cx="6325956"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4" name="TextBox 53"/>
          <p:cNvSpPr txBox="1"/>
          <p:nvPr/>
        </p:nvSpPr>
        <p:spPr bwMode="auto">
          <a:xfrm>
            <a:off x="1808136" y="2124679"/>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Market opportunity analysis</a:t>
            </a:r>
          </a:p>
          <a:p>
            <a:endParaRPr lang="en-US" dirty="0">
              <a:solidFill>
                <a:schemeClr val="bg1"/>
              </a:solidFill>
            </a:endParaRPr>
          </a:p>
        </p:txBody>
      </p:sp>
      <p:sp>
        <p:nvSpPr>
          <p:cNvPr id="55" name="Rectangle 54"/>
          <p:cNvSpPr/>
          <p:nvPr/>
        </p:nvSpPr>
        <p:spPr>
          <a:xfrm>
            <a:off x="1774435" y="2656313"/>
            <a:ext cx="6325956"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6" name="TextBox 55"/>
          <p:cNvSpPr txBox="1"/>
          <p:nvPr/>
        </p:nvSpPr>
        <p:spPr bwMode="auto">
          <a:xfrm>
            <a:off x="1783358" y="2620163"/>
            <a:ext cx="7012336"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Identify the customers or potential customers for a business</a:t>
            </a:r>
          </a:p>
          <a:p>
            <a:endParaRPr lang="en-US" dirty="0">
              <a:solidFill>
                <a:schemeClr val="bg1"/>
              </a:solidFill>
            </a:endParaRPr>
          </a:p>
        </p:txBody>
      </p:sp>
      <p:sp>
        <p:nvSpPr>
          <p:cNvPr id="57" name="Rectangle 56"/>
          <p:cNvSpPr/>
          <p:nvPr/>
        </p:nvSpPr>
        <p:spPr>
          <a:xfrm>
            <a:off x="1774434" y="3180761"/>
            <a:ext cx="6325957"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8" name="TextBox 57"/>
          <p:cNvSpPr txBox="1"/>
          <p:nvPr/>
        </p:nvSpPr>
        <p:spPr bwMode="auto">
          <a:xfrm>
            <a:off x="1808136" y="3124421"/>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Recognize a value proposition</a:t>
            </a:r>
          </a:p>
          <a:p>
            <a:endParaRPr lang="en-US" dirty="0">
              <a:solidFill>
                <a:schemeClr val="bg1"/>
              </a:solidFill>
            </a:endParaRPr>
          </a:p>
        </p:txBody>
      </p:sp>
      <p:sp>
        <p:nvSpPr>
          <p:cNvPr id="59" name="Rectangle 58"/>
          <p:cNvSpPr/>
          <p:nvPr/>
        </p:nvSpPr>
        <p:spPr>
          <a:xfrm>
            <a:off x="1774435" y="3656055"/>
            <a:ext cx="6325956"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0" name="TextBox 59"/>
          <p:cNvSpPr txBox="1"/>
          <p:nvPr/>
        </p:nvSpPr>
        <p:spPr bwMode="auto">
          <a:xfrm>
            <a:off x="1774435" y="3617025"/>
            <a:ext cx="5807199"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Business Model Canvas</a:t>
            </a:r>
          </a:p>
          <a:p>
            <a:endParaRPr lang="en-US" dirty="0"/>
          </a:p>
        </p:txBody>
      </p:sp>
      <p:sp>
        <p:nvSpPr>
          <p:cNvPr id="61" name="Rectangle 60"/>
          <p:cNvSpPr/>
          <p:nvPr/>
        </p:nvSpPr>
        <p:spPr>
          <a:xfrm>
            <a:off x="1783359" y="4155926"/>
            <a:ext cx="631703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2" name="TextBox 61"/>
          <p:cNvSpPr txBox="1"/>
          <p:nvPr/>
        </p:nvSpPr>
        <p:spPr bwMode="auto">
          <a:xfrm>
            <a:off x="1817060" y="4124163"/>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Business Model Canvas Examples</a:t>
            </a:r>
          </a:p>
          <a:p>
            <a:endParaRPr lang="en-US" dirty="0"/>
          </a:p>
        </p:txBody>
      </p:sp>
      <p:sp>
        <p:nvSpPr>
          <p:cNvPr id="63" name="Rectangle 62"/>
          <p:cNvSpPr/>
          <p:nvPr/>
        </p:nvSpPr>
        <p:spPr>
          <a:xfrm>
            <a:off x="1783359" y="4608153"/>
            <a:ext cx="631703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4" name="TextBox 63"/>
          <p:cNvSpPr txBox="1"/>
          <p:nvPr/>
        </p:nvSpPr>
        <p:spPr bwMode="auto">
          <a:xfrm>
            <a:off x="1817060" y="4576390"/>
            <a:ext cx="5040560" cy="967978"/>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solidFill>
                  <a:schemeClr val="bg1"/>
                </a:solidFill>
              </a:rPr>
              <a:t>Assessment - Activity</a:t>
            </a:r>
          </a:p>
          <a:p>
            <a:endParaRPr lang="en-US" dirty="0">
              <a:solidFill>
                <a:schemeClr val="bg1"/>
              </a:solidFill>
            </a:endParaRPr>
          </a:p>
          <a:p>
            <a:endParaRPr lang="en-US" dirty="0"/>
          </a:p>
        </p:txBody>
      </p:sp>
    </p:spTree>
    <p:extLst>
      <p:ext uri="{BB962C8B-B14F-4D97-AF65-F5344CB8AC3E}">
        <p14:creationId xmlns:p14="http://schemas.microsoft.com/office/powerpoint/2010/main" val="1095055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t="6053" b="6053"/>
          <a:stretch>
            <a:fillRect/>
          </a:stretch>
        </p:blipFill>
        <p:spPr/>
      </p:pic>
      <p:sp>
        <p:nvSpPr>
          <p:cNvPr id="6" name="Frame 5"/>
          <p:cNvSpPr/>
          <p:nvPr/>
        </p:nvSpPr>
        <p:spPr>
          <a:xfrm>
            <a:off x="197768" y="159481"/>
            <a:ext cx="4176464" cy="4824536"/>
          </a:xfrm>
          <a:prstGeom prst="frame">
            <a:avLst>
              <a:gd name="adj1" fmla="val 100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0" name="TextBox 9"/>
          <p:cNvSpPr txBox="1"/>
          <p:nvPr/>
        </p:nvSpPr>
        <p:spPr>
          <a:xfrm>
            <a:off x="4820277" y="1906835"/>
            <a:ext cx="4104456" cy="1569660"/>
          </a:xfrm>
          <a:prstGeom prst="rect">
            <a:avLst/>
          </a:prstGeom>
          <a:noFill/>
        </p:spPr>
        <p:txBody>
          <a:bodyPr wrap="square" rtlCol="0">
            <a:spAutoFit/>
          </a:bodyPr>
          <a:lstStyle/>
          <a:p>
            <a:r>
              <a:rPr lang="en-US" sz="2400" b="1" dirty="0">
                <a:solidFill>
                  <a:schemeClr val="bg1"/>
                </a:solidFill>
              </a:rPr>
              <a:t>To succeed, jump as quickly at opportunities as you do at conclusions.</a:t>
            </a:r>
            <a:br>
              <a:rPr lang="en-US" sz="2400" b="1" dirty="0">
                <a:solidFill>
                  <a:schemeClr val="bg1"/>
                </a:solidFill>
              </a:rPr>
            </a:br>
            <a:endParaRPr lang="en-US" sz="2400" b="1" dirty="0">
              <a:solidFill>
                <a:schemeClr val="bg1"/>
              </a:solidFill>
            </a:endParaRPr>
          </a:p>
        </p:txBody>
      </p:sp>
      <p:sp>
        <p:nvSpPr>
          <p:cNvPr id="11" name="Text Placeholder 1"/>
          <p:cNvSpPr txBox="1">
            <a:spLocks/>
          </p:cNvSpPr>
          <p:nvPr/>
        </p:nvSpPr>
        <p:spPr>
          <a:xfrm>
            <a:off x="4820277" y="4227934"/>
            <a:ext cx="3744416" cy="50430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rgbClr val="92D050"/>
                </a:solidFill>
              </a:rPr>
              <a:t>Benjamin Franklin</a:t>
            </a:r>
          </a:p>
        </p:txBody>
      </p:sp>
    </p:spTree>
    <p:extLst>
      <p:ext uri="{BB962C8B-B14F-4D97-AF65-F5344CB8AC3E}">
        <p14:creationId xmlns:p14="http://schemas.microsoft.com/office/powerpoint/2010/main" val="3912643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52536" y="2067694"/>
            <a:ext cx="6048672"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 name="Text Placeholder 1"/>
          <p:cNvSpPr>
            <a:spLocks noGrp="1"/>
          </p:cNvSpPr>
          <p:nvPr>
            <p:ph type="body" sz="quarter" idx="4294967295"/>
          </p:nvPr>
        </p:nvSpPr>
        <p:spPr>
          <a:xfrm>
            <a:off x="179512" y="1419622"/>
            <a:ext cx="9144000" cy="576262"/>
          </a:xfrm>
          <a:prstGeom prst="rect">
            <a:avLst/>
          </a:prstGeom>
        </p:spPr>
        <p:txBody>
          <a:bodyPr/>
          <a:lstStyle/>
          <a:p>
            <a:pPr marL="0" indent="0">
              <a:buNone/>
            </a:pPr>
            <a:r>
              <a:rPr lang="en-US" sz="2800" b="1" dirty="0">
                <a:solidFill>
                  <a:srgbClr val="92D050"/>
                </a:solidFill>
              </a:rPr>
              <a:t>Recognizing Opportunities</a:t>
            </a:r>
            <a:endParaRPr lang="ko-KR" altLang="en-US" sz="2800" dirty="0">
              <a:solidFill>
                <a:srgbClr val="92D050"/>
              </a:solidFill>
            </a:endParaRPr>
          </a:p>
        </p:txBody>
      </p:sp>
      <p:sp>
        <p:nvSpPr>
          <p:cNvPr id="27" name="TextBox 26"/>
          <p:cNvSpPr txBox="1"/>
          <p:nvPr/>
        </p:nvSpPr>
        <p:spPr>
          <a:xfrm>
            <a:off x="179512" y="2355726"/>
            <a:ext cx="5328592" cy="2062103"/>
          </a:xfrm>
          <a:prstGeom prst="rect">
            <a:avLst/>
          </a:prstGeom>
          <a:noFill/>
        </p:spPr>
        <p:txBody>
          <a:bodyPr wrap="square" rtlCol="0">
            <a:spAutoFit/>
          </a:bodyPr>
          <a:lstStyle/>
          <a:p>
            <a:pPr algn="justLow"/>
            <a:r>
              <a:rPr lang="en-US" sz="1600" b="1" dirty="0">
                <a:solidFill>
                  <a:schemeClr val="bg1"/>
                </a:solidFill>
              </a:rPr>
              <a:t>A business opportunity is a consumer need or want that can potentially be met by a new business. </a:t>
            </a:r>
          </a:p>
          <a:p>
            <a:pPr algn="justLow"/>
            <a:endParaRPr lang="en-US" sz="1600" b="1" dirty="0">
              <a:solidFill>
                <a:schemeClr val="bg1"/>
              </a:solidFill>
            </a:endParaRPr>
          </a:p>
          <a:p>
            <a:pPr algn="justLow"/>
            <a:r>
              <a:rPr lang="en-US" sz="1600" b="1" dirty="0">
                <a:solidFill>
                  <a:schemeClr val="bg1"/>
                </a:solidFill>
              </a:rPr>
              <a:t>In economics, a need is defined as something that people must have to survive, such as water, food, clothing, or shelter. </a:t>
            </a:r>
          </a:p>
          <a:p>
            <a:pPr algn="justLow"/>
            <a:endParaRPr lang="en-US" sz="1600" b="1" dirty="0">
              <a:solidFill>
                <a:schemeClr val="bg1"/>
              </a:solidFill>
            </a:endParaRPr>
          </a:p>
          <a:p>
            <a:pPr algn="justLow"/>
            <a:r>
              <a:rPr lang="en-US" sz="1600" b="1" dirty="0">
                <a:solidFill>
                  <a:schemeClr val="bg1"/>
                </a:solidFill>
              </a:rPr>
              <a:t>A want is a product or service that people desire.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03542" y="555526"/>
            <a:ext cx="4389903" cy="4587974"/>
          </a:xfrm>
          <a:prstGeom prst="rect">
            <a:avLst/>
          </a:prstGeom>
        </p:spPr>
      </p:pic>
    </p:spTree>
    <p:extLst>
      <p:ext uri="{BB962C8B-B14F-4D97-AF65-F5344CB8AC3E}">
        <p14:creationId xmlns:p14="http://schemas.microsoft.com/office/powerpoint/2010/main" val="1508814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481" y="0"/>
            <a:ext cx="9081038" cy="5143500"/>
          </a:xfrm>
          <a:prstGeom prst="rect">
            <a:avLst/>
          </a:prstGeom>
        </p:spPr>
      </p:pic>
      <p:sp>
        <p:nvSpPr>
          <p:cNvPr id="2" name="Text Placeholder 1"/>
          <p:cNvSpPr>
            <a:spLocks noGrp="1"/>
          </p:cNvSpPr>
          <p:nvPr>
            <p:ph type="body" sz="quarter" idx="10"/>
          </p:nvPr>
        </p:nvSpPr>
        <p:spPr>
          <a:xfrm>
            <a:off x="-684584" y="555526"/>
            <a:ext cx="9144000" cy="576064"/>
          </a:xfrm>
        </p:spPr>
        <p:txBody>
          <a:bodyPr/>
          <a:lstStyle/>
          <a:p>
            <a:r>
              <a:rPr lang="en-US" sz="4400" b="1" dirty="0">
                <a:solidFill>
                  <a:schemeClr val="bg1"/>
                </a:solidFill>
              </a:rPr>
              <a:t>Sources of Opportunity</a:t>
            </a:r>
            <a:endParaRPr lang="en-US" altLang="ko-KR" sz="4400" b="1" dirty="0">
              <a:solidFill>
                <a:schemeClr val="bg1"/>
              </a:solidFill>
            </a:endParaRPr>
          </a:p>
        </p:txBody>
      </p:sp>
      <p:sp>
        <p:nvSpPr>
          <p:cNvPr id="15" name="Frame 14"/>
          <p:cNvSpPr/>
          <p:nvPr/>
        </p:nvSpPr>
        <p:spPr>
          <a:xfrm>
            <a:off x="188640" y="159482"/>
            <a:ext cx="8766720" cy="4824536"/>
          </a:xfrm>
          <a:prstGeom prst="frame">
            <a:avLst>
              <a:gd name="adj1" fmla="val 100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368526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673548956"/>
              </p:ext>
            </p:extLst>
          </p:nvPr>
        </p:nvGraphicFramePr>
        <p:xfrm>
          <a:off x="395536" y="267493"/>
          <a:ext cx="4032448" cy="4536506"/>
        </p:xfrm>
        <a:graphic>
          <a:graphicData uri="http://schemas.openxmlformats.org/drawingml/2006/table">
            <a:tbl>
              <a:tblPr firstRow="1" bandRow="1">
                <a:tableStyleId>{5940675A-B579-460E-94D1-54222C63F5DA}</a:tableStyleId>
              </a:tblPr>
              <a:tblGrid>
                <a:gridCol w="288032">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tblGrid>
              <a:tr h="427871">
                <a:tc>
                  <a:txBody>
                    <a:bodyPr/>
                    <a:lstStyle/>
                    <a:p>
                      <a:pPr algn="ctr" latinLnBrk="1"/>
                      <a:endParaRPr lang="ko-KR" altLang="en-US" dirty="0">
                        <a:latin typeface="+mn-lt"/>
                      </a:endParaRPr>
                    </a:p>
                  </a:txBody>
                  <a:tcPr>
                    <a:lnL w="28575"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484837">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2400" b="1" dirty="0">
                          <a:solidFill>
                            <a:schemeClr val="bg1"/>
                          </a:solidFill>
                          <a:latin typeface="+mn-lt"/>
                          <a:cs typeface="Arial" pitchFamily="34" charset="0"/>
                        </a:rPr>
                        <a:t>Problems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156343">
                <a:tc>
                  <a:txBody>
                    <a:bodyPr/>
                    <a:lstStyle/>
                    <a:p>
                      <a:pPr>
                        <a:lnSpc>
                          <a:spcPct val="0"/>
                        </a:lnSpc>
                      </a:pPr>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3072948">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lvl="0" indent="0" algn="just">
                        <a:buNone/>
                      </a:pPr>
                      <a:r>
                        <a:rPr lang="en-US" sz="1600" dirty="0"/>
                        <a:t>A problem could be something you are experiencing personally. Or it could be a problem you observe others experiencing</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3"/>
                  </a:ext>
                </a:extLst>
              </a:tr>
              <a:tr h="394507">
                <a:tc>
                  <a:txBody>
                    <a:bodyPr/>
                    <a:lstStyle/>
                    <a:p>
                      <a:pPr>
                        <a:lnSpc>
                          <a:spcPct val="0"/>
                        </a:lnSpc>
                      </a:pPr>
                      <a:endParaRPr lang="ko-KR" altLang="en-US" kern="100" spc="0" baseline="0"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1699099315"/>
              </p:ext>
            </p:extLst>
          </p:nvPr>
        </p:nvGraphicFramePr>
        <p:xfrm>
          <a:off x="4716016" y="267495"/>
          <a:ext cx="4032448" cy="4536504"/>
        </p:xfrm>
        <a:graphic>
          <a:graphicData uri="http://schemas.openxmlformats.org/drawingml/2006/table">
            <a:tbl>
              <a:tblPr firstRow="1" bandRow="1">
                <a:tableStyleId>{5940675A-B579-460E-94D1-54222C63F5DA}</a:tableStyleId>
              </a:tblPr>
              <a:tblGrid>
                <a:gridCol w="288032">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tblGrid>
              <a:tr h="369755">
                <a:tc>
                  <a:txBody>
                    <a:bodyPr/>
                    <a:lstStyle/>
                    <a:p>
                      <a:pPr algn="ctr" latinLnBrk="1"/>
                      <a:endParaRPr lang="ko-KR" altLang="en-US" dirty="0">
                        <a:latin typeface="+mn-lt"/>
                      </a:endParaRPr>
                    </a:p>
                  </a:txBody>
                  <a:tcPr>
                    <a:lnL w="28575"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585146">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2400" b="1" dirty="0">
                          <a:solidFill>
                            <a:schemeClr val="bg1"/>
                          </a:solidFill>
                          <a:latin typeface="+mn-lt"/>
                          <a:cs typeface="Arial" pitchFamily="34" charset="0"/>
                        </a:rPr>
                        <a:t>Changes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118116">
                <a:tc>
                  <a:txBody>
                    <a:bodyPr/>
                    <a:lstStyle/>
                    <a:p>
                      <a:pPr>
                        <a:lnSpc>
                          <a:spcPct val="0"/>
                        </a:lnSpc>
                      </a:pPr>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3296980">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sz="1600" dirty="0"/>
                        <a:t>Change often produces needs or wants that no one is currently supplying. Consider climate change and the trend toward taking better care of the environment. Many new business opportunities have occurred because people are interested in purchasing “green” products and services.</a:t>
                      </a:r>
                    </a:p>
                    <a:p>
                      <a:pPr marL="0" lvl="0" indent="0" algn="just">
                        <a:buNone/>
                      </a:pPr>
                      <a:r>
                        <a:rPr lang="en-US" sz="1600" dirty="0"/>
                        <a:t>A problem could be something you are experiencing personally. Or it could be a problem you observe others experiencing</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3"/>
                  </a:ext>
                </a:extLst>
              </a:tr>
              <a:tr h="166507">
                <a:tc>
                  <a:txBody>
                    <a:bodyPr/>
                    <a:lstStyle/>
                    <a:p>
                      <a:pPr>
                        <a:lnSpc>
                          <a:spcPct val="0"/>
                        </a:lnSpc>
                      </a:pPr>
                      <a:endParaRPr lang="ko-KR" altLang="en-US" kern="100" spc="0" baseline="0"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3964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753153051"/>
              </p:ext>
            </p:extLst>
          </p:nvPr>
        </p:nvGraphicFramePr>
        <p:xfrm>
          <a:off x="395536" y="267493"/>
          <a:ext cx="4032448" cy="4536506"/>
        </p:xfrm>
        <a:graphic>
          <a:graphicData uri="http://schemas.openxmlformats.org/drawingml/2006/table">
            <a:tbl>
              <a:tblPr firstRow="1" bandRow="1">
                <a:tableStyleId>{5940675A-B579-460E-94D1-54222C63F5DA}</a:tableStyleId>
              </a:tblPr>
              <a:tblGrid>
                <a:gridCol w="288032">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tblGrid>
              <a:tr h="427871">
                <a:tc>
                  <a:txBody>
                    <a:bodyPr/>
                    <a:lstStyle/>
                    <a:p>
                      <a:pPr algn="ctr" latinLnBrk="1"/>
                      <a:endParaRPr lang="ko-KR" altLang="en-US" dirty="0">
                        <a:latin typeface="+mn-lt"/>
                      </a:endParaRPr>
                    </a:p>
                  </a:txBody>
                  <a:tcPr>
                    <a:lnL w="28575"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484837">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2400" b="1" dirty="0">
                          <a:solidFill>
                            <a:schemeClr val="bg1"/>
                          </a:solidFill>
                          <a:latin typeface="+mn-lt"/>
                          <a:cs typeface="Arial" pitchFamily="34" charset="0"/>
                        </a:rPr>
                        <a:t>New Discoveries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156343">
                <a:tc>
                  <a:txBody>
                    <a:bodyPr/>
                    <a:lstStyle/>
                    <a:p>
                      <a:pPr>
                        <a:lnSpc>
                          <a:spcPct val="0"/>
                        </a:lnSpc>
                      </a:pPr>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3072948">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indent="0" algn="just">
                        <a:buNone/>
                      </a:pPr>
                      <a:r>
                        <a:rPr lang="en-US" sz="1600" dirty="0"/>
                        <a:t>For example, someone who has an enjoyable hobby can discover something recognizable as a business opportunity. Inventions also come about because someone wanted to find a way to solve a problem. Other examples include changes in technology or medical and technological discoveries that entrepreneurs find ways to convert into products and services.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3"/>
                  </a:ext>
                </a:extLst>
              </a:tr>
              <a:tr h="394507">
                <a:tc>
                  <a:txBody>
                    <a:bodyPr/>
                    <a:lstStyle/>
                    <a:p>
                      <a:pPr>
                        <a:lnSpc>
                          <a:spcPct val="0"/>
                        </a:lnSpc>
                      </a:pPr>
                      <a:endParaRPr lang="ko-KR" altLang="en-US" kern="100" spc="0" baseline="0"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634750856"/>
              </p:ext>
            </p:extLst>
          </p:nvPr>
        </p:nvGraphicFramePr>
        <p:xfrm>
          <a:off x="4716016" y="267495"/>
          <a:ext cx="4032448" cy="4536504"/>
        </p:xfrm>
        <a:graphic>
          <a:graphicData uri="http://schemas.openxmlformats.org/drawingml/2006/table">
            <a:tbl>
              <a:tblPr firstRow="1" bandRow="1">
                <a:tableStyleId>{5940675A-B579-460E-94D1-54222C63F5DA}</a:tableStyleId>
              </a:tblPr>
              <a:tblGrid>
                <a:gridCol w="288032">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tblGrid>
              <a:tr h="369755">
                <a:tc>
                  <a:txBody>
                    <a:bodyPr/>
                    <a:lstStyle/>
                    <a:p>
                      <a:pPr algn="ctr" latinLnBrk="1"/>
                      <a:endParaRPr lang="ko-KR" altLang="en-US" dirty="0">
                        <a:latin typeface="+mn-lt"/>
                      </a:endParaRPr>
                    </a:p>
                  </a:txBody>
                  <a:tcPr>
                    <a:lnL w="28575"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585146">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1600" b="1" dirty="0">
                          <a:solidFill>
                            <a:schemeClr val="bg1"/>
                          </a:solidFill>
                          <a:latin typeface="+mn-lt"/>
                          <a:cs typeface="Arial" pitchFamily="34" charset="0"/>
                        </a:rPr>
                        <a:t>Existing Products and Services</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118116">
                <a:tc>
                  <a:txBody>
                    <a:bodyPr/>
                    <a:lstStyle/>
                    <a:p>
                      <a:pPr>
                        <a:lnSpc>
                          <a:spcPct val="0"/>
                        </a:lnSpc>
                      </a:pPr>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3296980">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indent="0" algn="just">
                        <a:buNone/>
                      </a:pPr>
                      <a:r>
                        <a:rPr lang="en-US" sz="1600" dirty="0"/>
                        <a:t>This is </a:t>
                      </a:r>
                      <a:r>
                        <a:rPr lang="en-US" sz="1600" i="1" dirty="0"/>
                        <a:t>not </a:t>
                      </a:r>
                      <a:r>
                        <a:rPr lang="en-US" sz="1600" dirty="0"/>
                        <a:t>the same thing as copying a product or service and then calling it by another name (which can be illegal). Instead, it means looking for ways to significantly improve a product, perhaps at a lower price. It could also involve improving the quality and manner in which customers are served—including such features as better locations, longer hours, or quicker service.</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3"/>
                  </a:ext>
                </a:extLst>
              </a:tr>
              <a:tr h="166507">
                <a:tc>
                  <a:txBody>
                    <a:bodyPr/>
                    <a:lstStyle/>
                    <a:p>
                      <a:pPr>
                        <a:lnSpc>
                          <a:spcPct val="0"/>
                        </a:lnSpc>
                      </a:pPr>
                      <a:endParaRPr lang="ko-KR" altLang="en-US" kern="100" spc="0" baseline="0"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42878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10847367"/>
              </p:ext>
            </p:extLst>
          </p:nvPr>
        </p:nvGraphicFramePr>
        <p:xfrm>
          <a:off x="2627784" y="339502"/>
          <a:ext cx="4032448" cy="4536504"/>
        </p:xfrm>
        <a:graphic>
          <a:graphicData uri="http://schemas.openxmlformats.org/drawingml/2006/table">
            <a:tbl>
              <a:tblPr firstRow="1" bandRow="1">
                <a:tableStyleId>{5940675A-B579-460E-94D1-54222C63F5DA}</a:tableStyleId>
              </a:tblPr>
              <a:tblGrid>
                <a:gridCol w="288032">
                  <a:extLst>
                    <a:ext uri="{9D8B030D-6E8A-4147-A177-3AD203B41FA5}">
                      <a16:colId xmlns:a16="http://schemas.microsoft.com/office/drawing/2014/main" val="20000"/>
                    </a:ext>
                  </a:extLst>
                </a:gridCol>
                <a:gridCol w="3456384">
                  <a:extLst>
                    <a:ext uri="{9D8B030D-6E8A-4147-A177-3AD203B41FA5}">
                      <a16:colId xmlns:a16="http://schemas.microsoft.com/office/drawing/2014/main" val="20001"/>
                    </a:ext>
                  </a:extLst>
                </a:gridCol>
                <a:gridCol w="288032">
                  <a:extLst>
                    <a:ext uri="{9D8B030D-6E8A-4147-A177-3AD203B41FA5}">
                      <a16:colId xmlns:a16="http://schemas.microsoft.com/office/drawing/2014/main" val="20002"/>
                    </a:ext>
                  </a:extLst>
                </a:gridCol>
              </a:tblGrid>
              <a:tr h="369755">
                <a:tc>
                  <a:txBody>
                    <a:bodyPr/>
                    <a:lstStyle/>
                    <a:p>
                      <a:pPr algn="ctr" latinLnBrk="1"/>
                      <a:endParaRPr lang="ko-KR" altLang="en-US" dirty="0">
                        <a:latin typeface="+mn-lt"/>
                      </a:endParaRPr>
                    </a:p>
                  </a:txBody>
                  <a:tcPr>
                    <a:lnL w="28575"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19050"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tc>
                  <a:txBody>
                    <a:bodyPr/>
                    <a:lstStyle/>
                    <a:p>
                      <a:pPr algn="ctr" latinLnBrk="1"/>
                      <a:endParaRPr lang="ko-KR" altLang="en-US" dirty="0">
                        <a:latin typeface="+mn-lt"/>
                      </a:endParaRPr>
                    </a:p>
                  </a:txBody>
                  <a:tcPr>
                    <a:lnL w="19050"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0"/>
                  </a:ext>
                </a:extLst>
              </a:tr>
              <a:tr h="585146">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en-US" altLang="ko-KR" sz="2400" b="1" dirty="0">
                          <a:solidFill>
                            <a:schemeClr val="bg1"/>
                          </a:solidFill>
                          <a:latin typeface="+mn-lt"/>
                          <a:cs typeface="Arial" pitchFamily="34" charset="0"/>
                        </a:rPr>
                        <a:t>Unique Knowledge</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1"/>
                  </a:ext>
                </a:extLst>
              </a:tr>
              <a:tr h="118116">
                <a:tc>
                  <a:txBody>
                    <a:bodyPr/>
                    <a:lstStyle/>
                    <a:p>
                      <a:pPr>
                        <a:lnSpc>
                          <a:spcPct val="0"/>
                        </a:lnSpc>
                      </a:pPr>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tx1">
                            <a:lumMod val="75000"/>
                            <a:lumOff val="25000"/>
                          </a:schemeClr>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2"/>
                  </a:ext>
                </a:extLst>
              </a:tr>
              <a:tr h="3296980">
                <a:tc>
                  <a:txBody>
                    <a:bodyPr/>
                    <a:lstStyle/>
                    <a:p>
                      <a:endParaRPr lang="ko-KR" altLang="en-US"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indent="0" algn="just">
                        <a:buNone/>
                      </a:pPr>
                      <a:r>
                        <a:rPr lang="en-US" sz="1600" dirty="0"/>
                        <a:t>Entrepreneurs sometimes turn one-of-a-kind experiences or uncommon knowledge into a product or service that benefits others. Think about your own knowledge and experiences. Is there anything unique or unusual that you could use to create. </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en-US" altLang="ko-KR" sz="1200" b="1"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3"/>
                  </a:ext>
                </a:extLst>
              </a:tr>
              <a:tr h="166507">
                <a:tc>
                  <a:txBody>
                    <a:bodyPr/>
                    <a:lstStyle/>
                    <a:p>
                      <a:pPr>
                        <a:lnSpc>
                          <a:spcPct val="0"/>
                        </a:lnSpc>
                      </a:pPr>
                      <a:endParaRPr lang="ko-KR" altLang="en-US" kern="100" spc="0" baseline="0" dirty="0">
                        <a:latin typeface="+mn-lt"/>
                      </a:endParaRPr>
                    </a:p>
                  </a:txBody>
                  <a:tcPr anchor="ctr">
                    <a:lnL w="28575"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marL="0" marR="0" indent="0" algn="l" defTabSz="914400" rtl="0" eaLnBrk="1" fontAlgn="auto" latinLnBrk="1" hangingPunct="1">
                        <a:lnSpc>
                          <a:spcPct val="0"/>
                        </a:lnSpc>
                        <a:spcBef>
                          <a:spcPts val="0"/>
                        </a:spcBef>
                        <a:spcAft>
                          <a:spcPts val="0"/>
                        </a:spcAft>
                        <a:buClrTx/>
                        <a:buSzTx/>
                        <a:buFontTx/>
                        <a:buNone/>
                        <a:tabLst/>
                        <a:defRPr/>
                      </a:pPr>
                      <a:endParaRPr lang="en-US" altLang="ko-KR" sz="1200" b="1" kern="100" spc="0" baseline="0" dirty="0">
                        <a:solidFill>
                          <a:schemeClr val="bg1"/>
                        </a:solidFill>
                        <a:latin typeface="+mn-lt"/>
                        <a:cs typeface="Arial" pitchFamily="34" charset="0"/>
                      </a:endParaRPr>
                    </a:p>
                  </a:txBody>
                  <a:tcPr anchor="ctr">
                    <a:lnL w="19050" cap="flat" cmpd="sng" algn="ctr">
                      <a:noFill/>
                      <a:prstDash val="solid"/>
                      <a:round/>
                      <a:headEnd type="none" w="med" len="med"/>
                      <a:tailEnd type="none" w="med" len="med"/>
                    </a:lnL>
                    <a:lnR w="28575" cap="flat" cmpd="sng" algn="ctr">
                      <a:noFill/>
                      <a:prstDash val="solid"/>
                      <a:round/>
                      <a:headEnd type="none" w="med" len="med"/>
                      <a:tailEnd type="none" w="med" len="med"/>
                    </a:lnR>
                    <a:lnT w="1905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92D050"/>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45275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3854258" y="1770622"/>
            <a:ext cx="3332582" cy="2999495"/>
            <a:chOff x="3203848" y="1779662"/>
            <a:chExt cx="3332582" cy="2999495"/>
          </a:xfrm>
          <a:solidFill>
            <a:schemeClr val="tx1">
              <a:lumMod val="75000"/>
              <a:lumOff val="25000"/>
            </a:schemeClr>
          </a:solidFill>
        </p:grpSpPr>
        <p:sp>
          <p:nvSpPr>
            <p:cNvPr id="86" name="Rectangle 85"/>
            <p:cNvSpPr/>
            <p:nvPr/>
          </p:nvSpPr>
          <p:spPr>
            <a:xfrm>
              <a:off x="3203848" y="1779662"/>
              <a:ext cx="108000" cy="2773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7" name="Block Arc 86"/>
            <p:cNvSpPr/>
            <p:nvPr/>
          </p:nvSpPr>
          <p:spPr>
            <a:xfrm>
              <a:off x="320384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8" name="Rectangle 87"/>
            <p:cNvSpPr/>
            <p:nvPr/>
          </p:nvSpPr>
          <p:spPr>
            <a:xfrm>
              <a:off x="3425216" y="4671157"/>
              <a:ext cx="2916000" cy="10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9" name="Block Arc 88"/>
            <p:cNvSpPr/>
            <p:nvPr/>
          </p:nvSpPr>
          <p:spPr>
            <a:xfrm rot="16200000">
              <a:off x="608416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0" name="Rectangle 89"/>
            <p:cNvSpPr/>
            <p:nvPr/>
          </p:nvSpPr>
          <p:spPr>
            <a:xfrm>
              <a:off x="6428430" y="3989950"/>
              <a:ext cx="108000" cy="57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09" name="Group 108"/>
          <p:cNvGrpSpPr/>
          <p:nvPr/>
        </p:nvGrpSpPr>
        <p:grpSpPr>
          <a:xfrm>
            <a:off x="5767918" y="1056963"/>
            <a:ext cx="2758049" cy="2928608"/>
            <a:chOff x="4848046" y="3681671"/>
            <a:chExt cx="2758049" cy="2928608"/>
          </a:xfrm>
        </p:grpSpPr>
        <p:sp>
          <p:nvSpPr>
            <p:cNvPr id="110" name="Teardrop 30"/>
            <p:cNvSpPr/>
            <p:nvPr/>
          </p:nvSpPr>
          <p:spPr>
            <a:xfrm rot="8100000">
              <a:off x="5417737" y="4225696"/>
              <a:ext cx="1602534" cy="1602536"/>
            </a:xfrm>
            <a:custGeom>
              <a:avLst/>
              <a:gdLst>
                <a:gd name="connsiteX0" fmla="*/ 293361 w 2192670"/>
                <a:gd name="connsiteY0" fmla="*/ 1899310 h 2192671"/>
                <a:gd name="connsiteX1" fmla="*/ 0 w 2192670"/>
                <a:gd name="connsiteY1" fmla="*/ 1191074 h 2192671"/>
                <a:gd name="connsiteX2" fmla="*/ 1001597 w 2192670"/>
                <a:gd name="connsiteY2" fmla="*/ 189477 h 2192671"/>
                <a:gd name="connsiteX3" fmla="*/ 1341342 w 2192670"/>
                <a:gd name="connsiteY3" fmla="*/ 189477 h 2192671"/>
                <a:gd name="connsiteX4" fmla="*/ 1530818 w 2192670"/>
                <a:gd name="connsiteY4" fmla="*/ 0 h 2192671"/>
                <a:gd name="connsiteX5" fmla="*/ 1806586 w 2192670"/>
                <a:gd name="connsiteY5" fmla="*/ 0 h 2192671"/>
                <a:gd name="connsiteX6" fmla="*/ 1996062 w 2192670"/>
                <a:gd name="connsiteY6" fmla="*/ 189477 h 2192671"/>
                <a:gd name="connsiteX7" fmla="*/ 2003194 w 2192670"/>
                <a:gd name="connsiteY7" fmla="*/ 189477 h 2192671"/>
                <a:gd name="connsiteX8" fmla="*/ 2003194 w 2192670"/>
                <a:gd name="connsiteY8" fmla="*/ 196609 h 2192671"/>
                <a:gd name="connsiteX9" fmla="*/ 2192670 w 2192670"/>
                <a:gd name="connsiteY9" fmla="*/ 386085 h 2192671"/>
                <a:gd name="connsiteX10" fmla="*/ 2192670 w 2192670"/>
                <a:gd name="connsiteY10" fmla="*/ 661852 h 2192671"/>
                <a:gd name="connsiteX11" fmla="*/ 2003193 w 2192670"/>
                <a:gd name="connsiteY11" fmla="*/ 851329 h 2192671"/>
                <a:gd name="connsiteX12" fmla="*/ 2003194 w 2192670"/>
                <a:gd name="connsiteY12" fmla="*/ 1191074 h 2192671"/>
                <a:gd name="connsiteX13" fmla="*/ 1001597 w 2192670"/>
                <a:gd name="connsiteY13" fmla="*/ 2192671 h 2192671"/>
                <a:gd name="connsiteX14" fmla="*/ 293361 w 2192670"/>
                <a:gd name="connsiteY14" fmla="*/ 1899310 h 21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2670" h="2192671">
                  <a:moveTo>
                    <a:pt x="293361" y="1899310"/>
                  </a:moveTo>
                  <a:cubicBezTo>
                    <a:pt x="112107" y="1718057"/>
                    <a:pt x="0" y="1467657"/>
                    <a:pt x="0" y="1191074"/>
                  </a:cubicBezTo>
                  <a:cubicBezTo>
                    <a:pt x="0" y="637907"/>
                    <a:pt x="448430" y="189477"/>
                    <a:pt x="1001597" y="189477"/>
                  </a:cubicBezTo>
                  <a:lnTo>
                    <a:pt x="1341342" y="189477"/>
                  </a:lnTo>
                  <a:lnTo>
                    <a:pt x="1530818" y="0"/>
                  </a:lnTo>
                  <a:cubicBezTo>
                    <a:pt x="1606970" y="-76151"/>
                    <a:pt x="1730435" y="-76151"/>
                    <a:pt x="1806586" y="0"/>
                  </a:cubicBezTo>
                  <a:lnTo>
                    <a:pt x="1996062" y="189477"/>
                  </a:lnTo>
                  <a:lnTo>
                    <a:pt x="2003194" y="189477"/>
                  </a:lnTo>
                  <a:lnTo>
                    <a:pt x="2003194" y="196609"/>
                  </a:lnTo>
                  <a:lnTo>
                    <a:pt x="2192670" y="386085"/>
                  </a:lnTo>
                  <a:cubicBezTo>
                    <a:pt x="2268822" y="462236"/>
                    <a:pt x="2268822" y="585701"/>
                    <a:pt x="2192670" y="661852"/>
                  </a:cubicBezTo>
                  <a:lnTo>
                    <a:pt x="2003193" y="851329"/>
                  </a:lnTo>
                  <a:cubicBezTo>
                    <a:pt x="2003193" y="964577"/>
                    <a:pt x="2003194" y="1077826"/>
                    <a:pt x="2003194" y="1191074"/>
                  </a:cubicBezTo>
                  <a:cubicBezTo>
                    <a:pt x="2003194" y="1744241"/>
                    <a:pt x="1554764" y="2192671"/>
                    <a:pt x="1001597" y="2192671"/>
                  </a:cubicBezTo>
                  <a:cubicBezTo>
                    <a:pt x="725014" y="2192671"/>
                    <a:pt x="474614" y="2080563"/>
                    <a:pt x="293361" y="1899310"/>
                  </a:cubicBezTo>
                  <a:close/>
                </a:path>
              </a:pathLst>
            </a:custGeom>
            <a:solidFill>
              <a:schemeClr val="bg1"/>
            </a:solidFill>
            <a:ln w="698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Rounded Rectangle 110"/>
            <p:cNvSpPr/>
            <p:nvPr/>
          </p:nvSpPr>
          <p:spPr>
            <a:xfrm>
              <a:off x="5903273" y="6071006"/>
              <a:ext cx="631463"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Rounded Rectangle 111"/>
            <p:cNvSpPr/>
            <p:nvPr/>
          </p:nvSpPr>
          <p:spPr>
            <a:xfrm>
              <a:off x="5929584" y="6274865"/>
              <a:ext cx="578841"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Rounded Rectangle 112"/>
            <p:cNvSpPr/>
            <p:nvPr/>
          </p:nvSpPr>
          <p:spPr>
            <a:xfrm>
              <a:off x="5982205" y="6478724"/>
              <a:ext cx="473597"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Rounded Rectangle 113"/>
            <p:cNvSpPr/>
            <p:nvPr/>
          </p:nvSpPr>
          <p:spPr>
            <a:xfrm rot="2700000">
              <a:off x="7086448"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5" name="Rounded Rectangle 114"/>
            <p:cNvSpPr/>
            <p:nvPr/>
          </p:nvSpPr>
          <p:spPr>
            <a:xfrm rot="18900000" flipH="1">
              <a:off x="5218102"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6" name="Rounded Rectangle 115"/>
            <p:cNvSpPr/>
            <p:nvPr/>
          </p:nvSpPr>
          <p:spPr>
            <a:xfrm>
              <a:off x="6155070" y="3681671"/>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7" name="Rounded Rectangle 116"/>
            <p:cNvSpPr/>
            <p:nvPr/>
          </p:nvSpPr>
          <p:spPr>
            <a:xfrm rot="5400000">
              <a:off x="7354095" y="4745637"/>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8" name="Rounded Rectangle 117"/>
            <p:cNvSpPr/>
            <p:nvPr/>
          </p:nvSpPr>
          <p:spPr>
            <a:xfrm rot="16200000" flipH="1">
              <a:off x="4956046" y="4745638"/>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6" name="TextBox 5"/>
          <p:cNvSpPr txBox="1"/>
          <p:nvPr/>
        </p:nvSpPr>
        <p:spPr>
          <a:xfrm>
            <a:off x="299022" y="576594"/>
            <a:ext cx="5754193" cy="923330"/>
          </a:xfrm>
          <a:prstGeom prst="rect">
            <a:avLst/>
          </a:prstGeom>
          <a:noFill/>
        </p:spPr>
        <p:txBody>
          <a:bodyPr wrap="square" rtlCol="0">
            <a:spAutoFit/>
          </a:bodyPr>
          <a:lstStyle/>
          <a:p>
            <a:r>
              <a:rPr lang="en-US" sz="5400" b="1" dirty="0">
                <a:solidFill>
                  <a:schemeClr val="bg1"/>
                </a:solidFill>
              </a:rPr>
              <a:t>Business Model</a:t>
            </a:r>
          </a:p>
        </p:txBody>
      </p:sp>
    </p:spTree>
    <p:extLst>
      <p:ext uri="{BB962C8B-B14F-4D97-AF65-F5344CB8AC3E}">
        <p14:creationId xmlns:p14="http://schemas.microsoft.com/office/powerpoint/2010/main" val="2455110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67544" y="699542"/>
            <a:ext cx="8136904" cy="3785652"/>
          </a:xfrm>
          <a:prstGeom prst="rect">
            <a:avLst/>
          </a:prstGeom>
          <a:noFill/>
        </p:spPr>
        <p:txBody>
          <a:bodyPr wrap="square" rtlCol="0">
            <a:spAutoFit/>
          </a:bodyPr>
          <a:lstStyle/>
          <a:p>
            <a:pPr algn="just" fontAlgn="base"/>
            <a:r>
              <a:rPr lang="en-US" sz="2000" b="1" dirty="0"/>
              <a:t>A Business Model is a conceptual structure that supports the viability of a product or company and explains how the company operates, makes money, and how it intends to achieve its goals. All the business processes and policies that a company adopts and follows are part of the business model.</a:t>
            </a:r>
          </a:p>
          <a:p>
            <a:pPr algn="just" fontAlgn="base"/>
            <a:endParaRPr lang="en-US" sz="2000" b="1" dirty="0"/>
          </a:p>
          <a:p>
            <a:pPr algn="just" fontAlgn="base"/>
            <a:r>
              <a:rPr lang="en-US" sz="2000" b="1" dirty="0">
                <a:solidFill>
                  <a:srgbClr val="92D050"/>
                </a:solidFill>
              </a:rPr>
              <a:t>According to management guru Peter Drucker:</a:t>
            </a:r>
          </a:p>
          <a:p>
            <a:pPr algn="just" fontAlgn="base"/>
            <a:endParaRPr lang="en-US" sz="2000" b="1" dirty="0">
              <a:solidFill>
                <a:schemeClr val="bg1"/>
              </a:solidFill>
            </a:endParaRPr>
          </a:p>
          <a:p>
            <a:pPr algn="just" fontAlgn="base"/>
            <a:r>
              <a:rPr lang="en-US" sz="2000" b="1" dirty="0">
                <a:solidFill>
                  <a:schemeClr val="bg1"/>
                </a:solidFill>
              </a:rPr>
              <a:t>“a business model is supposed to answer who your customer is, what value you can create/add for the customer and how you can do that at reasonable costs.”</a:t>
            </a:r>
          </a:p>
          <a:p>
            <a:endParaRPr lang="en-US" sz="2000" b="1" dirty="0">
              <a:solidFill>
                <a:schemeClr val="bg1"/>
              </a:solidFill>
            </a:endParaRPr>
          </a:p>
        </p:txBody>
      </p:sp>
    </p:spTree>
    <p:extLst>
      <p:ext uri="{BB962C8B-B14F-4D97-AF65-F5344CB8AC3E}">
        <p14:creationId xmlns:p14="http://schemas.microsoft.com/office/powerpoint/2010/main" val="1854484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07250"/>
            <a:ext cx="9144000" cy="314781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Frame 10"/>
          <p:cNvSpPr/>
          <p:nvPr/>
        </p:nvSpPr>
        <p:spPr>
          <a:xfrm>
            <a:off x="224644" y="188136"/>
            <a:ext cx="8694712" cy="2700301"/>
          </a:xfrm>
          <a:prstGeom prst="frame">
            <a:avLst>
              <a:gd name="adj1" fmla="val 1002"/>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 name="TextBox 3"/>
          <p:cNvSpPr txBox="1"/>
          <p:nvPr/>
        </p:nvSpPr>
        <p:spPr>
          <a:xfrm>
            <a:off x="647564" y="1491630"/>
            <a:ext cx="7848872" cy="830997"/>
          </a:xfrm>
          <a:prstGeom prst="rect">
            <a:avLst/>
          </a:prstGeom>
          <a:noFill/>
        </p:spPr>
        <p:txBody>
          <a:bodyPr wrap="square" rtlCol="0">
            <a:spAutoFit/>
          </a:bodyPr>
          <a:lstStyle/>
          <a:p>
            <a:r>
              <a:rPr lang="en-US" sz="4800" b="1" dirty="0">
                <a:solidFill>
                  <a:srgbClr val="92D050"/>
                </a:solidFill>
              </a:rPr>
              <a:t>Types of Business Models</a:t>
            </a:r>
            <a:endParaRPr lang="en-US" sz="4800" dirty="0">
              <a:solidFill>
                <a:srgbClr val="92D050"/>
              </a:solidFill>
            </a:endParaRPr>
          </a:p>
        </p:txBody>
      </p:sp>
    </p:spTree>
    <p:extLst>
      <p:ext uri="{BB962C8B-B14F-4D97-AF65-F5344CB8AC3E}">
        <p14:creationId xmlns:p14="http://schemas.microsoft.com/office/powerpoint/2010/main" val="2534820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540" y="627534"/>
            <a:ext cx="8280920" cy="1723549"/>
          </a:xfrm>
          <a:prstGeom prst="rect">
            <a:avLst/>
          </a:prstGeom>
          <a:noFill/>
        </p:spPr>
        <p:txBody>
          <a:bodyPr wrap="square" rtlCol="0">
            <a:spAutoFit/>
          </a:bodyPr>
          <a:lstStyle/>
          <a:p>
            <a:pPr algn="justLow" fontAlgn="base"/>
            <a:r>
              <a:rPr lang="en-US" sz="2400" b="1" i="1" dirty="0"/>
              <a:t>Manufacturer:</a:t>
            </a:r>
          </a:p>
          <a:p>
            <a:pPr algn="justLow" fontAlgn="base"/>
            <a:r>
              <a:rPr lang="en-US" sz="2000" dirty="0">
                <a:solidFill>
                  <a:schemeClr val="bg1"/>
                </a:solidFill>
              </a:rPr>
              <a:t>A manufacturer makes finished products from raw materials. It may sell directly to the customers or sell it to a middleman </a:t>
            </a:r>
            <a:r>
              <a:rPr lang="en-US" sz="2000" dirty="0" err="1">
                <a:solidFill>
                  <a:schemeClr val="bg1"/>
                </a:solidFill>
              </a:rPr>
              <a:t>i.e</a:t>
            </a:r>
            <a:r>
              <a:rPr lang="en-US" sz="2000" dirty="0">
                <a:solidFill>
                  <a:schemeClr val="bg1"/>
                </a:solidFill>
              </a:rPr>
              <a:t> another business that sells it finally to the customer.  Ex: Ford, 3M, General Electric</a:t>
            </a:r>
            <a:r>
              <a:rPr lang="en-US" sz="2400" dirty="0">
                <a:solidFill>
                  <a:schemeClr val="bg1"/>
                </a:solidFill>
              </a:rPr>
              <a:t>.</a:t>
            </a:r>
          </a:p>
          <a:p>
            <a:pPr algn="justLow"/>
            <a:endParaRPr lang="en-US" dirty="0">
              <a:solidFill>
                <a:schemeClr val="bg1"/>
              </a:solidFill>
            </a:endParaRP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431540" y="3031854"/>
            <a:ext cx="8280920" cy="1569660"/>
          </a:xfrm>
          <a:prstGeom prst="rect">
            <a:avLst/>
          </a:prstGeom>
          <a:noFill/>
        </p:spPr>
        <p:txBody>
          <a:bodyPr wrap="square" rtlCol="0">
            <a:spAutoFit/>
          </a:bodyPr>
          <a:lstStyle/>
          <a:p>
            <a:pPr algn="justLow" fontAlgn="base"/>
            <a:r>
              <a:rPr lang="en-US" sz="2400" b="1" i="1" dirty="0"/>
              <a:t>Distributor:</a:t>
            </a:r>
          </a:p>
          <a:p>
            <a:pPr algn="justLow" fontAlgn="base"/>
            <a:r>
              <a:rPr lang="en-US" sz="2400" b="1" dirty="0">
                <a:solidFill>
                  <a:schemeClr val="bg1"/>
                </a:solidFill>
              </a:rPr>
              <a:t>A distributor buys products from manufacturers and resells them to the retailers or the public. Ex: Auto Dealerships.</a:t>
            </a:r>
          </a:p>
        </p:txBody>
      </p:sp>
    </p:spTree>
    <p:extLst>
      <p:ext uri="{BB962C8B-B14F-4D97-AF65-F5344CB8AC3E}">
        <p14:creationId xmlns:p14="http://schemas.microsoft.com/office/powerpoint/2010/main" val="3468283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1540" y="521260"/>
            <a:ext cx="8280920" cy="1846659"/>
          </a:xfrm>
          <a:prstGeom prst="rect">
            <a:avLst/>
          </a:prstGeom>
          <a:noFill/>
        </p:spPr>
        <p:txBody>
          <a:bodyPr wrap="square" rtlCol="0">
            <a:spAutoFit/>
          </a:bodyPr>
          <a:lstStyle/>
          <a:p>
            <a:pPr algn="justLow" fontAlgn="base"/>
            <a:r>
              <a:rPr lang="en-US" sz="2400" b="1" i="1" dirty="0"/>
              <a:t>Retailer:</a:t>
            </a:r>
          </a:p>
          <a:p>
            <a:pPr algn="justLow" fontAlgn="base"/>
            <a:r>
              <a:rPr lang="en-US" sz="2400" b="1" dirty="0">
                <a:solidFill>
                  <a:schemeClr val="bg1"/>
                </a:solidFill>
              </a:rPr>
              <a:t>A retailer sells directly to the public after purchasing the products from a distributor or wholesaler. Ex: Amazon, Tesco.</a:t>
            </a:r>
          </a:p>
          <a:p>
            <a:pPr algn="justLow"/>
            <a:endParaRPr lang="en-US" dirty="0">
              <a:solidFill>
                <a:schemeClr val="bg1"/>
              </a:solidFill>
            </a:endParaRP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431540" y="2859782"/>
            <a:ext cx="8280920" cy="1938992"/>
          </a:xfrm>
          <a:prstGeom prst="rect">
            <a:avLst/>
          </a:prstGeom>
          <a:noFill/>
        </p:spPr>
        <p:txBody>
          <a:bodyPr wrap="square" rtlCol="0">
            <a:spAutoFit/>
          </a:bodyPr>
          <a:lstStyle/>
          <a:p>
            <a:pPr algn="justLow" fontAlgn="base"/>
            <a:r>
              <a:rPr lang="en-US" sz="2400" b="1" i="1" dirty="0"/>
              <a:t>Franchise:</a:t>
            </a:r>
          </a:p>
          <a:p>
            <a:pPr algn="justLow" fontAlgn="base"/>
            <a:r>
              <a:rPr lang="en-US" sz="2400" b="1" dirty="0">
                <a:solidFill>
                  <a:schemeClr val="bg1"/>
                </a:solidFill>
              </a:rPr>
              <a:t>A franchise can be a manufacturer, distributor or retailer. Instead of creating a new product, the franchisee uses the parent business’s model and brand while paying royalties to it. Ex: McDonald’s, Pizza Hut.</a:t>
            </a:r>
          </a:p>
        </p:txBody>
      </p:sp>
    </p:spTree>
    <p:extLst>
      <p:ext uri="{BB962C8B-B14F-4D97-AF65-F5344CB8AC3E}">
        <p14:creationId xmlns:p14="http://schemas.microsoft.com/office/powerpoint/2010/main" val="3397314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4890" y="411510"/>
            <a:ext cx="8280920" cy="4308872"/>
          </a:xfrm>
          <a:prstGeom prst="rect">
            <a:avLst/>
          </a:prstGeom>
          <a:noFill/>
        </p:spPr>
        <p:txBody>
          <a:bodyPr wrap="square" rtlCol="0">
            <a:spAutoFit/>
          </a:bodyPr>
          <a:lstStyle/>
          <a:p>
            <a:pPr algn="justLow" fontAlgn="base"/>
            <a:r>
              <a:rPr lang="en-US" sz="2400" b="1" i="1" dirty="0"/>
              <a:t>Brick-and-mortar</a:t>
            </a:r>
            <a:r>
              <a:rPr lang="en-US" sz="2400" b="1" i="1" dirty="0">
                <a:solidFill>
                  <a:schemeClr val="bg1"/>
                </a:solidFill>
              </a:rPr>
              <a:t>:</a:t>
            </a:r>
          </a:p>
          <a:p>
            <a:pPr algn="justLow" fontAlgn="base"/>
            <a:r>
              <a:rPr lang="en-US" sz="2400" b="1" dirty="0">
                <a:solidFill>
                  <a:schemeClr val="bg1"/>
                </a:solidFill>
              </a:rPr>
              <a:t>Brick-and-mortar is a traditional business model where the retailers, wholesalers, and manufacturers deal with the customers face-to-face in an office, a shop, or a store that the business owns or rents.</a:t>
            </a:r>
          </a:p>
          <a:p>
            <a:pPr algn="justLow" fontAlgn="base"/>
            <a:endParaRPr lang="en-US" sz="2400" b="1" dirty="0">
              <a:solidFill>
                <a:schemeClr val="bg1"/>
              </a:solidFill>
            </a:endParaRPr>
          </a:p>
          <a:p>
            <a:pPr algn="justLow"/>
            <a:endParaRPr lang="en-US" sz="2400" dirty="0"/>
          </a:p>
          <a:p>
            <a:pPr algn="justLow" fontAlgn="base"/>
            <a:r>
              <a:rPr lang="en-US" sz="2400" b="1" dirty="0" err="1">
                <a:solidFill>
                  <a:schemeClr val="bg1"/>
                </a:solidFill>
              </a:rPr>
              <a:t>nufacturer</a:t>
            </a:r>
            <a:r>
              <a:rPr lang="en-US" sz="2400" b="1" dirty="0">
                <a:solidFill>
                  <a:schemeClr val="bg1"/>
                </a:solidFill>
              </a:rPr>
              <a:t>:</a:t>
            </a:r>
          </a:p>
          <a:p>
            <a:pPr algn="justLow" fontAlgn="base"/>
            <a:r>
              <a:rPr lang="en-US" sz="2000" dirty="0">
                <a:solidFill>
                  <a:schemeClr val="bg1"/>
                </a:solidFill>
              </a:rPr>
              <a:t>A manufacturer makes finished products from raw materials. It may sell directly to the customers or sell it to a middleman </a:t>
            </a:r>
            <a:r>
              <a:rPr lang="en-US" sz="2000" dirty="0" err="1">
                <a:solidFill>
                  <a:schemeClr val="bg1"/>
                </a:solidFill>
              </a:rPr>
              <a:t>i.e</a:t>
            </a:r>
            <a:r>
              <a:rPr lang="en-US" sz="2000" dirty="0">
                <a:solidFill>
                  <a:schemeClr val="bg1"/>
                </a:solidFill>
              </a:rPr>
              <a:t> another business that sells it finally to the customer.  Ex: Ford, 3M, General Electric</a:t>
            </a:r>
            <a:r>
              <a:rPr lang="en-US" sz="2400" dirty="0">
                <a:solidFill>
                  <a:schemeClr val="bg1"/>
                </a:solidFill>
              </a:rPr>
              <a:t>.</a:t>
            </a:r>
          </a:p>
          <a:p>
            <a:pPr algn="justLow"/>
            <a:endParaRPr lang="en-US" dirty="0">
              <a:solidFill>
                <a:schemeClr val="bg1"/>
              </a:solidFill>
            </a:endParaRP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i="1" dirty="0">
              <a:solidFill>
                <a:schemeClr val="tx1"/>
              </a:solidFill>
            </a:endParaRPr>
          </a:p>
        </p:txBody>
      </p:sp>
      <p:sp>
        <p:nvSpPr>
          <p:cNvPr id="6" name="TextBox 5"/>
          <p:cNvSpPr txBox="1"/>
          <p:nvPr/>
        </p:nvSpPr>
        <p:spPr>
          <a:xfrm>
            <a:off x="404890" y="2931790"/>
            <a:ext cx="8280920" cy="2308324"/>
          </a:xfrm>
          <a:prstGeom prst="rect">
            <a:avLst/>
          </a:prstGeom>
          <a:noFill/>
        </p:spPr>
        <p:txBody>
          <a:bodyPr wrap="square" rtlCol="0">
            <a:spAutoFit/>
          </a:bodyPr>
          <a:lstStyle/>
          <a:p>
            <a:pPr algn="justLow" fontAlgn="base"/>
            <a:r>
              <a:rPr lang="en-US" sz="2400" b="1" i="1" dirty="0"/>
              <a:t>E-Commerce:</a:t>
            </a:r>
          </a:p>
          <a:p>
            <a:pPr algn="justLow" fontAlgn="base"/>
            <a:r>
              <a:rPr lang="en-US" sz="2400" b="1" dirty="0">
                <a:solidFill>
                  <a:schemeClr val="bg1"/>
                </a:solidFill>
              </a:rPr>
              <a:t>E-Commerce business model is an </a:t>
            </a:r>
            <a:r>
              <a:rPr lang="en-US" sz="2400" b="1" dirty="0" err="1">
                <a:solidFill>
                  <a:schemeClr val="bg1"/>
                </a:solidFill>
              </a:rPr>
              <a:t>upgradation</a:t>
            </a:r>
            <a:r>
              <a:rPr lang="en-US" sz="2400" b="1" dirty="0">
                <a:solidFill>
                  <a:schemeClr val="bg1"/>
                </a:solidFill>
              </a:rPr>
              <a:t> of the traditional brick-and-mortar business model. It focuses on selling products by creating a web-store on the internet.</a:t>
            </a:r>
          </a:p>
          <a:p>
            <a:pPr algn="justLow" fontAlgn="base"/>
            <a:endParaRPr lang="en-US" sz="2400" b="1" i="1" dirty="0">
              <a:solidFill>
                <a:schemeClr val="bg1"/>
              </a:solidFill>
            </a:endParaRPr>
          </a:p>
        </p:txBody>
      </p:sp>
    </p:spTree>
    <p:extLst>
      <p:ext uri="{BB962C8B-B14F-4D97-AF65-F5344CB8AC3E}">
        <p14:creationId xmlns:p14="http://schemas.microsoft.com/office/powerpoint/2010/main" val="4140200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1"/>
          </p:nvPr>
        </p:nvPicPr>
        <p:blipFill>
          <a:blip r:embed="rId2">
            <a:extLst>
              <a:ext uri="{28A0092B-C50C-407E-A947-70E740481C1C}">
                <a14:useLocalDpi xmlns:a14="http://schemas.microsoft.com/office/drawing/2010/main" val="0"/>
              </a:ext>
            </a:extLst>
          </a:blip>
          <a:srcRect l="5830" r="5830"/>
          <a:stretch>
            <a:fillRect/>
          </a:stretch>
        </p:blipFill>
        <p:spPr/>
      </p:pic>
      <p:sp>
        <p:nvSpPr>
          <p:cNvPr id="6" name="Frame 5"/>
          <p:cNvSpPr/>
          <p:nvPr/>
        </p:nvSpPr>
        <p:spPr>
          <a:xfrm>
            <a:off x="197768" y="159481"/>
            <a:ext cx="4176464" cy="4824536"/>
          </a:xfrm>
          <a:prstGeom prst="frame">
            <a:avLst>
              <a:gd name="adj1" fmla="val 100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0" name="TextBox 9"/>
          <p:cNvSpPr txBox="1"/>
          <p:nvPr/>
        </p:nvSpPr>
        <p:spPr>
          <a:xfrm>
            <a:off x="4763069" y="2063917"/>
            <a:ext cx="4209520" cy="1015663"/>
          </a:xfrm>
          <a:prstGeom prst="rect">
            <a:avLst/>
          </a:prstGeom>
          <a:noFill/>
        </p:spPr>
        <p:txBody>
          <a:bodyPr wrap="square" rtlCol="0">
            <a:spAutoFit/>
          </a:bodyPr>
          <a:lstStyle/>
          <a:p>
            <a:r>
              <a:rPr lang="en-US" sz="2000" b="1" dirty="0">
                <a:solidFill>
                  <a:schemeClr val="bg1"/>
                </a:solidFill>
              </a:rPr>
              <a:t>“Everything is based on a simple rule: Quality is the best business plan, period.” </a:t>
            </a:r>
          </a:p>
        </p:txBody>
      </p:sp>
      <p:sp>
        <p:nvSpPr>
          <p:cNvPr id="11" name="Text Placeholder 1"/>
          <p:cNvSpPr txBox="1">
            <a:spLocks/>
          </p:cNvSpPr>
          <p:nvPr/>
        </p:nvSpPr>
        <p:spPr>
          <a:xfrm>
            <a:off x="4763069" y="4299942"/>
            <a:ext cx="4266728" cy="50430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Steve Jobs</a:t>
            </a:r>
          </a:p>
        </p:txBody>
      </p:sp>
    </p:spTree>
    <p:extLst>
      <p:ext uri="{BB962C8B-B14F-4D97-AF65-F5344CB8AC3E}">
        <p14:creationId xmlns:p14="http://schemas.microsoft.com/office/powerpoint/2010/main" val="37351752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4499992" y="1001576"/>
            <a:ext cx="4680520" cy="1323439"/>
          </a:xfrm>
          <a:prstGeom prst="rect">
            <a:avLst/>
          </a:prstGeom>
          <a:noFill/>
        </p:spPr>
        <p:txBody>
          <a:bodyPr wrap="square" rtlCol="0">
            <a:spAutoFit/>
          </a:bodyPr>
          <a:lstStyle/>
          <a:p>
            <a:r>
              <a:rPr lang="en-US" sz="3600" b="1" dirty="0">
                <a:solidFill>
                  <a:schemeClr val="bg1"/>
                </a:solidFill>
              </a:rPr>
              <a:t>What Is a </a:t>
            </a:r>
          </a:p>
          <a:p>
            <a:r>
              <a:rPr lang="en-US" sz="4400" b="1" dirty="0">
                <a:solidFill>
                  <a:srgbClr val="92D050"/>
                </a:solidFill>
              </a:rPr>
              <a:t>Business Plan?</a:t>
            </a:r>
            <a:endParaRPr lang="en-US" sz="5400" b="1" dirty="0">
              <a:solidFill>
                <a:srgbClr val="92D050"/>
              </a:solidFill>
            </a:endParaRPr>
          </a:p>
        </p:txBody>
      </p:sp>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68" b="68"/>
          <a:stretch>
            <a:fillRect/>
          </a:stretch>
        </p:blipFill>
        <p:spPr/>
      </p:pic>
      <p:sp>
        <p:nvSpPr>
          <p:cNvPr id="5" name="TextBox 4"/>
          <p:cNvSpPr txBox="1"/>
          <p:nvPr/>
        </p:nvSpPr>
        <p:spPr>
          <a:xfrm>
            <a:off x="4572000" y="2355726"/>
            <a:ext cx="4248472" cy="1200329"/>
          </a:xfrm>
          <a:prstGeom prst="rect">
            <a:avLst/>
          </a:prstGeom>
          <a:noFill/>
        </p:spPr>
        <p:txBody>
          <a:bodyPr wrap="square" rtlCol="0">
            <a:spAutoFit/>
          </a:bodyPr>
          <a:lstStyle/>
          <a:p>
            <a:pPr algn="justLow"/>
            <a:r>
              <a:rPr lang="en-US" dirty="0">
                <a:solidFill>
                  <a:schemeClr val="bg1"/>
                </a:solidFill>
              </a:rPr>
              <a:t>A business plan is a statement of your business goals, the reasons you think these goals can be met, and how you are going to achieve them.</a:t>
            </a:r>
          </a:p>
        </p:txBody>
      </p:sp>
    </p:spTree>
    <p:extLst>
      <p:ext uri="{BB962C8B-B14F-4D97-AF65-F5344CB8AC3E}">
        <p14:creationId xmlns:p14="http://schemas.microsoft.com/office/powerpoint/2010/main" val="3210970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ame 17"/>
          <p:cNvSpPr/>
          <p:nvPr/>
        </p:nvSpPr>
        <p:spPr>
          <a:xfrm rot="18900000">
            <a:off x="6343368" y="2430572"/>
            <a:ext cx="1793332" cy="1793332"/>
          </a:xfrm>
          <a:prstGeom prst="frame">
            <a:avLst>
              <a:gd name="adj1" fmla="val 483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9" name="Text Placeholder 1"/>
          <p:cNvSpPr txBox="1">
            <a:spLocks/>
          </p:cNvSpPr>
          <p:nvPr/>
        </p:nvSpPr>
        <p:spPr>
          <a:xfrm>
            <a:off x="233198" y="-45982"/>
            <a:ext cx="5163670" cy="194446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chemeClr val="bg1"/>
                </a:solidFill>
              </a:rPr>
              <a:t>Types of Business Plans</a:t>
            </a:r>
            <a:endParaRPr lang="ko-KR" altLang="en-US" b="1" dirty="0">
              <a:solidFill>
                <a:schemeClr val="bg1"/>
              </a:solidFill>
              <a:latin typeface="+mj-lt"/>
              <a:cs typeface="Arial" pitchFamily="34" charset="0"/>
            </a:endParaRPr>
          </a:p>
        </p:txBody>
      </p:sp>
      <p:sp>
        <p:nvSpPr>
          <p:cNvPr id="5" name="그림 개체 틀 4">
            <a:extLst>
              <a:ext uri="{FF2B5EF4-FFF2-40B4-BE49-F238E27FC236}">
                <a16:creationId xmlns:a16="http://schemas.microsoft.com/office/drawing/2014/main" id="{5E9D2E2D-36E6-460B-B2E6-9B3BF0EF6074}"/>
              </a:ext>
            </a:extLst>
          </p:cNvPr>
          <p:cNvSpPr>
            <a:spLocks noGrp="1"/>
          </p:cNvSpPr>
          <p:nvPr>
            <p:ph type="pic" idx="21"/>
          </p:nvPr>
        </p:nvSpPr>
        <p:spPr>
          <a:solidFill>
            <a:schemeClr val="bg1"/>
          </a:solidFill>
        </p:spPr>
      </p:sp>
      <p:sp>
        <p:nvSpPr>
          <p:cNvPr id="9" name="그림 개체 틀 8">
            <a:extLst>
              <a:ext uri="{FF2B5EF4-FFF2-40B4-BE49-F238E27FC236}">
                <a16:creationId xmlns:a16="http://schemas.microsoft.com/office/drawing/2014/main" id="{FC01822E-DC72-472E-BAF0-9CCBB8D77A9C}"/>
              </a:ext>
            </a:extLst>
          </p:cNvPr>
          <p:cNvSpPr>
            <a:spLocks noGrp="1"/>
          </p:cNvSpPr>
          <p:nvPr>
            <p:ph type="pic" idx="19"/>
          </p:nvPr>
        </p:nvSpPr>
        <p:spPr>
          <a:solidFill>
            <a:schemeClr val="bg1"/>
          </a:solidFill>
        </p:spPr>
      </p:sp>
      <p:pic>
        <p:nvPicPr>
          <p:cNvPr id="6" name="Picture Placeholder 5"/>
          <p:cNvPicPr>
            <a:picLocks noGrp="1" noChangeAspect="1"/>
          </p:cNvPicPr>
          <p:nvPr>
            <p:ph type="pic" idx="20"/>
          </p:nvPr>
        </p:nvPicPr>
        <p:blipFill>
          <a:blip r:embed="rId2" cstate="print">
            <a:extLst>
              <a:ext uri="{28A0092B-C50C-407E-A947-70E740481C1C}">
                <a14:useLocalDpi xmlns:a14="http://schemas.microsoft.com/office/drawing/2010/main" val="0"/>
              </a:ext>
            </a:extLst>
          </a:blip>
          <a:srcRect t="453" b="453"/>
          <a:stretch>
            <a:fillRect/>
          </a:stretch>
        </p:blipFill>
        <p:spPr/>
      </p:pic>
      <p:pic>
        <p:nvPicPr>
          <p:cNvPr id="7" name="Picture Placeholder 6"/>
          <p:cNvPicPr>
            <a:picLocks noGrp="1" noChangeAspect="1"/>
          </p:cNvPicPr>
          <p:nvPr>
            <p:ph type="pic" idx="18"/>
          </p:nvPr>
        </p:nvPicPr>
        <p:blipFill>
          <a:blip r:embed="rId3" cstate="print">
            <a:extLst>
              <a:ext uri="{28A0092B-C50C-407E-A947-70E740481C1C}">
                <a14:useLocalDpi xmlns:a14="http://schemas.microsoft.com/office/drawing/2010/main" val="0"/>
              </a:ext>
            </a:extLst>
          </a:blip>
          <a:srcRect l="24772" r="24772"/>
          <a:stretch>
            <a:fillRect/>
          </a:stretch>
        </p:blipFill>
        <p:spPr/>
      </p:pic>
    </p:spTree>
    <p:extLst>
      <p:ext uri="{BB962C8B-B14F-4D97-AF65-F5344CB8AC3E}">
        <p14:creationId xmlns:p14="http://schemas.microsoft.com/office/powerpoint/2010/main" val="3191137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0" y="-92546"/>
            <a:ext cx="2664296" cy="1569660"/>
          </a:xfrm>
          <a:prstGeom prst="rect">
            <a:avLst/>
          </a:prstGeom>
          <a:noFill/>
        </p:spPr>
        <p:txBody>
          <a:bodyPr wrap="square" rtlCol="0">
            <a:spAutoFit/>
          </a:bodyPr>
          <a:lstStyle/>
          <a:p>
            <a:r>
              <a:rPr lang="en-US" sz="9600" dirty="0">
                <a:solidFill>
                  <a:schemeClr val="bg1"/>
                </a:solidFill>
              </a:rPr>
              <a:t>1</a:t>
            </a:r>
          </a:p>
        </p:txBody>
      </p:sp>
      <p:sp>
        <p:nvSpPr>
          <p:cNvPr id="6" name="TextBox 5"/>
          <p:cNvSpPr txBox="1"/>
          <p:nvPr/>
        </p:nvSpPr>
        <p:spPr>
          <a:xfrm>
            <a:off x="503040" y="2367629"/>
            <a:ext cx="3312368" cy="1200329"/>
          </a:xfrm>
          <a:prstGeom prst="rect">
            <a:avLst/>
          </a:prstGeom>
          <a:noFill/>
        </p:spPr>
        <p:txBody>
          <a:bodyPr wrap="square" rtlCol="0">
            <a:spAutoFit/>
          </a:bodyPr>
          <a:lstStyle/>
          <a:p>
            <a:r>
              <a:rPr lang="en-US" sz="3600" b="1" dirty="0">
                <a:solidFill>
                  <a:schemeClr val="bg1"/>
                </a:solidFill>
              </a:rPr>
              <a:t>Quick </a:t>
            </a:r>
          </a:p>
          <a:p>
            <a:r>
              <a:rPr lang="en-US" sz="3600" b="1" dirty="0">
                <a:solidFill>
                  <a:schemeClr val="bg1"/>
                </a:solidFill>
              </a:rPr>
              <a:t>Summary</a:t>
            </a:r>
            <a:endParaRPr lang="en-US" sz="3600" dirty="0">
              <a:solidFill>
                <a:schemeClr val="bg1"/>
              </a:solidFill>
            </a:endParaRPr>
          </a:p>
        </p:txBody>
      </p:sp>
      <p:sp>
        <p:nvSpPr>
          <p:cNvPr id="7" name="TextBox 6"/>
          <p:cNvSpPr txBox="1"/>
          <p:nvPr/>
        </p:nvSpPr>
        <p:spPr>
          <a:xfrm>
            <a:off x="3654152" y="1923678"/>
            <a:ext cx="5184576" cy="2308324"/>
          </a:xfrm>
          <a:prstGeom prst="rect">
            <a:avLst/>
          </a:prstGeom>
          <a:noFill/>
        </p:spPr>
        <p:txBody>
          <a:bodyPr wrap="square" rtlCol="0">
            <a:spAutoFit/>
          </a:bodyPr>
          <a:lstStyle/>
          <a:p>
            <a:pPr algn="justLow"/>
            <a:r>
              <a:rPr lang="en-US" dirty="0">
                <a:solidFill>
                  <a:schemeClr val="bg1"/>
                </a:solidFill>
              </a:rPr>
              <a:t>This is a brief synopsis lasting no more than thirty seconds to three minutes. It’s used to interest potential investors, customers, or strategic partners. It may seem strange to consider this a type of business plan, but it is. In some cases, the quick summary may be a necessary step toward presenting a more fully developed plan. </a:t>
            </a:r>
          </a:p>
          <a:p>
            <a:pPr algn="justLow"/>
            <a:endParaRPr lang="en-US" dirty="0">
              <a:solidFill>
                <a:schemeClr val="bg1"/>
              </a:solidFill>
            </a:endParaRP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918179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2</a:t>
            </a:r>
          </a:p>
        </p:txBody>
      </p:sp>
      <p:sp>
        <p:nvSpPr>
          <p:cNvPr id="6" name="TextBox 5"/>
          <p:cNvSpPr txBox="1"/>
          <p:nvPr/>
        </p:nvSpPr>
        <p:spPr>
          <a:xfrm>
            <a:off x="503040" y="2367629"/>
            <a:ext cx="3312368" cy="1200329"/>
          </a:xfrm>
          <a:prstGeom prst="rect">
            <a:avLst/>
          </a:prstGeom>
          <a:noFill/>
        </p:spPr>
        <p:txBody>
          <a:bodyPr wrap="square" rtlCol="0">
            <a:spAutoFit/>
          </a:bodyPr>
          <a:lstStyle/>
          <a:p>
            <a:r>
              <a:rPr lang="en-US" sz="3600" b="1" dirty="0">
                <a:solidFill>
                  <a:schemeClr val="bg1"/>
                </a:solidFill>
              </a:rPr>
              <a:t>Oral </a:t>
            </a:r>
          </a:p>
          <a:p>
            <a:r>
              <a:rPr lang="en-US" sz="3600" b="1" dirty="0">
                <a:solidFill>
                  <a:schemeClr val="bg1"/>
                </a:solidFill>
              </a:rPr>
              <a:t>Presentation</a:t>
            </a:r>
            <a:endParaRPr lang="en-US" sz="3600" dirty="0">
              <a:solidFill>
                <a:schemeClr val="bg1"/>
              </a:solidFill>
            </a:endParaRPr>
          </a:p>
        </p:txBody>
      </p:sp>
      <p:sp>
        <p:nvSpPr>
          <p:cNvPr id="7" name="TextBox 6"/>
          <p:cNvSpPr txBox="1"/>
          <p:nvPr/>
        </p:nvSpPr>
        <p:spPr>
          <a:xfrm>
            <a:off x="3657367" y="2644628"/>
            <a:ext cx="5184576" cy="923330"/>
          </a:xfrm>
          <a:prstGeom prst="rect">
            <a:avLst/>
          </a:prstGeom>
          <a:noFill/>
        </p:spPr>
        <p:txBody>
          <a:bodyPr wrap="square" rtlCol="0">
            <a:spAutoFit/>
          </a:bodyPr>
          <a:lstStyle/>
          <a:p>
            <a:pPr algn="justLow"/>
            <a:r>
              <a:rPr lang="en-US" dirty="0">
                <a:solidFill>
                  <a:schemeClr val="bg1"/>
                </a:solidFill>
              </a:rPr>
              <a:t>This is a relatively short, colorful, and entertaining slide show with a running narrative.</a:t>
            </a:r>
          </a:p>
          <a:p>
            <a:pPr algn="justLow"/>
            <a:endParaRPr lang="en-US" dirty="0">
              <a:solidFill>
                <a:schemeClr val="bg1"/>
              </a:solidFill>
            </a:endParaRP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5772732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79512" y="-92546"/>
            <a:ext cx="2664296" cy="1569660"/>
          </a:xfrm>
          <a:prstGeom prst="rect">
            <a:avLst/>
          </a:prstGeom>
          <a:noFill/>
        </p:spPr>
        <p:txBody>
          <a:bodyPr wrap="square" rtlCol="0">
            <a:spAutoFit/>
          </a:bodyPr>
          <a:lstStyle/>
          <a:p>
            <a:r>
              <a:rPr lang="en-US" sz="9600" dirty="0">
                <a:solidFill>
                  <a:schemeClr val="bg1"/>
                </a:solidFill>
              </a:rPr>
              <a:t>3</a:t>
            </a:r>
          </a:p>
        </p:txBody>
      </p:sp>
      <p:sp>
        <p:nvSpPr>
          <p:cNvPr id="6" name="TextBox 5"/>
          <p:cNvSpPr txBox="1"/>
          <p:nvPr/>
        </p:nvSpPr>
        <p:spPr>
          <a:xfrm>
            <a:off x="498125" y="2130304"/>
            <a:ext cx="3312368" cy="1754326"/>
          </a:xfrm>
          <a:prstGeom prst="rect">
            <a:avLst/>
          </a:prstGeom>
          <a:noFill/>
        </p:spPr>
        <p:txBody>
          <a:bodyPr wrap="square" rtlCol="0">
            <a:spAutoFit/>
          </a:bodyPr>
          <a:lstStyle/>
          <a:p>
            <a:r>
              <a:rPr lang="en-US" sz="3600" b="1" dirty="0">
                <a:solidFill>
                  <a:schemeClr val="bg1"/>
                </a:solidFill>
              </a:rPr>
              <a:t>Investor’s </a:t>
            </a:r>
          </a:p>
          <a:p>
            <a:r>
              <a:rPr lang="en-US" sz="3600" b="1" dirty="0">
                <a:solidFill>
                  <a:schemeClr val="bg1"/>
                </a:solidFill>
              </a:rPr>
              <a:t>Business </a:t>
            </a:r>
          </a:p>
          <a:p>
            <a:r>
              <a:rPr lang="en-US" sz="3600" b="1" dirty="0">
                <a:solidFill>
                  <a:schemeClr val="bg1"/>
                </a:solidFill>
              </a:rPr>
              <a:t>Plan</a:t>
            </a:r>
            <a:endParaRPr lang="en-US" sz="3600" dirty="0">
              <a:solidFill>
                <a:schemeClr val="bg1"/>
              </a:solidFill>
            </a:endParaRPr>
          </a:p>
        </p:txBody>
      </p:sp>
      <p:sp>
        <p:nvSpPr>
          <p:cNvPr id="7" name="TextBox 6"/>
          <p:cNvSpPr txBox="1"/>
          <p:nvPr/>
        </p:nvSpPr>
        <p:spPr>
          <a:xfrm>
            <a:off x="3656610" y="2229130"/>
            <a:ext cx="5184576" cy="1477328"/>
          </a:xfrm>
          <a:prstGeom prst="rect">
            <a:avLst/>
          </a:prstGeom>
          <a:noFill/>
        </p:spPr>
        <p:txBody>
          <a:bodyPr wrap="square" rtlCol="0">
            <a:spAutoFit/>
          </a:bodyPr>
          <a:lstStyle/>
          <a:p>
            <a:pPr algn="justLow"/>
            <a:r>
              <a:rPr lang="en-US" dirty="0">
                <a:solidFill>
                  <a:schemeClr val="bg1"/>
                </a:solidFill>
              </a:rPr>
              <a:t>Anyone who plans to invest in your start-up business (banks, investors, and others) needs to know exactly what you are planning. They need a detailed business plan that is well written and formatted so all the information can be easily understood. </a:t>
            </a: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44127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07504" y="-92546"/>
            <a:ext cx="2664296" cy="1569660"/>
          </a:xfrm>
          <a:prstGeom prst="rect">
            <a:avLst/>
          </a:prstGeom>
          <a:noFill/>
        </p:spPr>
        <p:txBody>
          <a:bodyPr wrap="square" rtlCol="0">
            <a:spAutoFit/>
          </a:bodyPr>
          <a:lstStyle/>
          <a:p>
            <a:r>
              <a:rPr lang="en-US" sz="9600" dirty="0">
                <a:solidFill>
                  <a:schemeClr val="bg1"/>
                </a:solidFill>
              </a:rPr>
              <a:t>4</a:t>
            </a:r>
          </a:p>
        </p:txBody>
      </p:sp>
      <p:sp>
        <p:nvSpPr>
          <p:cNvPr id="6" name="TextBox 5"/>
          <p:cNvSpPr txBox="1"/>
          <p:nvPr/>
        </p:nvSpPr>
        <p:spPr>
          <a:xfrm>
            <a:off x="503040" y="2090631"/>
            <a:ext cx="3312368" cy="1754326"/>
          </a:xfrm>
          <a:prstGeom prst="rect">
            <a:avLst/>
          </a:prstGeom>
          <a:noFill/>
        </p:spPr>
        <p:txBody>
          <a:bodyPr wrap="square" rtlCol="0">
            <a:spAutoFit/>
          </a:bodyPr>
          <a:lstStyle/>
          <a:p>
            <a:r>
              <a:rPr lang="en-US" sz="3600" b="1" dirty="0">
                <a:solidFill>
                  <a:schemeClr val="bg1"/>
                </a:solidFill>
              </a:rPr>
              <a:t>Operational </a:t>
            </a:r>
          </a:p>
          <a:p>
            <a:r>
              <a:rPr lang="en-US" sz="3600" b="1" dirty="0">
                <a:solidFill>
                  <a:schemeClr val="bg1"/>
                </a:solidFill>
              </a:rPr>
              <a:t>Business </a:t>
            </a:r>
          </a:p>
          <a:p>
            <a:r>
              <a:rPr lang="en-US" sz="3600" b="1" dirty="0">
                <a:solidFill>
                  <a:schemeClr val="bg1"/>
                </a:solidFill>
              </a:rPr>
              <a:t>Plan</a:t>
            </a:r>
            <a:endParaRPr lang="en-US" sz="3600" dirty="0">
              <a:solidFill>
                <a:schemeClr val="bg1"/>
              </a:solidFill>
            </a:endParaRPr>
          </a:p>
        </p:txBody>
      </p:sp>
      <p:sp>
        <p:nvSpPr>
          <p:cNvPr id="7" name="TextBox 6"/>
          <p:cNvSpPr txBox="1"/>
          <p:nvPr/>
        </p:nvSpPr>
        <p:spPr>
          <a:xfrm>
            <a:off x="3654152" y="2229130"/>
            <a:ext cx="5184576" cy="1477328"/>
          </a:xfrm>
          <a:prstGeom prst="rect">
            <a:avLst/>
          </a:prstGeom>
          <a:noFill/>
        </p:spPr>
        <p:txBody>
          <a:bodyPr wrap="square" rtlCol="0">
            <a:spAutoFit/>
          </a:bodyPr>
          <a:lstStyle/>
          <a:p>
            <a:pPr algn="justLow"/>
            <a:r>
              <a:rPr lang="en-US" dirty="0">
                <a:solidFill>
                  <a:schemeClr val="bg1"/>
                </a:solidFill>
              </a:rPr>
              <a:t>This plan describes in greater detail than the investor’s business plan how the company will meet its goals. It is also often less formal than an investor’s business plan.</a:t>
            </a:r>
          </a:p>
          <a:p>
            <a:pPr algn="justLow"/>
            <a:endParaRPr lang="en-US" dirty="0">
              <a:solidFill>
                <a:schemeClr val="bg1"/>
              </a:solidFill>
            </a:endParaRPr>
          </a:p>
        </p:txBody>
      </p:sp>
      <p:sp>
        <p:nvSpPr>
          <p:cNvPr id="8" name="Rectangle 7"/>
          <p:cNvSpPr/>
          <p:nvPr/>
        </p:nvSpPr>
        <p:spPr>
          <a:xfrm>
            <a:off x="251520" y="1851670"/>
            <a:ext cx="8640960" cy="2232248"/>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822120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9144000" cy="9874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 Placeholder 2"/>
          <p:cNvSpPr>
            <a:spLocks noGrp="1"/>
          </p:cNvSpPr>
          <p:nvPr>
            <p:ph type="body" sz="quarter" idx="4294967295"/>
          </p:nvPr>
        </p:nvSpPr>
        <p:spPr>
          <a:xfrm>
            <a:off x="527741" y="249015"/>
            <a:ext cx="9144000" cy="287337"/>
          </a:xfrm>
          <a:prstGeom prst="rect">
            <a:avLst/>
          </a:prstGeom>
        </p:spPr>
        <p:txBody>
          <a:bodyPr/>
          <a:lstStyle/>
          <a:p>
            <a:pPr marL="0" lvl="0" indent="0">
              <a:buNone/>
            </a:pPr>
            <a:r>
              <a:rPr lang="en-US" sz="2800" b="1" dirty="0">
                <a:solidFill>
                  <a:srgbClr val="92D050"/>
                </a:solidFill>
              </a:rPr>
              <a:t>Each type of plan will address The Three C’s.</a:t>
            </a:r>
            <a:endParaRPr lang="en-US" altLang="ko-KR" sz="2800" b="1" dirty="0">
              <a:solidFill>
                <a:srgbClr val="92D050"/>
              </a:solidFill>
            </a:endParaRPr>
          </a:p>
        </p:txBody>
      </p:sp>
      <p:sp>
        <p:nvSpPr>
          <p:cNvPr id="8" name="Snip Diagonal Corner Rectangle 7"/>
          <p:cNvSpPr/>
          <p:nvPr/>
        </p:nvSpPr>
        <p:spPr>
          <a:xfrm>
            <a:off x="539552" y="1995686"/>
            <a:ext cx="2376264" cy="2952328"/>
          </a:xfrm>
          <a:prstGeom prst="snip2Diag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lumMod val="50000"/>
                  <a:lumOff val="50000"/>
                </a:schemeClr>
              </a:solidFill>
            </a:endParaRPr>
          </a:p>
        </p:txBody>
      </p:sp>
      <p:sp>
        <p:nvSpPr>
          <p:cNvPr id="49" name="Snip Diagonal Corner Rectangle 48"/>
          <p:cNvSpPr/>
          <p:nvPr/>
        </p:nvSpPr>
        <p:spPr>
          <a:xfrm>
            <a:off x="3311860" y="1995686"/>
            <a:ext cx="2376264" cy="2952328"/>
          </a:xfrm>
          <a:prstGeom prst="snip2Diag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lumMod val="50000"/>
                  <a:lumOff val="50000"/>
                </a:schemeClr>
              </a:solidFill>
            </a:endParaRPr>
          </a:p>
        </p:txBody>
      </p:sp>
      <p:sp>
        <p:nvSpPr>
          <p:cNvPr id="50" name="Snip Diagonal Corner Rectangle 49"/>
          <p:cNvSpPr/>
          <p:nvPr/>
        </p:nvSpPr>
        <p:spPr>
          <a:xfrm>
            <a:off x="6084168" y="1995686"/>
            <a:ext cx="2376264" cy="2952328"/>
          </a:xfrm>
          <a:prstGeom prst="snip2Diag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lumMod val="50000"/>
                  <a:lumOff val="50000"/>
                </a:schemeClr>
              </a:solidFill>
            </a:endParaRPr>
          </a:p>
        </p:txBody>
      </p:sp>
      <p:sp>
        <p:nvSpPr>
          <p:cNvPr id="52" name="TextBox 51"/>
          <p:cNvSpPr txBox="1"/>
          <p:nvPr/>
        </p:nvSpPr>
        <p:spPr>
          <a:xfrm>
            <a:off x="2762057" y="1212318"/>
            <a:ext cx="3380674" cy="584775"/>
          </a:xfrm>
          <a:prstGeom prst="rect">
            <a:avLst/>
          </a:prstGeom>
          <a:noFill/>
        </p:spPr>
        <p:txBody>
          <a:bodyPr wrap="square" rtlCol="0">
            <a:spAutoFit/>
          </a:bodyPr>
          <a:lstStyle/>
          <a:p>
            <a:pPr algn="ctr"/>
            <a:r>
              <a:rPr lang="en-US" sz="3200" b="1" dirty="0">
                <a:solidFill>
                  <a:schemeClr val="bg1"/>
                </a:solidFill>
              </a:rPr>
              <a:t>The Three C’s</a:t>
            </a:r>
          </a:p>
        </p:txBody>
      </p:sp>
      <p:sp>
        <p:nvSpPr>
          <p:cNvPr id="19" name="TextBox 18"/>
          <p:cNvSpPr txBox="1"/>
          <p:nvPr/>
        </p:nvSpPr>
        <p:spPr>
          <a:xfrm>
            <a:off x="625984" y="2698335"/>
            <a:ext cx="2196244" cy="1661993"/>
          </a:xfrm>
          <a:prstGeom prst="rect">
            <a:avLst/>
          </a:prstGeom>
          <a:noFill/>
        </p:spPr>
        <p:txBody>
          <a:bodyPr wrap="square" rtlCol="0">
            <a:spAutoFit/>
          </a:bodyPr>
          <a:lstStyle/>
          <a:p>
            <a:r>
              <a:rPr lang="en-US" sz="1600" dirty="0">
                <a:solidFill>
                  <a:srgbClr val="92D050"/>
                </a:solidFill>
              </a:rPr>
              <a:t>Concept. </a:t>
            </a:r>
          </a:p>
          <a:p>
            <a:endParaRPr lang="en-US" sz="1200" dirty="0">
              <a:solidFill>
                <a:schemeClr val="bg1"/>
              </a:solidFill>
            </a:endParaRPr>
          </a:p>
          <a:p>
            <a:r>
              <a:rPr lang="en-US" sz="1400" dirty="0">
                <a:solidFill>
                  <a:schemeClr val="bg1"/>
                </a:solidFill>
              </a:rPr>
              <a:t>What is your product or service and how is it different from similar products or services?</a:t>
            </a:r>
          </a:p>
          <a:p>
            <a:endParaRPr lang="en-US" dirty="0"/>
          </a:p>
        </p:txBody>
      </p:sp>
      <p:sp>
        <p:nvSpPr>
          <p:cNvPr id="2" name="Oval 1"/>
          <p:cNvSpPr/>
          <p:nvPr/>
        </p:nvSpPr>
        <p:spPr>
          <a:xfrm>
            <a:off x="611560" y="2427734"/>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Oval 13"/>
          <p:cNvSpPr/>
          <p:nvPr/>
        </p:nvSpPr>
        <p:spPr>
          <a:xfrm>
            <a:off x="3383868" y="2453006"/>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Oval 15"/>
          <p:cNvSpPr/>
          <p:nvPr/>
        </p:nvSpPr>
        <p:spPr>
          <a:xfrm>
            <a:off x="6157998" y="2455922"/>
            <a:ext cx="72008" cy="7200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Box 20"/>
          <p:cNvSpPr txBox="1"/>
          <p:nvPr/>
        </p:nvSpPr>
        <p:spPr>
          <a:xfrm>
            <a:off x="3483409" y="2660754"/>
            <a:ext cx="2196244" cy="1600438"/>
          </a:xfrm>
          <a:prstGeom prst="rect">
            <a:avLst/>
          </a:prstGeom>
          <a:noFill/>
        </p:spPr>
        <p:txBody>
          <a:bodyPr wrap="square" rtlCol="0">
            <a:spAutoFit/>
          </a:bodyPr>
          <a:lstStyle/>
          <a:p>
            <a:r>
              <a:rPr lang="en-US" sz="1600" dirty="0">
                <a:solidFill>
                  <a:srgbClr val="92D050"/>
                </a:solidFill>
              </a:rPr>
              <a:t>Customer. </a:t>
            </a:r>
          </a:p>
          <a:p>
            <a:endParaRPr lang="en-US" sz="1600" dirty="0">
              <a:solidFill>
                <a:srgbClr val="92D050"/>
              </a:solidFill>
            </a:endParaRPr>
          </a:p>
          <a:p>
            <a:r>
              <a:rPr lang="en-US" sz="1600" dirty="0">
                <a:solidFill>
                  <a:schemeClr val="bg1"/>
                </a:solidFill>
              </a:rPr>
              <a:t>Who will be buying your product or service and why?</a:t>
            </a:r>
          </a:p>
          <a:p>
            <a:endParaRPr lang="en-US" dirty="0"/>
          </a:p>
        </p:txBody>
      </p:sp>
      <p:sp>
        <p:nvSpPr>
          <p:cNvPr id="22" name="TextBox 21"/>
          <p:cNvSpPr txBox="1"/>
          <p:nvPr/>
        </p:nvSpPr>
        <p:spPr>
          <a:xfrm>
            <a:off x="6194002" y="2660754"/>
            <a:ext cx="2196244" cy="1938992"/>
          </a:xfrm>
          <a:prstGeom prst="rect">
            <a:avLst/>
          </a:prstGeom>
          <a:noFill/>
        </p:spPr>
        <p:txBody>
          <a:bodyPr wrap="square" rtlCol="0">
            <a:spAutoFit/>
          </a:bodyPr>
          <a:lstStyle/>
          <a:p>
            <a:r>
              <a:rPr lang="en-US" sz="1600" dirty="0">
                <a:solidFill>
                  <a:srgbClr val="92D050"/>
                </a:solidFill>
              </a:rPr>
              <a:t>Capital. </a:t>
            </a:r>
          </a:p>
          <a:p>
            <a:endParaRPr lang="en-US" sz="1600" dirty="0">
              <a:solidFill>
                <a:srgbClr val="92D050"/>
              </a:solidFill>
            </a:endParaRPr>
          </a:p>
          <a:p>
            <a:pPr algn="justLow"/>
            <a:r>
              <a:rPr lang="en-US" sz="1400" dirty="0">
                <a:solidFill>
                  <a:schemeClr val="bg1"/>
                </a:solidFill>
              </a:rPr>
              <a:t>How will you locate the initial money your business will need? What will be your costs and what kind of profit can you expect?</a:t>
            </a:r>
          </a:p>
          <a:p>
            <a:endParaRPr lang="en-US" dirty="0"/>
          </a:p>
        </p:txBody>
      </p:sp>
    </p:spTree>
    <p:extLst>
      <p:ext uri="{BB962C8B-B14F-4D97-AF65-F5344CB8AC3E}">
        <p14:creationId xmlns:p14="http://schemas.microsoft.com/office/powerpoint/2010/main" val="2523461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251520" y="195486"/>
            <a:ext cx="8712968" cy="132343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l="16930" r="9706"/>
          <a:stretch/>
        </p:blipFill>
        <p:spPr>
          <a:xfrm>
            <a:off x="0" y="-20538"/>
            <a:ext cx="3744417" cy="5164038"/>
          </a:xfrm>
          <a:prstGeom prst="rect">
            <a:avLst/>
          </a:prstGeom>
        </p:spPr>
      </p:pic>
      <p:sp>
        <p:nvSpPr>
          <p:cNvPr id="9" name="TextBox 8"/>
          <p:cNvSpPr txBox="1"/>
          <p:nvPr/>
        </p:nvSpPr>
        <p:spPr>
          <a:xfrm>
            <a:off x="3923928" y="1734949"/>
            <a:ext cx="5112568" cy="3293209"/>
          </a:xfrm>
          <a:prstGeom prst="rect">
            <a:avLst/>
          </a:prstGeom>
          <a:noFill/>
        </p:spPr>
        <p:txBody>
          <a:bodyPr wrap="square" rtlCol="0">
            <a:spAutoFit/>
          </a:bodyPr>
          <a:lstStyle/>
          <a:p>
            <a:pPr algn="just"/>
            <a:r>
              <a:rPr lang="en-US" sz="1600" dirty="0"/>
              <a:t>Professional investors typically see many business plans each year and make very few investments. They will immediately reject an incomplete or poorly written plan. Investors are busy people and don’t have time to read an overly long business plan. Your plan, including the financials, should be no longer than 20 typed pages (and many are much shorter). It should require no more than an hour of reading time.</a:t>
            </a:r>
          </a:p>
          <a:p>
            <a:pPr algn="just"/>
            <a:endParaRPr lang="en-US" sz="1600" dirty="0"/>
          </a:p>
          <a:p>
            <a:pPr algn="just"/>
            <a:r>
              <a:rPr lang="en-US" sz="1600" b="1" i="1" dirty="0"/>
              <a:t>Most plans will include these seven parts (although the order may differ, depending on the type of business):</a:t>
            </a:r>
          </a:p>
          <a:p>
            <a:pPr algn="justLow"/>
            <a:endParaRPr lang="en-US" sz="1600" dirty="0"/>
          </a:p>
        </p:txBody>
      </p:sp>
      <p:sp>
        <p:nvSpPr>
          <p:cNvPr id="10" name="TextBox 9"/>
          <p:cNvSpPr txBox="1"/>
          <p:nvPr/>
        </p:nvSpPr>
        <p:spPr>
          <a:xfrm>
            <a:off x="4031940" y="195486"/>
            <a:ext cx="4896544" cy="1323439"/>
          </a:xfrm>
          <a:prstGeom prst="rect">
            <a:avLst/>
          </a:prstGeom>
          <a:solidFill>
            <a:srgbClr val="92D050"/>
          </a:solidFill>
        </p:spPr>
        <p:txBody>
          <a:bodyPr wrap="square" rtlCol="0">
            <a:spAutoFit/>
          </a:bodyPr>
          <a:lstStyle/>
          <a:p>
            <a:r>
              <a:rPr lang="en-US" sz="4000" b="1" dirty="0">
                <a:solidFill>
                  <a:schemeClr val="bg1"/>
                </a:solidFill>
              </a:rPr>
              <a:t>Parts of a </a:t>
            </a:r>
          </a:p>
          <a:p>
            <a:r>
              <a:rPr lang="en-US" sz="4000" b="1" dirty="0">
                <a:solidFill>
                  <a:schemeClr val="bg1"/>
                </a:solidFill>
              </a:rPr>
              <a:t>Business Plan</a:t>
            </a:r>
            <a:endParaRPr lang="en-US" sz="4000" dirty="0">
              <a:solidFill>
                <a:schemeClr val="bg1"/>
              </a:solidFill>
            </a:endParaRPr>
          </a:p>
        </p:txBody>
      </p:sp>
    </p:spTree>
    <p:extLst>
      <p:ext uri="{BB962C8B-B14F-4D97-AF65-F5344CB8AC3E}">
        <p14:creationId xmlns:p14="http://schemas.microsoft.com/office/powerpoint/2010/main" val="4227680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4890" y="555526"/>
            <a:ext cx="8280920" cy="1631216"/>
          </a:xfrm>
          <a:prstGeom prst="rect">
            <a:avLst/>
          </a:prstGeom>
          <a:noFill/>
        </p:spPr>
        <p:txBody>
          <a:bodyPr wrap="square" rtlCol="0">
            <a:spAutoFit/>
          </a:bodyPr>
          <a:lstStyle/>
          <a:p>
            <a:r>
              <a:rPr lang="en-US" sz="2000" b="1" dirty="0"/>
              <a:t>Business Idea.</a:t>
            </a:r>
            <a:r>
              <a:rPr lang="en-US" sz="2000" b="1" dirty="0">
                <a:solidFill>
                  <a:schemeClr val="bg1"/>
                </a:solidFill>
              </a:rPr>
              <a:t> </a:t>
            </a:r>
            <a:r>
              <a:rPr lang="en-US" sz="2000" dirty="0">
                <a:solidFill>
                  <a:schemeClr val="bg1"/>
                </a:solidFill>
              </a:rPr>
              <a:t>Not only do you describe your product or service in this part of the business plan, but you also talk about the type of business you will start and the type of business ownership you will use. Recently, in this part of the business plan, entrepreneurs have begun to describe how their business is socially responsible.</a:t>
            </a: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i="1" dirty="0">
              <a:solidFill>
                <a:schemeClr val="tx1"/>
              </a:solidFill>
            </a:endParaRPr>
          </a:p>
        </p:txBody>
      </p:sp>
      <p:sp>
        <p:nvSpPr>
          <p:cNvPr id="7" name="TextBox 6"/>
          <p:cNvSpPr txBox="1"/>
          <p:nvPr/>
        </p:nvSpPr>
        <p:spPr>
          <a:xfrm>
            <a:off x="404890" y="3078021"/>
            <a:ext cx="8280920" cy="1631216"/>
          </a:xfrm>
          <a:prstGeom prst="rect">
            <a:avLst/>
          </a:prstGeom>
          <a:noFill/>
        </p:spPr>
        <p:txBody>
          <a:bodyPr wrap="square" rtlCol="0">
            <a:spAutoFit/>
          </a:bodyPr>
          <a:lstStyle/>
          <a:p>
            <a:pPr algn="just"/>
            <a:r>
              <a:rPr lang="en-US" sz="2000" b="1" dirty="0"/>
              <a:t>Opportunity &amp; Market Analysis. </a:t>
            </a:r>
            <a:r>
              <a:rPr lang="en-US" sz="2000" dirty="0">
                <a:solidFill>
                  <a:schemeClr val="bg1"/>
                </a:solidFill>
              </a:rPr>
              <a:t>Your description of the market should include an account of the market, its size, its trends and characteristics, and its growth rate. Describe your market research. List your competitors and describe your competitive advantage. Provide your marketing plan, your product and pricing strategies, and your plans for promotion</a:t>
            </a:r>
            <a:r>
              <a:rPr lang="en-US" sz="2000" dirty="0"/>
              <a:t>.</a:t>
            </a:r>
          </a:p>
        </p:txBody>
      </p:sp>
    </p:spTree>
    <p:extLst>
      <p:ext uri="{BB962C8B-B14F-4D97-AF65-F5344CB8AC3E}">
        <p14:creationId xmlns:p14="http://schemas.microsoft.com/office/powerpoint/2010/main" val="41591038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4890" y="699542"/>
            <a:ext cx="8280920" cy="1323439"/>
          </a:xfrm>
          <a:prstGeom prst="rect">
            <a:avLst/>
          </a:prstGeom>
          <a:noFill/>
        </p:spPr>
        <p:txBody>
          <a:bodyPr wrap="square" rtlCol="0">
            <a:spAutoFit/>
          </a:bodyPr>
          <a:lstStyle/>
          <a:p>
            <a:pPr algn="just"/>
            <a:r>
              <a:rPr lang="en-US" sz="2000" b="1" dirty="0"/>
              <a:t>Financial Strategies. </a:t>
            </a:r>
            <a:r>
              <a:rPr lang="en-US" sz="2000" dirty="0">
                <a:solidFill>
                  <a:schemeClr val="bg1"/>
                </a:solidFill>
              </a:rPr>
              <a:t>This section shows any historical financial data, as well as projected figures including estimated sales and expenses (typically extending for five years). This section also describes any financing required by the business.</a:t>
            </a: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i="1" dirty="0">
              <a:solidFill>
                <a:schemeClr val="tx1"/>
              </a:solidFill>
            </a:endParaRPr>
          </a:p>
        </p:txBody>
      </p:sp>
      <p:sp>
        <p:nvSpPr>
          <p:cNvPr id="7" name="TextBox 6"/>
          <p:cNvSpPr txBox="1"/>
          <p:nvPr/>
        </p:nvSpPr>
        <p:spPr>
          <a:xfrm>
            <a:off x="404890" y="3078021"/>
            <a:ext cx="8280920" cy="1631216"/>
          </a:xfrm>
          <a:prstGeom prst="rect">
            <a:avLst/>
          </a:prstGeom>
          <a:noFill/>
        </p:spPr>
        <p:txBody>
          <a:bodyPr wrap="square" rtlCol="0">
            <a:spAutoFit/>
          </a:bodyPr>
          <a:lstStyle/>
          <a:p>
            <a:pPr algn="just"/>
            <a:r>
              <a:rPr lang="en-US" sz="2000" b="1" dirty="0"/>
              <a:t>Organizational Structures. </a:t>
            </a:r>
            <a:r>
              <a:rPr lang="en-US" sz="2000" dirty="0">
                <a:solidFill>
                  <a:schemeClr val="bg1"/>
                </a:solidFill>
              </a:rPr>
              <a:t>In this part of the business plan you discuss the organizational structure of the company. You can provide profiles of key managers and, if appropriate, information about your board of directors. You can also describe how you plan to train and motivate your employees, if appropriate.</a:t>
            </a:r>
          </a:p>
        </p:txBody>
      </p:sp>
    </p:spTree>
    <p:extLst>
      <p:ext uri="{BB962C8B-B14F-4D97-AF65-F5344CB8AC3E}">
        <p14:creationId xmlns:p14="http://schemas.microsoft.com/office/powerpoint/2010/main" val="409098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4890" y="699542"/>
            <a:ext cx="8280920" cy="1323439"/>
          </a:xfrm>
          <a:prstGeom prst="rect">
            <a:avLst/>
          </a:prstGeom>
          <a:noFill/>
        </p:spPr>
        <p:txBody>
          <a:bodyPr wrap="square" rtlCol="0">
            <a:spAutoFit/>
          </a:bodyPr>
          <a:lstStyle/>
          <a:p>
            <a:pPr algn="just"/>
            <a:r>
              <a:rPr lang="en-US" sz="2000" b="1" dirty="0"/>
              <a:t>Legal Structures. </a:t>
            </a:r>
            <a:r>
              <a:rPr lang="en-US" sz="2000" dirty="0">
                <a:solidFill>
                  <a:schemeClr val="bg1"/>
                </a:solidFill>
              </a:rPr>
              <a:t>In this part of the business plan you describe any intellectual property or contract issues. You also talk about how your business will be protected by insurance, the affect of taxes on your business, and any relevant government regulations that affect the business.</a:t>
            </a: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i="1" dirty="0">
              <a:solidFill>
                <a:schemeClr val="tx1"/>
              </a:solidFill>
            </a:endParaRPr>
          </a:p>
        </p:txBody>
      </p:sp>
      <p:sp>
        <p:nvSpPr>
          <p:cNvPr id="7" name="TextBox 6"/>
          <p:cNvSpPr txBox="1"/>
          <p:nvPr/>
        </p:nvSpPr>
        <p:spPr>
          <a:xfrm>
            <a:off x="391409" y="3291830"/>
            <a:ext cx="8280920" cy="1015663"/>
          </a:xfrm>
          <a:prstGeom prst="rect">
            <a:avLst/>
          </a:prstGeom>
          <a:noFill/>
        </p:spPr>
        <p:txBody>
          <a:bodyPr wrap="square" rtlCol="0">
            <a:spAutoFit/>
          </a:bodyPr>
          <a:lstStyle/>
          <a:p>
            <a:pPr algn="just"/>
            <a:r>
              <a:rPr lang="en-US" sz="2000" b="1" dirty="0"/>
              <a:t>Business Management. </a:t>
            </a:r>
            <a:r>
              <a:rPr lang="en-US" sz="2000" dirty="0">
                <a:solidFill>
                  <a:schemeClr val="bg1"/>
                </a:solidFill>
              </a:rPr>
              <a:t>Describe how the business will be managed (focusing on production, distribution, operations, purchasing, and inventory).</a:t>
            </a:r>
          </a:p>
        </p:txBody>
      </p:sp>
    </p:spTree>
    <p:extLst>
      <p:ext uri="{BB962C8B-B14F-4D97-AF65-F5344CB8AC3E}">
        <p14:creationId xmlns:p14="http://schemas.microsoft.com/office/powerpoint/2010/main" val="454775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4890" y="699542"/>
            <a:ext cx="8280920" cy="1015663"/>
          </a:xfrm>
          <a:prstGeom prst="rect">
            <a:avLst/>
          </a:prstGeom>
          <a:noFill/>
        </p:spPr>
        <p:txBody>
          <a:bodyPr wrap="square" rtlCol="0">
            <a:spAutoFit/>
          </a:bodyPr>
          <a:lstStyle/>
          <a:p>
            <a:pPr algn="just"/>
            <a:r>
              <a:rPr lang="en-US" sz="2000" b="1" dirty="0"/>
              <a:t>Plan for Growth. </a:t>
            </a:r>
            <a:r>
              <a:rPr lang="en-US" sz="2000" dirty="0">
                <a:solidFill>
                  <a:schemeClr val="bg1"/>
                </a:solidFill>
              </a:rPr>
              <a:t>Here you describe your plans to grow the business and the challenges it may face. You may also describe your plans to franchise or license the business, if that is part of its plan for growth.</a:t>
            </a:r>
          </a:p>
        </p:txBody>
      </p:sp>
      <p:sp>
        <p:nvSpPr>
          <p:cNvPr id="5" name="Rectangle 4"/>
          <p:cNvSpPr/>
          <p:nvPr/>
        </p:nvSpPr>
        <p:spPr>
          <a:xfrm>
            <a:off x="0" y="2643758"/>
            <a:ext cx="9144000" cy="2499742"/>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i="1" dirty="0">
              <a:solidFill>
                <a:schemeClr val="tx1"/>
              </a:solidFill>
            </a:endParaRPr>
          </a:p>
        </p:txBody>
      </p:sp>
    </p:spTree>
    <p:extLst>
      <p:ext uri="{BB962C8B-B14F-4D97-AF65-F5344CB8AC3E}">
        <p14:creationId xmlns:p14="http://schemas.microsoft.com/office/powerpoint/2010/main" val="23833035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 Placeholder 1"/>
          <p:cNvSpPr txBox="1">
            <a:spLocks/>
          </p:cNvSpPr>
          <p:nvPr/>
        </p:nvSpPr>
        <p:spPr>
          <a:xfrm>
            <a:off x="395536" y="339502"/>
            <a:ext cx="8568952" cy="2699815"/>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chemeClr val="bg1"/>
                </a:solidFill>
              </a:rPr>
              <a:t>Steps to a Perfectly Written Business Plan</a:t>
            </a:r>
            <a:endParaRPr lang="ko-KR" altLang="en-US" b="1" dirty="0">
              <a:solidFill>
                <a:schemeClr val="bg1"/>
              </a:solidFill>
              <a:cs typeface="Arial" pitchFamily="34" charset="0"/>
            </a:endParaRPr>
          </a:p>
        </p:txBody>
      </p:sp>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980" b="980"/>
          <a:stretch>
            <a:fillRect/>
          </a:stretch>
        </p:blipFill>
        <p:spPr/>
      </p:pic>
    </p:spTree>
    <p:extLst>
      <p:ext uri="{BB962C8B-B14F-4D97-AF65-F5344CB8AC3E}">
        <p14:creationId xmlns:p14="http://schemas.microsoft.com/office/powerpoint/2010/main" val="5796130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483768" y="267494"/>
            <a:ext cx="6480720" cy="4524315"/>
          </a:xfrm>
          <a:prstGeom prst="rect">
            <a:avLst/>
          </a:prstGeom>
          <a:noFill/>
        </p:spPr>
        <p:txBody>
          <a:bodyPr wrap="square" rtlCol="0">
            <a:spAutoFit/>
          </a:bodyPr>
          <a:lstStyle/>
          <a:p>
            <a:pPr>
              <a:lnSpc>
                <a:spcPct val="200000"/>
              </a:lnSpc>
            </a:pPr>
            <a:r>
              <a:rPr lang="en-US" b="1" dirty="0">
                <a:solidFill>
                  <a:srgbClr val="92D050"/>
                </a:solidFill>
              </a:rPr>
              <a:t>We  recommends that a business plan include:</a:t>
            </a:r>
          </a:p>
          <a:p>
            <a:pPr>
              <a:lnSpc>
                <a:spcPct val="200000"/>
              </a:lnSpc>
            </a:pPr>
            <a:r>
              <a:rPr lang="en-US" sz="1400" dirty="0">
                <a:solidFill>
                  <a:schemeClr val="bg1"/>
                </a:solidFill>
              </a:rPr>
              <a:t>Executive summary -- a snapshot of your business</a:t>
            </a:r>
          </a:p>
          <a:p>
            <a:pPr>
              <a:lnSpc>
                <a:spcPct val="200000"/>
              </a:lnSpc>
            </a:pPr>
            <a:r>
              <a:rPr lang="en-US" sz="1400" dirty="0">
                <a:solidFill>
                  <a:schemeClr val="bg1"/>
                </a:solidFill>
              </a:rPr>
              <a:t>Company description -- describes what you do</a:t>
            </a:r>
          </a:p>
          <a:p>
            <a:pPr>
              <a:lnSpc>
                <a:spcPct val="200000"/>
              </a:lnSpc>
            </a:pPr>
            <a:r>
              <a:rPr lang="en-US" sz="1400" dirty="0">
                <a:solidFill>
                  <a:schemeClr val="bg1"/>
                </a:solidFill>
              </a:rPr>
              <a:t>Market analysis - research on your industry, market and competitors</a:t>
            </a:r>
          </a:p>
          <a:p>
            <a:pPr>
              <a:lnSpc>
                <a:spcPct val="200000"/>
              </a:lnSpc>
            </a:pPr>
            <a:r>
              <a:rPr lang="en-US" sz="1400" dirty="0">
                <a:solidFill>
                  <a:schemeClr val="bg1"/>
                </a:solidFill>
              </a:rPr>
              <a:t>Organization and management -- your business and management structure</a:t>
            </a:r>
          </a:p>
          <a:p>
            <a:pPr>
              <a:lnSpc>
                <a:spcPct val="200000"/>
              </a:lnSpc>
            </a:pPr>
            <a:r>
              <a:rPr lang="en-US" sz="1400" dirty="0">
                <a:solidFill>
                  <a:schemeClr val="bg1"/>
                </a:solidFill>
              </a:rPr>
              <a:t>Service or product -- the products or services you’re offering</a:t>
            </a:r>
          </a:p>
          <a:p>
            <a:pPr>
              <a:lnSpc>
                <a:spcPct val="200000"/>
              </a:lnSpc>
            </a:pPr>
            <a:r>
              <a:rPr lang="en-US" sz="1400" dirty="0">
                <a:solidFill>
                  <a:schemeClr val="bg1"/>
                </a:solidFill>
              </a:rPr>
              <a:t>Marketing and sales -- how you’ll market your business and your sales strategy</a:t>
            </a:r>
          </a:p>
          <a:p>
            <a:pPr>
              <a:lnSpc>
                <a:spcPct val="200000"/>
              </a:lnSpc>
            </a:pPr>
            <a:r>
              <a:rPr lang="en-US" sz="1400" dirty="0">
                <a:solidFill>
                  <a:schemeClr val="bg1"/>
                </a:solidFill>
              </a:rPr>
              <a:t>Funding request -- how much money you’ll need for next 3 to 5 years</a:t>
            </a:r>
          </a:p>
          <a:p>
            <a:pPr>
              <a:lnSpc>
                <a:spcPct val="200000"/>
              </a:lnSpc>
            </a:pPr>
            <a:r>
              <a:rPr lang="en-US" sz="1400" dirty="0">
                <a:solidFill>
                  <a:schemeClr val="bg1"/>
                </a:solidFill>
              </a:rPr>
              <a:t>Financial projections -- supply information like balance sheets</a:t>
            </a:r>
          </a:p>
          <a:p>
            <a:pPr>
              <a:lnSpc>
                <a:spcPct val="200000"/>
              </a:lnSpc>
            </a:pPr>
            <a:r>
              <a:rPr lang="en-US" sz="1400" dirty="0">
                <a:solidFill>
                  <a:schemeClr val="bg1"/>
                </a:solidFill>
              </a:rPr>
              <a:t>List of addenda -- an optional section that includes résumés and permits</a:t>
            </a:r>
          </a:p>
        </p:txBody>
      </p:sp>
      <p:sp>
        <p:nvSpPr>
          <p:cNvPr id="4" name="Picture Placeholder 3"/>
          <p:cNvSpPr>
            <a:spLocks noGrp="1"/>
          </p:cNvSpPr>
          <p:nvPr>
            <p:ph type="pic" idx="1"/>
          </p:nvPr>
        </p:nvSpPr>
        <p:spPr>
          <a:xfrm>
            <a:off x="8690" y="0"/>
            <a:ext cx="2160000" cy="5143501"/>
          </a:xfrm>
        </p:spPr>
      </p:sp>
    </p:spTree>
    <p:extLst>
      <p:ext uri="{BB962C8B-B14F-4D97-AF65-F5344CB8AC3E}">
        <p14:creationId xmlns:p14="http://schemas.microsoft.com/office/powerpoint/2010/main" val="2844965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4294967295"/>
          </p:nvPr>
        </p:nvPicPr>
        <p:blipFill rotWithShape="1">
          <a:blip r:embed="rId2" cstate="print">
            <a:extLst>
              <a:ext uri="{28A0092B-C50C-407E-A947-70E740481C1C}">
                <a14:useLocalDpi xmlns:a14="http://schemas.microsoft.com/office/drawing/2010/main" val="0"/>
              </a:ext>
            </a:extLst>
          </a:blip>
          <a:srcRect l="26969" t="392" r="14780" b="1414"/>
          <a:stretch/>
        </p:blipFill>
        <p:spPr>
          <a:xfrm>
            <a:off x="-7938" y="0"/>
            <a:ext cx="4572001" cy="5143500"/>
          </a:xfrm>
          <a:prstGeom prst="rect">
            <a:avLst/>
          </a:prstGeom>
        </p:spPr>
      </p:pic>
      <p:sp>
        <p:nvSpPr>
          <p:cNvPr id="8" name="Rectangle 7">
            <a:extLst>
              <a:ext uri="{FF2B5EF4-FFF2-40B4-BE49-F238E27FC236}">
                <a16:creationId xmlns:a16="http://schemas.microsoft.com/office/drawing/2014/main" id="{4E1F1FAA-8C7F-4DA3-9847-627DFDB02DB0}"/>
              </a:ext>
            </a:extLst>
          </p:cNvPr>
          <p:cNvSpPr/>
          <p:nvPr/>
        </p:nvSpPr>
        <p:spPr>
          <a:xfrm>
            <a:off x="1979712" y="1995686"/>
            <a:ext cx="6984776" cy="1728192"/>
          </a:xfrm>
          <a:prstGeom prst="rect">
            <a:avLst/>
          </a:prstGeom>
          <a:solidFill>
            <a:schemeClr val="bg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2123728" y="2194380"/>
            <a:ext cx="6696744" cy="1384995"/>
          </a:xfrm>
          <a:prstGeom prst="rect">
            <a:avLst/>
          </a:prstGeom>
          <a:noFill/>
        </p:spPr>
        <p:txBody>
          <a:bodyPr wrap="square" rtlCol="0">
            <a:spAutoFit/>
          </a:bodyPr>
          <a:lstStyle/>
          <a:p>
            <a:pPr algn="ctr"/>
            <a:r>
              <a:rPr lang="en-US" sz="2800" b="1" dirty="0">
                <a:solidFill>
                  <a:srgbClr val="92D050"/>
                </a:solidFill>
              </a:rPr>
              <a:t>Getting started may be difficult to do</a:t>
            </a:r>
          </a:p>
          <a:p>
            <a:pPr algn="ctr"/>
            <a:r>
              <a:rPr lang="en-US" sz="2800" b="1" dirty="0">
                <a:solidFill>
                  <a:srgbClr val="92D050"/>
                </a:solidFill>
              </a:rPr>
              <a:t>So, here are seven steps for writing a perfect business plan.</a:t>
            </a:r>
          </a:p>
        </p:txBody>
      </p:sp>
    </p:spTree>
    <p:extLst>
      <p:ext uri="{BB962C8B-B14F-4D97-AF65-F5344CB8AC3E}">
        <p14:creationId xmlns:p14="http://schemas.microsoft.com/office/powerpoint/2010/main" val="1672626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23528" y="483518"/>
            <a:ext cx="8424936" cy="3785652"/>
          </a:xfrm>
          <a:prstGeom prst="rect">
            <a:avLst/>
          </a:prstGeom>
        </p:spPr>
        <p:txBody>
          <a:bodyPr wrap="square">
            <a:spAutoFit/>
          </a:bodyPr>
          <a:lstStyle/>
          <a:p>
            <a:pPr marL="342900" indent="-342900">
              <a:buAutoNum type="arabicPeriod"/>
            </a:pPr>
            <a:r>
              <a:rPr lang="en-US" sz="2400" b="1" dirty="0">
                <a:solidFill>
                  <a:srgbClr val="92D050"/>
                </a:solidFill>
              </a:rPr>
              <a:t>Research, research, research.</a:t>
            </a:r>
          </a:p>
          <a:p>
            <a:pPr marL="342900" indent="-342900">
              <a:buAutoNum type="arabicPeriod"/>
            </a:pPr>
            <a:endParaRPr lang="en-US" sz="2400" b="1" dirty="0">
              <a:solidFill>
                <a:schemeClr val="bg1"/>
              </a:solidFill>
            </a:endParaRPr>
          </a:p>
          <a:p>
            <a:pPr algn="just"/>
            <a:r>
              <a:rPr lang="en-US" sz="2400" dirty="0">
                <a:solidFill>
                  <a:schemeClr val="bg1"/>
                </a:solidFill>
              </a:rPr>
              <a:t>“Research and analyze your product, your market and your objective expertise,” William </a:t>
            </a:r>
            <a:r>
              <a:rPr lang="en-US" sz="2400" dirty="0" err="1">
                <a:solidFill>
                  <a:schemeClr val="bg1"/>
                </a:solidFill>
              </a:rPr>
              <a:t>Pirraglia</a:t>
            </a:r>
            <a:r>
              <a:rPr lang="en-US" sz="2400" dirty="0">
                <a:solidFill>
                  <a:schemeClr val="bg1"/>
                </a:solidFill>
              </a:rPr>
              <a:t>, a now-retired senior financial and management executive, has written. “Consider spending twice as much time researching, evaluating and thinking as you spend actually writing the business plan.</a:t>
            </a:r>
          </a:p>
          <a:p>
            <a:r>
              <a:rPr lang="en-US" sz="2400" dirty="0">
                <a:solidFill>
                  <a:schemeClr val="bg1"/>
                </a:solidFill>
              </a:rPr>
              <a:t>“To write the perfect plan, you must know your company, your product, your competition and the market intimately.”</a:t>
            </a:r>
          </a:p>
          <a:p>
            <a:endParaRPr lang="en-US" sz="2400" dirty="0">
              <a:solidFill>
                <a:schemeClr val="bg1"/>
              </a:solidFill>
            </a:endParaRP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474726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1520" y="22683"/>
            <a:ext cx="8424936" cy="4493538"/>
          </a:xfrm>
          <a:prstGeom prst="rect">
            <a:avLst/>
          </a:prstGeom>
        </p:spPr>
        <p:txBody>
          <a:bodyPr wrap="square">
            <a:spAutoFit/>
          </a:bodyPr>
          <a:lstStyle/>
          <a:p>
            <a:endParaRPr lang="en-US" sz="2200" b="1" dirty="0">
              <a:solidFill>
                <a:schemeClr val="bg1"/>
              </a:solidFill>
            </a:endParaRPr>
          </a:p>
          <a:p>
            <a:r>
              <a:rPr lang="en-US" sz="2200" b="1" dirty="0">
                <a:solidFill>
                  <a:srgbClr val="92D050"/>
                </a:solidFill>
              </a:rPr>
              <a:t>2. Determine the purpose of your plan.</a:t>
            </a:r>
          </a:p>
          <a:p>
            <a:endParaRPr lang="en-US" sz="2200" b="1" dirty="0"/>
          </a:p>
          <a:p>
            <a:pPr algn="just"/>
            <a:r>
              <a:rPr lang="en-US" sz="2200" dirty="0">
                <a:solidFill>
                  <a:schemeClr val="bg1"/>
                </a:solidFill>
              </a:rPr>
              <a:t>A business plan, as defined by </a:t>
            </a:r>
            <a:r>
              <a:rPr lang="en-US" sz="2200" i="1" dirty="0">
                <a:solidFill>
                  <a:schemeClr val="bg1"/>
                </a:solidFill>
              </a:rPr>
              <a:t>Entrepreneur, </a:t>
            </a:r>
            <a:r>
              <a:rPr lang="en-US" sz="2200" dirty="0">
                <a:solidFill>
                  <a:schemeClr val="bg1"/>
                </a:solidFill>
              </a:rPr>
              <a:t>is a “written document describing the nature of the business, the sales and marketing strategy, and the financial background, and containing a projected profit and loss statement.” However, your business plan can serve several different purposes</a:t>
            </a:r>
          </a:p>
          <a:p>
            <a:pPr algn="just"/>
            <a:r>
              <a:rPr lang="en-US" sz="2200" dirty="0">
                <a:solidFill>
                  <a:schemeClr val="bg1"/>
                </a:solidFill>
              </a:rPr>
              <a:t>But, if you want to attract investors, your plan will have a different purpose and you’ll have to write a plan that targets them so it will have to be as clear and concise as possible. When you define your plan, make sure you have defined these goals personally as well.</a:t>
            </a:r>
          </a:p>
          <a:p>
            <a:endParaRPr lang="en-US" sz="2200" dirty="0">
              <a:solidFill>
                <a:schemeClr val="bg1"/>
              </a:solidFill>
            </a:endParaRP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789808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1520" y="267494"/>
            <a:ext cx="8424936" cy="4154984"/>
          </a:xfrm>
          <a:prstGeom prst="rect">
            <a:avLst/>
          </a:prstGeom>
        </p:spPr>
        <p:txBody>
          <a:bodyPr wrap="square">
            <a:spAutoFit/>
          </a:bodyPr>
          <a:lstStyle/>
          <a:p>
            <a:pPr algn="just"/>
            <a:r>
              <a:rPr lang="en-US" sz="2400" b="1" dirty="0">
                <a:solidFill>
                  <a:srgbClr val="92D050"/>
                </a:solidFill>
              </a:rPr>
              <a:t>3. Create a company profile.</a:t>
            </a:r>
          </a:p>
          <a:p>
            <a:pPr algn="just"/>
            <a:endParaRPr lang="en-US" sz="2400" b="1" dirty="0"/>
          </a:p>
          <a:p>
            <a:pPr algn="just"/>
            <a:r>
              <a:rPr lang="en-US" sz="2400" dirty="0">
                <a:solidFill>
                  <a:schemeClr val="bg1"/>
                </a:solidFill>
              </a:rPr>
              <a:t>Your company profile includes the history of your organization, what products or services you offer, your target market and audience, your resources, how you’re going to solve a problem and what makes your business unique. Company profiles are often found on the company’s official website and are used to attract possible customers and talent. However, your profile can be used to describe your company in your business plan. It’s not only an essential component of your business plan; it’s also one of the first written parts of the plan.</a:t>
            </a: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5992981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1520" y="411510"/>
            <a:ext cx="8424936" cy="3046988"/>
          </a:xfrm>
          <a:prstGeom prst="rect">
            <a:avLst/>
          </a:prstGeom>
        </p:spPr>
        <p:txBody>
          <a:bodyPr wrap="square">
            <a:spAutoFit/>
          </a:bodyPr>
          <a:lstStyle/>
          <a:p>
            <a:r>
              <a:rPr lang="en-US" sz="2400" b="1" dirty="0">
                <a:solidFill>
                  <a:srgbClr val="92D050"/>
                </a:solidFill>
              </a:rPr>
              <a:t>4. Document all aspects of your business.</a:t>
            </a:r>
          </a:p>
          <a:p>
            <a:endParaRPr lang="en-US" sz="2400" b="1" dirty="0"/>
          </a:p>
          <a:p>
            <a:pPr algn="just"/>
            <a:r>
              <a:rPr lang="en-US" sz="2400" dirty="0">
                <a:solidFill>
                  <a:schemeClr val="bg1"/>
                </a:solidFill>
              </a:rPr>
              <a:t>Investors want to make sure that your business is going to make them money. Because of this expectation, investors want to know everything about your business. To help with this process, document everything from your expenses, cash flow and industry projections. Also, don’t forget seemingly minor details like your location strategy and licensing agreements.</a:t>
            </a: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4287917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1520" y="339502"/>
            <a:ext cx="8424936" cy="4062651"/>
          </a:xfrm>
          <a:prstGeom prst="rect">
            <a:avLst/>
          </a:prstGeom>
        </p:spPr>
        <p:txBody>
          <a:bodyPr wrap="square">
            <a:spAutoFit/>
          </a:bodyPr>
          <a:lstStyle/>
          <a:p>
            <a:r>
              <a:rPr lang="en-US" sz="2400" b="1" dirty="0">
                <a:solidFill>
                  <a:srgbClr val="92D050"/>
                </a:solidFill>
              </a:rPr>
              <a:t>5. Have a strategic marketing plan in place.</a:t>
            </a:r>
          </a:p>
          <a:p>
            <a:endParaRPr lang="en-US" sz="2400" b="1" dirty="0">
              <a:solidFill>
                <a:schemeClr val="bg1"/>
              </a:solidFill>
            </a:endParaRPr>
          </a:p>
          <a:p>
            <a:r>
              <a:rPr lang="en-US" sz="1400" dirty="0">
                <a:solidFill>
                  <a:schemeClr val="bg1"/>
                </a:solidFill>
              </a:rPr>
              <a:t>A great business plan will always include a strategic and aggressive marketing plan. This typically includes achieving marketing objectives such as:</a:t>
            </a:r>
          </a:p>
          <a:p>
            <a:pPr marL="285750" indent="-285750">
              <a:buFont typeface="Arial" panose="020B0604020202020204" pitchFamily="34" charset="0"/>
              <a:buChar char="•"/>
            </a:pPr>
            <a:r>
              <a:rPr lang="en-US" sz="1400" dirty="0">
                <a:solidFill>
                  <a:schemeClr val="bg1"/>
                </a:solidFill>
              </a:rPr>
              <a:t>Introducing new products</a:t>
            </a:r>
          </a:p>
          <a:p>
            <a:pPr marL="285750" indent="-285750">
              <a:buFont typeface="Arial" panose="020B0604020202020204" pitchFamily="34" charset="0"/>
              <a:buChar char="•"/>
            </a:pPr>
            <a:r>
              <a:rPr lang="en-US" sz="1400" dirty="0">
                <a:solidFill>
                  <a:schemeClr val="bg1"/>
                </a:solidFill>
              </a:rPr>
              <a:t>Extending or regaining market for existing products</a:t>
            </a:r>
          </a:p>
          <a:p>
            <a:pPr marL="285750" indent="-285750">
              <a:buFont typeface="Arial" panose="020B0604020202020204" pitchFamily="34" charset="0"/>
              <a:buChar char="•"/>
            </a:pPr>
            <a:r>
              <a:rPr lang="en-US" sz="1400" dirty="0">
                <a:solidFill>
                  <a:schemeClr val="bg1"/>
                </a:solidFill>
              </a:rPr>
              <a:t>Entering new territories for the company</a:t>
            </a:r>
          </a:p>
          <a:p>
            <a:pPr marL="285750" indent="-285750">
              <a:buFont typeface="Arial" panose="020B0604020202020204" pitchFamily="34" charset="0"/>
              <a:buChar char="•"/>
            </a:pPr>
            <a:r>
              <a:rPr lang="en-US" sz="1400" dirty="0">
                <a:solidFill>
                  <a:schemeClr val="bg1"/>
                </a:solidFill>
              </a:rPr>
              <a:t>Boosting sales in a particular product, market or price range. Where will this business come from? Be specific.</a:t>
            </a:r>
          </a:p>
          <a:p>
            <a:pPr marL="285750" indent="-285750">
              <a:buFont typeface="Arial" panose="020B0604020202020204" pitchFamily="34" charset="0"/>
              <a:buChar char="•"/>
            </a:pPr>
            <a:r>
              <a:rPr lang="en-US" sz="1400" dirty="0">
                <a:solidFill>
                  <a:schemeClr val="bg1"/>
                </a:solidFill>
              </a:rPr>
              <a:t>Cross-selling (or bundling) one product with another</a:t>
            </a:r>
          </a:p>
          <a:p>
            <a:pPr marL="285750" indent="-285750">
              <a:buFont typeface="Arial" panose="020B0604020202020204" pitchFamily="34" charset="0"/>
              <a:buChar char="•"/>
            </a:pPr>
            <a:r>
              <a:rPr lang="en-US" sz="1400" dirty="0">
                <a:solidFill>
                  <a:schemeClr val="bg1"/>
                </a:solidFill>
              </a:rPr>
              <a:t>Entering into long-term contracts with desirable clients</a:t>
            </a:r>
          </a:p>
          <a:p>
            <a:pPr marL="285750" indent="-285750">
              <a:buFont typeface="Arial" panose="020B0604020202020204" pitchFamily="34" charset="0"/>
              <a:buChar char="•"/>
            </a:pPr>
            <a:r>
              <a:rPr lang="en-US" sz="1400" dirty="0">
                <a:solidFill>
                  <a:schemeClr val="bg1"/>
                </a:solidFill>
              </a:rPr>
              <a:t>Raising prices without cutting into sales figures</a:t>
            </a:r>
          </a:p>
          <a:p>
            <a:pPr marL="285750" indent="-285750">
              <a:buFont typeface="Arial" panose="020B0604020202020204" pitchFamily="34" charset="0"/>
              <a:buChar char="•"/>
            </a:pPr>
            <a:r>
              <a:rPr lang="en-US" sz="1400" dirty="0">
                <a:solidFill>
                  <a:schemeClr val="bg1"/>
                </a:solidFill>
              </a:rPr>
              <a:t>Refining a product</a:t>
            </a:r>
          </a:p>
          <a:p>
            <a:pPr marL="285750" indent="-285750">
              <a:buFont typeface="Arial" panose="020B0604020202020204" pitchFamily="34" charset="0"/>
              <a:buChar char="•"/>
            </a:pPr>
            <a:r>
              <a:rPr lang="en-US" sz="1400" dirty="0">
                <a:solidFill>
                  <a:schemeClr val="bg1"/>
                </a:solidFill>
              </a:rPr>
              <a:t>Having a content marketing strategy</a:t>
            </a:r>
          </a:p>
          <a:p>
            <a:pPr marL="285750" indent="-285750">
              <a:buFont typeface="Arial" panose="020B0604020202020204" pitchFamily="34" charset="0"/>
              <a:buChar char="•"/>
            </a:pPr>
            <a:r>
              <a:rPr lang="en-US" sz="1400" dirty="0">
                <a:solidFill>
                  <a:schemeClr val="bg1"/>
                </a:solidFill>
              </a:rPr>
              <a:t>Enhancing manufacturing/product delivery</a:t>
            </a:r>
          </a:p>
          <a:p>
            <a:r>
              <a:rPr lang="en-US" sz="1400" dirty="0">
                <a:solidFill>
                  <a:schemeClr val="bg1"/>
                </a:solidFill>
              </a:rPr>
              <a:t>“Each marketing objective should have several goals (subsets of objectives) and tactics for achieving those goals,” states Entrepreneur.</a:t>
            </a: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743194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1520" y="339502"/>
            <a:ext cx="8424936" cy="4124206"/>
          </a:xfrm>
          <a:prstGeom prst="rect">
            <a:avLst/>
          </a:prstGeom>
        </p:spPr>
        <p:txBody>
          <a:bodyPr wrap="square">
            <a:spAutoFit/>
          </a:bodyPr>
          <a:lstStyle/>
          <a:p>
            <a:r>
              <a:rPr lang="en-US" sz="2400" b="1" dirty="0">
                <a:solidFill>
                  <a:srgbClr val="92D050"/>
                </a:solidFill>
              </a:rPr>
              <a:t>6. Make it adaptable based on your audience.</a:t>
            </a:r>
          </a:p>
          <a:p>
            <a:endParaRPr lang="en-US" sz="2400" b="1" dirty="0">
              <a:solidFill>
                <a:schemeClr val="bg1"/>
              </a:solidFill>
            </a:endParaRPr>
          </a:p>
          <a:p>
            <a:r>
              <a:rPr lang="en-US" sz="2000" dirty="0">
                <a:solidFill>
                  <a:schemeClr val="bg1"/>
                </a:solidFill>
              </a:rPr>
              <a:t>“The potential readers of a business plan are a varied bunch, ranging from bankers and venture capitalists to employees,” states Entrepreneur. “Although this is a diverse group, it is a finite one. And each type of reader does have certain typical interests. If you know these interests up-front, you can be sure to take them into account when preparing a plan for that particular audience.”</a:t>
            </a:r>
          </a:p>
          <a:p>
            <a:r>
              <a:rPr lang="en-US" sz="2000" dirty="0">
                <a:solidFill>
                  <a:schemeClr val="bg1"/>
                </a:solidFill>
              </a:rPr>
              <a:t>For example, bankers will be more interested in balance sheets and cash-flow statements, while venture capitalists will be looking at the basic business concept and your management team. The manager on your team, however, will be using the plan to “remind themselves of objectives.”</a:t>
            </a:r>
          </a:p>
          <a:p>
            <a:endParaRPr lang="en-US" sz="1400" dirty="0">
              <a:solidFill>
                <a:schemeClr val="bg1"/>
              </a:solidFill>
            </a:endParaRP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828695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51520" y="339502"/>
            <a:ext cx="8424936" cy="4124206"/>
          </a:xfrm>
          <a:prstGeom prst="rect">
            <a:avLst/>
          </a:prstGeom>
        </p:spPr>
        <p:txBody>
          <a:bodyPr wrap="square">
            <a:spAutoFit/>
          </a:bodyPr>
          <a:lstStyle/>
          <a:p>
            <a:r>
              <a:rPr lang="en-US" sz="2400" b="1" dirty="0">
                <a:solidFill>
                  <a:srgbClr val="92D050"/>
                </a:solidFill>
              </a:rPr>
              <a:t>7. Explain why you care.</a:t>
            </a:r>
          </a:p>
          <a:p>
            <a:endParaRPr lang="en-US" sz="2400" b="1" dirty="0">
              <a:solidFill>
                <a:schemeClr val="bg1"/>
              </a:solidFill>
            </a:endParaRPr>
          </a:p>
          <a:p>
            <a:r>
              <a:rPr lang="en-US" sz="2000" dirty="0">
                <a:solidFill>
                  <a:schemeClr val="bg1"/>
                </a:solidFill>
              </a:rPr>
              <a:t>Whether you’re sharing your plan with an investor, customer or team member, your plan needs to show that you’re passionate and dedicated, and you actually care about your business and the plan. You could discuss the mistakes that you've learned, list the problems that you’re hoping to solve, describe your values, and establish what makes you stand out from the competition.</a:t>
            </a:r>
          </a:p>
          <a:p>
            <a:r>
              <a:rPr lang="en-US" sz="2000" dirty="0">
                <a:solidFill>
                  <a:schemeClr val="bg1"/>
                </a:solidFill>
              </a:rPr>
              <a:t>When I started my payments company, I set out to conquer the world. I wanted to change the way payments were made and make it easier for anyone, anywhere in the world to pay anyone with few to no fees. I explained why I wanted to build this. My passion shows through everything I do.</a:t>
            </a:r>
          </a:p>
          <a:p>
            <a:endParaRPr lang="en-US" sz="1400" dirty="0">
              <a:solidFill>
                <a:schemeClr val="bg1"/>
              </a:solidFill>
            </a:endParaRPr>
          </a:p>
        </p:txBody>
      </p:sp>
      <p:sp>
        <p:nvSpPr>
          <p:cNvPr id="7" name="Rectangle 6"/>
          <p:cNvSpPr/>
          <p:nvPr/>
        </p:nvSpPr>
        <p:spPr>
          <a:xfrm>
            <a:off x="0" y="4659982"/>
            <a:ext cx="9144000" cy="48351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3480066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p:cNvPicPr>
            <a:picLocks noGrp="1" noChangeAspect="1"/>
          </p:cNvPicPr>
          <p:nvPr>
            <p:ph type="pic" sz="quarter" idx="4294967295"/>
          </p:nvPr>
        </p:nvPicPr>
        <p:blipFill>
          <a:blip r:embed="rId2" cstate="print">
            <a:extLst>
              <a:ext uri="{28A0092B-C50C-407E-A947-70E740481C1C}">
                <a14:useLocalDpi xmlns:a14="http://schemas.microsoft.com/office/drawing/2010/main" val="0"/>
              </a:ext>
            </a:extLst>
          </a:blip>
          <a:stretch>
            <a:fillRect/>
          </a:stretch>
        </p:blipFill>
        <p:spPr>
          <a:xfrm>
            <a:off x="3666616" y="0"/>
            <a:ext cx="5585904" cy="5143500"/>
          </a:xfrm>
          <a:custGeom>
            <a:avLst/>
            <a:gdLst>
              <a:gd name="connsiteX0" fmla="*/ 555736 w 8060638"/>
              <a:gd name="connsiteY0" fmla="*/ 0 h 6858000"/>
              <a:gd name="connsiteX1" fmla="*/ 8060638 w 8060638"/>
              <a:gd name="connsiteY1" fmla="*/ 0 h 6858000"/>
              <a:gd name="connsiteX2" fmla="*/ 8060638 w 8060638"/>
              <a:gd name="connsiteY2" fmla="*/ 6858000 h 6858000"/>
              <a:gd name="connsiteX3" fmla="*/ 1386404 w 8060638"/>
              <a:gd name="connsiteY3" fmla="*/ 6858000 h 6858000"/>
              <a:gd name="connsiteX4" fmla="*/ 1368697 w 8060638"/>
              <a:gd name="connsiteY4" fmla="*/ 6835467 h 6858000"/>
              <a:gd name="connsiteX5" fmla="*/ 0 w 8060638"/>
              <a:gd name="connsiteY5" fmla="*/ 2713384 h 6858000"/>
              <a:gd name="connsiteX6" fmla="*/ 541410 w 8060638"/>
              <a:gd name="connsiteY6" fmla="*/ 3168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0638" h="6858000">
                <a:moveTo>
                  <a:pt x="555736" y="0"/>
                </a:moveTo>
                <a:lnTo>
                  <a:pt x="8060638" y="0"/>
                </a:lnTo>
                <a:lnTo>
                  <a:pt x="8060638" y="6858000"/>
                </a:lnTo>
                <a:lnTo>
                  <a:pt x="1386404" y="6858000"/>
                </a:lnTo>
                <a:lnTo>
                  <a:pt x="1368697" y="6835467"/>
                </a:lnTo>
                <a:cubicBezTo>
                  <a:pt x="509067" y="5686009"/>
                  <a:pt x="0" y="4259146"/>
                  <a:pt x="0" y="2713384"/>
                </a:cubicBezTo>
                <a:cubicBezTo>
                  <a:pt x="0" y="1762146"/>
                  <a:pt x="192784" y="855935"/>
                  <a:pt x="541410" y="31689"/>
                </a:cubicBezTo>
                <a:close/>
              </a:path>
            </a:pathLst>
          </a:custGeom>
          <a:ln w="28575">
            <a:solidFill>
              <a:schemeClr val="bg1"/>
            </a:solidFill>
          </a:ln>
        </p:spPr>
      </p:pic>
      <p:sp>
        <p:nvSpPr>
          <p:cNvPr id="10" name="TextBox 9"/>
          <p:cNvSpPr txBox="1"/>
          <p:nvPr/>
        </p:nvSpPr>
        <p:spPr>
          <a:xfrm>
            <a:off x="218254" y="699542"/>
            <a:ext cx="4752528" cy="830997"/>
          </a:xfrm>
          <a:prstGeom prst="rect">
            <a:avLst/>
          </a:prstGeom>
          <a:noFill/>
        </p:spPr>
        <p:txBody>
          <a:bodyPr wrap="square" rtlCol="0">
            <a:spAutoFit/>
          </a:bodyPr>
          <a:lstStyle/>
          <a:p>
            <a:r>
              <a:rPr lang="en-US" sz="2400" b="1" dirty="0">
                <a:solidFill>
                  <a:srgbClr val="92D050"/>
                </a:solidFill>
              </a:rPr>
              <a:t>Market </a:t>
            </a:r>
          </a:p>
          <a:p>
            <a:r>
              <a:rPr lang="en-US" sz="2400" b="1" dirty="0">
                <a:solidFill>
                  <a:srgbClr val="92D050"/>
                </a:solidFill>
              </a:rPr>
              <a:t>opportunity analysis</a:t>
            </a:r>
          </a:p>
        </p:txBody>
      </p:sp>
      <p:sp>
        <p:nvSpPr>
          <p:cNvPr id="11" name="TextBox 10"/>
          <p:cNvSpPr txBox="1"/>
          <p:nvPr/>
        </p:nvSpPr>
        <p:spPr>
          <a:xfrm>
            <a:off x="204742" y="1923678"/>
            <a:ext cx="3240360" cy="2800767"/>
          </a:xfrm>
          <a:prstGeom prst="rect">
            <a:avLst/>
          </a:prstGeom>
          <a:noFill/>
        </p:spPr>
        <p:txBody>
          <a:bodyPr wrap="square" rtlCol="0">
            <a:spAutoFit/>
          </a:bodyPr>
          <a:lstStyle/>
          <a:p>
            <a:pPr algn="just"/>
            <a:r>
              <a:rPr lang="en-US" sz="1600" dirty="0">
                <a:solidFill>
                  <a:schemeClr val="bg1"/>
                </a:solidFill>
              </a:rPr>
              <a:t>As you work on your business plan, a major section needs to be devoted to identifying future opportunities for your company. This is key to developing a long term strategy, because without any planning you’re likely to only have short term success. Not something a typical business owner wants to hear. If you’re still waiting to make a start on your business plan.</a:t>
            </a:r>
          </a:p>
        </p:txBody>
      </p:sp>
    </p:spTree>
    <p:extLst>
      <p:ext uri="{BB962C8B-B14F-4D97-AF65-F5344CB8AC3E}">
        <p14:creationId xmlns:p14="http://schemas.microsoft.com/office/powerpoint/2010/main" val="25726601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915566"/>
            <a:ext cx="251520" cy="422793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0" y="0"/>
            <a:ext cx="251520" cy="841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611560" y="411510"/>
            <a:ext cx="8136904" cy="3539430"/>
          </a:xfrm>
          <a:prstGeom prst="rect">
            <a:avLst/>
          </a:prstGeom>
          <a:noFill/>
        </p:spPr>
        <p:txBody>
          <a:bodyPr wrap="square" rtlCol="0">
            <a:spAutoFit/>
          </a:bodyPr>
          <a:lstStyle/>
          <a:p>
            <a:pPr marL="342900" indent="-342900" fontAlgn="base">
              <a:buAutoNum type="arabicPeriod"/>
            </a:pPr>
            <a:r>
              <a:rPr lang="en-US" b="1" dirty="0">
                <a:solidFill>
                  <a:srgbClr val="92D050"/>
                </a:solidFill>
              </a:rPr>
              <a:t>Identify what’s currently happening in the business environment.</a:t>
            </a:r>
          </a:p>
          <a:p>
            <a:pPr marL="342900" indent="-342900" fontAlgn="base">
              <a:buAutoNum type="arabicPeriod"/>
            </a:pPr>
            <a:endParaRPr lang="en-US" sz="2800" dirty="0">
              <a:solidFill>
                <a:srgbClr val="92D050"/>
              </a:solidFill>
            </a:endParaRPr>
          </a:p>
          <a:p>
            <a:pPr algn="just" fontAlgn="base"/>
            <a:r>
              <a:rPr lang="en-US" sz="2000" dirty="0">
                <a:solidFill>
                  <a:schemeClr val="bg1"/>
                </a:solidFill>
              </a:rPr>
              <a:t>In this section you need to look at the economic conditions (growth, stable or decline) as well as any trends or social changes that could have an impact on the business. Delve into both the legal and regulatory situations, as these can often change and you need to be prepared for any future expected changes as well. Research the latest technology and state of the art developments, and take into account the natural environment. Are there any vulnerabilities or limitations on resources that could hinder your growth?</a:t>
            </a:r>
          </a:p>
          <a:p>
            <a:endParaRPr lang="en-US" dirty="0"/>
          </a:p>
        </p:txBody>
      </p:sp>
    </p:spTree>
    <p:extLst>
      <p:ext uri="{BB962C8B-B14F-4D97-AF65-F5344CB8AC3E}">
        <p14:creationId xmlns:p14="http://schemas.microsoft.com/office/powerpoint/2010/main" val="8270091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915566"/>
            <a:ext cx="251520" cy="422793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0" y="0"/>
            <a:ext cx="251520" cy="841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611560" y="411510"/>
            <a:ext cx="8136904" cy="3385542"/>
          </a:xfrm>
          <a:prstGeom prst="rect">
            <a:avLst/>
          </a:prstGeom>
          <a:noFill/>
        </p:spPr>
        <p:txBody>
          <a:bodyPr wrap="square" rtlCol="0">
            <a:spAutoFit/>
          </a:bodyPr>
          <a:lstStyle/>
          <a:p>
            <a:pPr fontAlgn="base"/>
            <a:r>
              <a:rPr lang="en-US" b="1" dirty="0">
                <a:solidFill>
                  <a:srgbClr val="92D050"/>
                </a:solidFill>
              </a:rPr>
              <a:t>2. Define the industry and determine the outlook.</a:t>
            </a:r>
          </a:p>
          <a:p>
            <a:pPr fontAlgn="base"/>
            <a:endParaRPr lang="en-US" dirty="0"/>
          </a:p>
          <a:p>
            <a:pPr algn="just" fontAlgn="base"/>
            <a:r>
              <a:rPr lang="en-US" sz="2000" dirty="0">
                <a:solidFill>
                  <a:schemeClr val="bg1"/>
                </a:solidFill>
              </a:rPr>
              <a:t>Here you need to state exactly the industry that you are operating within, and make forecasts on the size of the market. Look back over the last 5 years, and project how you believe it will grow over the next 12 months, 3 years and 5 years. Look to your competition and discover the marketing practices that are being utilized, and see if you can see any major trends or shifts within your industry. Here there are major implications for potential opportunities, as you need to ensure you’re moving in the same direction as the market.</a:t>
            </a:r>
          </a:p>
          <a:p>
            <a:endParaRPr lang="en-US" dirty="0"/>
          </a:p>
        </p:txBody>
      </p:sp>
    </p:spTree>
    <p:extLst>
      <p:ext uri="{BB962C8B-B14F-4D97-AF65-F5344CB8AC3E}">
        <p14:creationId xmlns:p14="http://schemas.microsoft.com/office/powerpoint/2010/main" val="217640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915566"/>
            <a:ext cx="251520" cy="422793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0" y="0"/>
            <a:ext cx="251520" cy="841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611560" y="411510"/>
            <a:ext cx="8136904" cy="4031873"/>
          </a:xfrm>
          <a:prstGeom prst="rect">
            <a:avLst/>
          </a:prstGeom>
          <a:noFill/>
        </p:spPr>
        <p:txBody>
          <a:bodyPr wrap="square" rtlCol="0">
            <a:spAutoFit/>
          </a:bodyPr>
          <a:lstStyle/>
          <a:p>
            <a:pPr fontAlgn="base"/>
            <a:r>
              <a:rPr lang="en-US" b="1" dirty="0">
                <a:solidFill>
                  <a:srgbClr val="92D050"/>
                </a:solidFill>
              </a:rPr>
              <a:t>3. Dive into the details of your competitors.</a:t>
            </a:r>
          </a:p>
          <a:p>
            <a:pPr fontAlgn="base"/>
            <a:endParaRPr lang="en-US" dirty="0"/>
          </a:p>
          <a:p>
            <a:pPr algn="just" fontAlgn="base"/>
            <a:r>
              <a:rPr lang="en-US" sz="2000" dirty="0">
                <a:solidFill>
                  <a:schemeClr val="bg1"/>
                </a:solidFill>
              </a:rPr>
              <a:t>You need to know what businesses you are competing with, and know their products inside and out. Go through their product mix, and compare this with the products you are offering. Make sure you’re objective in your approach, and also identify the relative strengths and weaknesses of the products from your customers’ point of view. Look at how your competition is reaching the market, the channels they’re using to both distribute and market their products, and the level of service that’s being offered. If you have details on the market share of other businesses include it here, and sum it all up in a couple of short sentences that outline the implications of this section regarding the opportunities in the market.</a:t>
            </a:r>
          </a:p>
        </p:txBody>
      </p:sp>
    </p:spTree>
    <p:extLst>
      <p:ext uri="{BB962C8B-B14F-4D97-AF65-F5344CB8AC3E}">
        <p14:creationId xmlns:p14="http://schemas.microsoft.com/office/powerpoint/2010/main" val="22328839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915566"/>
            <a:ext cx="251520" cy="422793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0" y="0"/>
            <a:ext cx="251520" cy="841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611560" y="411510"/>
            <a:ext cx="8136904" cy="4555093"/>
          </a:xfrm>
          <a:prstGeom prst="rect">
            <a:avLst/>
          </a:prstGeom>
          <a:noFill/>
        </p:spPr>
        <p:txBody>
          <a:bodyPr wrap="square" rtlCol="0">
            <a:spAutoFit/>
          </a:bodyPr>
          <a:lstStyle/>
          <a:p>
            <a:pPr fontAlgn="base"/>
            <a:r>
              <a:rPr lang="en-US" b="1" dirty="0">
                <a:solidFill>
                  <a:srgbClr val="92D050"/>
                </a:solidFill>
              </a:rPr>
              <a:t>4. Describe your target market.</a:t>
            </a:r>
          </a:p>
          <a:p>
            <a:pPr fontAlgn="base"/>
            <a:endParaRPr lang="en-US" dirty="0"/>
          </a:p>
          <a:p>
            <a:pPr algn="just" fontAlgn="base"/>
            <a:r>
              <a:rPr lang="en-US" sz="1600" dirty="0">
                <a:solidFill>
                  <a:schemeClr val="bg1"/>
                </a:solidFill>
              </a:rPr>
              <a:t>You need to build a profile of your ideal customer, so that you can adequately focus your sales and marketing efforts and reach your customers. If you haven’t built a marketing plan before. In essence you simply need to look at the needs of your customers, but if you get stuck try asking yourself one of these questions:</a:t>
            </a:r>
          </a:p>
          <a:p>
            <a:pPr algn="just" fontAlgn="base"/>
            <a:endParaRPr lang="en-US" dirty="0"/>
          </a:p>
          <a:p>
            <a:pPr marL="285750" indent="-285750" fontAlgn="base">
              <a:buFont typeface="Arial" panose="020B0604020202020204" pitchFamily="34" charset="0"/>
              <a:buChar char="•"/>
            </a:pPr>
            <a:r>
              <a:rPr lang="en-US" sz="1400" dirty="0">
                <a:solidFill>
                  <a:schemeClr val="bg1"/>
                </a:solidFill>
              </a:rPr>
              <a:t>Who are my potential customers?</a:t>
            </a:r>
          </a:p>
          <a:p>
            <a:pPr marL="285750" indent="-285750" fontAlgn="base">
              <a:buFont typeface="Arial" panose="020B0604020202020204" pitchFamily="34" charset="0"/>
              <a:buChar char="•"/>
            </a:pPr>
            <a:r>
              <a:rPr lang="en-US" sz="1400" dirty="0">
                <a:solidFill>
                  <a:schemeClr val="bg1"/>
                </a:solidFill>
              </a:rPr>
              <a:t>What are my potential customers like as a consumer?</a:t>
            </a:r>
          </a:p>
          <a:p>
            <a:pPr marL="285750" indent="-285750" fontAlgn="base">
              <a:buFont typeface="Arial" panose="020B0604020202020204" pitchFamily="34" charset="0"/>
              <a:buChar char="•"/>
            </a:pPr>
            <a:r>
              <a:rPr lang="en-US" sz="1400" dirty="0">
                <a:solidFill>
                  <a:schemeClr val="bg1"/>
                </a:solidFill>
              </a:rPr>
              <a:t>What are my potential customers looking for?</a:t>
            </a:r>
          </a:p>
          <a:p>
            <a:pPr marL="285750" indent="-285750" fontAlgn="base">
              <a:buFont typeface="Arial" panose="020B0604020202020204" pitchFamily="34" charset="0"/>
              <a:buChar char="•"/>
            </a:pPr>
            <a:r>
              <a:rPr lang="en-US" sz="1400" dirty="0">
                <a:solidFill>
                  <a:schemeClr val="bg1"/>
                </a:solidFill>
              </a:rPr>
              <a:t>When is the product needed?</a:t>
            </a:r>
          </a:p>
          <a:p>
            <a:pPr marL="285750" indent="-285750" fontAlgn="base">
              <a:buFont typeface="Arial" panose="020B0604020202020204" pitchFamily="34" charset="0"/>
              <a:buChar char="•"/>
            </a:pPr>
            <a:r>
              <a:rPr lang="en-US" sz="1400" dirty="0">
                <a:solidFill>
                  <a:schemeClr val="bg1"/>
                </a:solidFill>
              </a:rPr>
              <a:t>Is there a particular channel that the product sells best in?</a:t>
            </a:r>
          </a:p>
          <a:p>
            <a:pPr marL="285750" indent="-285750" fontAlgn="base">
              <a:buFont typeface="Arial" panose="020B0604020202020204" pitchFamily="34" charset="0"/>
              <a:buChar char="•"/>
            </a:pPr>
            <a:r>
              <a:rPr lang="en-US" sz="1400" dirty="0">
                <a:solidFill>
                  <a:schemeClr val="bg1"/>
                </a:solidFill>
              </a:rPr>
              <a:t>How do my potential customers make a decision to buy a product?</a:t>
            </a:r>
          </a:p>
          <a:p>
            <a:pPr marL="285750" indent="-285750" fontAlgn="base">
              <a:buFont typeface="Arial" panose="020B0604020202020204" pitchFamily="34" charset="0"/>
              <a:buChar char="•"/>
            </a:pPr>
            <a:r>
              <a:rPr lang="en-US" sz="1400" dirty="0">
                <a:solidFill>
                  <a:schemeClr val="bg1"/>
                </a:solidFill>
              </a:rPr>
              <a:t>How important is each of my products attributes to my potential customers?</a:t>
            </a:r>
          </a:p>
          <a:p>
            <a:pPr marL="285750" indent="-285750" fontAlgn="base">
              <a:buFont typeface="Arial" panose="020B0604020202020204" pitchFamily="34" charset="0"/>
              <a:buChar char="•"/>
            </a:pPr>
            <a:r>
              <a:rPr lang="en-US" sz="1400" dirty="0">
                <a:solidFill>
                  <a:schemeClr val="bg1"/>
                </a:solidFill>
              </a:rPr>
              <a:t>Are there any outside influences that have an effect on their buying decision?</a:t>
            </a:r>
          </a:p>
          <a:p>
            <a:pPr marL="285750" indent="-285750" fontAlgn="base">
              <a:buFont typeface="Arial" panose="020B0604020202020204" pitchFamily="34" charset="0"/>
              <a:buChar char="•"/>
            </a:pPr>
            <a:r>
              <a:rPr lang="en-US" sz="1400" dirty="0">
                <a:solidFill>
                  <a:schemeClr val="bg1"/>
                </a:solidFill>
              </a:rPr>
              <a:t>Is there any limitations that can influence the level of opportunity?</a:t>
            </a:r>
          </a:p>
          <a:p>
            <a:pPr marL="285750" indent="-285750" fontAlgn="base">
              <a:buFont typeface="Arial" panose="020B0604020202020204" pitchFamily="34" charset="0"/>
              <a:buChar char="•"/>
            </a:pPr>
            <a:r>
              <a:rPr lang="en-US" sz="1400" dirty="0">
                <a:solidFill>
                  <a:schemeClr val="bg1"/>
                </a:solidFill>
              </a:rPr>
              <a:t>What is the competition starting to do?</a:t>
            </a:r>
          </a:p>
          <a:p>
            <a:pPr marL="285750" indent="-285750" fontAlgn="base">
              <a:buFont typeface="Arial" panose="020B0604020202020204" pitchFamily="34" charset="0"/>
              <a:buChar char="•"/>
            </a:pPr>
            <a:r>
              <a:rPr lang="en-US" sz="1400" dirty="0">
                <a:solidFill>
                  <a:schemeClr val="bg1"/>
                </a:solidFill>
              </a:rPr>
              <a:t>How is the market developing and changing?</a:t>
            </a:r>
          </a:p>
          <a:p>
            <a:endParaRPr lang="en-US" dirty="0"/>
          </a:p>
        </p:txBody>
      </p:sp>
    </p:spTree>
    <p:extLst>
      <p:ext uri="{BB962C8B-B14F-4D97-AF65-F5344CB8AC3E}">
        <p14:creationId xmlns:p14="http://schemas.microsoft.com/office/powerpoint/2010/main" val="1451088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915566"/>
            <a:ext cx="251520" cy="4227934"/>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Rectangle 7"/>
          <p:cNvSpPr/>
          <p:nvPr/>
        </p:nvSpPr>
        <p:spPr>
          <a:xfrm>
            <a:off x="0" y="0"/>
            <a:ext cx="251520" cy="8418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611560" y="411510"/>
            <a:ext cx="8136904" cy="2769989"/>
          </a:xfrm>
          <a:prstGeom prst="rect">
            <a:avLst/>
          </a:prstGeom>
          <a:noFill/>
        </p:spPr>
        <p:txBody>
          <a:bodyPr wrap="square" rtlCol="0">
            <a:spAutoFit/>
          </a:bodyPr>
          <a:lstStyle/>
          <a:p>
            <a:pPr fontAlgn="base"/>
            <a:r>
              <a:rPr lang="en-US" b="1" dirty="0">
                <a:solidFill>
                  <a:srgbClr val="92D050"/>
                </a:solidFill>
              </a:rPr>
              <a:t>5. Create your projections.</a:t>
            </a:r>
          </a:p>
          <a:p>
            <a:pPr fontAlgn="base"/>
            <a:endParaRPr lang="en-US" dirty="0"/>
          </a:p>
          <a:p>
            <a:pPr algn="just" fontAlgn="base"/>
            <a:r>
              <a:rPr lang="en-US" sz="2000" dirty="0">
                <a:solidFill>
                  <a:schemeClr val="bg1"/>
                </a:solidFill>
              </a:rPr>
              <a:t>Use a variety of techniques that build on all of the information in your business plan to set a forecast of your sales. This includes best and worst case scenario analysis, any intuition or “gut-feelings” you have about new markets, and compare any results you have seen to date. The final recommendation in a market opportunity analysis is a simple answer to this question. Is the project a go? Or a no go?</a:t>
            </a:r>
          </a:p>
          <a:p>
            <a:endParaRPr lang="en-US" dirty="0"/>
          </a:p>
        </p:txBody>
      </p:sp>
    </p:spTree>
    <p:extLst>
      <p:ext uri="{BB962C8B-B14F-4D97-AF65-F5344CB8AC3E}">
        <p14:creationId xmlns:p14="http://schemas.microsoft.com/office/powerpoint/2010/main" val="1009152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323528" y="1491630"/>
            <a:ext cx="8496944" cy="33123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251520" y="463084"/>
            <a:ext cx="4608512" cy="707886"/>
          </a:xfrm>
          <a:prstGeom prst="rect">
            <a:avLst/>
          </a:prstGeom>
          <a:noFill/>
        </p:spPr>
        <p:txBody>
          <a:bodyPr wrap="square" rtlCol="0">
            <a:spAutoFit/>
          </a:bodyPr>
          <a:lstStyle/>
          <a:p>
            <a:r>
              <a:rPr lang="en-US" sz="2000" b="1" dirty="0" err="1">
                <a:solidFill>
                  <a:srgbClr val="92D050"/>
                </a:solidFill>
              </a:rPr>
              <a:t>Identifustomey</a:t>
            </a:r>
            <a:r>
              <a:rPr lang="en-US" sz="2000" b="1" dirty="0">
                <a:solidFill>
                  <a:srgbClr val="92D050"/>
                </a:solidFill>
              </a:rPr>
              <a:t> the </a:t>
            </a:r>
            <a:r>
              <a:rPr lang="en-US" sz="2000" b="1" dirty="0" err="1">
                <a:solidFill>
                  <a:srgbClr val="92D050"/>
                </a:solidFill>
              </a:rPr>
              <a:t>crs</a:t>
            </a:r>
            <a:r>
              <a:rPr lang="en-US" sz="2000" b="1" dirty="0">
                <a:solidFill>
                  <a:srgbClr val="92D050"/>
                </a:solidFill>
              </a:rPr>
              <a:t> or potential </a:t>
            </a:r>
          </a:p>
          <a:p>
            <a:r>
              <a:rPr lang="en-US" sz="2000" b="1" dirty="0">
                <a:solidFill>
                  <a:srgbClr val="92D050"/>
                </a:solidFill>
              </a:rPr>
              <a:t>customers for a business</a:t>
            </a:r>
          </a:p>
        </p:txBody>
      </p:sp>
      <p:sp>
        <p:nvSpPr>
          <p:cNvPr id="14" name="TextBox 13"/>
          <p:cNvSpPr txBox="1"/>
          <p:nvPr/>
        </p:nvSpPr>
        <p:spPr>
          <a:xfrm>
            <a:off x="467706" y="1654224"/>
            <a:ext cx="4464334" cy="3077766"/>
          </a:xfrm>
          <a:prstGeom prst="rect">
            <a:avLst/>
          </a:prstGeom>
          <a:noFill/>
        </p:spPr>
        <p:txBody>
          <a:bodyPr wrap="square" rtlCol="0">
            <a:spAutoFit/>
          </a:bodyPr>
          <a:lstStyle/>
          <a:p>
            <a:pPr algn="justLow"/>
            <a:r>
              <a:rPr lang="en-US" sz="1300" dirty="0">
                <a:solidFill>
                  <a:schemeClr val="bg1"/>
                </a:solidFill>
              </a:rPr>
              <a:t>Entrepreneurs who operate small-scale, or lifestyle, ventures face different risks and stresses. Talented people usually avoid companies that offer no stock options and only limited opportunities for personal growth, so the entrepreneur’s long hours may never end. Because personal franchises are difficult to sell and often require the owner’s daily presence, founders may become locked into their businesses. They may face financial distress if they become sick or just burn out. “I’m always running, running, running,” complains one entrepreneur, whose business earns him half a million dollars per year. “I work 14-hour days, and I can’t remember the last time I took a vacation. I would like to sell the business, but who wants to buy a company with no infrastructure or employees?”</a:t>
            </a:r>
          </a:p>
          <a:p>
            <a:pPr algn="justLow"/>
            <a:endParaRPr lang="en-US" sz="1200" dirty="0">
              <a:solidFill>
                <a:schemeClr val="bg1"/>
              </a:solidFill>
            </a:endParaRPr>
          </a:p>
        </p:txBody>
      </p:sp>
      <p:pic>
        <p:nvPicPr>
          <p:cNvPr id="3" name="Picture Placeholder 2"/>
          <p:cNvPicPr>
            <a:picLocks noGrp="1" noChangeAspect="1"/>
          </p:cNvPicPr>
          <p:nvPr>
            <p:ph type="pic" idx="12"/>
          </p:nvPr>
        </p:nvPicPr>
        <p:blipFill>
          <a:blip r:embed="rId2" cstate="print">
            <a:extLst>
              <a:ext uri="{28A0092B-C50C-407E-A947-70E740481C1C}">
                <a14:useLocalDpi xmlns:a14="http://schemas.microsoft.com/office/drawing/2010/main" val="0"/>
              </a:ext>
            </a:extLst>
          </a:blip>
          <a:srcRect l="10050" r="10050"/>
          <a:stretch>
            <a:fillRect/>
          </a:stretch>
        </p:blipFill>
        <p:spPr>
          <a:xfrm>
            <a:off x="5148907" y="555526"/>
            <a:ext cx="3311525" cy="3816350"/>
          </a:xfrm>
          <a:ln>
            <a:solidFill>
              <a:schemeClr val="bg1"/>
            </a:solidFill>
          </a:ln>
        </p:spPr>
      </p:pic>
    </p:spTree>
    <p:extLst>
      <p:ext uri="{BB962C8B-B14F-4D97-AF65-F5344CB8AC3E}">
        <p14:creationId xmlns:p14="http://schemas.microsoft.com/office/powerpoint/2010/main" val="33500879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5496" y="51471"/>
            <a:ext cx="9073008" cy="1080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Frame 5"/>
          <p:cNvSpPr/>
          <p:nvPr/>
        </p:nvSpPr>
        <p:spPr>
          <a:xfrm>
            <a:off x="188640" y="159482"/>
            <a:ext cx="8766720" cy="4824536"/>
          </a:xfrm>
          <a:prstGeom prst="frame">
            <a:avLst>
              <a:gd name="adj1" fmla="val 100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TextBox 7"/>
          <p:cNvSpPr txBox="1"/>
          <p:nvPr/>
        </p:nvSpPr>
        <p:spPr>
          <a:xfrm>
            <a:off x="467544" y="2042431"/>
            <a:ext cx="8064896" cy="2246769"/>
          </a:xfrm>
          <a:prstGeom prst="rect">
            <a:avLst/>
          </a:prstGeom>
          <a:noFill/>
        </p:spPr>
        <p:txBody>
          <a:bodyPr wrap="square" rtlCol="0">
            <a:spAutoFit/>
          </a:bodyPr>
          <a:lstStyle/>
          <a:p>
            <a:pPr algn="ctr"/>
            <a:r>
              <a:rPr lang="en-US" sz="3200" dirty="0">
                <a:solidFill>
                  <a:schemeClr val="bg1"/>
                </a:solidFill>
              </a:rPr>
              <a:t>Are you starting to roll out your marketing </a:t>
            </a:r>
          </a:p>
          <a:p>
            <a:pPr algn="ctr"/>
            <a:r>
              <a:rPr lang="en-US" sz="3200" dirty="0">
                <a:solidFill>
                  <a:schemeClr val="bg1"/>
                </a:solidFill>
              </a:rPr>
              <a:t>plan and netting yourself some customers? Follow these 10 steps to be successful.</a:t>
            </a:r>
          </a:p>
          <a:p>
            <a:pPr algn="ctr"/>
            <a:endParaRPr lang="en-US" sz="4400" dirty="0">
              <a:solidFill>
                <a:schemeClr val="bg1"/>
              </a:solidFill>
            </a:endParaRPr>
          </a:p>
        </p:txBody>
      </p:sp>
      <p:sp>
        <p:nvSpPr>
          <p:cNvPr id="10" name="TextBox 9"/>
          <p:cNvSpPr txBox="1"/>
          <p:nvPr/>
        </p:nvSpPr>
        <p:spPr>
          <a:xfrm>
            <a:off x="256084" y="425322"/>
            <a:ext cx="8928992" cy="400110"/>
          </a:xfrm>
          <a:prstGeom prst="rect">
            <a:avLst/>
          </a:prstGeom>
          <a:noFill/>
        </p:spPr>
        <p:txBody>
          <a:bodyPr wrap="square" rtlCol="0">
            <a:spAutoFit/>
          </a:bodyPr>
          <a:lstStyle/>
          <a:p>
            <a:r>
              <a:rPr lang="en-US" sz="2000" b="1" dirty="0"/>
              <a:t>10 Steps To Target And Connect With Potential Customers Effectively</a:t>
            </a:r>
            <a:endParaRPr lang="en-US" sz="2000" b="1" dirty="0">
              <a:solidFill>
                <a:srgbClr val="009D97"/>
              </a:solidFill>
            </a:endParaRPr>
          </a:p>
        </p:txBody>
      </p:sp>
      <p:sp>
        <p:nvSpPr>
          <p:cNvPr id="2" name="Rectangle 1"/>
          <p:cNvSpPr/>
          <p:nvPr/>
        </p:nvSpPr>
        <p:spPr>
          <a:xfrm>
            <a:off x="323528" y="1238457"/>
            <a:ext cx="8496944" cy="109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5841140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5" y="0"/>
            <a:ext cx="4680012"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16155" y="699542"/>
            <a:ext cx="4248472" cy="3416320"/>
          </a:xfrm>
          <a:prstGeom prst="rect">
            <a:avLst/>
          </a:prstGeom>
          <a:noFill/>
        </p:spPr>
        <p:txBody>
          <a:bodyPr wrap="square" rtlCol="0">
            <a:spAutoFit/>
          </a:bodyPr>
          <a:lstStyle/>
          <a:p>
            <a:pPr marL="342900" indent="-342900">
              <a:buAutoNum type="arabicPeriod"/>
            </a:pPr>
            <a:r>
              <a:rPr lang="en-US" b="1" dirty="0">
                <a:solidFill>
                  <a:schemeClr val="bg1"/>
                </a:solidFill>
              </a:rPr>
              <a:t>Survey Customers</a:t>
            </a:r>
          </a:p>
          <a:p>
            <a:pPr marL="342900" indent="-342900">
              <a:buAutoNum type="arabicPeriod"/>
            </a:pPr>
            <a:endParaRPr lang="en-US" dirty="0">
              <a:solidFill>
                <a:schemeClr val="bg1"/>
              </a:solidFill>
            </a:endParaRPr>
          </a:p>
          <a:p>
            <a:pPr algn="just"/>
            <a:r>
              <a:rPr lang="en-US" dirty="0">
                <a:solidFill>
                  <a:schemeClr val="bg1"/>
                </a:solidFill>
              </a:rPr>
              <a:t>You won’t be able to connect effectively with your potential customers if you don’t have a customer in mind. Survey current customers, as well as members of your target market, to find out how you can better present your product or service, or what aspects might be missing from what you’re currently offering.</a:t>
            </a:r>
          </a:p>
          <a:p>
            <a:endParaRPr lang="en-US" dirty="0">
              <a:solidFill>
                <a:schemeClr val="bg1"/>
              </a:solidFill>
            </a:endParaRPr>
          </a:p>
          <a:p>
            <a:endParaRPr lang="en-US" dirty="0">
              <a:solidFill>
                <a:schemeClr val="bg1"/>
              </a:solidFill>
            </a:endParaRPr>
          </a:p>
        </p:txBody>
      </p:sp>
      <p:sp>
        <p:nvSpPr>
          <p:cNvPr id="11" name="TextBox 10"/>
          <p:cNvSpPr txBox="1"/>
          <p:nvPr/>
        </p:nvSpPr>
        <p:spPr>
          <a:xfrm>
            <a:off x="4707619" y="436074"/>
            <a:ext cx="4248472" cy="4247317"/>
          </a:xfrm>
          <a:prstGeom prst="rect">
            <a:avLst/>
          </a:prstGeom>
          <a:noFill/>
        </p:spPr>
        <p:txBody>
          <a:bodyPr wrap="square" rtlCol="0">
            <a:spAutoFit/>
          </a:bodyPr>
          <a:lstStyle/>
          <a:p>
            <a:pPr algn="just"/>
            <a:r>
              <a:rPr lang="en-US" b="1" dirty="0">
                <a:solidFill>
                  <a:schemeClr val="bg1"/>
                </a:solidFill>
              </a:rPr>
              <a:t>2. Research Your Competitors And Find Out Who Their Customers Are</a:t>
            </a:r>
          </a:p>
          <a:p>
            <a:pPr algn="just"/>
            <a:endParaRPr lang="en-US" dirty="0">
              <a:solidFill>
                <a:schemeClr val="bg1"/>
              </a:solidFill>
            </a:endParaRPr>
          </a:p>
          <a:p>
            <a:pPr algn="just"/>
            <a:r>
              <a:rPr lang="en-US" dirty="0">
                <a:solidFill>
                  <a:schemeClr val="bg1"/>
                </a:solidFill>
              </a:rPr>
              <a:t>An easy way to find out which kind of marketing campaign works and which don’t is by researching competitors in your industry.</a:t>
            </a:r>
          </a:p>
          <a:p>
            <a:pPr algn="just"/>
            <a:r>
              <a:rPr lang="en-US" dirty="0">
                <a:solidFill>
                  <a:schemeClr val="bg1"/>
                </a:solidFill>
              </a:rPr>
              <a:t>Not only will this inexpensive effort give you some ideas to follow for your own campaigns, this research will also reveal dark spots in your competitor’s process and present new directions for you to take your own marketing strategy.</a:t>
            </a:r>
          </a:p>
          <a:p>
            <a:pPr algn="just"/>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0594953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5" y="0"/>
            <a:ext cx="4680012"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16155" y="436074"/>
            <a:ext cx="4248472" cy="4524315"/>
          </a:xfrm>
          <a:prstGeom prst="rect">
            <a:avLst/>
          </a:prstGeom>
          <a:noFill/>
        </p:spPr>
        <p:txBody>
          <a:bodyPr wrap="square" rtlCol="0">
            <a:spAutoFit/>
          </a:bodyPr>
          <a:lstStyle/>
          <a:p>
            <a:pPr algn="just"/>
            <a:r>
              <a:rPr lang="en-US" b="1" dirty="0">
                <a:solidFill>
                  <a:schemeClr val="bg1"/>
                </a:solidFill>
              </a:rPr>
              <a:t>3. Target Ads</a:t>
            </a:r>
          </a:p>
          <a:p>
            <a:pPr algn="just"/>
            <a:endParaRPr lang="en-US" dirty="0">
              <a:solidFill>
                <a:schemeClr val="bg1"/>
              </a:solidFill>
            </a:endParaRPr>
          </a:p>
          <a:p>
            <a:pPr algn="just"/>
            <a:r>
              <a:rPr lang="en-US" dirty="0">
                <a:solidFill>
                  <a:schemeClr val="bg1"/>
                </a:solidFill>
              </a:rPr>
              <a:t>Far cheaper than most methods of advertising, Facebook and Google targeted ads prove that a little can go a long way.</a:t>
            </a:r>
          </a:p>
          <a:p>
            <a:pPr algn="just"/>
            <a:r>
              <a:rPr lang="en-US" dirty="0">
                <a:solidFill>
                  <a:schemeClr val="bg1"/>
                </a:solidFill>
              </a:rPr>
              <a:t>While most advertising in the real world only reaches whoever comes across a billboard, bus stop or commercial, these targeted ads can locate the people who are most likely to need your service based on geographical location, demographics (including age, gender, education and relationship status), interests (based on what they’ve shared or “liked”) and browsing activity.</a:t>
            </a:r>
          </a:p>
          <a:p>
            <a:pPr algn="just"/>
            <a:endParaRPr lang="en-US" dirty="0">
              <a:solidFill>
                <a:schemeClr val="bg1"/>
              </a:solidFill>
            </a:endParaRPr>
          </a:p>
        </p:txBody>
      </p:sp>
      <p:sp>
        <p:nvSpPr>
          <p:cNvPr id="11" name="TextBox 10"/>
          <p:cNvSpPr txBox="1"/>
          <p:nvPr/>
        </p:nvSpPr>
        <p:spPr>
          <a:xfrm>
            <a:off x="4707619" y="436074"/>
            <a:ext cx="4248472" cy="2585323"/>
          </a:xfrm>
          <a:prstGeom prst="rect">
            <a:avLst/>
          </a:prstGeom>
          <a:noFill/>
        </p:spPr>
        <p:txBody>
          <a:bodyPr wrap="square" rtlCol="0">
            <a:spAutoFit/>
          </a:bodyPr>
          <a:lstStyle/>
          <a:p>
            <a:pPr algn="just"/>
            <a:r>
              <a:rPr lang="en-US" b="1" dirty="0">
                <a:solidFill>
                  <a:schemeClr val="bg1"/>
                </a:solidFill>
              </a:rPr>
              <a:t>4. Smart Social Media</a:t>
            </a:r>
          </a:p>
          <a:p>
            <a:pPr algn="just"/>
            <a:endParaRPr lang="en-US" dirty="0">
              <a:solidFill>
                <a:schemeClr val="bg1"/>
              </a:solidFill>
            </a:endParaRPr>
          </a:p>
          <a:p>
            <a:pPr algn="just"/>
            <a:r>
              <a:rPr lang="en-US" dirty="0">
                <a:solidFill>
                  <a:schemeClr val="bg1"/>
                </a:solidFill>
              </a:rPr>
              <a:t>There’s having a presence on social media, and then there’s having a social media presence. When it comes to keeping customers, a little more effort on Facebook, Twitter and </a:t>
            </a:r>
            <a:r>
              <a:rPr lang="en-US" dirty="0" err="1">
                <a:solidFill>
                  <a:schemeClr val="bg1"/>
                </a:solidFill>
              </a:rPr>
              <a:t>Instagram</a:t>
            </a:r>
            <a:r>
              <a:rPr lang="en-US" dirty="0">
                <a:solidFill>
                  <a:schemeClr val="bg1"/>
                </a:solidFill>
              </a:rPr>
              <a:t> really go the distance.</a:t>
            </a:r>
          </a:p>
          <a:p>
            <a:pPr algn="just"/>
            <a:endParaRPr lang="en-US" dirty="0">
              <a:solidFill>
                <a:schemeClr val="bg1"/>
              </a:solidFill>
            </a:endParaRPr>
          </a:p>
        </p:txBody>
      </p:sp>
    </p:spTree>
    <p:extLst>
      <p:ext uri="{BB962C8B-B14F-4D97-AF65-F5344CB8AC3E}">
        <p14:creationId xmlns:p14="http://schemas.microsoft.com/office/powerpoint/2010/main" val="815288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5" y="0"/>
            <a:ext cx="4680012"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16155" y="436074"/>
            <a:ext cx="4248472" cy="4616648"/>
          </a:xfrm>
          <a:prstGeom prst="rect">
            <a:avLst/>
          </a:prstGeom>
          <a:noFill/>
        </p:spPr>
        <p:txBody>
          <a:bodyPr wrap="square" rtlCol="0">
            <a:spAutoFit/>
          </a:bodyPr>
          <a:lstStyle/>
          <a:p>
            <a:pPr algn="just"/>
            <a:r>
              <a:rPr lang="en-US" sz="1400" b="1" dirty="0">
                <a:solidFill>
                  <a:schemeClr val="bg1"/>
                </a:solidFill>
              </a:rPr>
              <a:t>5. Respond To Every Email, Tweet, Facebook Comment, And Phone Call; Adjust Yourself As Necessary</a:t>
            </a:r>
          </a:p>
          <a:p>
            <a:pPr algn="just"/>
            <a:endParaRPr lang="en-US" sz="1400" dirty="0">
              <a:solidFill>
                <a:schemeClr val="bg1"/>
              </a:solidFill>
            </a:endParaRPr>
          </a:p>
          <a:p>
            <a:pPr algn="just"/>
            <a:r>
              <a:rPr lang="en-US" sz="1400" dirty="0">
                <a:solidFill>
                  <a:schemeClr val="bg1"/>
                </a:solidFill>
              </a:rPr>
              <a:t>When Paul English was still presiding over Kayak, one of the most valuable practices he insisted on implementing was to keep an extremely annoying, loud phone in the middle of the office to receive customer complaints. This ensured the calls were answered — by anybody, including engineers, developers, content managers, or even English himself.</a:t>
            </a:r>
          </a:p>
          <a:p>
            <a:pPr algn="just"/>
            <a:r>
              <a:rPr lang="en-US" sz="1400" dirty="0">
                <a:solidFill>
                  <a:schemeClr val="bg1"/>
                </a:solidFill>
              </a:rPr>
              <a:t>At </a:t>
            </a:r>
            <a:r>
              <a:rPr lang="en-US" sz="1400" dirty="0" err="1">
                <a:solidFill>
                  <a:schemeClr val="bg1"/>
                </a:solidFill>
              </a:rPr>
              <a:t>Zappos</a:t>
            </a:r>
            <a:r>
              <a:rPr lang="en-US" sz="1400" dirty="0">
                <a:solidFill>
                  <a:schemeClr val="bg1"/>
                </a:solidFill>
              </a:rPr>
              <a:t>, Tony Hsieh values customer service so much that they build in customer service training for every new hire, regardless of the job. And its customer service has gone to such lengths as to go to a rival shoe store to get a pair of shoes that the site had run out of.</a:t>
            </a:r>
          </a:p>
          <a:p>
            <a:pPr algn="just"/>
            <a:r>
              <a:rPr lang="en-US" sz="1400" dirty="0">
                <a:solidFill>
                  <a:schemeClr val="bg1"/>
                </a:solidFill>
              </a:rPr>
              <a:t>The point? Always answer calls, always care for your customers, and always fix problems as they come in — your customers will love you for it.</a:t>
            </a:r>
          </a:p>
          <a:p>
            <a:pPr algn="just"/>
            <a:endParaRPr lang="en-US" sz="1400" dirty="0">
              <a:solidFill>
                <a:schemeClr val="bg1"/>
              </a:solidFill>
            </a:endParaRPr>
          </a:p>
        </p:txBody>
      </p:sp>
      <p:sp>
        <p:nvSpPr>
          <p:cNvPr id="11" name="TextBox 10"/>
          <p:cNvSpPr txBox="1"/>
          <p:nvPr/>
        </p:nvSpPr>
        <p:spPr>
          <a:xfrm>
            <a:off x="4716016" y="771550"/>
            <a:ext cx="4248472" cy="4185761"/>
          </a:xfrm>
          <a:prstGeom prst="rect">
            <a:avLst/>
          </a:prstGeom>
          <a:noFill/>
        </p:spPr>
        <p:txBody>
          <a:bodyPr wrap="square" rtlCol="0">
            <a:spAutoFit/>
          </a:bodyPr>
          <a:lstStyle/>
          <a:p>
            <a:pPr algn="just"/>
            <a:r>
              <a:rPr lang="en-US" sz="1600" b="1" dirty="0">
                <a:solidFill>
                  <a:schemeClr val="bg1"/>
                </a:solidFill>
              </a:rPr>
              <a:t>6. Affiliate Marketing</a:t>
            </a:r>
          </a:p>
          <a:p>
            <a:pPr algn="just"/>
            <a:endParaRPr lang="en-US" sz="1600" dirty="0">
              <a:solidFill>
                <a:schemeClr val="bg1"/>
              </a:solidFill>
            </a:endParaRPr>
          </a:p>
          <a:p>
            <a:pPr algn="just"/>
            <a:r>
              <a:rPr lang="en-US" sz="1600" dirty="0">
                <a:solidFill>
                  <a:schemeClr val="bg1"/>
                </a:solidFill>
              </a:rPr>
              <a:t>Affiliate marketing has been around since the early days of the Web, and it’s still an overlooked but highly effective means to raise your brand awareness significantly.</a:t>
            </a:r>
          </a:p>
          <a:p>
            <a:pPr algn="just"/>
            <a:r>
              <a:rPr lang="en-US" sz="1600" dirty="0">
                <a:solidFill>
                  <a:schemeClr val="bg1"/>
                </a:solidFill>
              </a:rPr>
              <a:t>And with the number of affiliate networks out there, who operate on a PPC (Pay Per Click) or PPA (Pay Per Action) basis, it has never been easier or safer to find your product being promoted by appropriate publishers.</a:t>
            </a:r>
          </a:p>
          <a:p>
            <a:pPr algn="just"/>
            <a:r>
              <a:rPr lang="en-US" sz="1600" dirty="0">
                <a:solidFill>
                  <a:schemeClr val="bg1"/>
                </a:solidFill>
              </a:rPr>
              <a:t>EBay, Amazon and certain marketing companies offer their own affiliate networks, but you can also try an exclusive PPA affiliate network.</a:t>
            </a:r>
          </a:p>
          <a:p>
            <a:pPr algn="just"/>
            <a:endParaRPr lang="en-US" sz="1600" dirty="0">
              <a:solidFill>
                <a:schemeClr val="bg1"/>
              </a:solidFill>
            </a:endParaRPr>
          </a:p>
        </p:txBody>
      </p:sp>
    </p:spTree>
    <p:extLst>
      <p:ext uri="{BB962C8B-B14F-4D97-AF65-F5344CB8AC3E}">
        <p14:creationId xmlns:p14="http://schemas.microsoft.com/office/powerpoint/2010/main" val="14037728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5" y="0"/>
            <a:ext cx="4680012"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16155" y="436074"/>
            <a:ext cx="4248472" cy="3785652"/>
          </a:xfrm>
          <a:prstGeom prst="rect">
            <a:avLst/>
          </a:prstGeom>
          <a:noFill/>
        </p:spPr>
        <p:txBody>
          <a:bodyPr wrap="square" rtlCol="0">
            <a:spAutoFit/>
          </a:bodyPr>
          <a:lstStyle/>
          <a:p>
            <a:pPr algn="just"/>
            <a:r>
              <a:rPr lang="en-US" sz="1600" b="1" dirty="0">
                <a:solidFill>
                  <a:schemeClr val="bg1"/>
                </a:solidFill>
              </a:rPr>
              <a:t>7. Establish Trust In Your Community: Publish User Reviews, Get Likes, Syndicate Articles</a:t>
            </a:r>
          </a:p>
          <a:p>
            <a:pPr algn="just"/>
            <a:endParaRPr lang="en-US" sz="1600" dirty="0">
              <a:solidFill>
                <a:schemeClr val="bg1"/>
              </a:solidFill>
            </a:endParaRPr>
          </a:p>
          <a:p>
            <a:pPr algn="just"/>
            <a:r>
              <a:rPr lang="en-US" sz="1600" dirty="0">
                <a:solidFill>
                  <a:schemeClr val="bg1"/>
                </a:solidFill>
              </a:rPr>
              <a:t>With so many new, competing businesses congesting almost every industry, it’s getting increasingly difficult to stand out and grow a decent-sized following. To gain support, companies first have to establish trust.</a:t>
            </a:r>
          </a:p>
          <a:p>
            <a:pPr algn="just"/>
            <a:r>
              <a:rPr lang="en-US" sz="1600" dirty="0">
                <a:solidFill>
                  <a:schemeClr val="bg1"/>
                </a:solidFill>
              </a:rPr>
              <a:t>As more than 88 percent of consumers trust online reviews as much as personal recommendations, it only makes sense to start by publishing user reviews and sending samples of your product for trusted bloggers to review.</a:t>
            </a:r>
          </a:p>
          <a:p>
            <a:pPr algn="just"/>
            <a:endParaRPr lang="en-US" sz="1600" dirty="0">
              <a:solidFill>
                <a:schemeClr val="bg1"/>
              </a:solidFill>
            </a:endParaRPr>
          </a:p>
        </p:txBody>
      </p:sp>
      <p:sp>
        <p:nvSpPr>
          <p:cNvPr id="11" name="TextBox 10"/>
          <p:cNvSpPr txBox="1"/>
          <p:nvPr/>
        </p:nvSpPr>
        <p:spPr>
          <a:xfrm>
            <a:off x="4716016" y="436074"/>
            <a:ext cx="4248472" cy="3785652"/>
          </a:xfrm>
          <a:prstGeom prst="rect">
            <a:avLst/>
          </a:prstGeom>
          <a:noFill/>
        </p:spPr>
        <p:txBody>
          <a:bodyPr wrap="square" rtlCol="0">
            <a:spAutoFit/>
          </a:bodyPr>
          <a:lstStyle/>
          <a:p>
            <a:pPr algn="just"/>
            <a:r>
              <a:rPr lang="en-US" sz="1600" b="1" dirty="0">
                <a:solidFill>
                  <a:schemeClr val="bg1"/>
                </a:solidFill>
              </a:rPr>
              <a:t>8. Connect With The Right Influencers</a:t>
            </a:r>
          </a:p>
          <a:p>
            <a:pPr algn="just"/>
            <a:endParaRPr lang="en-US" sz="1600" dirty="0">
              <a:solidFill>
                <a:schemeClr val="bg1"/>
              </a:solidFill>
            </a:endParaRPr>
          </a:p>
          <a:p>
            <a:pPr algn="just"/>
            <a:r>
              <a:rPr lang="en-US" sz="1600" dirty="0">
                <a:solidFill>
                  <a:schemeClr val="bg1"/>
                </a:solidFill>
              </a:rPr>
              <a:t>Engaging with big players in your industry can be an extremely effective way to garner a wider share base. After all, if you can get the attention of a thought leader or an influencer, you have the chance to capture their fans and friends, as well as establish trust and credibility.</a:t>
            </a:r>
          </a:p>
          <a:p>
            <a:pPr algn="just"/>
            <a:r>
              <a:rPr lang="en-US" sz="1600" dirty="0">
                <a:solidFill>
                  <a:schemeClr val="bg1"/>
                </a:solidFill>
              </a:rPr>
              <a:t>Reach out to appropriate bloggers or entrepreneurs at conferences or over Twitter, send them relevant and interesting blog content that might pique their interest, and once again — be a </a:t>
            </a:r>
            <a:r>
              <a:rPr lang="en-US" sz="1600" i="1" dirty="0">
                <a:solidFill>
                  <a:schemeClr val="bg1"/>
                </a:solidFill>
              </a:rPr>
              <a:t>human being</a:t>
            </a:r>
            <a:r>
              <a:rPr lang="en-US" sz="1600" dirty="0">
                <a:solidFill>
                  <a:schemeClr val="bg1"/>
                </a:solidFill>
              </a:rPr>
              <a:t>, not just your company.</a:t>
            </a:r>
          </a:p>
          <a:p>
            <a:pPr algn="just"/>
            <a:endParaRPr lang="en-US" sz="1600" dirty="0">
              <a:solidFill>
                <a:schemeClr val="bg1"/>
              </a:solidFill>
            </a:endParaRPr>
          </a:p>
        </p:txBody>
      </p:sp>
    </p:spTree>
    <p:extLst>
      <p:ext uri="{BB962C8B-B14F-4D97-AF65-F5344CB8AC3E}">
        <p14:creationId xmlns:p14="http://schemas.microsoft.com/office/powerpoint/2010/main" val="13068573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5" y="0"/>
            <a:ext cx="4680012"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16155" y="436074"/>
            <a:ext cx="4248472" cy="4278094"/>
          </a:xfrm>
          <a:prstGeom prst="rect">
            <a:avLst/>
          </a:prstGeom>
          <a:noFill/>
        </p:spPr>
        <p:txBody>
          <a:bodyPr wrap="square" rtlCol="0">
            <a:spAutoFit/>
          </a:bodyPr>
          <a:lstStyle/>
          <a:p>
            <a:pPr algn="just"/>
            <a:r>
              <a:rPr lang="en-US" sz="1600" b="1" dirty="0">
                <a:solidFill>
                  <a:schemeClr val="bg1"/>
                </a:solidFill>
              </a:rPr>
              <a:t>9. Post Relevant Content On Blogs</a:t>
            </a:r>
          </a:p>
          <a:p>
            <a:pPr algn="just"/>
            <a:endParaRPr lang="en-US" sz="1600" dirty="0">
              <a:solidFill>
                <a:schemeClr val="bg1"/>
              </a:solidFill>
            </a:endParaRPr>
          </a:p>
          <a:p>
            <a:pPr algn="just"/>
            <a:r>
              <a:rPr lang="en-US" sz="1600" dirty="0">
                <a:solidFill>
                  <a:schemeClr val="bg1"/>
                </a:solidFill>
              </a:rPr>
              <a:t>Keeping a practice of continually and diligently publishing relevant and original blog content not only helps keep your company shining in the warm Google sun, but it also helps potential customers truly get to know your company and where it’s coming from.</a:t>
            </a:r>
          </a:p>
          <a:p>
            <a:pPr algn="just"/>
            <a:r>
              <a:rPr lang="en-US" sz="1600" dirty="0">
                <a:solidFill>
                  <a:schemeClr val="bg1"/>
                </a:solidFill>
              </a:rPr>
              <a:t>The content doesn’t have to be self-promotional (and shouldn’t be), but it should offer context into why your product or service is important, suggest the best ways to solve industry-related problems that arise in the everyday lives of your target demographic, impart some valuable wisdom, and generally inspire people to share your point of view.</a:t>
            </a:r>
          </a:p>
          <a:p>
            <a:pPr algn="just"/>
            <a:endParaRPr lang="en-US" sz="1600" dirty="0">
              <a:solidFill>
                <a:schemeClr val="bg1"/>
              </a:solidFill>
            </a:endParaRPr>
          </a:p>
        </p:txBody>
      </p:sp>
      <p:sp>
        <p:nvSpPr>
          <p:cNvPr id="11" name="TextBox 10"/>
          <p:cNvSpPr txBox="1"/>
          <p:nvPr/>
        </p:nvSpPr>
        <p:spPr>
          <a:xfrm>
            <a:off x="4716016" y="436074"/>
            <a:ext cx="4248472" cy="3447098"/>
          </a:xfrm>
          <a:prstGeom prst="rect">
            <a:avLst/>
          </a:prstGeom>
          <a:noFill/>
        </p:spPr>
        <p:txBody>
          <a:bodyPr wrap="square" rtlCol="0">
            <a:spAutoFit/>
          </a:bodyPr>
          <a:lstStyle/>
          <a:p>
            <a:pPr algn="just"/>
            <a:r>
              <a:rPr lang="en-US" sz="2000" b="1" dirty="0">
                <a:solidFill>
                  <a:schemeClr val="bg1"/>
                </a:solidFill>
              </a:rPr>
              <a:t>10. Craft An Engaging Newsletter To Foster Leads</a:t>
            </a:r>
            <a:endParaRPr lang="en-US" sz="2000" dirty="0">
              <a:solidFill>
                <a:schemeClr val="bg1"/>
              </a:solidFill>
            </a:endParaRPr>
          </a:p>
          <a:p>
            <a:pPr algn="just"/>
            <a:endParaRPr lang="en-US" sz="2000" dirty="0">
              <a:solidFill>
                <a:schemeClr val="bg1"/>
              </a:solidFill>
            </a:endParaRPr>
          </a:p>
          <a:p>
            <a:pPr algn="just"/>
            <a:r>
              <a:rPr lang="en-US" sz="2000" dirty="0">
                <a:solidFill>
                  <a:schemeClr val="bg1"/>
                </a:solidFill>
              </a:rPr>
              <a:t>One of the most time-consuming aspects of online marketing is generating leads. Often, that involves analyzing customer demographics and social media activity, putting out ads and online surveys and updating user data from year to year.</a:t>
            </a:r>
          </a:p>
          <a:p>
            <a:pPr algn="just"/>
            <a:endParaRPr lang="en-US" sz="2000" dirty="0">
              <a:solidFill>
                <a:schemeClr val="bg1"/>
              </a:solidFill>
            </a:endParaRPr>
          </a:p>
        </p:txBody>
      </p:sp>
    </p:spTree>
    <p:extLst>
      <p:ext uri="{BB962C8B-B14F-4D97-AF65-F5344CB8AC3E}">
        <p14:creationId xmlns:p14="http://schemas.microsoft.com/office/powerpoint/2010/main" val="9819522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51520" y="195486"/>
            <a:ext cx="8679898" cy="543185"/>
          </a:xfrm>
        </p:spPr>
        <p:txBody>
          <a:bodyPr/>
          <a:lstStyle/>
          <a:p>
            <a:r>
              <a:rPr lang="en-US" b="1" dirty="0">
                <a:solidFill>
                  <a:schemeClr val="bg1"/>
                </a:solidFill>
              </a:rPr>
              <a:t>Identifying Your Competition</a:t>
            </a:r>
            <a:endParaRPr lang="en-US" dirty="0">
              <a:solidFill>
                <a:schemeClr val="bg1"/>
              </a:solidFill>
            </a:endParaRPr>
          </a:p>
        </p:txBody>
      </p:sp>
      <p:sp>
        <p:nvSpPr>
          <p:cNvPr id="7" name="TextBox 6"/>
          <p:cNvSpPr txBox="1"/>
          <p:nvPr/>
        </p:nvSpPr>
        <p:spPr>
          <a:xfrm>
            <a:off x="179512" y="1059582"/>
            <a:ext cx="8751906" cy="3908762"/>
          </a:xfrm>
          <a:prstGeom prst="rect">
            <a:avLst/>
          </a:prstGeom>
          <a:noFill/>
        </p:spPr>
        <p:txBody>
          <a:bodyPr wrap="square" rtlCol="0">
            <a:spAutoFit/>
          </a:bodyPr>
          <a:lstStyle/>
          <a:p>
            <a:pPr algn="ctr"/>
            <a:r>
              <a:rPr lang="en-US" sz="2400" b="1" dirty="0">
                <a:solidFill>
                  <a:srgbClr val="92D050"/>
                </a:solidFill>
              </a:rPr>
              <a:t>Types of Competition</a:t>
            </a:r>
          </a:p>
          <a:p>
            <a:r>
              <a:rPr lang="en-US" sz="1600" b="1" dirty="0">
                <a:solidFill>
                  <a:srgbClr val="92D050"/>
                </a:solidFill>
              </a:rPr>
              <a:t>- Direct competitors</a:t>
            </a:r>
            <a:r>
              <a:rPr lang="en-US" sz="1600" b="1" dirty="0">
                <a:solidFill>
                  <a:schemeClr val="bg1"/>
                </a:solidFill>
              </a:rPr>
              <a:t>. </a:t>
            </a:r>
            <a:r>
              <a:rPr lang="en-US" sz="1600" dirty="0">
                <a:solidFill>
                  <a:schemeClr val="bg1"/>
                </a:solidFill>
              </a:rPr>
              <a:t>A business in your market that sells a product or service similar to yours is your direct competitor. McDonald’s® and Burger King® are examples of direct competitors in the fast food industry, because they sell a similar line of products. An ice cream shop that also sells hamburgers might also be considered direct competition for McDonald’s and Burger King. However, the ice cream shop would not be considered a strong competitor, because its main focus is on ice cream products. Hamburgers are only a sideline.</a:t>
            </a:r>
          </a:p>
          <a:p>
            <a:endParaRPr lang="en-US" sz="1600" dirty="0"/>
          </a:p>
          <a:p>
            <a:r>
              <a:rPr lang="en-US" sz="1600" dirty="0">
                <a:solidFill>
                  <a:srgbClr val="92D050"/>
                </a:solidFill>
              </a:rPr>
              <a:t>- </a:t>
            </a:r>
            <a:r>
              <a:rPr lang="en-US" sz="1600" b="1" dirty="0">
                <a:solidFill>
                  <a:srgbClr val="92D050"/>
                </a:solidFill>
              </a:rPr>
              <a:t>Indirect competitors</a:t>
            </a:r>
            <a:r>
              <a:rPr lang="en-US" sz="1600" b="1" dirty="0">
                <a:solidFill>
                  <a:schemeClr val="bg1"/>
                </a:solidFill>
              </a:rPr>
              <a:t>. </a:t>
            </a:r>
            <a:r>
              <a:rPr lang="en-US" sz="1600" dirty="0">
                <a:solidFill>
                  <a:schemeClr val="bg1"/>
                </a:solidFill>
              </a:rPr>
              <a:t>A business that sells a different product or service from yours but fills the same customer need or want is your indirect competitor. For example, Taco Bell® is in the fast-food industry, but it is an indirect competitor with McDonald’s and Burger King. This is because Taco Bell sells fast-food products but not hamburgers. On a broader level, non-fast-food restaurants could also be considered indirect competition because the food they sell fills the same basic need.</a:t>
            </a:r>
          </a:p>
          <a:p>
            <a:endParaRPr lang="en-US" sz="1600" dirty="0"/>
          </a:p>
        </p:txBody>
      </p:sp>
    </p:spTree>
    <p:extLst>
      <p:ext uri="{BB962C8B-B14F-4D97-AF65-F5344CB8AC3E}">
        <p14:creationId xmlns:p14="http://schemas.microsoft.com/office/powerpoint/2010/main" val="11946580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51520" y="195486"/>
            <a:ext cx="8679898" cy="543185"/>
          </a:xfrm>
        </p:spPr>
        <p:txBody>
          <a:bodyPr/>
          <a:lstStyle/>
          <a:p>
            <a:r>
              <a:rPr lang="en-US" b="1" dirty="0">
                <a:solidFill>
                  <a:schemeClr val="bg1"/>
                </a:solidFill>
              </a:rPr>
              <a:t>Identifying Your Competition</a:t>
            </a:r>
            <a:endParaRPr lang="en-US" dirty="0">
              <a:solidFill>
                <a:schemeClr val="bg1"/>
              </a:solidFill>
            </a:endParaRPr>
          </a:p>
        </p:txBody>
      </p:sp>
      <p:sp>
        <p:nvSpPr>
          <p:cNvPr id="7" name="TextBox 6"/>
          <p:cNvSpPr txBox="1"/>
          <p:nvPr/>
        </p:nvSpPr>
        <p:spPr>
          <a:xfrm>
            <a:off x="179512" y="1059582"/>
            <a:ext cx="8751906" cy="3908762"/>
          </a:xfrm>
          <a:prstGeom prst="rect">
            <a:avLst/>
          </a:prstGeom>
          <a:noFill/>
        </p:spPr>
        <p:txBody>
          <a:bodyPr wrap="square" rtlCol="0">
            <a:spAutoFit/>
          </a:bodyPr>
          <a:lstStyle/>
          <a:p>
            <a:pPr algn="ctr"/>
            <a:r>
              <a:rPr lang="en-US" sz="2400" b="1" dirty="0">
                <a:solidFill>
                  <a:srgbClr val="92D050"/>
                </a:solidFill>
              </a:rPr>
              <a:t>Types of Competition</a:t>
            </a:r>
          </a:p>
          <a:p>
            <a:r>
              <a:rPr lang="en-US" sz="1600" b="1" dirty="0">
                <a:solidFill>
                  <a:srgbClr val="92D050"/>
                </a:solidFill>
              </a:rPr>
              <a:t>- Direct competitors</a:t>
            </a:r>
            <a:r>
              <a:rPr lang="en-US" sz="1600" b="1" dirty="0">
                <a:solidFill>
                  <a:schemeClr val="bg1"/>
                </a:solidFill>
              </a:rPr>
              <a:t>. </a:t>
            </a:r>
            <a:r>
              <a:rPr lang="en-US" sz="1600" dirty="0">
                <a:solidFill>
                  <a:schemeClr val="bg1"/>
                </a:solidFill>
              </a:rPr>
              <a:t>A business in your market that sells a product or service similar to yours is your direct competitor. McDonald’s® and Burger King® are examples of direct competitors in the fast food industry, because they sell a similar line of products. An ice cream shop that also sells hamburgers might also be considered direct competition for McDonald’s and Burger King. However, the ice cream shop would not be considered a strong competitor, because its main focus is on ice cream products. Hamburgers are only a sideline.</a:t>
            </a:r>
          </a:p>
          <a:p>
            <a:endParaRPr lang="en-US" sz="1600" dirty="0"/>
          </a:p>
          <a:p>
            <a:r>
              <a:rPr lang="en-US" sz="1600" dirty="0">
                <a:solidFill>
                  <a:srgbClr val="92D050"/>
                </a:solidFill>
              </a:rPr>
              <a:t>- </a:t>
            </a:r>
            <a:r>
              <a:rPr lang="en-US" sz="1600" b="1" dirty="0">
                <a:solidFill>
                  <a:srgbClr val="92D050"/>
                </a:solidFill>
              </a:rPr>
              <a:t>Indirect competitors</a:t>
            </a:r>
            <a:r>
              <a:rPr lang="en-US" sz="1600" b="1" dirty="0">
                <a:solidFill>
                  <a:schemeClr val="bg1"/>
                </a:solidFill>
              </a:rPr>
              <a:t>. </a:t>
            </a:r>
            <a:r>
              <a:rPr lang="en-US" sz="1600" dirty="0">
                <a:solidFill>
                  <a:schemeClr val="bg1"/>
                </a:solidFill>
              </a:rPr>
              <a:t>A business that sells a different product or service from yours but fills the same customer need or want is your indirect competitor. For example, Taco Bell® is in the fast-food industry, but it is an indirect competitor with McDonald’s and Burger King. This is because Taco Bell sells fast-food products but not hamburgers. On a broader level, non-fast-food restaurants could also be considered indirect competition because the food they sell fills the same basic need.</a:t>
            </a:r>
          </a:p>
          <a:p>
            <a:endParaRPr lang="en-US" sz="1600" dirty="0"/>
          </a:p>
        </p:txBody>
      </p:sp>
    </p:spTree>
    <p:extLst>
      <p:ext uri="{BB962C8B-B14F-4D97-AF65-F5344CB8AC3E}">
        <p14:creationId xmlns:p14="http://schemas.microsoft.com/office/powerpoint/2010/main" val="15427417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5496" y="51471"/>
            <a:ext cx="9073008" cy="10801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a:solidFill>
                <a:schemeClr val="tx1"/>
              </a:solidFill>
            </a:endParaRPr>
          </a:p>
        </p:txBody>
      </p:sp>
      <p:sp>
        <p:nvSpPr>
          <p:cNvPr id="6" name="Frame 5"/>
          <p:cNvSpPr/>
          <p:nvPr/>
        </p:nvSpPr>
        <p:spPr>
          <a:xfrm>
            <a:off x="188640" y="159482"/>
            <a:ext cx="8766720" cy="4824536"/>
          </a:xfrm>
          <a:prstGeom prst="frame">
            <a:avLst>
              <a:gd name="adj1" fmla="val 1002"/>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TextBox 7"/>
          <p:cNvSpPr txBox="1"/>
          <p:nvPr/>
        </p:nvSpPr>
        <p:spPr>
          <a:xfrm>
            <a:off x="395536" y="1756142"/>
            <a:ext cx="8424936" cy="2369880"/>
          </a:xfrm>
          <a:prstGeom prst="rect">
            <a:avLst/>
          </a:prstGeom>
          <a:noFill/>
        </p:spPr>
        <p:txBody>
          <a:bodyPr wrap="square" rtlCol="0">
            <a:spAutoFit/>
          </a:bodyPr>
          <a:lstStyle/>
          <a:p>
            <a:pPr algn="just"/>
            <a:r>
              <a:rPr lang="en-US" sz="2800" b="1" dirty="0">
                <a:solidFill>
                  <a:schemeClr val="bg1"/>
                </a:solidFill>
              </a:rPr>
              <a:t>What Is a Value Proposition?</a:t>
            </a:r>
          </a:p>
          <a:p>
            <a:pPr algn="just"/>
            <a:r>
              <a:rPr lang="en-US" sz="2400" dirty="0"/>
              <a:t>A value proposition is the promise you make to deliver products and services of value to your customers. This promise is what allows you to edge out your competitors by describing what sets you apart and how you will solve a problem the consumer has. </a:t>
            </a:r>
          </a:p>
        </p:txBody>
      </p:sp>
      <p:sp>
        <p:nvSpPr>
          <p:cNvPr id="10" name="TextBox 9"/>
          <p:cNvSpPr txBox="1"/>
          <p:nvPr/>
        </p:nvSpPr>
        <p:spPr>
          <a:xfrm>
            <a:off x="107504" y="295859"/>
            <a:ext cx="8928992" cy="769441"/>
          </a:xfrm>
          <a:prstGeom prst="rect">
            <a:avLst/>
          </a:prstGeom>
          <a:noFill/>
        </p:spPr>
        <p:txBody>
          <a:bodyPr wrap="square" rtlCol="0">
            <a:spAutoFit/>
          </a:bodyPr>
          <a:lstStyle/>
          <a:p>
            <a:pPr algn="ctr"/>
            <a:r>
              <a:rPr lang="en-US" sz="4400" b="1" dirty="0">
                <a:solidFill>
                  <a:srgbClr val="92D050"/>
                </a:solidFill>
              </a:rPr>
              <a:t>Recognize a value proposition</a:t>
            </a:r>
          </a:p>
        </p:txBody>
      </p:sp>
      <p:sp>
        <p:nvSpPr>
          <p:cNvPr id="2" name="Rectangle 1"/>
          <p:cNvSpPr/>
          <p:nvPr/>
        </p:nvSpPr>
        <p:spPr>
          <a:xfrm>
            <a:off x="323528" y="1238457"/>
            <a:ext cx="8496944" cy="1091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6044003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1275606"/>
            <a:ext cx="8424936" cy="3693319"/>
          </a:xfrm>
          <a:prstGeom prst="rect">
            <a:avLst/>
          </a:prstGeom>
          <a:noFill/>
        </p:spPr>
        <p:txBody>
          <a:bodyPr wrap="square" rtlCol="0">
            <a:spAutoFit/>
          </a:bodyPr>
          <a:lstStyle/>
          <a:p>
            <a:r>
              <a:rPr lang="en-US" sz="2000" dirty="0">
                <a:solidFill>
                  <a:srgbClr val="92D050"/>
                </a:solidFill>
              </a:rPr>
              <a:t>Use these steps to help you better develop your value proposition:</a:t>
            </a:r>
          </a:p>
          <a:p>
            <a:endParaRPr lang="en-US" dirty="0">
              <a:solidFill>
                <a:schemeClr val="bg1"/>
              </a:solidFill>
            </a:endParaRPr>
          </a:p>
          <a:p>
            <a:endParaRPr lang="en-US" dirty="0">
              <a:solidFill>
                <a:schemeClr val="bg1"/>
              </a:solidFill>
            </a:endParaRPr>
          </a:p>
          <a:p>
            <a:pPr marL="514350" indent="-514350">
              <a:buFont typeface="+mj-lt"/>
              <a:buAutoNum type="arabicPeriod"/>
            </a:pPr>
            <a:r>
              <a:rPr lang="en-US" dirty="0">
                <a:solidFill>
                  <a:schemeClr val="bg1"/>
                </a:solidFill>
              </a:rPr>
              <a:t>Identify customer benefits: Make a list of all of the ways your customers can benefit from your product.</a:t>
            </a:r>
          </a:p>
          <a:p>
            <a:pPr marL="514350" indent="-514350">
              <a:buFont typeface="+mj-lt"/>
              <a:buAutoNum type="arabicPeriod"/>
            </a:pPr>
            <a:endParaRPr lang="en-US" dirty="0">
              <a:solidFill>
                <a:schemeClr val="bg1"/>
              </a:solidFill>
            </a:endParaRPr>
          </a:p>
          <a:p>
            <a:pPr marL="514350" indent="-514350">
              <a:buFont typeface="+mj-lt"/>
              <a:buAutoNum type="arabicPeriod"/>
            </a:pPr>
            <a:r>
              <a:rPr lang="en-US" dirty="0">
                <a:solidFill>
                  <a:schemeClr val="bg1"/>
                </a:solidFill>
              </a:rPr>
              <a:t>Link benefits to the value offered: Consider the ways in which your products will bring value to the customer.</a:t>
            </a:r>
          </a:p>
          <a:p>
            <a:pPr marL="514350" indent="-514350">
              <a:buFont typeface="+mj-lt"/>
              <a:buAutoNum type="arabicPeriod"/>
            </a:pPr>
            <a:endParaRPr lang="en-US" dirty="0">
              <a:solidFill>
                <a:schemeClr val="bg1"/>
              </a:solidFill>
            </a:endParaRPr>
          </a:p>
          <a:p>
            <a:pPr marL="514350" indent="-514350">
              <a:buFont typeface="+mj-lt"/>
              <a:buAutoNum type="arabicPeriod"/>
            </a:pPr>
            <a:r>
              <a:rPr lang="en-US" dirty="0">
                <a:solidFill>
                  <a:schemeClr val="bg1"/>
                </a:solidFill>
              </a:rPr>
              <a:t>Differentiate and position yourself: Clearly establish who your target audience is, what you are offering them, and how you stand out compared to your competition.</a:t>
            </a:r>
          </a:p>
          <a:p>
            <a:endParaRPr lang="en-US" dirty="0">
              <a:solidFill>
                <a:schemeClr val="bg1"/>
              </a:solidFill>
            </a:endParaRPr>
          </a:p>
        </p:txBody>
      </p:sp>
      <p:sp>
        <p:nvSpPr>
          <p:cNvPr id="8" name="Rectangle 7"/>
          <p:cNvSpPr/>
          <p:nvPr/>
        </p:nvSpPr>
        <p:spPr>
          <a:xfrm>
            <a:off x="323528" y="536362"/>
            <a:ext cx="7272808" cy="523220"/>
          </a:xfrm>
          <a:prstGeom prst="rect">
            <a:avLst/>
          </a:prstGeom>
        </p:spPr>
        <p:txBody>
          <a:bodyPr wrap="square">
            <a:spAutoFit/>
          </a:bodyPr>
          <a:lstStyle/>
          <a:p>
            <a:r>
              <a:rPr lang="en-US" sz="2800" b="1" dirty="0"/>
              <a:t>How to Determine Your Value Proposition</a:t>
            </a:r>
            <a:endParaRPr lang="en-US" sz="2800" dirty="0"/>
          </a:p>
        </p:txBody>
      </p:sp>
    </p:spTree>
    <p:extLst>
      <p:ext uri="{BB962C8B-B14F-4D97-AF65-F5344CB8AC3E}">
        <p14:creationId xmlns:p14="http://schemas.microsoft.com/office/powerpoint/2010/main" val="40042584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4499992" y="1001576"/>
            <a:ext cx="4680520" cy="1200329"/>
          </a:xfrm>
          <a:prstGeom prst="rect">
            <a:avLst/>
          </a:prstGeom>
          <a:noFill/>
        </p:spPr>
        <p:txBody>
          <a:bodyPr wrap="square" rtlCol="0">
            <a:spAutoFit/>
          </a:bodyPr>
          <a:lstStyle/>
          <a:p>
            <a:r>
              <a:rPr lang="en-US" sz="3600" b="1" dirty="0">
                <a:solidFill>
                  <a:schemeClr val="bg1"/>
                </a:solidFill>
              </a:rPr>
              <a:t>Business </a:t>
            </a:r>
          </a:p>
          <a:p>
            <a:r>
              <a:rPr lang="en-US" sz="3600" b="1" dirty="0">
                <a:solidFill>
                  <a:srgbClr val="92D050"/>
                </a:solidFill>
              </a:rPr>
              <a:t>Model Canvas</a:t>
            </a:r>
            <a:endParaRPr lang="en-US" sz="5400" b="1" dirty="0">
              <a:solidFill>
                <a:srgbClr val="92D050"/>
              </a:solidFill>
            </a:endParaRPr>
          </a:p>
        </p:txBody>
      </p:sp>
      <p:sp>
        <p:nvSpPr>
          <p:cNvPr id="5" name="TextBox 4"/>
          <p:cNvSpPr txBox="1"/>
          <p:nvPr/>
        </p:nvSpPr>
        <p:spPr>
          <a:xfrm>
            <a:off x="4572000" y="2355726"/>
            <a:ext cx="4248472" cy="923330"/>
          </a:xfrm>
          <a:prstGeom prst="rect">
            <a:avLst/>
          </a:prstGeom>
          <a:noFill/>
        </p:spPr>
        <p:txBody>
          <a:bodyPr wrap="square" rtlCol="0">
            <a:spAutoFit/>
          </a:bodyPr>
          <a:lstStyle/>
          <a:p>
            <a:pPr algn="justLow"/>
            <a:r>
              <a:rPr lang="en-US" dirty="0">
                <a:solidFill>
                  <a:schemeClr val="bg1"/>
                </a:solidFill>
              </a:rPr>
              <a:t>A business model describes how a company creates, delivers and captures value. </a:t>
            </a:r>
          </a:p>
        </p:txBody>
      </p:sp>
      <p:pic>
        <p:nvPicPr>
          <p:cNvPr id="4" name="Picture Placeholder 3"/>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1691" r="1691"/>
          <a:stretch>
            <a:fillRect/>
          </a:stretch>
        </p:blipFill>
        <p:spPr/>
      </p:pic>
    </p:spTree>
    <p:extLst>
      <p:ext uri="{BB962C8B-B14F-4D97-AF65-F5344CB8AC3E}">
        <p14:creationId xmlns:p14="http://schemas.microsoft.com/office/powerpoint/2010/main" val="3382108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9144000" cy="12035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TextBox 7"/>
          <p:cNvSpPr txBox="1"/>
          <p:nvPr/>
        </p:nvSpPr>
        <p:spPr>
          <a:xfrm>
            <a:off x="251520" y="330791"/>
            <a:ext cx="8568952" cy="584775"/>
          </a:xfrm>
          <a:prstGeom prst="rect">
            <a:avLst/>
          </a:prstGeom>
          <a:noFill/>
        </p:spPr>
        <p:txBody>
          <a:bodyPr wrap="square" rtlCol="0">
            <a:spAutoFit/>
          </a:bodyPr>
          <a:lstStyle/>
          <a:p>
            <a:pPr algn="ctr"/>
            <a:r>
              <a:rPr lang="en-US" sz="3200" b="1" dirty="0">
                <a:solidFill>
                  <a:srgbClr val="92D050"/>
                </a:solidFill>
              </a:rPr>
              <a:t>WHAT IS A BUSINESS MODEL CANVAS?</a:t>
            </a:r>
            <a:endParaRPr lang="en-US" sz="3200" dirty="0">
              <a:solidFill>
                <a:srgbClr val="92D050"/>
              </a:solidFill>
            </a:endParaRPr>
          </a:p>
        </p:txBody>
      </p:sp>
      <p:sp>
        <p:nvSpPr>
          <p:cNvPr id="10" name="TextBox 9"/>
          <p:cNvSpPr txBox="1"/>
          <p:nvPr/>
        </p:nvSpPr>
        <p:spPr>
          <a:xfrm>
            <a:off x="251520" y="1491630"/>
            <a:ext cx="8568952" cy="3785652"/>
          </a:xfrm>
          <a:prstGeom prst="rect">
            <a:avLst/>
          </a:prstGeom>
          <a:noFill/>
        </p:spPr>
        <p:txBody>
          <a:bodyPr wrap="square" rtlCol="0">
            <a:spAutoFit/>
          </a:bodyPr>
          <a:lstStyle/>
          <a:p>
            <a:pPr algn="just"/>
            <a:r>
              <a:rPr lang="en-US" sz="2000" dirty="0">
                <a:solidFill>
                  <a:schemeClr val="bg1"/>
                </a:solidFill>
              </a:rPr>
              <a:t>The Business Model Canvas, developed by Alexander </a:t>
            </a:r>
            <a:r>
              <a:rPr lang="en-US" sz="2000" dirty="0" err="1">
                <a:solidFill>
                  <a:schemeClr val="bg1"/>
                </a:solidFill>
              </a:rPr>
              <a:t>Osterwalder</a:t>
            </a:r>
            <a:r>
              <a:rPr lang="en-US" sz="2000" dirty="0">
                <a:solidFill>
                  <a:schemeClr val="bg1"/>
                </a:solidFill>
              </a:rPr>
              <a:t>, is a visual representation of current or new business models, generally used by strategic managers. The Canvas provides a holistic view of the business as a whole and is especially useful in running a comparative analysis on the impact of an increase in investment may have on any of the contributing factors.</a:t>
            </a:r>
          </a:p>
          <a:p>
            <a:pPr algn="just"/>
            <a:endParaRPr lang="en-US" sz="2000" dirty="0">
              <a:solidFill>
                <a:schemeClr val="bg1"/>
              </a:solidFill>
            </a:endParaRPr>
          </a:p>
          <a:p>
            <a:pPr algn="just"/>
            <a:r>
              <a:rPr lang="en-US" sz="2000" dirty="0">
                <a:solidFill>
                  <a:schemeClr val="bg1"/>
                </a:solidFill>
              </a:rPr>
              <a:t>The Business Model Canvas gives people a common language through which they can evaluate traditional processes and bring innovation into their business models.</a:t>
            </a:r>
          </a:p>
          <a:p>
            <a:pPr algn="just"/>
            <a:endParaRPr lang="en-US" sz="2000" dirty="0">
              <a:solidFill>
                <a:schemeClr val="bg1"/>
              </a:solidFill>
            </a:endParaRPr>
          </a:p>
          <a:p>
            <a:endParaRPr lang="en-US" sz="2000" dirty="0">
              <a:solidFill>
                <a:schemeClr val="bg1"/>
              </a:solidFill>
            </a:endParaRPr>
          </a:p>
        </p:txBody>
      </p:sp>
    </p:spTree>
    <p:extLst>
      <p:ext uri="{BB962C8B-B14F-4D97-AF65-F5344CB8AC3E}">
        <p14:creationId xmlns:p14="http://schemas.microsoft.com/office/powerpoint/2010/main" val="8065418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9144000" cy="12035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TextBox 7"/>
          <p:cNvSpPr txBox="1"/>
          <p:nvPr/>
        </p:nvSpPr>
        <p:spPr>
          <a:xfrm>
            <a:off x="251520" y="411510"/>
            <a:ext cx="8568952" cy="461665"/>
          </a:xfrm>
          <a:prstGeom prst="rect">
            <a:avLst/>
          </a:prstGeom>
          <a:noFill/>
        </p:spPr>
        <p:txBody>
          <a:bodyPr wrap="square" rtlCol="0">
            <a:spAutoFit/>
          </a:bodyPr>
          <a:lstStyle/>
          <a:p>
            <a:pPr algn="ctr"/>
            <a:r>
              <a:rPr lang="en-US" sz="2400" b="1" dirty="0">
                <a:solidFill>
                  <a:srgbClr val="92D050"/>
                </a:solidFill>
              </a:rPr>
              <a:t>THE TRADITIONAL APPROACH TO A BUSINESS MODEL</a:t>
            </a:r>
            <a:endParaRPr lang="en-US" sz="2400" dirty="0">
              <a:solidFill>
                <a:srgbClr val="92D050"/>
              </a:solidFill>
            </a:endParaRPr>
          </a:p>
        </p:txBody>
      </p:sp>
      <p:sp>
        <p:nvSpPr>
          <p:cNvPr id="10" name="TextBox 9"/>
          <p:cNvSpPr txBox="1"/>
          <p:nvPr/>
        </p:nvSpPr>
        <p:spPr>
          <a:xfrm>
            <a:off x="251520" y="1491630"/>
            <a:ext cx="8568952" cy="3046988"/>
          </a:xfrm>
          <a:prstGeom prst="rect">
            <a:avLst/>
          </a:prstGeom>
          <a:noFill/>
        </p:spPr>
        <p:txBody>
          <a:bodyPr wrap="square" rtlCol="0">
            <a:spAutoFit/>
          </a:bodyPr>
          <a:lstStyle/>
          <a:p>
            <a:pPr algn="just"/>
            <a:r>
              <a:rPr lang="en-US" sz="1600" dirty="0">
                <a:solidFill>
                  <a:schemeClr val="bg1"/>
                </a:solidFill>
              </a:rPr>
              <a:t>Most startups fail because entrepreneurs put all their faith in the idea of the product the organization exists to create. In their loyalty to this product or service, they fail to give in depth consideration to the business model their organization will follow. Usually the business model is either a one-size-fits-all model, common in the industry or it is a random amalgamation of systems and processes, created at the spur of the moment to further the main goal; sell the product or service.</a:t>
            </a:r>
          </a:p>
          <a:p>
            <a:pPr algn="just"/>
            <a:endParaRPr lang="en-US" sz="1600" dirty="0">
              <a:solidFill>
                <a:schemeClr val="bg1"/>
              </a:solidFill>
            </a:endParaRPr>
          </a:p>
          <a:p>
            <a:pPr algn="just"/>
            <a:r>
              <a:rPr lang="en-US" sz="1600" dirty="0">
                <a:solidFill>
                  <a:schemeClr val="bg1"/>
                </a:solidFill>
              </a:rPr>
              <a:t>Successful new ventures do not go to market with their first idea; instead, the product/ service has usually gone through several iterations before arriving at the final version. Similarly, organizations are more sustainable if they have considered several business models before deciding on a particular one.</a:t>
            </a:r>
          </a:p>
          <a:p>
            <a:pPr algn="just"/>
            <a:endParaRPr lang="en-US" sz="1600" dirty="0">
              <a:solidFill>
                <a:schemeClr val="bg1"/>
              </a:solidFill>
            </a:endParaRPr>
          </a:p>
        </p:txBody>
      </p:sp>
    </p:spTree>
    <p:extLst>
      <p:ext uri="{BB962C8B-B14F-4D97-AF65-F5344CB8AC3E}">
        <p14:creationId xmlns:p14="http://schemas.microsoft.com/office/powerpoint/2010/main" val="8249561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78796" y="1995686"/>
            <a:ext cx="4957700" cy="2376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Rectangle 6"/>
          <p:cNvSpPr/>
          <p:nvPr/>
        </p:nvSpPr>
        <p:spPr>
          <a:xfrm>
            <a:off x="0" y="0"/>
            <a:ext cx="9144000" cy="12035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TextBox 7"/>
          <p:cNvSpPr txBox="1"/>
          <p:nvPr/>
        </p:nvSpPr>
        <p:spPr>
          <a:xfrm>
            <a:off x="251520" y="285785"/>
            <a:ext cx="8568952" cy="707886"/>
          </a:xfrm>
          <a:prstGeom prst="rect">
            <a:avLst/>
          </a:prstGeom>
          <a:noFill/>
        </p:spPr>
        <p:txBody>
          <a:bodyPr wrap="square" rtlCol="0">
            <a:spAutoFit/>
          </a:bodyPr>
          <a:lstStyle/>
          <a:p>
            <a:pPr algn="ctr"/>
            <a:r>
              <a:rPr lang="en-US" sz="4000" b="1" dirty="0">
                <a:solidFill>
                  <a:srgbClr val="92D050"/>
                </a:solidFill>
              </a:rPr>
              <a:t>THE 9 BUILDING BLOCKS</a:t>
            </a:r>
            <a:endParaRPr lang="en-US" sz="4000" dirty="0">
              <a:solidFill>
                <a:srgbClr val="92D050"/>
              </a:solidFill>
            </a:endParaRPr>
          </a:p>
        </p:txBody>
      </p:sp>
      <p:sp>
        <p:nvSpPr>
          <p:cNvPr id="10" name="TextBox 9"/>
          <p:cNvSpPr txBox="1"/>
          <p:nvPr/>
        </p:nvSpPr>
        <p:spPr>
          <a:xfrm>
            <a:off x="268309" y="1851670"/>
            <a:ext cx="3672408" cy="2862322"/>
          </a:xfrm>
          <a:prstGeom prst="rect">
            <a:avLst/>
          </a:prstGeom>
          <a:noFill/>
        </p:spPr>
        <p:txBody>
          <a:bodyPr wrap="square" rtlCol="0">
            <a:spAutoFit/>
          </a:bodyPr>
          <a:lstStyle/>
          <a:p>
            <a:pPr algn="justLow"/>
            <a:r>
              <a:rPr lang="en-US" dirty="0">
                <a:solidFill>
                  <a:schemeClr val="bg1"/>
                </a:solidFill>
              </a:rPr>
              <a:t>The Business Model Canvas categorizes the processes and internal activities of a business into 9 separate categories, each representing a building block in the creation of the product or service. These categories represent the four major aspects of a business; customers, offer, infrastructure, as well as financial viability.</a:t>
            </a:r>
          </a:p>
        </p:txBody>
      </p:sp>
      <p:pic>
        <p:nvPicPr>
          <p:cNvPr id="5" name="Picture 4">
            <a:extLst>
              <a:ext uri="{FF2B5EF4-FFF2-40B4-BE49-F238E27FC236}">
                <a16:creationId xmlns:a16="http://schemas.microsoft.com/office/drawing/2014/main" id="{DAC8F4D3-A18F-48CA-A9AB-6838A54C4A28}"/>
              </a:ext>
            </a:extLst>
          </p:cNvPr>
          <p:cNvPicPr>
            <a:picLocks noChangeAspect="1"/>
          </p:cNvPicPr>
          <p:nvPr/>
        </p:nvPicPr>
        <p:blipFill rotWithShape="1">
          <a:blip r:embed="rId2">
            <a:extLst>
              <a:ext uri="{28A0092B-C50C-407E-A947-70E740481C1C}">
                <a14:useLocalDpi xmlns:a14="http://schemas.microsoft.com/office/drawing/2010/main" val="0"/>
              </a:ext>
            </a:extLst>
          </a:blip>
          <a:srcRect r="616" b="8122"/>
          <a:stretch/>
        </p:blipFill>
        <p:spPr>
          <a:xfrm>
            <a:off x="4211960" y="2202124"/>
            <a:ext cx="4718951" cy="2025810"/>
          </a:xfrm>
          <a:prstGeom prst="rect">
            <a:avLst/>
          </a:prstGeom>
        </p:spPr>
      </p:pic>
    </p:spTree>
    <p:extLst>
      <p:ext uri="{BB962C8B-B14F-4D97-AF65-F5344CB8AC3E}">
        <p14:creationId xmlns:p14="http://schemas.microsoft.com/office/powerpoint/2010/main" val="36168947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16154" y="436074"/>
            <a:ext cx="8128254" cy="3908762"/>
          </a:xfrm>
          <a:prstGeom prst="rect">
            <a:avLst/>
          </a:prstGeom>
          <a:noFill/>
        </p:spPr>
        <p:txBody>
          <a:bodyPr wrap="square" rtlCol="0">
            <a:spAutoFit/>
          </a:bodyPr>
          <a:lstStyle/>
          <a:p>
            <a:pPr algn="just"/>
            <a:r>
              <a:rPr lang="en-US" sz="2000" b="1" dirty="0">
                <a:solidFill>
                  <a:schemeClr val="bg1"/>
                </a:solidFill>
              </a:rPr>
              <a:t>1. Customer Segments</a:t>
            </a:r>
          </a:p>
          <a:p>
            <a:pPr algn="just"/>
            <a:endParaRPr lang="en-US" sz="1600" b="1" i="1" dirty="0"/>
          </a:p>
          <a:p>
            <a:pPr algn="just"/>
            <a:r>
              <a:rPr lang="en-US" sz="2800" dirty="0"/>
              <a:t>The total customer pie is divided into segments based on the manner in which an organization’s products or services address a specific need for the segment. The customer segment is an essential part of an organization’s business model and is key to ensuring that the product features are aligned with the segments characteristics and needs.</a:t>
            </a:r>
          </a:p>
          <a:p>
            <a:pPr algn="just"/>
            <a:endParaRPr lang="en-US" sz="1600" dirty="0"/>
          </a:p>
        </p:txBody>
      </p:sp>
    </p:spTree>
    <p:extLst>
      <p:ext uri="{BB962C8B-B14F-4D97-AF65-F5344CB8AC3E}">
        <p14:creationId xmlns:p14="http://schemas.microsoft.com/office/powerpoint/2010/main" val="23626960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07504" y="267494"/>
            <a:ext cx="8128254" cy="5109091"/>
          </a:xfrm>
          <a:prstGeom prst="rect">
            <a:avLst/>
          </a:prstGeom>
          <a:noFill/>
        </p:spPr>
        <p:txBody>
          <a:bodyPr wrap="square" rtlCol="0">
            <a:spAutoFit/>
          </a:bodyPr>
          <a:lstStyle/>
          <a:p>
            <a:pPr algn="just"/>
            <a:r>
              <a:rPr lang="en-US" sz="2000" b="1" dirty="0">
                <a:solidFill>
                  <a:schemeClr val="bg1"/>
                </a:solidFill>
              </a:rPr>
              <a:t>2. Value Propositions</a:t>
            </a:r>
          </a:p>
          <a:p>
            <a:pPr algn="just"/>
            <a:endParaRPr lang="en-US" sz="2000" b="1" i="1" dirty="0"/>
          </a:p>
          <a:p>
            <a:pPr algn="just"/>
            <a:r>
              <a:rPr lang="en-US" dirty="0"/>
              <a:t>An organization’s value proposition is the combination of products and services it provides to its customers. </a:t>
            </a:r>
            <a:r>
              <a:rPr lang="en-US" dirty="0" err="1"/>
              <a:t>Osterwalder</a:t>
            </a:r>
            <a:r>
              <a:rPr lang="en-US" dirty="0"/>
              <a:t> stated that these offerings need to be unique and easily differentiated from competition. Value propositions can be divided into two categories:</a:t>
            </a:r>
          </a:p>
          <a:p>
            <a:pPr algn="just"/>
            <a:endParaRPr lang="en-US" dirty="0"/>
          </a:p>
          <a:p>
            <a:pPr lvl="0" algn="just"/>
            <a:r>
              <a:rPr lang="en-US" b="1" dirty="0"/>
              <a:t>Quantitative</a:t>
            </a:r>
            <a:r>
              <a:rPr lang="en-US" dirty="0"/>
              <a:t>: this stresses the price or efficiency of the product or service</a:t>
            </a:r>
          </a:p>
          <a:p>
            <a:pPr lvl="0" algn="just"/>
            <a:endParaRPr lang="en-US" dirty="0"/>
          </a:p>
          <a:p>
            <a:pPr lvl="0" algn="just"/>
            <a:r>
              <a:rPr lang="en-US" b="1" dirty="0"/>
              <a:t>Qualitative</a:t>
            </a:r>
            <a:r>
              <a:rPr lang="en-US" dirty="0"/>
              <a:t>: this value proposition highlights the experience and results the product and its use, produce.</a:t>
            </a:r>
          </a:p>
          <a:p>
            <a:pPr algn="just"/>
            <a:r>
              <a:rPr lang="en-US" dirty="0"/>
              <a:t>The value proposition provides value through a number of attributes such as customization, performance, “getting the job done”, brand/ status, design, newness, price, cost and risk reduction, accessibility, as well as convenience/ usability.</a:t>
            </a:r>
          </a:p>
          <a:p>
            <a:pPr algn="just"/>
            <a:endParaRPr lang="en-US" sz="2000" dirty="0"/>
          </a:p>
          <a:p>
            <a:pPr algn="just"/>
            <a:r>
              <a:rPr lang="en-US" sz="2000" dirty="0"/>
              <a:t>.</a:t>
            </a:r>
          </a:p>
          <a:p>
            <a:pPr algn="just"/>
            <a:endParaRPr lang="en-US" sz="1200" dirty="0"/>
          </a:p>
        </p:txBody>
      </p:sp>
    </p:spTree>
    <p:extLst>
      <p:ext uri="{BB962C8B-B14F-4D97-AF65-F5344CB8AC3E}">
        <p14:creationId xmlns:p14="http://schemas.microsoft.com/office/powerpoint/2010/main" val="24920288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07504" y="267494"/>
            <a:ext cx="8128254" cy="3477875"/>
          </a:xfrm>
          <a:prstGeom prst="rect">
            <a:avLst/>
          </a:prstGeom>
          <a:noFill/>
        </p:spPr>
        <p:txBody>
          <a:bodyPr wrap="square" rtlCol="0">
            <a:spAutoFit/>
          </a:bodyPr>
          <a:lstStyle/>
          <a:p>
            <a:pPr algn="just"/>
            <a:r>
              <a:rPr lang="en-US" sz="2000" b="1" dirty="0">
                <a:solidFill>
                  <a:schemeClr val="bg1"/>
                </a:solidFill>
              </a:rPr>
              <a:t>3. Channels</a:t>
            </a:r>
          </a:p>
          <a:p>
            <a:pPr algn="just"/>
            <a:endParaRPr lang="en-US" sz="2000" b="1" i="1" dirty="0"/>
          </a:p>
          <a:p>
            <a:pPr algn="just"/>
            <a:r>
              <a:rPr lang="en-US" sz="2000" dirty="0"/>
              <a:t>The medium through which an organization provides its value proposition to its customer segment is known as a channel. There are various options for channels available to an organization, and the selection is based on the channel that is the quickest, most efficient with the least amount of investment required. There are two basic kinds of channels; Company owned channels such as store fronts or Partner Channels such as Distributors. A company can opt to choose either one or employ a combination of both.</a:t>
            </a:r>
          </a:p>
          <a:p>
            <a:pPr algn="just"/>
            <a:endParaRPr lang="en-US" sz="2000" dirty="0"/>
          </a:p>
        </p:txBody>
      </p:sp>
    </p:spTree>
    <p:extLst>
      <p:ext uri="{BB962C8B-B14F-4D97-AF65-F5344CB8AC3E}">
        <p14:creationId xmlns:p14="http://schemas.microsoft.com/office/powerpoint/2010/main" val="33227223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07504" y="267494"/>
            <a:ext cx="8128254" cy="1938992"/>
          </a:xfrm>
          <a:prstGeom prst="rect">
            <a:avLst/>
          </a:prstGeom>
          <a:noFill/>
        </p:spPr>
        <p:txBody>
          <a:bodyPr wrap="square" rtlCol="0">
            <a:spAutoFit/>
          </a:bodyPr>
          <a:lstStyle/>
          <a:p>
            <a:pPr algn="just"/>
            <a:r>
              <a:rPr lang="en-US" sz="2000" b="1" dirty="0">
                <a:solidFill>
                  <a:schemeClr val="bg1"/>
                </a:solidFill>
              </a:rPr>
              <a:t>4. Customer Relationships</a:t>
            </a:r>
          </a:p>
          <a:p>
            <a:pPr algn="just"/>
            <a:endParaRPr lang="en-US" sz="2000" b="1" i="1" dirty="0"/>
          </a:p>
          <a:p>
            <a:pPr algn="just"/>
            <a:r>
              <a:rPr lang="en-US" sz="2000" dirty="0"/>
              <a:t>An organization must select the kind of relationship it will have with its customer segment in order to create financial success and sustainability ,Customer Relationships can be categorized as follows:</a:t>
            </a:r>
          </a:p>
          <a:p>
            <a:pPr algn="just"/>
            <a:endParaRPr lang="en-US" sz="2000" dirty="0"/>
          </a:p>
        </p:txBody>
      </p:sp>
    </p:spTree>
    <p:extLst>
      <p:ext uri="{BB962C8B-B14F-4D97-AF65-F5344CB8AC3E}">
        <p14:creationId xmlns:p14="http://schemas.microsoft.com/office/powerpoint/2010/main" val="16212974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07504" y="267494"/>
            <a:ext cx="8128254" cy="4585871"/>
          </a:xfrm>
          <a:prstGeom prst="rect">
            <a:avLst/>
          </a:prstGeom>
          <a:noFill/>
        </p:spPr>
        <p:txBody>
          <a:bodyPr wrap="square" rtlCol="0">
            <a:spAutoFit/>
          </a:bodyPr>
          <a:lstStyle/>
          <a:p>
            <a:pPr algn="just"/>
            <a:r>
              <a:rPr lang="en-US" sz="2000" b="1" dirty="0">
                <a:solidFill>
                  <a:schemeClr val="bg1"/>
                </a:solidFill>
              </a:rPr>
              <a:t>4. Customer Relationships</a:t>
            </a:r>
          </a:p>
          <a:p>
            <a:pPr algn="just"/>
            <a:endParaRPr lang="en-US" sz="2000" b="1" i="1" dirty="0"/>
          </a:p>
          <a:p>
            <a:pPr algn="just"/>
            <a:r>
              <a:rPr lang="en-US" dirty="0"/>
              <a:t>An organization must select the kind of relationship it will have with its customer segment in order to create financial success and sustainability ,Customer Relationships can be categorized as follows:</a:t>
            </a:r>
          </a:p>
          <a:p>
            <a:pPr algn="just"/>
            <a:endParaRPr lang="en-US" dirty="0"/>
          </a:p>
          <a:p>
            <a:pPr lvl="0" algn="just"/>
            <a:r>
              <a:rPr lang="en-US" b="1" dirty="0"/>
              <a:t>Personal Assistance</a:t>
            </a:r>
            <a:r>
              <a:rPr lang="en-US" dirty="0"/>
              <a:t>: In this kind of relationship the company interacts with the customer directly through an employee who provides the human touch by assisting the customer presale, during the sale and even may provide after sales services.</a:t>
            </a:r>
          </a:p>
          <a:p>
            <a:pPr lvl="0" algn="just"/>
            <a:endParaRPr lang="en-US" dirty="0"/>
          </a:p>
          <a:p>
            <a:pPr algn="just"/>
            <a:r>
              <a:rPr lang="en-US" b="1" dirty="0"/>
              <a:t>Dedicated Personal Assistance</a:t>
            </a:r>
            <a:r>
              <a:rPr lang="en-US" dirty="0"/>
              <a:t>: This kind of relationship is characterized by a very close interaction between the customer and the company through a dedicated representative who is assigned a set of clients and is </a:t>
            </a:r>
            <a:r>
              <a:rPr lang="en-US" dirty="0" err="1"/>
              <a:t>pers</a:t>
            </a:r>
            <a:endParaRPr lang="en-US" dirty="0"/>
          </a:p>
          <a:p>
            <a:pPr lvl="0" algn="just"/>
            <a:r>
              <a:rPr lang="en-US" dirty="0" err="1"/>
              <a:t>onally</a:t>
            </a:r>
            <a:r>
              <a:rPr lang="en-US" dirty="0"/>
              <a:t> responsible for the entire experience the customer has with the company.</a:t>
            </a:r>
          </a:p>
        </p:txBody>
      </p:sp>
    </p:spTree>
    <p:extLst>
      <p:ext uri="{BB962C8B-B14F-4D97-AF65-F5344CB8AC3E}">
        <p14:creationId xmlns:p14="http://schemas.microsoft.com/office/powerpoint/2010/main" val="61431311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123478"/>
            <a:ext cx="8128254" cy="5293757"/>
          </a:xfrm>
          <a:prstGeom prst="rect">
            <a:avLst/>
          </a:prstGeom>
          <a:noFill/>
        </p:spPr>
        <p:txBody>
          <a:bodyPr wrap="square" rtlCol="0">
            <a:spAutoFit/>
          </a:bodyPr>
          <a:lstStyle/>
          <a:p>
            <a:pPr lvl="0" algn="just"/>
            <a:endParaRPr lang="en-US" sz="1600" dirty="0"/>
          </a:p>
          <a:p>
            <a:pPr lvl="0" algn="just"/>
            <a:r>
              <a:rPr lang="en-US" sz="1600" b="1" dirty="0"/>
              <a:t>Self-Service</a:t>
            </a:r>
            <a:r>
              <a:rPr lang="en-US" sz="1600" dirty="0"/>
              <a:t>: Self-Service places the onus of the customer experience on the tools the company provides for the customer to serve him or herself.</a:t>
            </a:r>
          </a:p>
          <a:p>
            <a:pPr lvl="0" algn="just"/>
            <a:r>
              <a:rPr lang="en-US" sz="1600" b="1" dirty="0"/>
              <a:t>Automated Services</a:t>
            </a:r>
            <a:r>
              <a:rPr lang="en-US" sz="1600" dirty="0"/>
              <a:t>: These are customized self-service relationships where the historical preference of the customer is taken into account to improve the overall experience.</a:t>
            </a:r>
          </a:p>
          <a:p>
            <a:pPr lvl="0" algn="just"/>
            <a:endParaRPr lang="en-US" sz="1600" dirty="0"/>
          </a:p>
          <a:p>
            <a:pPr lvl="0" algn="just"/>
            <a:r>
              <a:rPr lang="en-US" sz="1600" b="1" dirty="0"/>
              <a:t>Communities</a:t>
            </a:r>
            <a:r>
              <a:rPr lang="en-US" sz="1600" dirty="0"/>
              <a:t>: In today’s electronic age creating communities of clients allows organizations to communicate with them directly. This allows for an enhanced client experience because the community allows clients to share their experiences and come up with common challenges and solutions.</a:t>
            </a:r>
          </a:p>
          <a:p>
            <a:pPr lvl="0" algn="just"/>
            <a:endParaRPr lang="en-US" sz="1600" dirty="0"/>
          </a:p>
          <a:p>
            <a:pPr lvl="0" algn="just"/>
            <a:r>
              <a:rPr lang="en-US" sz="1600" b="1" dirty="0"/>
              <a:t>Co-creation</a:t>
            </a:r>
            <a:r>
              <a:rPr lang="en-US" sz="1600" dirty="0"/>
              <a:t>: The customer has a direct hand in the form the company’s product or service will take.</a:t>
            </a:r>
          </a:p>
          <a:p>
            <a:pPr lvl="0" algn="just"/>
            <a:endParaRPr lang="en-US" sz="1600" dirty="0"/>
          </a:p>
          <a:p>
            <a:pPr algn="just"/>
            <a:r>
              <a:rPr lang="en-US" sz="1600" dirty="0"/>
              <a:t>For an entrepreneur, the priority is to identify the type of relationship he/ she has with the customer. Then the value of the customer must be evaluated in terms of the frequency of his expenditure on the firms product and services. Loyal customers are relationships that the company should aim to invest in as they will yield steady revenue throughout the year.</a:t>
            </a:r>
          </a:p>
          <a:p>
            <a:pPr algn="just"/>
            <a:endParaRPr lang="en-US" sz="1600" dirty="0"/>
          </a:p>
          <a:p>
            <a:pPr algn="just"/>
            <a:endParaRPr lang="en-US" sz="1600" dirty="0"/>
          </a:p>
        </p:txBody>
      </p:sp>
    </p:spTree>
    <p:extLst>
      <p:ext uri="{BB962C8B-B14F-4D97-AF65-F5344CB8AC3E}">
        <p14:creationId xmlns:p14="http://schemas.microsoft.com/office/powerpoint/2010/main" val="15089767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267494"/>
            <a:ext cx="8128254" cy="5109091"/>
          </a:xfrm>
          <a:prstGeom prst="rect">
            <a:avLst/>
          </a:prstGeom>
          <a:noFill/>
        </p:spPr>
        <p:txBody>
          <a:bodyPr wrap="square" rtlCol="0">
            <a:spAutoFit/>
          </a:bodyPr>
          <a:lstStyle/>
          <a:p>
            <a:pPr algn="just"/>
            <a:r>
              <a:rPr lang="en-US" sz="1600" b="1" dirty="0">
                <a:solidFill>
                  <a:schemeClr val="bg1"/>
                </a:solidFill>
              </a:rPr>
              <a:t>5. Revenue Streams</a:t>
            </a:r>
          </a:p>
          <a:p>
            <a:pPr algn="just"/>
            <a:endParaRPr lang="en-US" b="1" i="1" dirty="0"/>
          </a:p>
          <a:p>
            <a:pPr algn="just"/>
            <a:r>
              <a:rPr lang="en-US" dirty="0"/>
              <a:t>A revenue stream is the methodology a company follows to get its customer segments to buy its product or service. A revenue stream can be created through the following ways:</a:t>
            </a:r>
          </a:p>
          <a:p>
            <a:pPr algn="just"/>
            <a:endParaRPr lang="en-US" sz="1200" dirty="0"/>
          </a:p>
          <a:p>
            <a:pPr algn="just"/>
            <a:endParaRPr lang="en-US" sz="1200" dirty="0"/>
          </a:p>
          <a:p>
            <a:pPr marL="171450" lvl="0" indent="-171450" algn="just">
              <a:buFont typeface="Arial" panose="020B0604020202020204" pitchFamily="34" charset="0"/>
              <a:buChar char="•"/>
            </a:pPr>
            <a:r>
              <a:rPr lang="en-US" sz="1200" b="1" dirty="0"/>
              <a:t> Asset Sale</a:t>
            </a:r>
            <a:r>
              <a:rPr lang="en-US" sz="1200" dirty="0"/>
              <a:t>: the company sells the right of ownership over the good to the customer.</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 Usage Fee</a:t>
            </a:r>
            <a:r>
              <a:rPr lang="en-US" sz="1200" dirty="0"/>
              <a:t>: the company charges the customer for the use of its product or service.</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Subscription Fee</a:t>
            </a:r>
            <a:r>
              <a:rPr lang="en-US" sz="1200" dirty="0"/>
              <a:t>: the company charges the customer for the regular and consistent use of its product or service.</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Lending/ Leasing/ Renting</a:t>
            </a:r>
            <a:r>
              <a:rPr lang="en-US" sz="1200" dirty="0"/>
              <a:t>: the customer pays to get exclusive access to the product for a time-bound period.</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Licensing</a:t>
            </a:r>
            <a:r>
              <a:rPr lang="en-US" sz="1200" dirty="0"/>
              <a:t>: the company charges for the use of its intellectual property.</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Brokerage Fees</a:t>
            </a:r>
            <a:r>
              <a:rPr lang="en-US" sz="1200" dirty="0"/>
              <a:t>: companies or individuals that act as an intermediary between two parties charge a brokerage fee for their services.</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Advertising</a:t>
            </a:r>
            <a:r>
              <a:rPr lang="en-US" sz="1200" dirty="0"/>
              <a:t>: a company charges for others to advertise their products using their mediums. </a:t>
            </a:r>
          </a:p>
          <a:p>
            <a:pPr marL="285750" indent="-285750" algn="just">
              <a:buFont typeface="Arial" panose="020B0604020202020204" pitchFamily="34" charset="0"/>
              <a:buChar char="•"/>
            </a:pPr>
            <a:endParaRPr lang="en-US" dirty="0"/>
          </a:p>
          <a:p>
            <a:pPr algn="just"/>
            <a:endParaRPr lang="en-US" sz="1600" dirty="0"/>
          </a:p>
        </p:txBody>
      </p:sp>
    </p:spTree>
    <p:extLst>
      <p:ext uri="{BB962C8B-B14F-4D97-AF65-F5344CB8AC3E}">
        <p14:creationId xmlns:p14="http://schemas.microsoft.com/office/powerpoint/2010/main" val="2584048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267494"/>
            <a:ext cx="8128254" cy="5109091"/>
          </a:xfrm>
          <a:prstGeom prst="rect">
            <a:avLst/>
          </a:prstGeom>
          <a:noFill/>
        </p:spPr>
        <p:txBody>
          <a:bodyPr wrap="square" rtlCol="0">
            <a:spAutoFit/>
          </a:bodyPr>
          <a:lstStyle/>
          <a:p>
            <a:pPr algn="just"/>
            <a:r>
              <a:rPr lang="en-US" sz="1600" b="1" dirty="0">
                <a:solidFill>
                  <a:schemeClr val="bg1"/>
                </a:solidFill>
              </a:rPr>
              <a:t>5. Revenue Streams</a:t>
            </a:r>
          </a:p>
          <a:p>
            <a:pPr algn="just"/>
            <a:endParaRPr lang="en-US" b="1" i="1" dirty="0"/>
          </a:p>
          <a:p>
            <a:pPr algn="just"/>
            <a:r>
              <a:rPr lang="en-US" dirty="0"/>
              <a:t>A revenue stream is the methodology a company follows to get its customer segments to buy its product or service. A revenue stream can be created through the following ways:</a:t>
            </a:r>
          </a:p>
          <a:p>
            <a:pPr algn="just"/>
            <a:endParaRPr lang="en-US" sz="1200" dirty="0"/>
          </a:p>
          <a:p>
            <a:pPr algn="just"/>
            <a:endParaRPr lang="en-US" sz="1200" dirty="0"/>
          </a:p>
          <a:p>
            <a:pPr marL="171450" lvl="0" indent="-171450" algn="just">
              <a:buFont typeface="Arial" panose="020B0604020202020204" pitchFamily="34" charset="0"/>
              <a:buChar char="•"/>
            </a:pPr>
            <a:r>
              <a:rPr lang="en-US" sz="1200" b="1" dirty="0"/>
              <a:t> Asset Sale</a:t>
            </a:r>
            <a:r>
              <a:rPr lang="en-US" sz="1200" dirty="0"/>
              <a:t>: the company sells the right of ownership over the good to the customer.</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 Usage Fee</a:t>
            </a:r>
            <a:r>
              <a:rPr lang="en-US" sz="1200" dirty="0"/>
              <a:t>: the company charges the customer for the use of its product or service.</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Subscription Fee</a:t>
            </a:r>
            <a:r>
              <a:rPr lang="en-US" sz="1200" dirty="0"/>
              <a:t>: the company charges the customer for the regular and consistent use of its product or service.</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Lending/ Leasing/ Renting</a:t>
            </a:r>
            <a:r>
              <a:rPr lang="en-US" sz="1200" dirty="0"/>
              <a:t>: the customer pays to get exclusive access to the product for a time-bound period.</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Licensing</a:t>
            </a:r>
            <a:r>
              <a:rPr lang="en-US" sz="1200" dirty="0"/>
              <a:t>: the company charges for the use of its intellectual property.</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Brokerage Fees</a:t>
            </a:r>
            <a:r>
              <a:rPr lang="en-US" sz="1200" dirty="0"/>
              <a:t>: companies or individuals that act as an intermediary between two parties charge a brokerage fee for their services.</a:t>
            </a:r>
          </a:p>
          <a:p>
            <a:pPr marL="514350" lvl="0" indent="-514350" algn="just">
              <a:buFont typeface="Arial" panose="020B0604020202020204" pitchFamily="34" charset="0"/>
              <a:buChar char="•"/>
            </a:pPr>
            <a:endParaRPr lang="en-US" sz="1200" dirty="0"/>
          </a:p>
          <a:p>
            <a:pPr marL="171450" lvl="0" indent="-171450" algn="just">
              <a:buFont typeface="Arial" panose="020B0604020202020204" pitchFamily="34" charset="0"/>
              <a:buChar char="•"/>
            </a:pPr>
            <a:r>
              <a:rPr lang="en-US" sz="1200" b="1" dirty="0"/>
              <a:t>Advertising</a:t>
            </a:r>
            <a:r>
              <a:rPr lang="en-US" sz="1200" dirty="0"/>
              <a:t>: a company charges for others to advertise their products using their mediums. </a:t>
            </a:r>
          </a:p>
          <a:p>
            <a:pPr marL="285750" indent="-285750" algn="just">
              <a:buFont typeface="Arial" panose="020B0604020202020204" pitchFamily="34" charset="0"/>
              <a:buChar char="•"/>
            </a:pPr>
            <a:endParaRPr lang="en-US" dirty="0"/>
          </a:p>
          <a:p>
            <a:pPr algn="just"/>
            <a:endParaRPr lang="en-US" sz="1600" dirty="0"/>
          </a:p>
        </p:txBody>
      </p:sp>
    </p:spTree>
    <p:extLst>
      <p:ext uri="{BB962C8B-B14F-4D97-AF65-F5344CB8AC3E}">
        <p14:creationId xmlns:p14="http://schemas.microsoft.com/office/powerpoint/2010/main" val="37635645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267494"/>
            <a:ext cx="8128254" cy="3693319"/>
          </a:xfrm>
          <a:prstGeom prst="rect">
            <a:avLst/>
          </a:prstGeom>
          <a:noFill/>
        </p:spPr>
        <p:txBody>
          <a:bodyPr wrap="square" rtlCol="0">
            <a:spAutoFit/>
          </a:bodyPr>
          <a:lstStyle/>
          <a:p>
            <a:pPr algn="just"/>
            <a:r>
              <a:rPr lang="en-US" sz="2000" b="1" dirty="0">
                <a:solidFill>
                  <a:schemeClr val="bg1"/>
                </a:solidFill>
              </a:rPr>
              <a:t>6. Key Resources</a:t>
            </a:r>
          </a:p>
          <a:p>
            <a:pPr algn="just"/>
            <a:endParaRPr lang="en-US" b="1" i="1" dirty="0"/>
          </a:p>
          <a:p>
            <a:pPr algn="just"/>
            <a:r>
              <a:rPr lang="en-US" dirty="0"/>
              <a:t>These are the assets of the organization fundamental to how it provides value to its customers. Resources can be categorized as human, financial, physical and intellectual.</a:t>
            </a:r>
          </a:p>
          <a:p>
            <a:pPr algn="just"/>
            <a:endParaRPr lang="en-US" dirty="0"/>
          </a:p>
          <a:p>
            <a:pPr algn="just"/>
            <a:r>
              <a:rPr lang="en-US" dirty="0"/>
              <a:t>For an entrepreneur, it is important to begin with listing your resources. This gives you a clear idea of what final product or service your company needs to create for the customer and which resources are dispensable, resulting in cost savings for your company. Once the final list of resources is available, the company can decide on how much it needs to invest in these key resources to operate a sustainable business.</a:t>
            </a:r>
          </a:p>
          <a:p>
            <a:pPr algn="just"/>
            <a:endParaRPr lang="en-US" sz="1600" dirty="0"/>
          </a:p>
        </p:txBody>
      </p:sp>
    </p:spTree>
    <p:extLst>
      <p:ext uri="{BB962C8B-B14F-4D97-AF65-F5344CB8AC3E}">
        <p14:creationId xmlns:p14="http://schemas.microsoft.com/office/powerpoint/2010/main" val="32929639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267494"/>
            <a:ext cx="8128254" cy="2862322"/>
          </a:xfrm>
          <a:prstGeom prst="rect">
            <a:avLst/>
          </a:prstGeom>
          <a:noFill/>
        </p:spPr>
        <p:txBody>
          <a:bodyPr wrap="square" rtlCol="0">
            <a:spAutoFit/>
          </a:bodyPr>
          <a:lstStyle/>
          <a:p>
            <a:pPr algn="just"/>
            <a:r>
              <a:rPr lang="en-US" sz="2000" b="1" dirty="0">
                <a:solidFill>
                  <a:schemeClr val="bg1"/>
                </a:solidFill>
              </a:rPr>
              <a:t>7. Key Activities</a:t>
            </a:r>
          </a:p>
          <a:p>
            <a:pPr algn="just"/>
            <a:endParaRPr lang="en-US" sz="2000" b="1" i="1" dirty="0"/>
          </a:p>
          <a:p>
            <a:pPr algn="just"/>
            <a:r>
              <a:rPr lang="en-US" sz="2000" dirty="0"/>
              <a:t>Activities that are key to producing the company’s value proposition. An entrepreneur must start by listing the key activities relevant to his/her business. These activities are the most important processes that need to occur for the business model to be effective. Key activities will coincide with revenue streams. Now it is important to evaluate which activities are key by adding or removing some and evaluating their impact.</a:t>
            </a:r>
          </a:p>
          <a:p>
            <a:pPr algn="just"/>
            <a:endParaRPr lang="en-US" sz="2000" dirty="0"/>
          </a:p>
        </p:txBody>
      </p:sp>
    </p:spTree>
    <p:extLst>
      <p:ext uri="{BB962C8B-B14F-4D97-AF65-F5344CB8AC3E}">
        <p14:creationId xmlns:p14="http://schemas.microsoft.com/office/powerpoint/2010/main" val="2036930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267494"/>
            <a:ext cx="8128254" cy="4093428"/>
          </a:xfrm>
          <a:prstGeom prst="rect">
            <a:avLst/>
          </a:prstGeom>
          <a:noFill/>
        </p:spPr>
        <p:txBody>
          <a:bodyPr wrap="square" rtlCol="0">
            <a:spAutoFit/>
          </a:bodyPr>
          <a:lstStyle/>
          <a:p>
            <a:r>
              <a:rPr lang="en-US" sz="2000" b="1" dirty="0">
                <a:solidFill>
                  <a:schemeClr val="bg1"/>
                </a:solidFill>
              </a:rPr>
              <a:t>8. Key Partnerships</a:t>
            </a:r>
          </a:p>
          <a:p>
            <a:endParaRPr lang="en-US" sz="2000" b="1" i="1" dirty="0"/>
          </a:p>
          <a:p>
            <a:r>
              <a:rPr lang="en-US" sz="2000" dirty="0"/>
              <a:t>To create efficient, streamlined operations and reduce risks associated with any business model, an organization forms partnerships with its high-quality suppliers. Key partnerships are the network of suppliers and partners who complement each other in helping the company create its value proposition. Partnerships can be categorized as follows;</a:t>
            </a:r>
          </a:p>
          <a:p>
            <a:endParaRPr lang="en-US" sz="2000" dirty="0"/>
          </a:p>
          <a:p>
            <a:r>
              <a:rPr lang="en-US" sz="2000" dirty="0"/>
              <a:t>Strategic alliance between competitors (also known as coopetition),</a:t>
            </a:r>
          </a:p>
          <a:p>
            <a:r>
              <a:rPr lang="en-US" sz="2000" dirty="0"/>
              <a:t>Joint ventures .</a:t>
            </a:r>
          </a:p>
          <a:p>
            <a:endParaRPr lang="en-US" sz="2000" dirty="0"/>
          </a:p>
          <a:p>
            <a:r>
              <a:rPr lang="en-US" sz="2000" dirty="0"/>
              <a:t>Relationships between buyers and suppliers.</a:t>
            </a:r>
          </a:p>
          <a:p>
            <a:endParaRPr lang="en-US" sz="2000" dirty="0"/>
          </a:p>
        </p:txBody>
      </p:sp>
    </p:spTree>
    <p:extLst>
      <p:ext uri="{BB962C8B-B14F-4D97-AF65-F5344CB8AC3E}">
        <p14:creationId xmlns:p14="http://schemas.microsoft.com/office/powerpoint/2010/main" val="3103286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616" y="0"/>
            <a:ext cx="8632056" cy="51435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TextBox 2"/>
          <p:cNvSpPr txBox="1"/>
          <p:nvPr/>
        </p:nvSpPr>
        <p:spPr>
          <a:xfrm>
            <a:off x="152285" y="267494"/>
            <a:ext cx="8128254" cy="5016758"/>
          </a:xfrm>
          <a:prstGeom prst="rect">
            <a:avLst/>
          </a:prstGeom>
          <a:noFill/>
        </p:spPr>
        <p:txBody>
          <a:bodyPr wrap="square" rtlCol="0">
            <a:spAutoFit/>
          </a:bodyPr>
          <a:lstStyle/>
          <a:p>
            <a:r>
              <a:rPr lang="en-US" sz="2000" b="1" dirty="0">
                <a:solidFill>
                  <a:schemeClr val="bg1"/>
                </a:solidFill>
              </a:rPr>
              <a:t>9. Cost Structure</a:t>
            </a:r>
          </a:p>
          <a:p>
            <a:endParaRPr lang="en-US" sz="2000" b="1" dirty="0">
              <a:solidFill>
                <a:schemeClr val="bg1"/>
              </a:solidFill>
            </a:endParaRPr>
          </a:p>
          <a:p>
            <a:r>
              <a:rPr lang="en-US" sz="2000" dirty="0"/>
              <a:t>This defines the cost of running a business according to a particular model. Businesses can either be cost driven i.e. focused on minimizing investment into the business or value driven i.e. focused on providing maximum value to the customer.</a:t>
            </a:r>
          </a:p>
          <a:p>
            <a:endParaRPr lang="en-US" sz="2000" dirty="0"/>
          </a:p>
          <a:p>
            <a:r>
              <a:rPr lang="en-US" sz="2000" dirty="0"/>
              <a:t>Following are some traits of common cost structures;</a:t>
            </a:r>
          </a:p>
          <a:p>
            <a:endParaRPr lang="en-US" sz="2000" dirty="0"/>
          </a:p>
          <a:p>
            <a:pPr marL="342900" indent="-342900">
              <a:buFont typeface="Arial" panose="020B0604020202020204" pitchFamily="34" charset="0"/>
              <a:buChar char="•"/>
            </a:pPr>
            <a:r>
              <a:rPr lang="en-US" sz="2000" b="1" dirty="0"/>
              <a:t>Fixed Costs</a:t>
            </a:r>
            <a:r>
              <a:rPr lang="en-US" sz="2000" dirty="0"/>
              <a:t>: costs that remain the same over a period of time</a:t>
            </a:r>
          </a:p>
          <a:p>
            <a:pPr marL="342900" indent="-342900">
              <a:buFont typeface="Arial" panose="020B0604020202020204" pitchFamily="34" charset="0"/>
              <a:buChar char="•"/>
            </a:pPr>
            <a:r>
              <a:rPr lang="en-US" sz="2000" b="1" dirty="0"/>
              <a:t>Variable Costs</a:t>
            </a:r>
            <a:r>
              <a:rPr lang="en-US" sz="2000" dirty="0"/>
              <a:t>: as the name suggests, these costs vary according to a variance in production</a:t>
            </a:r>
          </a:p>
          <a:p>
            <a:pPr marL="342900" indent="-342900">
              <a:buFont typeface="Arial" panose="020B0604020202020204" pitchFamily="34" charset="0"/>
              <a:buChar char="•"/>
            </a:pPr>
            <a:r>
              <a:rPr lang="en-US" sz="2000" b="1" dirty="0"/>
              <a:t>Economies of Scale</a:t>
            </a:r>
            <a:r>
              <a:rPr lang="en-US" sz="2000" dirty="0"/>
              <a:t>: costs decrease as production increases</a:t>
            </a:r>
          </a:p>
          <a:p>
            <a:pPr marL="342900" indent="-342900">
              <a:buFont typeface="Arial" panose="020B0604020202020204" pitchFamily="34" charset="0"/>
              <a:buChar char="•"/>
            </a:pPr>
            <a:r>
              <a:rPr lang="en-US" sz="2000" b="1" dirty="0"/>
              <a:t>Economies of Scope</a:t>
            </a:r>
            <a:r>
              <a:rPr lang="en-US" sz="2000" dirty="0"/>
              <a:t>: costs are decreased by investing in businesses related to the core product.</a:t>
            </a:r>
          </a:p>
          <a:p>
            <a:endParaRPr lang="en-US" sz="2000" dirty="0"/>
          </a:p>
        </p:txBody>
      </p:sp>
    </p:spTree>
    <p:extLst>
      <p:ext uri="{BB962C8B-B14F-4D97-AF65-F5344CB8AC3E}">
        <p14:creationId xmlns:p14="http://schemas.microsoft.com/office/powerpoint/2010/main" val="42087435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627784" y="1707654"/>
            <a:ext cx="6264696" cy="2585323"/>
          </a:xfrm>
          <a:prstGeom prst="rect">
            <a:avLst/>
          </a:prstGeom>
          <a:noFill/>
        </p:spPr>
        <p:txBody>
          <a:bodyPr wrap="square" rtlCol="0">
            <a:spAutoFit/>
          </a:bodyPr>
          <a:lstStyle/>
          <a:p>
            <a:pPr algn="just"/>
            <a:r>
              <a:rPr lang="en-US" dirty="0">
                <a:solidFill>
                  <a:schemeClr val="bg1"/>
                </a:solidFill>
              </a:rPr>
              <a:t>Pain relievers describe how your products and services alleviate specific customer pains. They explicitly outline how you intend to eliminate or reduce some of the pains that annoy your customers before, while, and after they are trying to get a job done. Typically, great value propositions alleviate only a limited number of severe customer pains but do that very well. Make sure you focus on pains you have identified in the customer profile.</a:t>
            </a:r>
          </a:p>
          <a:p>
            <a:pPr algn="just"/>
            <a:endParaRPr lang="en-US" dirty="0">
              <a:solidFill>
                <a:schemeClr val="bg1"/>
              </a:solidFill>
            </a:endParaRPr>
          </a:p>
        </p:txBody>
      </p:sp>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5981" r="35981"/>
          <a:stretch>
            <a:fillRect/>
          </a:stretch>
        </p:blipFill>
        <p:spPr>
          <a:xfrm>
            <a:off x="179165" y="0"/>
            <a:ext cx="2160587" cy="5143500"/>
          </a:xfrm>
        </p:spPr>
      </p:pic>
      <p:sp>
        <p:nvSpPr>
          <p:cNvPr id="2" name="TextBox 1"/>
          <p:cNvSpPr txBox="1"/>
          <p:nvPr/>
        </p:nvSpPr>
        <p:spPr>
          <a:xfrm>
            <a:off x="2627784" y="411510"/>
            <a:ext cx="6408712" cy="1077218"/>
          </a:xfrm>
          <a:prstGeom prst="rect">
            <a:avLst/>
          </a:prstGeom>
          <a:noFill/>
        </p:spPr>
        <p:txBody>
          <a:bodyPr wrap="square" rtlCol="0">
            <a:spAutoFit/>
          </a:bodyPr>
          <a:lstStyle/>
          <a:p>
            <a:r>
              <a:rPr lang="en-US" sz="3200" b="1" dirty="0">
                <a:solidFill>
                  <a:srgbClr val="92D050"/>
                </a:solidFill>
              </a:rPr>
              <a:t>How do I add Pain Relievers to my Value Proposition Canvas?</a:t>
            </a:r>
            <a:endParaRPr lang="en-US" sz="3200" dirty="0">
              <a:solidFill>
                <a:srgbClr val="92D050"/>
              </a:solidFill>
            </a:endParaRPr>
          </a:p>
        </p:txBody>
      </p:sp>
    </p:spTree>
    <p:extLst>
      <p:ext uri="{BB962C8B-B14F-4D97-AF65-F5344CB8AC3E}">
        <p14:creationId xmlns:p14="http://schemas.microsoft.com/office/powerpoint/2010/main" val="120566345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595783" y="1131590"/>
            <a:ext cx="6264696" cy="3493264"/>
          </a:xfrm>
          <a:prstGeom prst="rect">
            <a:avLst/>
          </a:prstGeom>
          <a:noFill/>
        </p:spPr>
        <p:txBody>
          <a:bodyPr wrap="square" rtlCol="0">
            <a:spAutoFit/>
          </a:bodyPr>
          <a:lstStyle/>
          <a:p>
            <a:pPr lvl="0" fontAlgn="base"/>
            <a:r>
              <a:rPr lang="en-US" sz="1700" dirty="0">
                <a:solidFill>
                  <a:schemeClr val="bg1"/>
                </a:solidFill>
              </a:rPr>
              <a:t>Produce savings? E.g. in terms of time, money, or efforts.</a:t>
            </a:r>
          </a:p>
          <a:p>
            <a:pPr lvl="0" fontAlgn="base"/>
            <a:r>
              <a:rPr lang="en-US" sz="1700" dirty="0">
                <a:solidFill>
                  <a:schemeClr val="bg1"/>
                </a:solidFill>
              </a:rPr>
              <a:t>Make your customers feel better? E.g. by killing frustrations, annoyances, things that give customers a headache.</a:t>
            </a:r>
          </a:p>
          <a:p>
            <a:pPr lvl="0" fontAlgn="base"/>
            <a:endParaRPr lang="en-US" sz="1700" dirty="0">
              <a:solidFill>
                <a:schemeClr val="bg1"/>
              </a:solidFill>
            </a:endParaRPr>
          </a:p>
          <a:p>
            <a:pPr lvl="0" fontAlgn="base"/>
            <a:r>
              <a:rPr lang="en-US" sz="1700" dirty="0">
                <a:solidFill>
                  <a:schemeClr val="bg1"/>
                </a:solidFill>
              </a:rPr>
              <a:t>Fix underperforming solutions? E.g. by introducing new features, better performance, or better quality.</a:t>
            </a:r>
          </a:p>
          <a:p>
            <a:pPr lvl="0" fontAlgn="base"/>
            <a:endParaRPr lang="en-US" sz="1700" dirty="0">
              <a:solidFill>
                <a:schemeClr val="bg1"/>
              </a:solidFill>
            </a:endParaRPr>
          </a:p>
          <a:p>
            <a:pPr lvl="0" fontAlgn="base"/>
            <a:r>
              <a:rPr lang="en-US" sz="1700" dirty="0">
                <a:solidFill>
                  <a:schemeClr val="bg1"/>
                </a:solidFill>
              </a:rPr>
              <a:t>Put an end to difficulties and challenges your customers encounter? E.g. by making things easier or eliminating obstacles.</a:t>
            </a:r>
          </a:p>
          <a:p>
            <a:pPr lvl="0" fontAlgn="base"/>
            <a:endParaRPr lang="en-US" sz="1700" dirty="0">
              <a:solidFill>
                <a:schemeClr val="bg1"/>
              </a:solidFill>
            </a:endParaRPr>
          </a:p>
          <a:p>
            <a:pPr lvl="0" fontAlgn="base"/>
            <a:r>
              <a:rPr lang="en-US" sz="1700" dirty="0">
                <a:solidFill>
                  <a:schemeClr val="bg1"/>
                </a:solidFill>
              </a:rPr>
              <a:t>Wipe out negative social consequences your customers encounter or fear? E.g. in terms of loss of face, lost power, trust, or status.</a:t>
            </a:r>
          </a:p>
        </p:txBody>
      </p:sp>
      <p:sp>
        <p:nvSpPr>
          <p:cNvPr id="2" name="TextBox 1"/>
          <p:cNvSpPr txBox="1"/>
          <p:nvPr/>
        </p:nvSpPr>
        <p:spPr>
          <a:xfrm>
            <a:off x="2627784" y="411510"/>
            <a:ext cx="6408712" cy="584775"/>
          </a:xfrm>
          <a:prstGeom prst="rect">
            <a:avLst/>
          </a:prstGeom>
          <a:noFill/>
        </p:spPr>
        <p:txBody>
          <a:bodyPr wrap="square" rtlCol="0">
            <a:spAutoFit/>
          </a:bodyPr>
          <a:lstStyle/>
          <a:p>
            <a:r>
              <a:rPr lang="en-US" sz="3200" b="1" dirty="0">
                <a:solidFill>
                  <a:srgbClr val="92D050"/>
                </a:solidFill>
              </a:rPr>
              <a:t>Questions to ask</a:t>
            </a:r>
            <a:endParaRPr lang="en-US" sz="3200" dirty="0">
              <a:solidFill>
                <a:srgbClr val="92D050"/>
              </a:solidFill>
            </a:endParaRPr>
          </a:p>
        </p:txBody>
      </p:sp>
      <p:pic>
        <p:nvPicPr>
          <p:cNvPr id="6" name="Picture Placeholder 5"/>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0110" r="30110"/>
          <a:stretch>
            <a:fillRect/>
          </a:stretch>
        </p:blipFill>
        <p:spPr>
          <a:xfrm>
            <a:off x="107504" y="-17542"/>
            <a:ext cx="2160000" cy="5143501"/>
          </a:xfrm>
        </p:spPr>
      </p:pic>
    </p:spTree>
    <p:extLst>
      <p:ext uri="{BB962C8B-B14F-4D97-AF65-F5344CB8AC3E}">
        <p14:creationId xmlns:p14="http://schemas.microsoft.com/office/powerpoint/2010/main" val="18040150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555776" y="123478"/>
            <a:ext cx="6264696" cy="3493264"/>
          </a:xfrm>
          <a:prstGeom prst="rect">
            <a:avLst/>
          </a:prstGeom>
          <a:noFill/>
        </p:spPr>
        <p:txBody>
          <a:bodyPr wrap="square" rtlCol="0">
            <a:spAutoFit/>
          </a:bodyPr>
          <a:lstStyle/>
          <a:p>
            <a:pPr lvl="0" fontAlgn="base"/>
            <a:endParaRPr lang="en-US" sz="1700" dirty="0">
              <a:solidFill>
                <a:schemeClr val="bg1"/>
              </a:solidFill>
            </a:endParaRPr>
          </a:p>
          <a:p>
            <a:pPr lvl="0" fontAlgn="base"/>
            <a:r>
              <a:rPr lang="en-US" sz="1700" dirty="0">
                <a:solidFill>
                  <a:schemeClr val="bg1"/>
                </a:solidFill>
              </a:rPr>
              <a:t>Eliminate risks your customers fear? E.g. financial, social, technical risks, or what could go awfully wrong.</a:t>
            </a:r>
          </a:p>
          <a:p>
            <a:pPr lvl="0" fontAlgn="base"/>
            <a:endParaRPr lang="en-US" sz="1700" dirty="0">
              <a:solidFill>
                <a:schemeClr val="bg1"/>
              </a:solidFill>
            </a:endParaRPr>
          </a:p>
          <a:p>
            <a:pPr lvl="0" fontAlgn="base"/>
            <a:r>
              <a:rPr lang="en-US" sz="1700" dirty="0">
                <a:solidFill>
                  <a:schemeClr val="bg1"/>
                </a:solidFill>
              </a:rPr>
              <a:t>Help your customers better sleep at night? E.g. by helping with big issues, by diminishing concerns, or eliminating worries.</a:t>
            </a:r>
          </a:p>
          <a:p>
            <a:pPr lvl="0" fontAlgn="base"/>
            <a:r>
              <a:rPr lang="en-US" sz="1700" dirty="0">
                <a:solidFill>
                  <a:schemeClr val="bg1"/>
                </a:solidFill>
              </a:rPr>
              <a:t>Limit or eradicate common mistakes customers make? E.g. by helping use a solution the right way.</a:t>
            </a:r>
          </a:p>
          <a:p>
            <a:pPr lvl="0" fontAlgn="base"/>
            <a:endParaRPr lang="en-US" sz="1700" dirty="0">
              <a:solidFill>
                <a:schemeClr val="bg1"/>
              </a:solidFill>
            </a:endParaRPr>
          </a:p>
          <a:p>
            <a:pPr lvl="0" fontAlgn="base"/>
            <a:r>
              <a:rPr lang="en-US" sz="1700" dirty="0">
                <a:solidFill>
                  <a:schemeClr val="bg1"/>
                </a:solidFill>
              </a:rPr>
              <a:t>Get rid of barriers that are keeping your customer from adopting solutions? E.g. lower or no upfront investment costs, flatter learning curve, or the elimination of other obstacles preventing adoption.</a:t>
            </a:r>
          </a:p>
        </p:txBody>
      </p:sp>
      <p:pic>
        <p:nvPicPr>
          <p:cNvPr id="6" name="Picture Placeholder 5"/>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0110" r="30110"/>
          <a:stretch>
            <a:fillRect/>
          </a:stretch>
        </p:blipFill>
        <p:spPr>
          <a:xfrm>
            <a:off x="107504" y="-17542"/>
            <a:ext cx="2160000" cy="5143501"/>
          </a:xfrm>
        </p:spPr>
      </p:pic>
    </p:spTree>
    <p:extLst>
      <p:ext uri="{BB962C8B-B14F-4D97-AF65-F5344CB8AC3E}">
        <p14:creationId xmlns:p14="http://schemas.microsoft.com/office/powerpoint/2010/main" val="14297266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057" y="267494"/>
            <a:ext cx="9144000" cy="576064"/>
          </a:xfrm>
        </p:spPr>
        <p:txBody>
          <a:bodyPr/>
          <a:lstStyle/>
          <a:p>
            <a:r>
              <a:rPr lang="en-US" b="1" dirty="0">
                <a:solidFill>
                  <a:schemeClr val="bg1"/>
                </a:solidFill>
              </a:rPr>
              <a:t>Business Model Canvas Examples</a:t>
            </a:r>
            <a:endParaRPr lang="en-US" dirty="0">
              <a:solidFill>
                <a:schemeClr val="bg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3795886"/>
            <a:ext cx="3004457" cy="1016508"/>
          </a:xfrm>
          <a:prstGeom prst="rect">
            <a:avLst/>
          </a:prstGeom>
        </p:spPr>
      </p:pic>
      <p:sp>
        <p:nvSpPr>
          <p:cNvPr id="12" name="TextBox 11"/>
          <p:cNvSpPr txBox="1"/>
          <p:nvPr/>
        </p:nvSpPr>
        <p:spPr>
          <a:xfrm>
            <a:off x="3656843" y="2139702"/>
            <a:ext cx="1800200" cy="1200329"/>
          </a:xfrm>
          <a:prstGeom prst="rect">
            <a:avLst/>
          </a:prstGeom>
          <a:noFill/>
        </p:spPr>
        <p:txBody>
          <a:bodyPr wrap="square" rtlCol="0">
            <a:spAutoFit/>
          </a:bodyPr>
          <a:lstStyle/>
          <a:p>
            <a:pPr algn="ctr"/>
            <a:r>
              <a:rPr lang="en-US" sz="2400" b="1" dirty="0">
                <a:solidFill>
                  <a:schemeClr val="bg1"/>
                </a:solidFill>
              </a:rPr>
              <a:t>Example 1: Google</a:t>
            </a:r>
          </a:p>
          <a:p>
            <a:pPr algn="ctr"/>
            <a:endParaRPr lang="en-US" sz="2400" dirty="0">
              <a:solidFill>
                <a:schemeClr val="bg1"/>
              </a:solidFill>
            </a:endParaRPr>
          </a:p>
        </p:txBody>
      </p:sp>
    </p:spTree>
    <p:extLst>
      <p:ext uri="{BB962C8B-B14F-4D97-AF65-F5344CB8AC3E}">
        <p14:creationId xmlns:p14="http://schemas.microsoft.com/office/powerpoint/2010/main" val="901844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9512" y="267494"/>
            <a:ext cx="8712968" cy="2308324"/>
          </a:xfrm>
          <a:prstGeom prst="rect">
            <a:avLst/>
          </a:prstGeom>
          <a:noFill/>
        </p:spPr>
        <p:txBody>
          <a:bodyPr wrap="square" rtlCol="0">
            <a:spAutoFit/>
          </a:bodyPr>
          <a:lstStyle/>
          <a:p>
            <a:pPr algn="justLow" fontAlgn="base"/>
            <a:r>
              <a:rPr lang="en-US" dirty="0">
                <a:solidFill>
                  <a:schemeClr val="bg1"/>
                </a:solidFill>
              </a:rPr>
              <a:t>The first thing you should know about Google’s business model is that it is multi-sided. This means that it brings together two distinct but related customers.</a:t>
            </a:r>
          </a:p>
          <a:p>
            <a:pPr algn="justLow" fontAlgn="base"/>
            <a:endParaRPr lang="en-US" dirty="0">
              <a:solidFill>
                <a:schemeClr val="bg1"/>
              </a:solidFill>
            </a:endParaRPr>
          </a:p>
          <a:p>
            <a:pPr algn="justLow" fontAlgn="base"/>
            <a:r>
              <a:rPr lang="en-US" dirty="0">
                <a:solidFill>
                  <a:schemeClr val="bg1"/>
                </a:solidFill>
              </a:rPr>
              <a:t>In Google’s case, its customers are its search users and its advertisers. The platform is only of interest to advertisers because search users are also present. Conversely, search users would not be able to use the platform free of charge were it not for advertisers.</a:t>
            </a:r>
          </a:p>
          <a:p>
            <a:pPr algn="justLow"/>
            <a:endParaRPr lang="en-US" dirty="0">
              <a:solidFill>
                <a:schemeClr val="bg1"/>
              </a:solidFill>
            </a:endParaRPr>
          </a:p>
        </p:txBody>
      </p:sp>
      <p:pic>
        <p:nvPicPr>
          <p:cNvPr id="6" name="Content Placeholder 3" descr="Business Model Canvas: Google">
            <a:extLst>
              <a:ext uri="{FF2B5EF4-FFF2-40B4-BE49-F238E27FC236}">
                <a16:creationId xmlns:a16="http://schemas.microsoft.com/office/drawing/2014/main" id="{7ACFF92C-5495-4CEF-87D8-6085D2B6B15E}"/>
              </a:ext>
            </a:extLst>
          </p:cNvPr>
          <p:cNvPicPr>
            <a:picLocks/>
          </p:cNvPicPr>
          <p:nvPr/>
        </p:nvPicPr>
        <p:blipFill rotWithShape="1">
          <a:blip r:embed="rId2">
            <a:extLst>
              <a:ext uri="{28A0092B-C50C-407E-A947-70E740481C1C}">
                <a14:useLocalDpi xmlns:a14="http://schemas.microsoft.com/office/drawing/2010/main" val="0"/>
              </a:ext>
            </a:extLst>
          </a:blip>
          <a:srcRect r="994" b="5566"/>
          <a:stretch/>
        </p:blipFill>
        <p:spPr bwMode="auto">
          <a:xfrm>
            <a:off x="2267744" y="2139702"/>
            <a:ext cx="4294105" cy="27751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8592462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647426"/>
          </a:xfrm>
          <a:prstGeom prst="rect">
            <a:avLst/>
          </a:prstGeom>
          <a:noFill/>
        </p:spPr>
        <p:txBody>
          <a:bodyPr wrap="square" rtlCol="0">
            <a:spAutoFit/>
          </a:bodyPr>
          <a:lstStyle/>
          <a:p>
            <a:pPr fontAlgn="base"/>
            <a:r>
              <a:rPr lang="en-US" sz="1400" dirty="0">
                <a:solidFill>
                  <a:schemeClr val="bg1"/>
                </a:solidFill>
              </a:rPr>
              <a:t>As you can see the diagram gives you an immediate understanding of the key parts of Google’s business model.</a:t>
            </a:r>
          </a:p>
          <a:p>
            <a:pPr fontAlgn="base"/>
            <a:endParaRPr lang="en-US" sz="1400" dirty="0">
              <a:solidFill>
                <a:schemeClr val="bg1"/>
              </a:solidFill>
            </a:endParaRPr>
          </a:p>
          <a:p>
            <a:pPr fontAlgn="base"/>
            <a:r>
              <a:rPr lang="en-US" sz="1400" dirty="0">
                <a:solidFill>
                  <a:srgbClr val="92D050"/>
                </a:solidFill>
              </a:rPr>
              <a:t>We can see that:</a:t>
            </a:r>
            <a:endParaRPr lang="en-US" sz="1200" dirty="0">
              <a:solidFill>
                <a:srgbClr val="92D050"/>
              </a:solidFill>
            </a:endParaRPr>
          </a:p>
          <a:p>
            <a:pPr lvl="0" fontAlgn="base"/>
            <a:endParaRPr lang="en-US" sz="1200" dirty="0">
              <a:solidFill>
                <a:srgbClr val="92D050"/>
              </a:solidFill>
            </a:endParaRPr>
          </a:p>
          <a:p>
            <a:pPr marL="171450" lvl="0" indent="-171450" fontAlgn="base">
              <a:buFont typeface="Arial" panose="020B0604020202020204" pitchFamily="34" charset="0"/>
              <a:buChar char="•"/>
            </a:pPr>
            <a:r>
              <a:rPr lang="en-US" sz="1200" dirty="0">
                <a:solidFill>
                  <a:schemeClr val="bg1"/>
                </a:solidFill>
              </a:rPr>
              <a:t>Google makes money from the advertiser customer segment, whose ads appear either in search results or on web pages.</a:t>
            </a:r>
          </a:p>
          <a:p>
            <a:pPr marL="171450" lvl="0" indent="-171450" fontAlgn="base">
              <a:buFont typeface="Arial" panose="020B0604020202020204" pitchFamily="34" charset="0"/>
              <a:buChar char="•"/>
            </a:pPr>
            <a:endParaRPr lang="en-US" sz="1200" dirty="0">
              <a:solidFill>
                <a:schemeClr val="bg1"/>
              </a:solidFill>
            </a:endParaRPr>
          </a:p>
          <a:p>
            <a:pPr marL="171450" lvl="0" indent="-171450" fontAlgn="base">
              <a:buFont typeface="Arial" panose="020B0604020202020204" pitchFamily="34" charset="0"/>
              <a:buChar char="•"/>
            </a:pPr>
            <a:r>
              <a:rPr lang="en-US" sz="1200" dirty="0">
                <a:solidFill>
                  <a:schemeClr val="bg1"/>
                </a:solidFill>
              </a:rPr>
              <a:t>This money subsidizes a free offering to the other two customer segments: search users and content owners.</a:t>
            </a:r>
          </a:p>
          <a:p>
            <a:pPr marL="171450" lvl="0" indent="-171450" fontAlgn="base">
              <a:buFont typeface="Arial" panose="020B0604020202020204" pitchFamily="34" charset="0"/>
              <a:buChar char="•"/>
            </a:pPr>
            <a:endParaRPr lang="en-US" sz="1200" dirty="0">
              <a:solidFill>
                <a:schemeClr val="bg1"/>
              </a:solidFill>
            </a:endParaRPr>
          </a:p>
          <a:p>
            <a:pPr marL="171450" indent="-171450" fontAlgn="base">
              <a:buFont typeface="Arial" panose="020B0604020202020204" pitchFamily="34" charset="0"/>
              <a:buChar char="•"/>
            </a:pPr>
            <a:r>
              <a:rPr lang="en-US" sz="1200" dirty="0">
                <a:solidFill>
                  <a:schemeClr val="bg1"/>
                </a:solidFill>
              </a:rPr>
              <a:t>Google’s business model has a network element to it. That is, the more ads it displays to web searchers the more advertisers it attracts. And the more advertisers it attracts the more content owners it attracts.</a:t>
            </a:r>
          </a:p>
          <a:p>
            <a:pPr marL="171450" indent="-171450" fontAlgn="base">
              <a:buFont typeface="Arial" panose="020B0604020202020204" pitchFamily="34" charset="0"/>
              <a:buChar char="•"/>
            </a:pPr>
            <a:r>
              <a:rPr lang="en-US" sz="1200" dirty="0">
                <a:solidFill>
                  <a:schemeClr val="bg1"/>
                </a:solidFill>
              </a:rPr>
              <a:t>Google’s Key Resource is its search platform including google.com, </a:t>
            </a:r>
            <a:r>
              <a:rPr lang="en-US" sz="1200" dirty="0" err="1">
                <a:solidFill>
                  <a:schemeClr val="bg1"/>
                </a:solidFill>
              </a:rPr>
              <a:t>Adsense</a:t>
            </a:r>
            <a:r>
              <a:rPr lang="en-US" sz="1200" dirty="0">
                <a:solidFill>
                  <a:schemeClr val="bg1"/>
                </a:solidFill>
              </a:rPr>
              <a:t> (for content owners) and </a:t>
            </a:r>
            <a:r>
              <a:rPr lang="en-US" sz="1200" dirty="0" err="1">
                <a:solidFill>
                  <a:schemeClr val="bg1"/>
                </a:solidFill>
              </a:rPr>
              <a:t>Adwords</a:t>
            </a:r>
            <a:r>
              <a:rPr lang="en-US" sz="1200" dirty="0">
                <a:solidFill>
                  <a:schemeClr val="bg1"/>
                </a:solidFill>
              </a:rPr>
              <a:t> (for advertisers).</a:t>
            </a:r>
          </a:p>
          <a:p>
            <a:pPr marL="171450" indent="-171450" fontAlgn="base">
              <a:buFont typeface="Arial" panose="020B0604020202020204" pitchFamily="34" charset="0"/>
              <a:buChar char="•"/>
            </a:pPr>
            <a:endParaRPr lang="en-US" sz="1200" dirty="0">
              <a:solidFill>
                <a:schemeClr val="bg1"/>
              </a:solidFill>
            </a:endParaRPr>
          </a:p>
          <a:p>
            <a:pPr marL="171450" indent="-171450" fontAlgn="base">
              <a:buFont typeface="Arial" panose="020B0604020202020204" pitchFamily="34" charset="0"/>
              <a:buChar char="•"/>
            </a:pPr>
            <a:r>
              <a:rPr lang="en-US" sz="1200" dirty="0">
                <a:solidFill>
                  <a:schemeClr val="bg1"/>
                </a:solidFill>
              </a:rPr>
              <a:t>The key strategic activities that Google must perform are managing the existing platform including its infrastructure.</a:t>
            </a:r>
          </a:p>
          <a:p>
            <a:pPr marL="171450" indent="-171450" fontAlgn="base">
              <a:buFont typeface="Arial" panose="020B0604020202020204" pitchFamily="34" charset="0"/>
              <a:buChar char="•"/>
            </a:pPr>
            <a:endParaRPr lang="en-US" sz="1200" dirty="0">
              <a:solidFill>
                <a:schemeClr val="bg1"/>
              </a:solidFill>
            </a:endParaRPr>
          </a:p>
          <a:p>
            <a:pPr marL="171450" indent="-171450" fontAlgn="base">
              <a:buFont typeface="Arial" panose="020B0604020202020204" pitchFamily="34" charset="0"/>
              <a:buChar char="•"/>
            </a:pPr>
            <a:r>
              <a:rPr lang="en-US" sz="1200" dirty="0">
                <a:solidFill>
                  <a:schemeClr val="bg1"/>
                </a:solidFill>
              </a:rPr>
              <a:t>Google’s key partners are obviously the content owners from whom a large part of its revenues is generated. OEMs (Original Equipment Manufacturers) also form a key partner.</a:t>
            </a:r>
          </a:p>
          <a:p>
            <a:pPr marL="171450" indent="-171450" fontAlgn="base">
              <a:buFont typeface="Arial" panose="020B0604020202020204" pitchFamily="34" charset="0"/>
              <a:buChar char="•"/>
            </a:pPr>
            <a:endParaRPr lang="en-US" sz="1200" dirty="0">
              <a:solidFill>
                <a:schemeClr val="bg1"/>
              </a:solidFill>
            </a:endParaRPr>
          </a:p>
          <a:p>
            <a:pPr marL="171450" indent="-171450" fontAlgn="base">
              <a:buFont typeface="Arial" panose="020B0604020202020204" pitchFamily="34" charset="0"/>
              <a:buChar char="•"/>
            </a:pPr>
            <a:r>
              <a:rPr lang="en-US" sz="1200" dirty="0">
                <a:solidFill>
                  <a:schemeClr val="bg1"/>
                </a:solidFill>
              </a:rPr>
              <a:t>OEMs are companies who produce mobile handsets to whom Google provides its Android operating system to for free. In return, when users of these handsets search the internet they use the Google search engine by default, thus bring more users into the ecosystem and generating even more revenue.</a:t>
            </a:r>
          </a:p>
          <a:p>
            <a:endParaRPr lang="en-US" sz="1200" dirty="0">
              <a:solidFill>
                <a:schemeClr val="bg1"/>
              </a:solidFill>
            </a:endParaRPr>
          </a:p>
          <a:p>
            <a:endParaRPr lang="en-US" sz="1200" dirty="0">
              <a:solidFill>
                <a:schemeClr val="bg1"/>
              </a:solidFill>
            </a:endParaRPr>
          </a:p>
        </p:txBody>
      </p:sp>
    </p:spTree>
    <p:extLst>
      <p:ext uri="{BB962C8B-B14F-4D97-AF65-F5344CB8AC3E}">
        <p14:creationId xmlns:p14="http://schemas.microsoft.com/office/powerpoint/2010/main" val="315735202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057" y="267494"/>
            <a:ext cx="9144000" cy="576064"/>
          </a:xfrm>
        </p:spPr>
        <p:txBody>
          <a:bodyPr/>
          <a:lstStyle/>
          <a:p>
            <a:r>
              <a:rPr lang="en-US" b="1" dirty="0">
                <a:solidFill>
                  <a:schemeClr val="bg1"/>
                </a:solidFill>
              </a:rPr>
              <a:t>Business Model Canvas Examples</a:t>
            </a:r>
            <a:endParaRPr lang="en-US" dirty="0">
              <a:solidFill>
                <a:schemeClr val="bg1"/>
              </a:solidFill>
            </a:endParaRPr>
          </a:p>
        </p:txBody>
      </p:sp>
      <p:sp>
        <p:nvSpPr>
          <p:cNvPr id="12" name="TextBox 11"/>
          <p:cNvSpPr txBox="1"/>
          <p:nvPr/>
        </p:nvSpPr>
        <p:spPr>
          <a:xfrm>
            <a:off x="3656843" y="2139702"/>
            <a:ext cx="1800200" cy="1200329"/>
          </a:xfrm>
          <a:prstGeom prst="rect">
            <a:avLst/>
          </a:prstGeom>
          <a:noFill/>
        </p:spPr>
        <p:txBody>
          <a:bodyPr wrap="square" rtlCol="0">
            <a:spAutoFit/>
          </a:bodyPr>
          <a:lstStyle/>
          <a:p>
            <a:pPr algn="ctr"/>
            <a:r>
              <a:rPr lang="en-US" sz="2400" b="1" dirty="0">
                <a:solidFill>
                  <a:schemeClr val="bg1"/>
                </a:solidFill>
              </a:rPr>
              <a:t>Example 2: Skype</a:t>
            </a:r>
          </a:p>
          <a:p>
            <a:pPr algn="ctr"/>
            <a:endParaRPr lang="en-US" sz="2400" dirty="0">
              <a:solidFill>
                <a:schemeClr val="bg1"/>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3528" y="3723878"/>
            <a:ext cx="2608145" cy="1147584"/>
          </a:xfrm>
          <a:prstGeom prst="rect">
            <a:avLst/>
          </a:prstGeom>
        </p:spPr>
      </p:pic>
    </p:spTree>
    <p:extLst>
      <p:ext uri="{BB962C8B-B14F-4D97-AF65-F5344CB8AC3E}">
        <p14:creationId xmlns:p14="http://schemas.microsoft.com/office/powerpoint/2010/main" val="33046723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Business Model Canvas: Skype">
            <a:extLst>
              <a:ext uri="{FF2B5EF4-FFF2-40B4-BE49-F238E27FC236}">
                <a16:creationId xmlns:a16="http://schemas.microsoft.com/office/drawing/2014/main" id="{D2FC187F-E032-4B7A-B0D3-3DAC4B4DC22C}"/>
              </a:ext>
            </a:extLst>
          </p:cNvPr>
          <p:cNvPicPr>
            <a:picLocks/>
          </p:cNvPicPr>
          <p:nvPr/>
        </p:nvPicPr>
        <p:blipFill rotWithShape="1">
          <a:blip r:embed="rId2">
            <a:extLst>
              <a:ext uri="{28A0092B-C50C-407E-A947-70E740481C1C}">
                <a14:useLocalDpi xmlns:a14="http://schemas.microsoft.com/office/drawing/2010/main" val="0"/>
              </a:ext>
            </a:extLst>
          </a:blip>
          <a:srcRect l="1" r="1165" b="4872"/>
          <a:stretch/>
        </p:blipFill>
        <p:spPr bwMode="auto">
          <a:xfrm>
            <a:off x="1259632" y="339502"/>
            <a:ext cx="6606558" cy="444225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274776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267494"/>
            <a:ext cx="8640960" cy="4708981"/>
          </a:xfrm>
          <a:prstGeom prst="rect">
            <a:avLst/>
          </a:prstGeom>
          <a:noFill/>
        </p:spPr>
        <p:txBody>
          <a:bodyPr wrap="square" rtlCol="0">
            <a:spAutoFit/>
          </a:bodyPr>
          <a:lstStyle/>
          <a:p>
            <a:pPr fontAlgn="base"/>
            <a:r>
              <a:rPr lang="en-US" sz="1500" dirty="0">
                <a:solidFill>
                  <a:srgbClr val="92D050"/>
                </a:solidFill>
              </a:rPr>
              <a:t>From the Business Model Canvas, we can see that Skype has two key value propositions:</a:t>
            </a:r>
          </a:p>
          <a:p>
            <a:pPr fontAlgn="base"/>
            <a:endParaRPr lang="en-US" sz="1500" dirty="0">
              <a:solidFill>
                <a:schemeClr val="bg1"/>
              </a:solidFill>
            </a:endParaRPr>
          </a:p>
          <a:p>
            <a:pPr marL="285750" lvl="0" indent="-285750" algn="justLow" fontAlgn="base">
              <a:buFont typeface="Arial" panose="020B0604020202020204" pitchFamily="34" charset="0"/>
              <a:buChar char="•"/>
            </a:pPr>
            <a:r>
              <a:rPr lang="en-US" sz="1500" dirty="0">
                <a:solidFill>
                  <a:schemeClr val="bg1"/>
                </a:solidFill>
              </a:rPr>
              <a:t>The ability to make calls over the Internet, including video calls, for free.</a:t>
            </a:r>
          </a:p>
          <a:p>
            <a:pPr marL="285750" lvl="0" indent="-285750" algn="justLow" fontAlgn="base">
              <a:buFont typeface="Arial" panose="020B0604020202020204" pitchFamily="34" charset="0"/>
              <a:buChar char="•"/>
            </a:pPr>
            <a:r>
              <a:rPr lang="en-US" sz="1500" dirty="0">
                <a:solidFill>
                  <a:schemeClr val="bg1"/>
                </a:solidFill>
              </a:rPr>
              <a:t>The ability to make calls to phones cheaply.</a:t>
            </a:r>
          </a:p>
          <a:p>
            <a:pPr marL="285750" lvl="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Skype operates a freemium business model, meaning the majority of Skype’s users (the Free Users customer segment) use the service for free to make calls over the internet, with just 10% of users signing up to the prepaid service.</a:t>
            </a:r>
          </a:p>
          <a:p>
            <a:pPr marL="28575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We can see from the customer relationship building block that customers typically have a help themselves relationship with Skype. Typically, this will be by using their support website.</a:t>
            </a:r>
          </a:p>
          <a:p>
            <a:pPr marL="285750" indent="-285750" algn="justLow" fontAlgn="base">
              <a:buFont typeface="Arial" panose="020B0604020202020204" pitchFamily="34" charset="0"/>
              <a:buChar char="•"/>
            </a:pPr>
            <a:r>
              <a:rPr lang="en-US" sz="1500" dirty="0">
                <a:solidFill>
                  <a:schemeClr val="bg1"/>
                </a:solidFill>
              </a:rPr>
              <a:t>The channels Skype uses to reach its customers are its website, skype.com, and partnerships with headset brands.</a:t>
            </a:r>
          </a:p>
          <a:p>
            <a:pPr marL="28575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Looking at key partnerships, key activities, and key resources together, the main thing to notice is that Skype is able to support its business model of offering cheap and free calls because it doesn’t have to maintain its own telecoms network like a traditional telecoms provider. Skype doesn’t need that much infrastructure at all, just backend software and the servers hosting use accounts.</a:t>
            </a:r>
          </a:p>
          <a:p>
            <a:endParaRPr lang="en-US" sz="1500" dirty="0">
              <a:solidFill>
                <a:schemeClr val="bg1"/>
              </a:solidFill>
            </a:endParaRPr>
          </a:p>
          <a:p>
            <a:endParaRPr lang="en-US" sz="1500" dirty="0">
              <a:solidFill>
                <a:schemeClr val="bg1"/>
              </a:solidFill>
            </a:endParaRPr>
          </a:p>
        </p:txBody>
      </p:sp>
    </p:spTree>
    <p:extLst>
      <p:ext uri="{BB962C8B-B14F-4D97-AF65-F5344CB8AC3E}">
        <p14:creationId xmlns:p14="http://schemas.microsoft.com/office/powerpoint/2010/main" val="37863151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057" y="267494"/>
            <a:ext cx="9144000" cy="576064"/>
          </a:xfrm>
        </p:spPr>
        <p:txBody>
          <a:bodyPr/>
          <a:lstStyle/>
          <a:p>
            <a:r>
              <a:rPr lang="en-US" b="1" dirty="0">
                <a:solidFill>
                  <a:schemeClr val="bg1"/>
                </a:solidFill>
              </a:rPr>
              <a:t>Business Model Canvas Examples</a:t>
            </a:r>
            <a:endParaRPr lang="en-US" dirty="0">
              <a:solidFill>
                <a:schemeClr val="bg1"/>
              </a:solidFill>
            </a:endParaRPr>
          </a:p>
        </p:txBody>
      </p:sp>
      <p:sp>
        <p:nvSpPr>
          <p:cNvPr id="12" name="TextBox 11"/>
          <p:cNvSpPr txBox="1"/>
          <p:nvPr/>
        </p:nvSpPr>
        <p:spPr>
          <a:xfrm>
            <a:off x="3656843" y="2139702"/>
            <a:ext cx="1800200" cy="1200329"/>
          </a:xfrm>
          <a:prstGeom prst="rect">
            <a:avLst/>
          </a:prstGeom>
          <a:noFill/>
        </p:spPr>
        <p:txBody>
          <a:bodyPr wrap="square" rtlCol="0">
            <a:spAutoFit/>
          </a:bodyPr>
          <a:lstStyle/>
          <a:p>
            <a:pPr algn="ctr"/>
            <a:r>
              <a:rPr lang="en-US" sz="2400" b="1" dirty="0">
                <a:solidFill>
                  <a:schemeClr val="bg1"/>
                </a:solidFill>
              </a:rPr>
              <a:t>Example 3: Gillette</a:t>
            </a:r>
          </a:p>
          <a:p>
            <a:pPr algn="ctr"/>
            <a:endParaRPr lang="en-US" sz="2400" dirty="0">
              <a:solidFill>
                <a:schemeClr val="bg1"/>
              </a:solidFill>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2" y="3867894"/>
            <a:ext cx="3059832" cy="745384"/>
          </a:xfrm>
          <a:prstGeom prst="rect">
            <a:avLst/>
          </a:prstGeom>
        </p:spPr>
      </p:pic>
    </p:spTree>
    <p:extLst>
      <p:ext uri="{BB962C8B-B14F-4D97-AF65-F5344CB8AC3E}">
        <p14:creationId xmlns:p14="http://schemas.microsoft.com/office/powerpoint/2010/main" val="96598532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Business Model Canvas: Gillette">
            <a:extLst>
              <a:ext uri="{FF2B5EF4-FFF2-40B4-BE49-F238E27FC236}">
                <a16:creationId xmlns:a16="http://schemas.microsoft.com/office/drawing/2014/main" id="{8D6C4C2A-CAE9-4EEA-A407-1BBD631EA10C}"/>
              </a:ext>
            </a:extLst>
          </p:cNvPr>
          <p:cNvPicPr>
            <a:picLocks/>
          </p:cNvPicPr>
          <p:nvPr/>
        </p:nvPicPr>
        <p:blipFill rotWithShape="1">
          <a:blip r:embed="rId2">
            <a:extLst>
              <a:ext uri="{28A0092B-C50C-407E-A947-70E740481C1C}">
                <a14:useLocalDpi xmlns:a14="http://schemas.microsoft.com/office/drawing/2010/main" val="0"/>
              </a:ext>
            </a:extLst>
          </a:blip>
          <a:srcRect r="957" b="5242"/>
          <a:stretch/>
        </p:blipFill>
        <p:spPr bwMode="auto">
          <a:xfrm>
            <a:off x="1115616" y="627534"/>
            <a:ext cx="7050435" cy="396034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8962207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95486"/>
            <a:ext cx="8712968" cy="5170646"/>
          </a:xfrm>
          <a:prstGeom prst="rect">
            <a:avLst/>
          </a:prstGeom>
          <a:noFill/>
        </p:spPr>
        <p:txBody>
          <a:bodyPr wrap="square" rtlCol="0">
            <a:spAutoFit/>
          </a:bodyPr>
          <a:lstStyle/>
          <a:p>
            <a:pPr marL="285750" indent="-285750" algn="justLow" fontAlgn="base">
              <a:buFont typeface="Arial" panose="020B0604020202020204" pitchFamily="34" charset="0"/>
              <a:buChar char="•"/>
            </a:pPr>
            <a:r>
              <a:rPr lang="en-US" sz="1500" dirty="0">
                <a:solidFill>
                  <a:schemeClr val="bg1"/>
                </a:solidFill>
              </a:rPr>
              <a:t>Gillette’s business model is based on the “Bait &amp; Hook” business model pattern. This model is characterized by an attractive, inexpensive or even free initial offer that encourages ongoing future purchases of related products or services. With this business model, the bait is often provided at a loss, subsidized by the hook.</a:t>
            </a:r>
          </a:p>
          <a:p>
            <a:pPr marL="28575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In Gillette’s case, an inexpensive razor handle forms the bait, and continued purchases of the blades represent the hook.</a:t>
            </a:r>
          </a:p>
          <a:p>
            <a:pPr marL="28575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The business model is very popular in </a:t>
            </a:r>
            <a:r>
              <a:rPr lang="en-US" sz="1500" dirty="0" err="1">
                <a:solidFill>
                  <a:schemeClr val="bg1"/>
                </a:solidFill>
              </a:rPr>
              <a:t>SaaS</a:t>
            </a:r>
            <a:r>
              <a:rPr lang="en-US" sz="1500" dirty="0">
                <a:solidFill>
                  <a:schemeClr val="bg1"/>
                </a:solidFill>
              </a:rPr>
              <a:t> (Software as a Service) businesses, where typically a free initial month leads to a monthly subscription.</a:t>
            </a:r>
          </a:p>
          <a:p>
            <a:pPr marL="28575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In the diagram above we have used the thickness of the arrows to indicate the size of revenue generated. In Gillette’s case, all revenues are generated by just one customer segment, but the vast majority of revenues come from Frequent Blade Replacements, with just minor revenues coming from the purchase of handles.</a:t>
            </a:r>
          </a:p>
          <a:p>
            <a:pPr marL="285750" indent="-285750" algn="justLow" fontAlgn="base">
              <a:buFont typeface="Arial" panose="020B0604020202020204" pitchFamily="34" charset="0"/>
              <a:buChar char="•"/>
            </a:pPr>
            <a:endParaRPr lang="en-US" sz="1500" dirty="0">
              <a:solidFill>
                <a:schemeClr val="bg1"/>
              </a:solidFill>
            </a:endParaRPr>
          </a:p>
          <a:p>
            <a:pPr marL="285750" indent="-285750" algn="justLow" fontAlgn="base">
              <a:buFont typeface="Arial" panose="020B0604020202020204" pitchFamily="34" charset="0"/>
              <a:buChar char="•"/>
            </a:pPr>
            <a:r>
              <a:rPr lang="en-US" sz="1500" dirty="0">
                <a:solidFill>
                  <a:schemeClr val="bg1"/>
                </a:solidFill>
              </a:rPr>
              <a:t>If you look at the left-hand side of </a:t>
            </a:r>
            <a:r>
              <a:rPr lang="en-US" sz="1500" dirty="0" err="1">
                <a:solidFill>
                  <a:schemeClr val="bg1"/>
                </a:solidFill>
              </a:rPr>
              <a:t>Gellettes</a:t>
            </a:r>
            <a:r>
              <a:rPr lang="en-US" sz="1500" dirty="0">
                <a:solidFill>
                  <a:schemeClr val="bg1"/>
                </a:solidFill>
              </a:rPr>
              <a:t> Business Model Canvas you will notice how all major costs are aligned with delivering the value proposition. For example, marketing costs help to build Gillette’s strong brand and R&amp;D costs help to ensure that the blade and handle technology is unique and proprietary.</a:t>
            </a:r>
          </a:p>
          <a:p>
            <a:pPr marL="285750" indent="-285750" algn="justLow">
              <a:buFont typeface="Arial" panose="020B0604020202020204" pitchFamily="34" charset="0"/>
              <a:buChar char="•"/>
            </a:pPr>
            <a:endParaRPr lang="en-US" sz="1500" dirty="0">
              <a:solidFill>
                <a:schemeClr val="bg1"/>
              </a:solidFill>
            </a:endParaRPr>
          </a:p>
          <a:p>
            <a:pPr marL="285750" indent="-285750" algn="justLow">
              <a:buFont typeface="Arial" panose="020B0604020202020204" pitchFamily="34" charset="0"/>
              <a:buChar char="•"/>
            </a:pPr>
            <a:endParaRPr lang="en-US" sz="1500" dirty="0">
              <a:solidFill>
                <a:schemeClr val="bg1"/>
              </a:solidFill>
            </a:endParaRPr>
          </a:p>
        </p:txBody>
      </p:sp>
    </p:spTree>
    <p:extLst>
      <p:ext uri="{BB962C8B-B14F-4D97-AF65-F5344CB8AC3E}">
        <p14:creationId xmlns:p14="http://schemas.microsoft.com/office/powerpoint/2010/main" val="17277629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764500-2214-4430-B440-EC615A3A1658}"/>
              </a:ext>
            </a:extLst>
          </p:cNvPr>
          <p:cNvSpPr/>
          <p:nvPr/>
        </p:nvSpPr>
        <p:spPr>
          <a:xfrm>
            <a:off x="251520" y="585885"/>
            <a:ext cx="4176464" cy="385807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1" name="Rounded Rectangle 17">
            <a:extLst>
              <a:ext uri="{FF2B5EF4-FFF2-40B4-BE49-F238E27FC236}">
                <a16:creationId xmlns:a16="http://schemas.microsoft.com/office/drawing/2014/main" id="{52BC6E8B-AD4E-4E2E-82AF-63ED16A39DF0}"/>
              </a:ext>
            </a:extLst>
          </p:cNvPr>
          <p:cNvSpPr/>
          <p:nvPr/>
        </p:nvSpPr>
        <p:spPr>
          <a:xfrm>
            <a:off x="395536" y="235782"/>
            <a:ext cx="3799452" cy="616126"/>
          </a:xfrm>
          <a:prstGeom prst="roundRect">
            <a:avLst>
              <a:gd name="adj" fmla="val 50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2" name="Rectangle 11">
            <a:extLst>
              <a:ext uri="{FF2B5EF4-FFF2-40B4-BE49-F238E27FC236}">
                <a16:creationId xmlns:a16="http://schemas.microsoft.com/office/drawing/2014/main" id="{C4764500-2214-4430-B440-EC615A3A1658}"/>
              </a:ext>
            </a:extLst>
          </p:cNvPr>
          <p:cNvSpPr/>
          <p:nvPr/>
        </p:nvSpPr>
        <p:spPr>
          <a:xfrm>
            <a:off x="4644008" y="555526"/>
            <a:ext cx="4248472" cy="388843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baseline="-25000">
                <a:solidFill>
                  <a:schemeClr val="bg1"/>
                </a:solidFill>
              </a:rPr>
              <a:t>Assessment</a:t>
            </a:r>
            <a:endParaRPr lang="en-US" sz="2800" baseline="-25000" dirty="0">
              <a:solidFill>
                <a:schemeClr val="bg1"/>
              </a:solidFill>
            </a:endParaRPr>
          </a:p>
        </p:txBody>
      </p:sp>
      <p:sp>
        <p:nvSpPr>
          <p:cNvPr id="13" name="Rounded Rectangle 17">
            <a:extLst>
              <a:ext uri="{FF2B5EF4-FFF2-40B4-BE49-F238E27FC236}">
                <a16:creationId xmlns:a16="http://schemas.microsoft.com/office/drawing/2014/main" id="{52BC6E8B-AD4E-4E2E-82AF-63ED16A39DF0}"/>
              </a:ext>
            </a:extLst>
          </p:cNvPr>
          <p:cNvSpPr/>
          <p:nvPr/>
        </p:nvSpPr>
        <p:spPr>
          <a:xfrm>
            <a:off x="4788024" y="227432"/>
            <a:ext cx="3799452" cy="616126"/>
          </a:xfrm>
          <a:prstGeom prst="roundRect">
            <a:avLst>
              <a:gd name="adj" fmla="val 5000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4" name="TextBox 13"/>
          <p:cNvSpPr txBox="1"/>
          <p:nvPr/>
        </p:nvSpPr>
        <p:spPr>
          <a:xfrm>
            <a:off x="594588" y="1347614"/>
            <a:ext cx="3689380" cy="2308324"/>
          </a:xfrm>
          <a:prstGeom prst="rect">
            <a:avLst/>
          </a:prstGeom>
          <a:noFill/>
        </p:spPr>
        <p:txBody>
          <a:bodyPr wrap="square" rtlCol="0">
            <a:spAutoFit/>
          </a:bodyPr>
          <a:lstStyle/>
          <a:p>
            <a:r>
              <a:rPr lang="en-US" dirty="0"/>
              <a:t>Describe the two types of competitors.</a:t>
            </a:r>
          </a:p>
          <a:p>
            <a:endParaRPr lang="en-US" dirty="0"/>
          </a:p>
          <a:p>
            <a:r>
              <a:rPr lang="en-US" dirty="0"/>
              <a:t>What is a competitive advantage?</a:t>
            </a:r>
          </a:p>
          <a:p>
            <a:endParaRPr lang="en-US" dirty="0"/>
          </a:p>
          <a:p>
            <a:r>
              <a:rPr lang="en-US" dirty="0"/>
              <a:t>In order, list the six basic steps used in market research.</a:t>
            </a:r>
          </a:p>
          <a:p>
            <a:endParaRPr lang="en-US" dirty="0"/>
          </a:p>
        </p:txBody>
      </p:sp>
      <p:sp>
        <p:nvSpPr>
          <p:cNvPr id="15" name="Rectangle 14"/>
          <p:cNvSpPr/>
          <p:nvPr/>
        </p:nvSpPr>
        <p:spPr>
          <a:xfrm>
            <a:off x="395536" y="1491630"/>
            <a:ext cx="144016" cy="1440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6" name="Rectangle 15"/>
          <p:cNvSpPr/>
          <p:nvPr/>
        </p:nvSpPr>
        <p:spPr>
          <a:xfrm>
            <a:off x="395536" y="2275368"/>
            <a:ext cx="144016" cy="1440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7" name="Rectangle 16"/>
          <p:cNvSpPr/>
          <p:nvPr/>
        </p:nvSpPr>
        <p:spPr>
          <a:xfrm>
            <a:off x="414568" y="2859782"/>
            <a:ext cx="144016" cy="1440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TextBox 17"/>
          <p:cNvSpPr txBox="1"/>
          <p:nvPr/>
        </p:nvSpPr>
        <p:spPr>
          <a:xfrm>
            <a:off x="683568" y="282235"/>
            <a:ext cx="3024336" cy="523220"/>
          </a:xfrm>
          <a:prstGeom prst="rect">
            <a:avLst/>
          </a:prstGeom>
          <a:noFill/>
        </p:spPr>
        <p:txBody>
          <a:bodyPr wrap="square" rtlCol="0">
            <a:spAutoFit/>
          </a:bodyPr>
          <a:lstStyle/>
          <a:p>
            <a:pPr algn="ctr"/>
            <a:r>
              <a:rPr lang="en-US" sz="2800" b="1" i="1" dirty="0">
                <a:solidFill>
                  <a:schemeClr val="bg1"/>
                </a:solidFill>
              </a:rPr>
              <a:t>Assessment</a:t>
            </a:r>
            <a:endParaRPr lang="en-US" sz="2800" dirty="0">
              <a:solidFill>
                <a:schemeClr val="bg1"/>
              </a:solidFill>
            </a:endParaRPr>
          </a:p>
        </p:txBody>
      </p:sp>
      <p:sp>
        <p:nvSpPr>
          <p:cNvPr id="20" name="TextBox 19"/>
          <p:cNvSpPr txBox="1"/>
          <p:nvPr/>
        </p:nvSpPr>
        <p:spPr>
          <a:xfrm>
            <a:off x="4896216" y="1070615"/>
            <a:ext cx="3816424" cy="3416320"/>
          </a:xfrm>
          <a:prstGeom prst="rect">
            <a:avLst/>
          </a:prstGeom>
          <a:noFill/>
        </p:spPr>
        <p:txBody>
          <a:bodyPr wrap="square" rtlCol="0">
            <a:spAutoFit/>
          </a:bodyPr>
          <a:lstStyle/>
          <a:p>
            <a:pPr algn="justLow"/>
            <a:r>
              <a:rPr lang="en-US" b="1" dirty="0"/>
              <a:t>Compare the advantages and disadvantages of buying an independent business versus buying a franchise. How are these business opportunities alike? How are they different?</a:t>
            </a:r>
          </a:p>
          <a:p>
            <a:pPr algn="justLow"/>
            <a:endParaRPr lang="en-US" b="1" dirty="0"/>
          </a:p>
          <a:p>
            <a:pPr algn="justLow"/>
            <a:r>
              <a:rPr lang="en-US" b="1" dirty="0"/>
              <a:t>What type of business opportunities match well with your current goals, both financial and nonfinancial?</a:t>
            </a:r>
          </a:p>
          <a:p>
            <a:pPr algn="justLow"/>
            <a:endParaRPr lang="en-US" b="1" dirty="0"/>
          </a:p>
        </p:txBody>
      </p:sp>
      <p:sp>
        <p:nvSpPr>
          <p:cNvPr id="21" name="TextBox 20"/>
          <p:cNvSpPr txBox="1"/>
          <p:nvPr/>
        </p:nvSpPr>
        <p:spPr>
          <a:xfrm>
            <a:off x="5851172" y="273885"/>
            <a:ext cx="2736304" cy="523220"/>
          </a:xfrm>
          <a:prstGeom prst="rect">
            <a:avLst/>
          </a:prstGeom>
          <a:noFill/>
        </p:spPr>
        <p:txBody>
          <a:bodyPr wrap="square" rtlCol="0">
            <a:spAutoFit/>
          </a:bodyPr>
          <a:lstStyle/>
          <a:p>
            <a:r>
              <a:rPr lang="en-US" sz="2800" b="1" i="1" dirty="0">
                <a:solidFill>
                  <a:schemeClr val="bg1"/>
                </a:solidFill>
              </a:rPr>
              <a:t>Activity</a:t>
            </a:r>
            <a:endParaRPr lang="en-US" dirty="0">
              <a:solidFill>
                <a:schemeClr val="bg1"/>
              </a:solidFill>
            </a:endParaRPr>
          </a:p>
        </p:txBody>
      </p:sp>
      <p:sp>
        <p:nvSpPr>
          <p:cNvPr id="22" name="Rectangle 21"/>
          <p:cNvSpPr/>
          <p:nvPr/>
        </p:nvSpPr>
        <p:spPr>
          <a:xfrm>
            <a:off x="4788024" y="1203598"/>
            <a:ext cx="144016" cy="1440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5" name="Rectangle 24"/>
          <p:cNvSpPr/>
          <p:nvPr/>
        </p:nvSpPr>
        <p:spPr>
          <a:xfrm>
            <a:off x="4788024" y="3075806"/>
            <a:ext cx="144016" cy="1440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6" name="Rectangle 25"/>
          <p:cNvSpPr/>
          <p:nvPr/>
        </p:nvSpPr>
        <p:spPr>
          <a:xfrm>
            <a:off x="251520" y="4572061"/>
            <a:ext cx="8640960" cy="238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4484933"/>
      </p:ext>
    </p:extLst>
  </p:cSld>
  <p:clrMapOvr>
    <a:masterClrMapping/>
  </p:clrMapOvr>
</p:sld>
</file>

<file path=ppt/theme/theme1.xml><?xml version="1.0" encoding="utf-8"?>
<a:theme xmlns:a="http://schemas.openxmlformats.org/drawingml/2006/main" name="Contents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75000"/>
            <a:lumOff val="25000"/>
          </a:schemeClr>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Section Break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2514</TotalTime>
  <Words>4859</Words>
  <Application>Microsoft Office PowerPoint</Application>
  <PresentationFormat>On-screen Show (16:9)</PresentationFormat>
  <Paragraphs>438</Paragraphs>
  <Slides>84</Slides>
  <Notes>2</Notes>
  <HiddenSlides>0</HiddenSlides>
  <MMClips>0</MMClips>
  <ScaleCrop>false</ScaleCrop>
  <HeadingPairs>
    <vt:vector size="4" baseType="variant">
      <vt:variant>
        <vt:lpstr>Theme</vt:lpstr>
      </vt:variant>
      <vt:variant>
        <vt:i4>2</vt:i4>
      </vt:variant>
      <vt:variant>
        <vt:lpstr>Slide Titles</vt:lpstr>
      </vt:variant>
      <vt:variant>
        <vt:i4>84</vt:i4>
      </vt:variant>
    </vt:vector>
  </HeadingPairs>
  <TitlesOfParts>
    <vt:vector size="86" baseType="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Dr.Mohamed Abd Hamid Belal</cp:lastModifiedBy>
  <cp:revision>216</cp:revision>
  <dcterms:created xsi:type="dcterms:W3CDTF">2016-12-05T23:26:54Z</dcterms:created>
  <dcterms:modified xsi:type="dcterms:W3CDTF">2019-03-11T07:00:53Z</dcterms:modified>
</cp:coreProperties>
</file>